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8" r:id="rId5"/>
    <p:sldId id="259" r:id="rId6"/>
    <p:sldId id="263" r:id="rId7"/>
    <p:sldId id="270" r:id="rId8"/>
    <p:sldId id="289" r:id="rId9"/>
    <p:sldId id="267" r:id="rId10"/>
    <p:sldId id="291" r:id="rId11"/>
    <p:sldId id="271" r:id="rId12"/>
    <p:sldId id="273" r:id="rId13"/>
    <p:sldId id="294" r:id="rId14"/>
    <p:sldId id="281" r:id="rId15"/>
    <p:sldId id="293" r:id="rId16"/>
    <p:sldId id="295" r:id="rId17"/>
    <p:sldId id="284" r:id="rId18"/>
    <p:sldId id="292" r:id="rId19"/>
    <p:sldId id="287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6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181533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457200" y="900112"/>
            <a:ext cx="4038600" cy="2545558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13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3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5" name="同济大学.png" descr="同济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1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课题综述</a:t>
            </a:r>
          </a:p>
        </p:txBody>
      </p:sp>
      <p:sp>
        <p:nvSpPr>
          <p:cNvPr id="113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4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6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7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8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9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0" name="同济大学.png" descr="同济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553200" y="4767262"/>
            <a:ext cx="343903" cy="358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80" y="846249"/>
            <a:ext cx="3460751" cy="234292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矩形 1"/>
          <p:cNvSpPr/>
          <p:nvPr/>
        </p:nvSpPr>
        <p:spPr>
          <a:xfrm>
            <a:off x="2627313" y="1109663"/>
            <a:ext cx="6516687" cy="209708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3" name="矩形 33"/>
          <p:cNvSpPr/>
          <p:nvPr/>
        </p:nvSpPr>
        <p:spPr>
          <a:xfrm>
            <a:off x="3342011" y="832595"/>
            <a:ext cx="5974752" cy="266701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TextBox 28"/>
          <p:cNvSpPr txBox="1"/>
          <p:nvPr/>
        </p:nvSpPr>
        <p:spPr>
          <a:xfrm>
            <a:off x="2966483" y="940334"/>
            <a:ext cx="6141005" cy="2154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 anchor="ctr">
            <a:spAutoFit/>
          </a:bodyPr>
          <a:lstStyle>
            <a:lvl1pPr>
              <a:lnSpc>
                <a:spcPct val="150000"/>
              </a:lnSpc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探索类</a:t>
            </a:r>
            <a:r>
              <a:rPr lang="en-US" altLang="zh-CN" dirty="0"/>
              <a:t>Rust</a:t>
            </a:r>
            <a:r>
              <a:rPr lang="zh-CN" altLang="en-US" dirty="0"/>
              <a:t>语言的词法与语法分析之旅</a:t>
            </a:r>
            <a:endParaRPr dirty="0"/>
          </a:p>
        </p:txBody>
      </p:sp>
      <p:grpSp>
        <p:nvGrpSpPr>
          <p:cNvPr id="315" name="组合 2"/>
          <p:cNvGrpSpPr/>
          <p:nvPr/>
        </p:nvGrpSpPr>
        <p:grpSpPr>
          <a:xfrm>
            <a:off x="3632200" y="3435350"/>
            <a:ext cx="3460751" cy="1494791"/>
            <a:chOff x="0" y="0"/>
            <a:chExt cx="3460750" cy="1494790"/>
          </a:xfrm>
        </p:grpSpPr>
        <p:sp>
          <p:nvSpPr>
            <p:cNvPr id="306" name="TextBox 57"/>
            <p:cNvSpPr txBox="1"/>
            <p:nvPr/>
          </p:nvSpPr>
          <p:spPr>
            <a:xfrm>
              <a:off x="563562" y="0"/>
              <a:ext cx="2897188" cy="14365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en-US" altLang="zh-CN" dirty="0"/>
                <a:t>2250278</a:t>
              </a:r>
              <a:r>
                <a:rPr lang="zh-CN" altLang="en-US" dirty="0"/>
                <a:t> 翁晨筌</a:t>
              </a:r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en-US" dirty="0"/>
                <a:t>2250270 </a:t>
              </a:r>
              <a:r>
                <a:rPr lang="zh-CN" altLang="en-US" dirty="0"/>
                <a:t>雍蔚霖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en-US" dirty="0"/>
                <a:t>2251745 </a:t>
              </a:r>
              <a:r>
                <a:rPr lang="zh-CN" altLang="en-US" dirty="0"/>
                <a:t>张宇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dirty="0"/>
                <a:t>20</a:t>
              </a:r>
              <a:r>
                <a:rPr lang="en-US" dirty="0"/>
                <a:t>25</a:t>
              </a:r>
              <a:r>
                <a:rPr dirty="0"/>
                <a:t>年</a:t>
              </a:r>
              <a:r>
                <a:rPr lang="en-US" dirty="0"/>
                <a:t>5</a:t>
              </a:r>
              <a:r>
                <a:rPr dirty="0"/>
                <a:t>月</a:t>
              </a:r>
              <a:r>
                <a:rPr lang="en-US" dirty="0"/>
                <a:t>10</a:t>
              </a:r>
              <a:r>
                <a:rPr dirty="0"/>
                <a:t>日 </a:t>
              </a:r>
            </a:p>
          </p:txBody>
        </p:sp>
        <p:sp>
          <p:nvSpPr>
            <p:cNvPr id="307" name="TextBox 90"/>
            <p:cNvSpPr txBox="1"/>
            <p:nvPr/>
          </p:nvSpPr>
          <p:spPr>
            <a:xfrm>
              <a:off x="0" y="76199"/>
              <a:ext cx="1154113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成员</a:t>
              </a:r>
              <a:r>
                <a:rPr lang="en-US" altLang="zh-CN" dirty="0"/>
                <a:t>1</a:t>
              </a:r>
              <a:r>
                <a:rPr dirty="0"/>
                <a:t>：</a:t>
              </a:r>
            </a:p>
          </p:txBody>
        </p:sp>
        <p:sp>
          <p:nvSpPr>
            <p:cNvPr id="308" name="TextBox 59"/>
            <p:cNvSpPr txBox="1"/>
            <p:nvPr/>
          </p:nvSpPr>
          <p:spPr>
            <a:xfrm>
              <a:off x="0" y="422275"/>
              <a:ext cx="1181101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成员</a:t>
              </a:r>
              <a:r>
                <a:rPr lang="en-US" altLang="zh-CN" dirty="0"/>
                <a:t>2</a:t>
              </a:r>
              <a:r>
                <a:rPr dirty="0"/>
                <a:t>：</a:t>
              </a:r>
            </a:p>
          </p:txBody>
        </p:sp>
        <p:sp>
          <p:nvSpPr>
            <p:cNvPr id="309" name="TextBox 60"/>
            <p:cNvSpPr txBox="1"/>
            <p:nvPr/>
          </p:nvSpPr>
          <p:spPr>
            <a:xfrm>
              <a:off x="0" y="777875"/>
              <a:ext cx="828110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成员</a:t>
              </a:r>
              <a:r>
                <a:rPr lang="en-US" altLang="zh-CN" dirty="0"/>
                <a:t>3</a:t>
              </a:r>
              <a:r>
                <a:rPr dirty="0"/>
                <a:t>：</a:t>
              </a:r>
            </a:p>
          </p:txBody>
        </p:sp>
        <p:sp>
          <p:nvSpPr>
            <p:cNvPr id="310" name="TextBox 61"/>
            <p:cNvSpPr txBox="1"/>
            <p:nvPr/>
          </p:nvSpPr>
          <p:spPr>
            <a:xfrm>
              <a:off x="0" y="1123949"/>
              <a:ext cx="7137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 err="1"/>
                <a:t>日期</a:t>
              </a:r>
              <a:r>
                <a:rPr dirty="0"/>
                <a:t>：</a:t>
              </a:r>
            </a:p>
          </p:txBody>
        </p:sp>
        <p:sp>
          <p:nvSpPr>
            <p:cNvPr id="311" name="直接连接符 62"/>
            <p:cNvSpPr/>
            <p:nvPr/>
          </p:nvSpPr>
          <p:spPr>
            <a:xfrm>
              <a:off x="1036638" y="36830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2" name="直接连接符 63"/>
            <p:cNvSpPr/>
            <p:nvPr/>
          </p:nvSpPr>
          <p:spPr>
            <a:xfrm>
              <a:off x="1036638" y="69215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直接连接符 64"/>
            <p:cNvSpPr/>
            <p:nvPr/>
          </p:nvSpPr>
          <p:spPr>
            <a:xfrm>
              <a:off x="1036638" y="106997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4" name="直接连接符 65"/>
            <p:cNvSpPr/>
            <p:nvPr/>
          </p:nvSpPr>
          <p:spPr>
            <a:xfrm>
              <a:off x="1036638" y="139382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16" name="温馨、背景音乐 - 梦.mp3" descr="温馨、背景音乐 - 梦.mp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-506413"/>
            <a:ext cx="457200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9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8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2" animBg="1" advAuto="0"/>
      <p:bldP spid="303" grpId="1" animBg="1" advAuto="0"/>
      <p:bldP spid="305" grpId="5" animBg="1" advAuto="0"/>
      <p:bldP spid="315" grpId="7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文本框 38"/>
          <p:cNvSpPr txBox="1"/>
          <p:nvPr/>
        </p:nvSpPr>
        <p:spPr>
          <a:xfrm>
            <a:off x="163512" y="2346325"/>
            <a:ext cx="312420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CONTENTS</a:t>
            </a:r>
          </a:p>
        </p:txBody>
      </p:sp>
      <p:sp>
        <p:nvSpPr>
          <p:cNvPr id="319" name="文本框 11"/>
          <p:cNvSpPr txBox="1"/>
          <p:nvPr/>
        </p:nvSpPr>
        <p:spPr>
          <a:xfrm>
            <a:off x="1979613" y="1976438"/>
            <a:ext cx="81534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 b="1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目录</a:t>
            </a:r>
          </a:p>
        </p:txBody>
      </p:sp>
      <p:sp>
        <p:nvSpPr>
          <p:cNvPr id="320" name="文本框 18"/>
          <p:cNvSpPr txBox="1"/>
          <p:nvPr/>
        </p:nvSpPr>
        <p:spPr>
          <a:xfrm>
            <a:off x="3984625" y="2114549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项目全貌</a:t>
            </a:r>
            <a:endParaRPr dirty="0"/>
          </a:p>
        </p:txBody>
      </p:sp>
      <p:grpSp>
        <p:nvGrpSpPr>
          <p:cNvPr id="323" name="组合 34"/>
          <p:cNvGrpSpPr/>
          <p:nvPr/>
        </p:nvGrpSpPr>
        <p:grpSpPr>
          <a:xfrm>
            <a:off x="3568895" y="2047874"/>
            <a:ext cx="414143" cy="497842"/>
            <a:chOff x="0" y="0"/>
            <a:chExt cx="414142" cy="497840"/>
          </a:xfrm>
        </p:grpSpPr>
        <p:sp>
          <p:nvSpPr>
            <p:cNvPr id="321" name="文本框 16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22" name="直接连接符 17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4" name="文本框 21"/>
          <p:cNvSpPr txBox="1"/>
          <p:nvPr/>
        </p:nvSpPr>
        <p:spPr>
          <a:xfrm>
            <a:off x="6570663" y="2139949"/>
            <a:ext cx="19389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系统架构与模块剖析</a:t>
            </a:r>
            <a:endParaRPr dirty="0"/>
          </a:p>
        </p:txBody>
      </p:sp>
      <p:grpSp>
        <p:nvGrpSpPr>
          <p:cNvPr id="327" name="组合 35"/>
          <p:cNvGrpSpPr/>
          <p:nvPr/>
        </p:nvGrpSpPr>
        <p:grpSpPr>
          <a:xfrm>
            <a:off x="6124934" y="2057399"/>
            <a:ext cx="445729" cy="497842"/>
            <a:chOff x="0" y="0"/>
            <a:chExt cx="445728" cy="497840"/>
          </a:xfrm>
        </p:grpSpPr>
        <p:sp>
          <p:nvSpPr>
            <p:cNvPr id="325" name="文本框 20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326" name="直接连接符 20"/>
            <p:cNvSpPr/>
            <p:nvPr/>
          </p:nvSpPr>
          <p:spPr>
            <a:xfrm flipH="1">
              <a:off x="199666" y="169863"/>
              <a:ext cx="246063" cy="246062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8" name="文本框 24"/>
          <p:cNvSpPr txBox="1"/>
          <p:nvPr/>
        </p:nvSpPr>
        <p:spPr>
          <a:xfrm>
            <a:off x="3984625" y="2693988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系统需求</a:t>
            </a:r>
            <a:endParaRPr dirty="0"/>
          </a:p>
        </p:txBody>
      </p:sp>
      <p:grpSp>
        <p:nvGrpSpPr>
          <p:cNvPr id="331" name="组合 36"/>
          <p:cNvGrpSpPr/>
          <p:nvPr/>
        </p:nvGrpSpPr>
        <p:grpSpPr>
          <a:xfrm>
            <a:off x="3568895" y="2627313"/>
            <a:ext cx="414143" cy="497841"/>
            <a:chOff x="0" y="0"/>
            <a:chExt cx="414142" cy="497840"/>
          </a:xfrm>
        </p:grpSpPr>
        <p:sp>
          <p:nvSpPr>
            <p:cNvPr id="329" name="文本框 23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30" name="直接连接符 23"/>
            <p:cNvSpPr/>
            <p:nvPr/>
          </p:nvSpPr>
          <p:spPr>
            <a:xfrm flipH="1">
              <a:off x="168079" y="179386"/>
              <a:ext cx="246064" cy="246064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32" name="文本框 27"/>
          <p:cNvSpPr txBox="1"/>
          <p:nvPr/>
        </p:nvSpPr>
        <p:spPr>
          <a:xfrm>
            <a:off x="6570663" y="2719388"/>
            <a:ext cx="152862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测试与成果展示</a:t>
            </a:r>
            <a:endParaRPr dirty="0"/>
          </a:p>
        </p:txBody>
      </p:sp>
      <p:grpSp>
        <p:nvGrpSpPr>
          <p:cNvPr id="335" name="组合 37"/>
          <p:cNvGrpSpPr/>
          <p:nvPr/>
        </p:nvGrpSpPr>
        <p:grpSpPr>
          <a:xfrm>
            <a:off x="6124934" y="2636838"/>
            <a:ext cx="445729" cy="497841"/>
            <a:chOff x="0" y="0"/>
            <a:chExt cx="445728" cy="497840"/>
          </a:xfrm>
        </p:grpSpPr>
        <p:sp>
          <p:nvSpPr>
            <p:cNvPr id="333" name="文本框 26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334" name="直接连接符 26"/>
            <p:cNvSpPr/>
            <p:nvPr/>
          </p:nvSpPr>
          <p:spPr>
            <a:xfrm flipH="1">
              <a:off x="199666" y="169862"/>
              <a:ext cx="246063" cy="246063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36" name="文本框 30"/>
          <p:cNvSpPr txBox="1"/>
          <p:nvPr/>
        </p:nvSpPr>
        <p:spPr>
          <a:xfrm>
            <a:off x="3984625" y="3267074"/>
            <a:ext cx="216982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词法与语法分析核心</a:t>
            </a:r>
            <a:endParaRPr dirty="0"/>
          </a:p>
        </p:txBody>
      </p:sp>
      <p:grpSp>
        <p:nvGrpSpPr>
          <p:cNvPr id="339" name="组合 38"/>
          <p:cNvGrpSpPr/>
          <p:nvPr/>
        </p:nvGrpSpPr>
        <p:grpSpPr>
          <a:xfrm>
            <a:off x="3568895" y="3200399"/>
            <a:ext cx="414143" cy="497842"/>
            <a:chOff x="0" y="0"/>
            <a:chExt cx="414142" cy="497840"/>
          </a:xfrm>
        </p:grpSpPr>
        <p:sp>
          <p:nvSpPr>
            <p:cNvPr id="337" name="文本框 29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38" name="直接连接符 29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0" name="文本框 33"/>
          <p:cNvSpPr txBox="1"/>
          <p:nvPr/>
        </p:nvSpPr>
        <p:spPr>
          <a:xfrm>
            <a:off x="6570663" y="3292474"/>
            <a:ext cx="111825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回顾与展望</a:t>
            </a:r>
            <a:endParaRPr dirty="0"/>
          </a:p>
        </p:txBody>
      </p:sp>
      <p:grpSp>
        <p:nvGrpSpPr>
          <p:cNvPr id="343" name="组合 39"/>
          <p:cNvGrpSpPr/>
          <p:nvPr/>
        </p:nvGrpSpPr>
        <p:grpSpPr>
          <a:xfrm>
            <a:off x="6124934" y="3211513"/>
            <a:ext cx="445729" cy="497841"/>
            <a:chOff x="0" y="0"/>
            <a:chExt cx="445728" cy="497840"/>
          </a:xfrm>
        </p:grpSpPr>
        <p:sp>
          <p:nvSpPr>
            <p:cNvPr id="341" name="文本框 32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342" name="直接连接符 32"/>
            <p:cNvSpPr/>
            <p:nvPr/>
          </p:nvSpPr>
          <p:spPr>
            <a:xfrm flipH="1">
              <a:off x="199666" y="169861"/>
              <a:ext cx="246063" cy="244476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4" name="直接连接符 33"/>
          <p:cNvSpPr/>
          <p:nvPr/>
        </p:nvSpPr>
        <p:spPr>
          <a:xfrm>
            <a:off x="3278187" y="2139950"/>
            <a:ext cx="1" cy="1546226"/>
          </a:xfrm>
          <a:prstGeom prst="line">
            <a:avLst/>
          </a:prstGeom>
          <a:ln>
            <a:solidFill>
              <a:srgbClr val="808080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7369 -0.041213" pathEditMode="relative">
                                      <p:cBhvr>
                                        <p:cTn id="23" dur="7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22" presetClass="entr" presetSubtype="8" fill="hold" grpId="6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"/>
                            </p:stCondLst>
                            <p:childTnLst>
                              <p:par>
                                <p:cTn id="29" presetID="9" presetClass="entr" fill="hold" grpId="7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-1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00000 0.000000 L 0.037369 -0.041197" pathEditMode="relative">
                                      <p:cBhvr>
                                        <p:cTn id="34" dur="7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50"/>
                            </p:stCondLst>
                            <p:childTnLst>
                              <p:par>
                                <p:cTn id="36" presetID="22" presetClass="entr" presetSubtype="8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9" presetClass="entr" fill="hold" grpId="1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-1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00 0.000000 L 0.037369 -0.041201" pathEditMode="relative">
                                      <p:cBhvr>
                                        <p:cTn id="45" dur="7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2" presetClass="entr" presetSubtype="8" fill="hold" grpId="12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450"/>
                            </p:stCondLst>
                            <p:childTnLst>
                              <p:par>
                                <p:cTn id="51" presetID="9" presetClass="entr" fill="hold" grpId="13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-1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000 0.000000 L 0.037369 -0.041213" pathEditMode="relative">
                                      <p:cBhvr>
                                        <p:cTn id="56" dur="7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00"/>
                            </p:stCondLst>
                            <p:childTnLst>
                              <p:par>
                                <p:cTn id="58" presetID="22" presetClass="entr" presetSubtype="8" fill="hold" grpId="15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450"/>
                            </p:stCondLst>
                            <p:childTnLst>
                              <p:par>
                                <p:cTn id="62" presetID="9" presetClass="entr" fill="hold" grpId="16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-1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00000 0.000000 L 0.037369 -0.041197" pathEditMode="relative">
                                      <p:cBhvr>
                                        <p:cTn id="67" dur="7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950"/>
                            </p:stCondLst>
                            <p:childTnLst>
                              <p:par>
                                <p:cTn id="69" presetID="22" presetClass="entr" presetSubtype="8" fill="hold" grpId="18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950"/>
                            </p:stCondLst>
                            <p:childTnLst>
                              <p:par>
                                <p:cTn id="73" presetID="9" presetClass="entr" fill="hold" grpId="19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-1" presetClass="path" presetSubtype="0" accel="50000" decel="5000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0000 0.000000 L 0.037369 -0.041201" pathEditMode="relative">
                                      <p:cBhvr>
                                        <p:cTn id="78" dur="7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00"/>
                            </p:stCondLst>
                            <p:childTnLst>
                              <p:par>
                                <p:cTn id="80" presetID="22" presetClass="entr" presetSubtype="8" fill="hold" grpId="21" nodeType="afterEffect">
                                  <p:stCondLst>
                                    <p:cond delay="1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2" animBg="1" advAuto="0"/>
      <p:bldP spid="319" grpId="1" animBg="1" advAuto="0"/>
      <p:bldP spid="320" grpId="6" animBg="1" advAuto="0"/>
      <p:bldP spid="323" grpId="4" animBg="1" advAuto="0"/>
      <p:bldP spid="324" grpId="15" animBg="1" advAuto="0"/>
      <p:bldP spid="327" grpId="13" animBg="1" advAuto="0"/>
      <p:bldP spid="328" grpId="9" animBg="1" advAuto="0"/>
      <p:bldP spid="331" grpId="7" animBg="1" advAuto="0"/>
      <p:bldP spid="332" grpId="18" animBg="1" advAuto="0"/>
      <p:bldP spid="335" grpId="16" animBg="1" advAuto="0"/>
      <p:bldP spid="336" grpId="12" animBg="1" advAuto="0"/>
      <p:bldP spid="339" grpId="10" animBg="1" advAuto="0"/>
      <p:bldP spid="340" grpId="21" animBg="1" advAuto="0"/>
      <p:bldP spid="343" grpId="19" animBg="1" advAuto="0"/>
      <p:bldP spid="344" grpId="3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第一部分</a:t>
            </a:r>
          </a:p>
        </p:txBody>
      </p:sp>
      <p:sp>
        <p:nvSpPr>
          <p:cNvPr id="348" name="TextBox 23"/>
          <p:cNvSpPr txBox="1"/>
          <p:nvPr/>
        </p:nvSpPr>
        <p:spPr>
          <a:xfrm>
            <a:off x="3773487" y="1827213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项目目标</a:t>
            </a:r>
            <a:endParaRPr dirty="0"/>
          </a:p>
        </p:txBody>
      </p:sp>
      <p:sp>
        <p:nvSpPr>
          <p:cNvPr id="349" name="TextBox 24"/>
          <p:cNvSpPr txBox="1"/>
          <p:nvPr/>
        </p:nvSpPr>
        <p:spPr>
          <a:xfrm>
            <a:off x="3773487" y="215423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工具选择</a:t>
            </a:r>
            <a:endParaRPr dirty="0"/>
          </a:p>
        </p:txBody>
      </p:sp>
      <p:sp>
        <p:nvSpPr>
          <p:cNvPr id="353" name="文本框 8"/>
          <p:cNvSpPr txBox="1"/>
          <p:nvPr/>
        </p:nvSpPr>
        <p:spPr>
          <a:xfrm>
            <a:off x="3837427" y="1293812"/>
            <a:ext cx="5072222" cy="4385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 numCol="1" anchor="t">
            <a:spAutoFit/>
          </a:bodyPr>
          <a:lstStyle>
            <a:lvl1pPr>
              <a:defRPr sz="24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项目全貌：开启类</a:t>
            </a:r>
            <a:r>
              <a:rPr lang="en-US" altLang="zh-CN" dirty="0"/>
              <a:t>Rust</a:t>
            </a:r>
            <a:r>
              <a:rPr lang="zh-CN" altLang="en-US" dirty="0"/>
              <a:t>语言分析大门</a:t>
            </a:r>
            <a:endParaRPr dirty="0"/>
          </a:p>
        </p:txBody>
      </p:sp>
      <p:sp>
        <p:nvSpPr>
          <p:cNvPr id="355" name="矩形 9"/>
          <p:cNvSpPr/>
          <p:nvPr/>
        </p:nvSpPr>
        <p:spPr>
          <a:xfrm>
            <a:off x="3825875" y="2584674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50"/>
                            </p:stCondLst>
                            <p:childTnLst>
                              <p:par>
                                <p:cTn id="22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" grpId="1" animBg="1" advAuto="0"/>
      <p:bldP spid="348" grpId="4" animBg="1" advAuto="0"/>
      <p:bldP spid="349" grpId="5" animBg="1" advAuto="0"/>
      <p:bldP spid="355" grpId="8" animBg="1" advAuto="0"/>
      <p:bldP spid="356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矩形 28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项目目标</a:t>
            </a:r>
            <a:endParaRPr dirty="0"/>
          </a:p>
        </p:txBody>
      </p:sp>
      <p:sp>
        <p:nvSpPr>
          <p:cNvPr id="386" name="矩形 29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7" name="矩形 30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8" name="矩形 31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9" name="矩形 32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0" name="矩形 33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1" name="矩形 34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68" name="椭圆 14"/>
          <p:cNvSpPr/>
          <p:nvPr/>
        </p:nvSpPr>
        <p:spPr>
          <a:xfrm>
            <a:off x="3301779" y="2247493"/>
            <a:ext cx="2400300" cy="2400301"/>
          </a:xfrm>
          <a:prstGeom prst="ellipse">
            <a:avLst/>
          </a:prstGeom>
          <a:solidFill>
            <a:srgbClr val="414455">
              <a:alpha val="23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69" name="椭圆 15"/>
          <p:cNvSpPr/>
          <p:nvPr/>
        </p:nvSpPr>
        <p:spPr>
          <a:xfrm>
            <a:off x="2936654" y="1882368"/>
            <a:ext cx="3130550" cy="3130551"/>
          </a:xfrm>
          <a:prstGeom prst="ellipse">
            <a:avLst/>
          </a:prstGeom>
          <a:ln w="3175">
            <a:solidFill>
              <a:srgbClr val="41445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772" name="组合 16"/>
          <p:cNvGrpSpPr/>
          <p:nvPr/>
        </p:nvGrpSpPr>
        <p:grpSpPr>
          <a:xfrm>
            <a:off x="6136013" y="2094060"/>
            <a:ext cx="2863850" cy="2305075"/>
            <a:chOff x="-9314" y="0"/>
            <a:chExt cx="2863850" cy="2305071"/>
          </a:xfrm>
        </p:grpSpPr>
        <p:sp>
          <p:nvSpPr>
            <p:cNvPr id="770" name="矩形 17"/>
            <p:cNvSpPr txBox="1"/>
            <p:nvPr/>
          </p:nvSpPr>
          <p:spPr>
            <a:xfrm>
              <a:off x="-9314" y="306388"/>
              <a:ext cx="2863850" cy="199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本目标旨在设计并实现一个“类</a:t>
              </a:r>
              <a:r>
                <a:rPr lang="en-US" altLang="zh-CN" dirty="0"/>
                <a:t>Rust”</a:t>
              </a:r>
              <a:r>
                <a:rPr lang="zh-CN" altLang="en-US" dirty="0"/>
                <a:t>语言的词法分析器，负责将输入的源代码文本分解为一个个有意义的</a:t>
              </a:r>
              <a:r>
                <a:rPr lang="en-US" altLang="zh-CN" dirty="0"/>
                <a:t>Token</a:t>
              </a:r>
              <a:r>
                <a:rPr lang="zh-CN" altLang="en-US" dirty="0"/>
                <a:t>。词法分析器通过识别编程语言的关键字、标识符、运算符等元素，为后续的语法分析奠定基础。</a:t>
              </a:r>
            </a:p>
            <a:p>
              <a:endParaRPr dirty="0"/>
            </a:p>
          </p:txBody>
        </p:sp>
        <p:sp>
          <p:nvSpPr>
            <p:cNvPr id="771" name="文本框 17"/>
            <p:cNvSpPr txBox="1"/>
            <p:nvPr/>
          </p:nvSpPr>
          <p:spPr>
            <a:xfrm>
              <a:off x="0" y="0"/>
              <a:ext cx="2015934" cy="32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设计并实现词法分析器</a:t>
              </a:r>
              <a:endParaRPr b="1" dirty="0"/>
            </a:p>
          </p:txBody>
        </p:sp>
      </p:grpSp>
      <p:grpSp>
        <p:nvGrpSpPr>
          <p:cNvPr id="775" name="组合 20"/>
          <p:cNvGrpSpPr/>
          <p:nvPr/>
        </p:nvGrpSpPr>
        <p:grpSpPr>
          <a:xfrm>
            <a:off x="171051" y="3179837"/>
            <a:ext cx="2865441" cy="2026424"/>
            <a:chOff x="175482" y="0"/>
            <a:chExt cx="2865439" cy="2026423"/>
          </a:xfrm>
        </p:grpSpPr>
        <p:sp>
          <p:nvSpPr>
            <p:cNvPr id="773" name="矩形 21"/>
            <p:cNvSpPr txBox="1"/>
            <p:nvPr/>
          </p:nvSpPr>
          <p:spPr>
            <a:xfrm>
              <a:off x="175482" y="304736"/>
              <a:ext cx="2865439" cy="17216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本目标着重于语法分析器的设计与实现，语法分析器将基于词法分析器生成的</a:t>
              </a:r>
              <a:r>
                <a:rPr lang="en-US" altLang="zh-CN" dirty="0"/>
                <a:t>Token</a:t>
              </a:r>
              <a:r>
                <a:rPr lang="zh-CN" altLang="en-US" dirty="0"/>
                <a:t>流，构建出抽象语法树（</a:t>
              </a:r>
              <a:r>
                <a:rPr lang="en-US" altLang="zh-CN" dirty="0"/>
                <a:t>AST</a:t>
              </a:r>
              <a:r>
                <a:rPr lang="zh-CN" altLang="en-US" dirty="0"/>
                <a:t>）。通过语法分析，能够对代码进行结构化理解，并为语义分析与代码生成提供支持。</a:t>
              </a:r>
            </a:p>
            <a:p>
              <a:endParaRPr dirty="0"/>
            </a:p>
          </p:txBody>
        </p:sp>
        <p:sp>
          <p:nvSpPr>
            <p:cNvPr id="774" name="文本框 24"/>
            <p:cNvSpPr txBox="1"/>
            <p:nvPr/>
          </p:nvSpPr>
          <p:spPr>
            <a:xfrm>
              <a:off x="856341" y="0"/>
              <a:ext cx="2015933" cy="323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设计并实现语法分析器</a:t>
              </a:r>
              <a:endParaRPr b="1" dirty="0"/>
            </a:p>
          </p:txBody>
        </p:sp>
      </p:grpSp>
      <p:grpSp>
        <p:nvGrpSpPr>
          <p:cNvPr id="779" name="组合 24"/>
          <p:cNvGrpSpPr/>
          <p:nvPr/>
        </p:nvGrpSpPr>
        <p:grpSpPr>
          <a:xfrm>
            <a:off x="3658966" y="2604681"/>
            <a:ext cx="1685928" cy="1685927"/>
            <a:chOff x="0" y="0"/>
            <a:chExt cx="1685926" cy="1685926"/>
          </a:xfrm>
        </p:grpSpPr>
        <p:sp>
          <p:nvSpPr>
            <p:cNvPr id="776" name="椭圆 25"/>
            <p:cNvSpPr/>
            <p:nvPr/>
          </p:nvSpPr>
          <p:spPr>
            <a:xfrm>
              <a:off x="0" y="0"/>
              <a:ext cx="1685926" cy="1685926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777" name="Freeform 7"/>
            <p:cNvSpPr/>
            <p:nvPr/>
          </p:nvSpPr>
          <p:spPr>
            <a:xfrm>
              <a:off x="552450" y="479424"/>
              <a:ext cx="581026" cy="431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79" y="16118"/>
                  </a:moveTo>
                  <a:cubicBezTo>
                    <a:pt x="1721" y="16118"/>
                    <a:pt x="1721" y="16118"/>
                    <a:pt x="1721" y="16118"/>
                  </a:cubicBezTo>
                  <a:cubicBezTo>
                    <a:pt x="369" y="19681"/>
                    <a:pt x="369" y="19681"/>
                    <a:pt x="369" y="19681"/>
                  </a:cubicBezTo>
                  <a:cubicBezTo>
                    <a:pt x="21231" y="19681"/>
                    <a:pt x="21231" y="19681"/>
                    <a:pt x="21231" y="19681"/>
                  </a:cubicBezTo>
                  <a:lnTo>
                    <a:pt x="19879" y="16118"/>
                  </a:lnTo>
                  <a:close/>
                  <a:moveTo>
                    <a:pt x="8525" y="18804"/>
                  </a:moveTo>
                  <a:cubicBezTo>
                    <a:pt x="9099" y="17379"/>
                    <a:pt x="9099" y="17379"/>
                    <a:pt x="9099" y="17379"/>
                  </a:cubicBezTo>
                  <a:cubicBezTo>
                    <a:pt x="12583" y="17379"/>
                    <a:pt x="12583" y="17379"/>
                    <a:pt x="12583" y="17379"/>
                  </a:cubicBezTo>
                  <a:cubicBezTo>
                    <a:pt x="13075" y="18804"/>
                    <a:pt x="13075" y="18804"/>
                    <a:pt x="13075" y="18804"/>
                  </a:cubicBezTo>
                  <a:lnTo>
                    <a:pt x="8525" y="18804"/>
                  </a:lnTo>
                  <a:close/>
                  <a:moveTo>
                    <a:pt x="19592" y="15350"/>
                  </a:moveTo>
                  <a:cubicBezTo>
                    <a:pt x="19592" y="15295"/>
                    <a:pt x="19592" y="15295"/>
                    <a:pt x="19592" y="15241"/>
                  </a:cubicBezTo>
                  <a:cubicBezTo>
                    <a:pt x="19592" y="15241"/>
                    <a:pt x="19592" y="15241"/>
                    <a:pt x="19592" y="15186"/>
                  </a:cubicBezTo>
                  <a:cubicBezTo>
                    <a:pt x="19592" y="658"/>
                    <a:pt x="19592" y="658"/>
                    <a:pt x="19592" y="658"/>
                  </a:cubicBezTo>
                  <a:cubicBezTo>
                    <a:pt x="19592" y="274"/>
                    <a:pt x="19346" y="0"/>
                    <a:pt x="19059" y="0"/>
                  </a:cubicBezTo>
                  <a:cubicBezTo>
                    <a:pt x="2541" y="0"/>
                    <a:pt x="2541" y="0"/>
                    <a:pt x="2541" y="0"/>
                  </a:cubicBezTo>
                  <a:cubicBezTo>
                    <a:pt x="2254" y="0"/>
                    <a:pt x="2008" y="274"/>
                    <a:pt x="2008" y="658"/>
                  </a:cubicBezTo>
                  <a:cubicBezTo>
                    <a:pt x="2008" y="15186"/>
                    <a:pt x="2008" y="15186"/>
                    <a:pt x="2008" y="15186"/>
                  </a:cubicBezTo>
                  <a:cubicBezTo>
                    <a:pt x="2008" y="15241"/>
                    <a:pt x="2049" y="15241"/>
                    <a:pt x="2049" y="15241"/>
                  </a:cubicBezTo>
                  <a:cubicBezTo>
                    <a:pt x="2049" y="15295"/>
                    <a:pt x="2008" y="15295"/>
                    <a:pt x="2008" y="15350"/>
                  </a:cubicBezTo>
                  <a:cubicBezTo>
                    <a:pt x="2008" y="15350"/>
                    <a:pt x="2008" y="15350"/>
                    <a:pt x="2008" y="15350"/>
                  </a:cubicBezTo>
                  <a:cubicBezTo>
                    <a:pt x="19592" y="15350"/>
                    <a:pt x="19592" y="15350"/>
                    <a:pt x="19592" y="15350"/>
                  </a:cubicBezTo>
                  <a:close/>
                  <a:moveTo>
                    <a:pt x="18321" y="14199"/>
                  </a:moveTo>
                  <a:cubicBezTo>
                    <a:pt x="3279" y="14199"/>
                    <a:pt x="3279" y="14199"/>
                    <a:pt x="3279" y="14199"/>
                  </a:cubicBezTo>
                  <a:cubicBezTo>
                    <a:pt x="3279" y="1645"/>
                    <a:pt x="3279" y="1645"/>
                    <a:pt x="3279" y="1645"/>
                  </a:cubicBezTo>
                  <a:cubicBezTo>
                    <a:pt x="18321" y="1645"/>
                    <a:pt x="18321" y="1645"/>
                    <a:pt x="18321" y="1645"/>
                  </a:cubicBezTo>
                  <a:lnTo>
                    <a:pt x="18321" y="14199"/>
                  </a:lnTo>
                  <a:close/>
                  <a:moveTo>
                    <a:pt x="21559" y="20449"/>
                  </a:moveTo>
                  <a:cubicBezTo>
                    <a:pt x="41" y="20449"/>
                    <a:pt x="41" y="20449"/>
                    <a:pt x="41" y="20449"/>
                  </a:cubicBezTo>
                  <a:cubicBezTo>
                    <a:pt x="0" y="20613"/>
                    <a:pt x="0" y="20613"/>
                    <a:pt x="0" y="20613"/>
                  </a:cubicBezTo>
                  <a:cubicBezTo>
                    <a:pt x="0" y="20942"/>
                    <a:pt x="246" y="21600"/>
                    <a:pt x="492" y="21600"/>
                  </a:cubicBezTo>
                  <a:cubicBezTo>
                    <a:pt x="21108" y="21600"/>
                    <a:pt x="21108" y="21600"/>
                    <a:pt x="21108" y="21600"/>
                  </a:cubicBezTo>
                  <a:cubicBezTo>
                    <a:pt x="21354" y="21600"/>
                    <a:pt x="21600" y="20942"/>
                    <a:pt x="21600" y="20613"/>
                  </a:cubicBezTo>
                  <a:lnTo>
                    <a:pt x="21559" y="2044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783590">
                <a:defRPr>
                  <a:solidFill>
                    <a:srgbClr val="46464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778" name="文本框 27"/>
            <p:cNvSpPr txBox="1"/>
            <p:nvPr/>
          </p:nvSpPr>
          <p:spPr>
            <a:xfrm>
              <a:off x="404468" y="1054577"/>
              <a:ext cx="9169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 err="1"/>
                <a:t>研究目标</a:t>
              </a:r>
              <a:endParaRPr dirty="0"/>
            </a:p>
          </p:txBody>
        </p:sp>
      </p:grpSp>
      <p:grpSp>
        <p:nvGrpSpPr>
          <p:cNvPr id="784" name="组合 28"/>
          <p:cNvGrpSpPr/>
          <p:nvPr/>
        </p:nvGrpSpPr>
        <p:grpSpPr>
          <a:xfrm>
            <a:off x="5328395" y="1562693"/>
            <a:ext cx="770612" cy="770611"/>
            <a:chOff x="0" y="0"/>
            <a:chExt cx="770610" cy="770610"/>
          </a:xfrm>
        </p:grpSpPr>
        <p:grpSp>
          <p:nvGrpSpPr>
            <p:cNvPr id="782" name="组合 29"/>
            <p:cNvGrpSpPr/>
            <p:nvPr/>
          </p:nvGrpSpPr>
          <p:grpSpPr>
            <a:xfrm>
              <a:off x="0" y="0"/>
              <a:ext cx="770610" cy="770610"/>
              <a:chOff x="0" y="0"/>
              <a:chExt cx="770609" cy="770609"/>
            </a:xfrm>
          </p:grpSpPr>
          <p:sp>
            <p:nvSpPr>
              <p:cNvPr id="780" name="流程图: 联系 31"/>
              <p:cNvSpPr/>
              <p:nvPr/>
            </p:nvSpPr>
            <p:spPr>
              <a:xfrm rot="1291582">
                <a:off x="88271" y="88271"/>
                <a:ext cx="594067" cy="594067"/>
              </a:xfrm>
              <a:prstGeom prst="ellips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781" name="等腰三角形 32"/>
              <p:cNvSpPr/>
              <p:nvPr/>
            </p:nvSpPr>
            <p:spPr>
              <a:xfrm rot="12528296">
                <a:off x="158071" y="583991"/>
                <a:ext cx="162019" cy="125884"/>
              </a:xfrm>
              <a:prstGeom prst="triangl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  <p:sp>
          <p:nvSpPr>
            <p:cNvPr id="783" name="文本框 28"/>
            <p:cNvSpPr txBox="1"/>
            <p:nvPr/>
          </p:nvSpPr>
          <p:spPr>
            <a:xfrm>
              <a:off x="276914" y="229074"/>
              <a:ext cx="231203" cy="3200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A</a:t>
              </a:r>
            </a:p>
          </p:txBody>
        </p:sp>
      </p:grpSp>
      <p:grpSp>
        <p:nvGrpSpPr>
          <p:cNvPr id="789" name="组合 33"/>
          <p:cNvGrpSpPr/>
          <p:nvPr/>
        </p:nvGrpSpPr>
        <p:grpSpPr>
          <a:xfrm>
            <a:off x="2752984" y="2591557"/>
            <a:ext cx="821397" cy="821398"/>
            <a:chOff x="0" y="-1"/>
            <a:chExt cx="821396" cy="821397"/>
          </a:xfrm>
        </p:grpSpPr>
        <p:grpSp>
          <p:nvGrpSpPr>
            <p:cNvPr id="787" name="组合 34"/>
            <p:cNvGrpSpPr/>
            <p:nvPr/>
          </p:nvGrpSpPr>
          <p:grpSpPr>
            <a:xfrm>
              <a:off x="0" y="-1"/>
              <a:ext cx="821396" cy="821397"/>
              <a:chOff x="0" y="0"/>
              <a:chExt cx="821395" cy="821395"/>
            </a:xfrm>
          </p:grpSpPr>
          <p:sp>
            <p:nvSpPr>
              <p:cNvPr id="785" name="流程图: 联系 36"/>
              <p:cNvSpPr/>
              <p:nvPr/>
            </p:nvSpPr>
            <p:spPr>
              <a:xfrm rot="18172526">
                <a:off x="113664" y="113664"/>
                <a:ext cx="594067" cy="594067"/>
              </a:xfrm>
              <a:prstGeom prst="ellips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786" name="等腰三角形 37"/>
              <p:cNvSpPr/>
              <p:nvPr/>
            </p:nvSpPr>
            <p:spPr>
              <a:xfrm rot="7809240">
                <a:off x="557426" y="542606"/>
                <a:ext cx="162019" cy="125884"/>
              </a:xfrm>
              <a:prstGeom prst="triangl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  <p:sp>
          <p:nvSpPr>
            <p:cNvPr id="788" name="文本框 29"/>
            <p:cNvSpPr txBox="1"/>
            <p:nvPr/>
          </p:nvSpPr>
          <p:spPr>
            <a:xfrm>
              <a:off x="296255" y="268238"/>
              <a:ext cx="231203" cy="3200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B</a:t>
              </a:r>
            </a:p>
          </p:txBody>
        </p:sp>
      </p:grpSp>
      <p:sp>
        <p:nvSpPr>
          <p:cNvPr id="5" name="矩形 21">
            <a:extLst>
              <a:ext uri="{FF2B5EF4-FFF2-40B4-BE49-F238E27FC236}">
                <a16:creationId xmlns:a16="http://schemas.microsoft.com/office/drawing/2014/main" id="{57DF790C-FF15-BE24-FA38-DA2D7946E893}"/>
              </a:ext>
            </a:extLst>
          </p:cNvPr>
          <p:cNvSpPr txBox="1"/>
          <p:nvPr/>
        </p:nvSpPr>
        <p:spPr>
          <a:xfrm>
            <a:off x="248202" y="886461"/>
            <a:ext cx="4544242" cy="8906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通过实现这两个分析器，我们将深入理解编程语言的底层解析机制。词法分析器和语法分析器为后续的语义分析、优化和代码生成提供了坚实的基础，对编程语言的实现和优化具有重要意义。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70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fill="hold" tmFilter="0, 0; .2, .5; .8, .5; 1, 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7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4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fill="hold" tmFilter="0, 0; .2, .5; .8, .5; 1, 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7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" grpId="0" animBg="1" advAuto="0"/>
      <p:bldP spid="769" grpId="0" animBg="1" advAuto="0"/>
      <p:bldP spid="772" grpId="0" animBg="1" advAuto="0"/>
      <p:bldP spid="775" grpId="0" animBg="1" advAuto="0"/>
      <p:bldP spid="779" grpId="0" animBg="1" advAuto="0"/>
      <p:bldP spid="784" grpId="0" animBg="1" advAuto="0"/>
      <p:bldP spid="784" grpId="1" animBg="1" advAuto="0"/>
      <p:bldP spid="789" grpId="0" animBg="1" advAuto="0"/>
      <p:bldP spid="789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组合 1"/>
          <p:cNvGrpSpPr/>
          <p:nvPr/>
        </p:nvGrpSpPr>
        <p:grpSpPr>
          <a:xfrm>
            <a:off x="3320160" y="2400870"/>
            <a:ext cx="1958977" cy="1871666"/>
            <a:chOff x="0" y="0"/>
            <a:chExt cx="1958975" cy="1871664"/>
          </a:xfrm>
        </p:grpSpPr>
        <p:sp>
          <p:nvSpPr>
            <p:cNvPr id="358" name="椭圆 2"/>
            <p:cNvSpPr/>
            <p:nvPr/>
          </p:nvSpPr>
          <p:spPr>
            <a:xfrm>
              <a:off x="50799" y="-1"/>
              <a:ext cx="1844675" cy="1871666"/>
            </a:xfrm>
            <a:prstGeom prst="ellipse">
              <a:avLst/>
            </a:prstGeom>
            <a:noFill/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9" name="椭圆 3"/>
            <p:cNvSpPr/>
            <p:nvPr/>
          </p:nvSpPr>
          <p:spPr>
            <a:xfrm>
              <a:off x="1439861" y="98425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0" name="椭圆 4"/>
            <p:cNvSpPr/>
            <p:nvPr/>
          </p:nvSpPr>
          <p:spPr>
            <a:xfrm>
              <a:off x="390525" y="98425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1" name="椭圆 5"/>
            <p:cNvSpPr/>
            <p:nvPr/>
          </p:nvSpPr>
          <p:spPr>
            <a:xfrm>
              <a:off x="-1" y="876299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2" name="椭圆 6"/>
            <p:cNvSpPr/>
            <p:nvPr/>
          </p:nvSpPr>
          <p:spPr>
            <a:xfrm>
              <a:off x="1833561" y="876299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3" name="椭圆 7"/>
            <p:cNvSpPr/>
            <p:nvPr/>
          </p:nvSpPr>
          <p:spPr>
            <a:xfrm>
              <a:off x="1439861" y="1652588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4" name="椭圆 8"/>
            <p:cNvSpPr/>
            <p:nvPr/>
          </p:nvSpPr>
          <p:spPr>
            <a:xfrm>
              <a:off x="390525" y="1628774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grpSp>
          <p:nvGrpSpPr>
            <p:cNvPr id="371" name="组合 9"/>
            <p:cNvGrpSpPr/>
            <p:nvPr/>
          </p:nvGrpSpPr>
          <p:grpSpPr>
            <a:xfrm>
              <a:off x="212724" y="292099"/>
              <a:ext cx="1533527" cy="1277940"/>
              <a:chOff x="0" y="0"/>
              <a:chExt cx="1533525" cy="1277938"/>
            </a:xfrm>
          </p:grpSpPr>
          <p:sp>
            <p:nvSpPr>
              <p:cNvPr id="365" name="任意多边形 10"/>
              <p:cNvSpPr/>
              <p:nvPr/>
            </p:nvSpPr>
            <p:spPr>
              <a:xfrm flipV="1">
                <a:off x="773111" y="12699"/>
                <a:ext cx="446089" cy="627065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6" name="任意多边形 11"/>
              <p:cNvSpPr/>
              <p:nvPr/>
            </p:nvSpPr>
            <p:spPr>
              <a:xfrm>
                <a:off x="760412" y="639763"/>
                <a:ext cx="773114" cy="1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7" name="任意多边形 12"/>
              <p:cNvSpPr/>
              <p:nvPr/>
            </p:nvSpPr>
            <p:spPr>
              <a:xfrm flipH="1" flipV="1">
                <a:off x="341312" y="0"/>
                <a:ext cx="431800" cy="6254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8" name="任意多边形 13"/>
              <p:cNvSpPr/>
              <p:nvPr/>
            </p:nvSpPr>
            <p:spPr>
              <a:xfrm flipH="1" flipV="1">
                <a:off x="0" y="652463"/>
                <a:ext cx="760413" cy="1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9" name="任意多边形 14"/>
              <p:cNvSpPr/>
              <p:nvPr/>
            </p:nvSpPr>
            <p:spPr>
              <a:xfrm flipH="1">
                <a:off x="327025" y="665163"/>
                <a:ext cx="446088" cy="6127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任意多边形 15"/>
              <p:cNvSpPr/>
              <p:nvPr/>
            </p:nvSpPr>
            <p:spPr>
              <a:xfrm>
                <a:off x="785811" y="665163"/>
                <a:ext cx="406401" cy="6127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73" name="矩形 17"/>
          <p:cNvSpPr txBox="1"/>
          <p:nvPr/>
        </p:nvSpPr>
        <p:spPr>
          <a:xfrm>
            <a:off x="677788" y="1058955"/>
            <a:ext cx="7496176" cy="7891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300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通过词法分析和语法分析的结合，利用</a:t>
            </a:r>
            <a:r>
              <a:rPr lang="en-US" altLang="zh-CN" dirty="0"/>
              <a:t>Python 3</a:t>
            </a:r>
            <a:r>
              <a:rPr lang="zh-CN" altLang="en-US" dirty="0"/>
              <a:t>的强大功能，成功构建了编程语言的底层解析工具。词法分析器和语法分析器的实现为后续的语义分析、代码生成和程序优化提供了坚实的基础。</a:t>
            </a:r>
          </a:p>
          <a:p>
            <a:endParaRPr dirty="0"/>
          </a:p>
        </p:txBody>
      </p:sp>
      <p:grpSp>
        <p:nvGrpSpPr>
          <p:cNvPr id="378" name="组合 19"/>
          <p:cNvGrpSpPr/>
          <p:nvPr/>
        </p:nvGrpSpPr>
        <p:grpSpPr>
          <a:xfrm>
            <a:off x="3804348" y="2839021"/>
            <a:ext cx="1086730" cy="993777"/>
            <a:chOff x="0" y="0"/>
            <a:chExt cx="1086728" cy="993776"/>
          </a:xfrm>
        </p:grpSpPr>
        <p:sp>
          <p:nvSpPr>
            <p:cNvPr id="376" name="椭圆 20"/>
            <p:cNvSpPr/>
            <p:nvPr/>
          </p:nvSpPr>
          <p:spPr>
            <a:xfrm>
              <a:off x="0" y="0"/>
              <a:ext cx="979488" cy="993776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7" name="矩形 21"/>
            <p:cNvSpPr txBox="1"/>
            <p:nvPr/>
          </p:nvSpPr>
          <p:spPr>
            <a:xfrm>
              <a:off x="69850" y="333517"/>
              <a:ext cx="1016878" cy="323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CN" altLang="en-US" dirty="0"/>
                <a:t>技术方法</a:t>
              </a:r>
              <a:endParaRPr dirty="0"/>
            </a:p>
          </p:txBody>
        </p:sp>
      </p:grpSp>
      <p:sp>
        <p:nvSpPr>
          <p:cNvPr id="380" name="矩形 24"/>
          <p:cNvSpPr txBox="1"/>
          <p:nvPr/>
        </p:nvSpPr>
        <p:spPr>
          <a:xfrm>
            <a:off x="5540373" y="2626296"/>
            <a:ext cx="2880521" cy="16774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ts val="21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just"/>
            <a:r>
              <a:rPr lang="zh-CN" altLang="en-US" dirty="0"/>
              <a:t>采用递归下降解析方法进行语法分析，根据语言的语法规则，递归地解析</a:t>
            </a:r>
            <a:r>
              <a:rPr lang="en-US" altLang="zh-CN" dirty="0"/>
              <a:t>Token</a:t>
            </a:r>
            <a:r>
              <a:rPr lang="zh-CN" altLang="en-US" dirty="0"/>
              <a:t>序列，最终构建出抽象语法树（</a:t>
            </a:r>
            <a:r>
              <a:rPr lang="en-US" altLang="zh-CN" dirty="0"/>
              <a:t>AST</a:t>
            </a:r>
            <a:r>
              <a:rPr lang="zh-CN" altLang="en-US" dirty="0"/>
              <a:t>）。</a:t>
            </a:r>
            <a:r>
              <a:rPr lang="en-US" altLang="zh-CN" dirty="0"/>
              <a:t>AST</a:t>
            </a:r>
            <a:r>
              <a:rPr lang="zh-CN" altLang="en-US" dirty="0"/>
              <a:t>是程序的语法结构的直观表示，能够帮助我们清晰地展示和理解代码结构，进一步为后续的分析与处理提供支持。</a:t>
            </a:r>
            <a:endParaRPr dirty="0"/>
          </a:p>
        </p:txBody>
      </p:sp>
      <p:sp>
        <p:nvSpPr>
          <p:cNvPr id="383" name="矩形 27"/>
          <p:cNvSpPr txBox="1"/>
          <p:nvPr/>
        </p:nvSpPr>
        <p:spPr>
          <a:xfrm>
            <a:off x="148332" y="2327846"/>
            <a:ext cx="3071816" cy="2485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r">
              <a:lnSpc>
                <a:spcPts val="21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 algn="just"/>
            <a:r>
              <a:rPr lang="zh-CN" altLang="en-US" dirty="0"/>
              <a:t>本项目选择</a:t>
            </a:r>
            <a:r>
              <a:rPr lang="en-US" altLang="zh-CN" dirty="0"/>
              <a:t>Python 3</a:t>
            </a:r>
            <a:r>
              <a:rPr lang="zh-CN" altLang="en-US" dirty="0"/>
              <a:t>作为实现语言，</a:t>
            </a:r>
            <a:r>
              <a:rPr lang="en-US" altLang="zh-CN" dirty="0"/>
              <a:t>Python 3</a:t>
            </a:r>
            <a:r>
              <a:rPr lang="zh-CN" altLang="en-US" dirty="0"/>
              <a:t>以其简洁的语法、丰富的库资源和强大的文本处理能力，大大提高了开发效率。在具体实现过程中，运用词法分析技术，通过定义规则和模式，准确识别源代码中的关键字、标识符、运算符等元素，并将其转化为</a:t>
            </a:r>
            <a:r>
              <a:rPr lang="en-US" altLang="zh-CN" dirty="0"/>
              <a:t>Token</a:t>
            </a:r>
            <a:r>
              <a:rPr lang="zh-CN" altLang="en-US" dirty="0"/>
              <a:t>。这一步是构建语言解析工具的基础，确保程序能够正确地理解源代码。</a:t>
            </a:r>
            <a:endParaRPr dirty="0"/>
          </a:p>
        </p:txBody>
      </p:sp>
      <p:sp>
        <p:nvSpPr>
          <p:cNvPr id="385" name="矩形 28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实现方法</a:t>
            </a:r>
            <a:endParaRPr dirty="0"/>
          </a:p>
        </p:txBody>
      </p:sp>
      <p:sp>
        <p:nvSpPr>
          <p:cNvPr id="386" name="矩形 29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7" name="矩形 30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8" name="矩形 31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9" name="矩形 32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0" name="矩形 33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1" name="矩形 34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D1DEC913-1878-598B-1C4D-1FB1F716FB41}"/>
              </a:ext>
            </a:extLst>
          </p:cNvPr>
          <p:cNvSpPr txBox="1"/>
          <p:nvPr/>
        </p:nvSpPr>
        <p:spPr>
          <a:xfrm>
            <a:off x="6037639" y="1958516"/>
            <a:ext cx="170815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语法分析的实现</a:t>
            </a:r>
            <a:endParaRPr b="1" dirty="0"/>
          </a:p>
        </p:txBody>
      </p:sp>
      <p:sp>
        <p:nvSpPr>
          <p:cNvPr id="6" name="TextBox 23"/>
          <p:cNvSpPr txBox="1"/>
          <p:nvPr/>
        </p:nvSpPr>
        <p:spPr>
          <a:xfrm>
            <a:off x="637805" y="1958516"/>
            <a:ext cx="170815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词法分析的实现</a:t>
            </a:r>
            <a:endParaRPr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2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5" presetClass="entr" presetSubtype="0" fill="hold" grpId="3" nodeType="afterEffect">
                                  <p:stCondLst>
                                    <p:cond delay="1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2" animBg="1" advAuto="0"/>
      <p:bldP spid="378" grpId="3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0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第二部分</a:t>
            </a:r>
          </a:p>
        </p:txBody>
      </p:sp>
      <p:sp>
        <p:nvSpPr>
          <p:cNvPr id="501" name="TextBox 23"/>
          <p:cNvSpPr txBox="1"/>
          <p:nvPr/>
        </p:nvSpPr>
        <p:spPr>
          <a:xfrm>
            <a:off x="3773487" y="1827213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功能需求</a:t>
            </a:r>
            <a:endParaRPr dirty="0"/>
          </a:p>
        </p:txBody>
      </p:sp>
      <p:sp>
        <p:nvSpPr>
          <p:cNvPr id="502" name="TextBox 24"/>
          <p:cNvSpPr txBox="1"/>
          <p:nvPr/>
        </p:nvSpPr>
        <p:spPr>
          <a:xfrm>
            <a:off x="3773487" y="215423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设计目标</a:t>
            </a:r>
            <a:endParaRPr dirty="0"/>
          </a:p>
        </p:txBody>
      </p:sp>
      <p:sp>
        <p:nvSpPr>
          <p:cNvPr id="505" name="文本框 8"/>
          <p:cNvSpPr txBox="1"/>
          <p:nvPr/>
        </p:nvSpPr>
        <p:spPr>
          <a:xfrm>
            <a:off x="3745346" y="1293812"/>
            <a:ext cx="4070345" cy="4385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 numCol="1" anchor="t">
            <a:spAutoFit/>
          </a:bodyPr>
          <a:lstStyle>
            <a:lvl1pPr>
              <a:defRPr sz="24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系统需求：构建分析系统基石</a:t>
            </a:r>
            <a:endParaRPr dirty="0"/>
          </a:p>
        </p:txBody>
      </p:sp>
      <p:sp>
        <p:nvSpPr>
          <p:cNvPr id="507" name="矩形 9"/>
          <p:cNvSpPr/>
          <p:nvPr/>
        </p:nvSpPr>
        <p:spPr>
          <a:xfrm>
            <a:off x="3825875" y="2591871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50"/>
                            </p:stCondLst>
                            <p:childTnLst>
                              <p:par>
                                <p:cTn id="22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" grpId="1" animBg="1" advAuto="0"/>
      <p:bldP spid="501" grpId="4" animBg="1" advAuto="0"/>
      <p:bldP spid="502" grpId="5" animBg="1" advAuto="0"/>
      <p:bldP spid="507" grpId="7" animBg="1" advAuto="0"/>
      <p:bldP spid="508" grpId="2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椭圆 2"/>
          <p:cNvSpPr/>
          <p:nvPr/>
        </p:nvSpPr>
        <p:spPr>
          <a:xfrm>
            <a:off x="2959099" y="1528762"/>
            <a:ext cx="2744790" cy="2744790"/>
          </a:xfrm>
          <a:prstGeom prst="ellipse">
            <a:avLst/>
          </a:prstGeom>
          <a:blipFill>
            <a:blip r:embed="rId2"/>
          </a:blipFill>
          <a:ln w="15875" cap="rnd">
            <a:solidFill>
              <a:srgbClr val="414455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839" name="组合 31"/>
          <p:cNvGrpSpPr/>
          <p:nvPr/>
        </p:nvGrpSpPr>
        <p:grpSpPr>
          <a:xfrm>
            <a:off x="3089275" y="1658938"/>
            <a:ext cx="2484440" cy="2484439"/>
            <a:chOff x="0" y="0"/>
            <a:chExt cx="2484439" cy="2484438"/>
          </a:xfrm>
        </p:grpSpPr>
        <p:grpSp>
          <p:nvGrpSpPr>
            <p:cNvPr id="829" name="组合 30"/>
            <p:cNvGrpSpPr/>
            <p:nvPr/>
          </p:nvGrpSpPr>
          <p:grpSpPr>
            <a:xfrm>
              <a:off x="360362" y="0"/>
              <a:ext cx="1763714" cy="536648"/>
              <a:chOff x="0" y="0"/>
              <a:chExt cx="1763712" cy="536647"/>
            </a:xfrm>
          </p:grpSpPr>
          <p:sp>
            <p:nvSpPr>
              <p:cNvPr id="827" name="任意多边形 3"/>
              <p:cNvSpPr/>
              <p:nvPr/>
            </p:nvSpPr>
            <p:spPr>
              <a:xfrm>
                <a:off x="0" y="0"/>
                <a:ext cx="1763712" cy="534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5001" y="0"/>
                      <a:pt x="18804" y="5602"/>
                      <a:pt x="21556" y="14658"/>
                    </a:cubicBezTo>
                    <a:lnTo>
                      <a:pt x="21600" y="14816"/>
                    </a:lnTo>
                    <a:lnTo>
                      <a:pt x="21549" y="14927"/>
                    </a:lnTo>
                    <a:cubicBezTo>
                      <a:pt x="19479" y="18902"/>
                      <a:pt x="15441" y="21600"/>
                      <a:pt x="10800" y="21600"/>
                    </a:cubicBezTo>
                    <a:cubicBezTo>
                      <a:pt x="6159" y="21600"/>
                      <a:pt x="2121" y="18902"/>
                      <a:pt x="51" y="14927"/>
                    </a:cubicBezTo>
                    <a:lnTo>
                      <a:pt x="0" y="14816"/>
                    </a:lnTo>
                    <a:lnTo>
                      <a:pt x="44" y="14658"/>
                    </a:lnTo>
                    <a:cubicBezTo>
                      <a:pt x="2796" y="5602"/>
                      <a:pt x="6599" y="0"/>
                      <a:pt x="10800" y="0"/>
                    </a:cubicBezTo>
                    <a:close/>
                  </a:path>
                </a:pathLst>
              </a:custGeom>
              <a:solidFill>
                <a:srgbClr val="777B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28" name="文本框 1153"/>
              <p:cNvSpPr txBox="1"/>
              <p:nvPr/>
            </p:nvSpPr>
            <p:spPr>
              <a:xfrm>
                <a:off x="474661" y="36511"/>
                <a:ext cx="839788" cy="5001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rPr dirty="0"/>
                  <a:t>01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rPr lang="en-US" altLang="zh-CN" dirty="0"/>
                  <a:t>Requirement</a:t>
                </a:r>
                <a:endParaRPr dirty="0"/>
              </a:p>
            </p:txBody>
          </p:sp>
        </p:grpSp>
        <p:grpSp>
          <p:nvGrpSpPr>
            <p:cNvPr id="832" name="组合 29"/>
            <p:cNvGrpSpPr/>
            <p:nvPr/>
          </p:nvGrpSpPr>
          <p:grpSpPr>
            <a:xfrm>
              <a:off x="33338" y="368300"/>
              <a:ext cx="2417764" cy="874714"/>
              <a:chOff x="0" y="0"/>
              <a:chExt cx="2417763" cy="874713"/>
            </a:xfrm>
          </p:grpSpPr>
          <p:sp>
            <p:nvSpPr>
              <p:cNvPr id="830" name="任意多边形 4"/>
              <p:cNvSpPr/>
              <p:nvPr/>
            </p:nvSpPr>
            <p:spPr>
              <a:xfrm>
                <a:off x="0" y="0"/>
                <a:ext cx="2417763" cy="8747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78" y="0"/>
                    </a:moveTo>
                    <a:lnTo>
                      <a:pt x="19363" y="2082"/>
                    </a:lnTo>
                    <a:cubicBezTo>
                      <a:pt x="20352" y="5397"/>
                      <a:pt x="21095" y="9297"/>
                      <a:pt x="21513" y="13565"/>
                    </a:cubicBezTo>
                    <a:lnTo>
                      <a:pt x="21600" y="14644"/>
                    </a:lnTo>
                    <a:lnTo>
                      <a:pt x="21038" y="15582"/>
                    </a:lnTo>
                    <a:cubicBezTo>
                      <a:pt x="18604" y="19257"/>
                      <a:pt x="14922" y="21600"/>
                      <a:pt x="10800" y="21600"/>
                    </a:cubicBezTo>
                    <a:cubicBezTo>
                      <a:pt x="6678" y="21600"/>
                      <a:pt x="2996" y="19257"/>
                      <a:pt x="562" y="15582"/>
                    </a:cubicBezTo>
                    <a:lnTo>
                      <a:pt x="0" y="14644"/>
                    </a:lnTo>
                    <a:lnTo>
                      <a:pt x="87" y="13565"/>
                    </a:lnTo>
                    <a:cubicBezTo>
                      <a:pt x="505" y="9297"/>
                      <a:pt x="1248" y="5397"/>
                      <a:pt x="2237" y="2082"/>
                    </a:cubicBezTo>
                    <a:lnTo>
                      <a:pt x="2922" y="0"/>
                    </a:lnTo>
                    <a:lnTo>
                      <a:pt x="2959" y="68"/>
                    </a:lnTo>
                    <a:cubicBezTo>
                      <a:pt x="4469" y="2505"/>
                      <a:pt x="7414" y="4159"/>
                      <a:pt x="10800" y="4159"/>
                    </a:cubicBezTo>
                    <a:cubicBezTo>
                      <a:pt x="14186" y="4159"/>
                      <a:pt x="17131" y="2505"/>
                      <a:pt x="18641" y="68"/>
                    </a:cubicBezTo>
                    <a:close/>
                  </a:path>
                </a:pathLst>
              </a:custGeom>
              <a:solidFill>
                <a:srgbClr val="686C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1" name="文本框 39"/>
              <p:cNvSpPr txBox="1"/>
              <p:nvPr/>
            </p:nvSpPr>
            <p:spPr>
              <a:xfrm>
                <a:off x="801686" y="317499"/>
                <a:ext cx="839789" cy="5001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rPr dirty="0"/>
                  <a:t>02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rPr lang="en-US" altLang="zh-CN" dirty="0"/>
                  <a:t>Requirement</a:t>
                </a:r>
                <a:endParaRPr dirty="0"/>
              </a:p>
            </p:txBody>
          </p:sp>
        </p:grpSp>
        <p:grpSp>
          <p:nvGrpSpPr>
            <p:cNvPr id="835" name="组合 28"/>
            <p:cNvGrpSpPr/>
            <p:nvPr/>
          </p:nvGrpSpPr>
          <p:grpSpPr>
            <a:xfrm>
              <a:off x="0" y="960436"/>
              <a:ext cx="2484439" cy="955677"/>
              <a:chOff x="0" y="0"/>
              <a:chExt cx="2484438" cy="955675"/>
            </a:xfrm>
          </p:grpSpPr>
          <p:sp>
            <p:nvSpPr>
              <p:cNvPr id="833" name="任意多边形 5"/>
              <p:cNvSpPr/>
              <p:nvPr/>
            </p:nvSpPr>
            <p:spPr>
              <a:xfrm>
                <a:off x="0" y="0"/>
                <a:ext cx="2484438" cy="955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9" y="0"/>
                    </a:moveTo>
                    <a:lnTo>
                      <a:pt x="836" y="858"/>
                    </a:lnTo>
                    <a:cubicBezTo>
                      <a:pt x="3204" y="4221"/>
                      <a:pt x="6789" y="6365"/>
                      <a:pt x="10800" y="6365"/>
                    </a:cubicBezTo>
                    <a:cubicBezTo>
                      <a:pt x="14811" y="6365"/>
                      <a:pt x="18396" y="4221"/>
                      <a:pt x="20764" y="858"/>
                    </a:cubicBezTo>
                    <a:lnTo>
                      <a:pt x="21311" y="0"/>
                    </a:lnTo>
                    <a:lnTo>
                      <a:pt x="21431" y="1395"/>
                    </a:lnTo>
                    <a:cubicBezTo>
                      <a:pt x="21542" y="3008"/>
                      <a:pt x="21600" y="4669"/>
                      <a:pt x="21600" y="6365"/>
                    </a:cubicBezTo>
                    <a:cubicBezTo>
                      <a:pt x="21600" y="9273"/>
                      <a:pt x="21430" y="12078"/>
                      <a:pt x="21114" y="14715"/>
                    </a:cubicBezTo>
                    <a:lnTo>
                      <a:pt x="20803" y="16929"/>
                    </a:lnTo>
                    <a:lnTo>
                      <a:pt x="19795" y="17934"/>
                    </a:lnTo>
                    <a:cubicBezTo>
                      <a:pt x="17227" y="20249"/>
                      <a:pt x="14132" y="21600"/>
                      <a:pt x="10800" y="21600"/>
                    </a:cubicBezTo>
                    <a:cubicBezTo>
                      <a:pt x="7468" y="21600"/>
                      <a:pt x="4373" y="20249"/>
                      <a:pt x="1805" y="17934"/>
                    </a:cubicBezTo>
                    <a:lnTo>
                      <a:pt x="797" y="16929"/>
                    </a:lnTo>
                    <a:lnTo>
                      <a:pt x="486" y="14715"/>
                    </a:lnTo>
                    <a:cubicBezTo>
                      <a:pt x="170" y="12078"/>
                      <a:pt x="0" y="9273"/>
                      <a:pt x="0" y="6365"/>
                    </a:cubicBezTo>
                    <a:cubicBezTo>
                      <a:pt x="0" y="4669"/>
                      <a:pt x="58" y="3008"/>
                      <a:pt x="169" y="1395"/>
                    </a:cubicBezTo>
                    <a:close/>
                  </a:path>
                </a:pathLst>
              </a:custGeom>
              <a:solidFill>
                <a:srgbClr val="50536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4" name="文本框 40"/>
              <p:cNvSpPr txBox="1"/>
              <p:nvPr/>
            </p:nvSpPr>
            <p:spPr>
              <a:xfrm>
                <a:off x="835025" y="373062"/>
                <a:ext cx="839789" cy="5001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rPr dirty="0"/>
                  <a:t>03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rPr lang="en-US" altLang="zh-CN" dirty="0"/>
                  <a:t>Requirement</a:t>
                </a:r>
                <a:endParaRPr dirty="0"/>
              </a:p>
            </p:txBody>
          </p:sp>
        </p:grpSp>
        <p:grpSp>
          <p:nvGrpSpPr>
            <p:cNvPr id="838" name="组合 7"/>
            <p:cNvGrpSpPr/>
            <p:nvPr/>
          </p:nvGrpSpPr>
          <p:grpSpPr>
            <a:xfrm>
              <a:off x="92074" y="1709736"/>
              <a:ext cx="2300290" cy="774702"/>
              <a:chOff x="0" y="0"/>
              <a:chExt cx="2300288" cy="774700"/>
            </a:xfrm>
          </p:grpSpPr>
          <p:sp>
            <p:nvSpPr>
              <p:cNvPr id="836" name="任意多边形 6"/>
              <p:cNvSpPr/>
              <p:nvPr/>
            </p:nvSpPr>
            <p:spPr>
              <a:xfrm>
                <a:off x="0" y="0"/>
                <a:ext cx="2300288" cy="774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21544" y="452"/>
                    </a:lnTo>
                    <a:cubicBezTo>
                      <a:pt x="19774" y="12880"/>
                      <a:pt x="15630" y="21600"/>
                      <a:pt x="10800" y="21600"/>
                    </a:cubicBezTo>
                    <a:cubicBezTo>
                      <a:pt x="5970" y="21600"/>
                      <a:pt x="1826" y="12880"/>
                      <a:pt x="56" y="452"/>
                    </a:cubicBezTo>
                    <a:lnTo>
                      <a:pt x="0" y="0"/>
                    </a:lnTo>
                    <a:lnTo>
                      <a:pt x="1088" y="1240"/>
                    </a:lnTo>
                    <a:cubicBezTo>
                      <a:pt x="3861" y="4094"/>
                      <a:pt x="7203" y="5761"/>
                      <a:pt x="10800" y="5761"/>
                    </a:cubicBezTo>
                    <a:cubicBezTo>
                      <a:pt x="14397" y="5761"/>
                      <a:pt x="17739" y="4094"/>
                      <a:pt x="20512" y="1240"/>
                    </a:cubicBezTo>
                    <a:close/>
                  </a:path>
                </a:pathLst>
              </a:cu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7" name="文本框 41"/>
              <p:cNvSpPr txBox="1"/>
              <p:nvPr/>
            </p:nvSpPr>
            <p:spPr>
              <a:xfrm>
                <a:off x="742949" y="273050"/>
                <a:ext cx="839789" cy="4847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rPr dirty="0"/>
                  <a:t>04</a:t>
                </a:r>
              </a:p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  <a:r>
                  <a:rPr lang="en-US" altLang="zh-CN" dirty="0"/>
                  <a:t>Requirement</a:t>
                </a:r>
                <a:endParaRPr dirty="0"/>
              </a:p>
            </p:txBody>
          </p:sp>
        </p:grpSp>
      </p:grpSp>
      <p:sp>
        <p:nvSpPr>
          <p:cNvPr id="840" name="任意多边形 12"/>
          <p:cNvSpPr/>
          <p:nvPr/>
        </p:nvSpPr>
        <p:spPr>
          <a:xfrm>
            <a:off x="5056990" y="1581973"/>
            <a:ext cx="1109311" cy="100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78" y="0"/>
                </a:lnTo>
                <a:lnTo>
                  <a:pt x="21600" y="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1" name="任意多边形 13"/>
          <p:cNvSpPr/>
          <p:nvPr/>
        </p:nvSpPr>
        <p:spPr>
          <a:xfrm>
            <a:off x="5735139" y="3080862"/>
            <a:ext cx="1663593" cy="1219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3493" y="3800"/>
                </a:lnTo>
                <a:lnTo>
                  <a:pt x="3493" y="21600"/>
                </a:lnTo>
                <a:lnTo>
                  <a:pt x="2160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2" name="任意多边形 14"/>
          <p:cNvSpPr/>
          <p:nvPr/>
        </p:nvSpPr>
        <p:spPr>
          <a:xfrm>
            <a:off x="1547663" y="3841429"/>
            <a:ext cx="1656478" cy="4321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7220" y="21600"/>
                </a:lnTo>
                <a:lnTo>
                  <a:pt x="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3" name="任意多边形 15"/>
          <p:cNvSpPr/>
          <p:nvPr/>
        </p:nvSpPr>
        <p:spPr>
          <a:xfrm>
            <a:off x="1547663" y="2464106"/>
            <a:ext cx="1383637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8394" y="21600"/>
                </a:lnTo>
                <a:lnTo>
                  <a:pt x="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4" name="Freeform 24"/>
          <p:cNvSpPr/>
          <p:nvPr/>
        </p:nvSpPr>
        <p:spPr>
          <a:xfrm flipH="1">
            <a:off x="2008941" y="2741015"/>
            <a:ext cx="398869" cy="476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629" h="20909" extrusionOk="0">
                <a:moveTo>
                  <a:pt x="5174" y="20909"/>
                </a:moveTo>
                <a:cubicBezTo>
                  <a:pt x="5415" y="19213"/>
                  <a:pt x="5415" y="17403"/>
                  <a:pt x="4933" y="15820"/>
                </a:cubicBezTo>
                <a:cubicBezTo>
                  <a:pt x="-2730" y="11749"/>
                  <a:pt x="-679" y="2475"/>
                  <a:pt x="5717" y="610"/>
                </a:cubicBezTo>
                <a:cubicBezTo>
                  <a:pt x="9096" y="-691"/>
                  <a:pt x="13681" y="101"/>
                  <a:pt x="16698" y="2871"/>
                </a:cubicBezTo>
                <a:cubicBezTo>
                  <a:pt x="18870" y="4907"/>
                  <a:pt x="17784" y="5472"/>
                  <a:pt x="17784" y="5472"/>
                </a:cubicBezTo>
                <a:cubicBezTo>
                  <a:pt x="17362" y="5699"/>
                  <a:pt x="17362" y="5699"/>
                  <a:pt x="17362" y="5699"/>
                </a:cubicBezTo>
                <a:cubicBezTo>
                  <a:pt x="17603" y="6660"/>
                  <a:pt x="18086" y="8469"/>
                  <a:pt x="18025" y="8695"/>
                </a:cubicBezTo>
                <a:cubicBezTo>
                  <a:pt x="17905" y="9035"/>
                  <a:pt x="17543" y="9374"/>
                  <a:pt x="17543" y="9374"/>
                </a:cubicBezTo>
                <a:cubicBezTo>
                  <a:pt x="18629" y="12823"/>
                  <a:pt x="18629" y="12823"/>
                  <a:pt x="18629" y="12823"/>
                </a:cubicBezTo>
                <a:cubicBezTo>
                  <a:pt x="17663" y="13162"/>
                  <a:pt x="17663" y="13162"/>
                  <a:pt x="17663" y="13162"/>
                </a:cubicBezTo>
                <a:cubicBezTo>
                  <a:pt x="17844" y="14293"/>
                  <a:pt x="17965" y="15198"/>
                  <a:pt x="17844" y="16272"/>
                </a:cubicBezTo>
                <a:cubicBezTo>
                  <a:pt x="17844" y="16499"/>
                  <a:pt x="17181" y="17007"/>
                  <a:pt x="16638" y="17064"/>
                </a:cubicBezTo>
                <a:cubicBezTo>
                  <a:pt x="13379" y="17234"/>
                  <a:pt x="13379" y="17234"/>
                  <a:pt x="13379" y="17234"/>
                </a:cubicBezTo>
                <a:cubicBezTo>
                  <a:pt x="13621" y="20909"/>
                  <a:pt x="13621" y="20909"/>
                  <a:pt x="13621" y="20909"/>
                </a:cubicBezTo>
                <a:cubicBezTo>
                  <a:pt x="5174" y="20909"/>
                  <a:pt x="5174" y="20909"/>
                  <a:pt x="5174" y="20909"/>
                </a:cubicBezTo>
                <a:close/>
                <a:moveTo>
                  <a:pt x="7648" y="12088"/>
                </a:moveTo>
                <a:cubicBezTo>
                  <a:pt x="5234" y="10392"/>
                  <a:pt x="5234" y="10392"/>
                  <a:pt x="5234" y="10392"/>
                </a:cubicBezTo>
                <a:cubicBezTo>
                  <a:pt x="5053" y="10222"/>
                  <a:pt x="4812" y="10279"/>
                  <a:pt x="4691" y="10448"/>
                </a:cubicBezTo>
                <a:cubicBezTo>
                  <a:pt x="4691" y="10448"/>
                  <a:pt x="4691" y="10448"/>
                  <a:pt x="4691" y="10448"/>
                </a:cubicBezTo>
                <a:cubicBezTo>
                  <a:pt x="4571" y="10674"/>
                  <a:pt x="4631" y="10901"/>
                  <a:pt x="4812" y="11070"/>
                </a:cubicBezTo>
                <a:cubicBezTo>
                  <a:pt x="7225" y="12767"/>
                  <a:pt x="7225" y="12767"/>
                  <a:pt x="7225" y="12767"/>
                </a:cubicBezTo>
                <a:cubicBezTo>
                  <a:pt x="7406" y="12880"/>
                  <a:pt x="7648" y="12823"/>
                  <a:pt x="7768" y="12654"/>
                </a:cubicBezTo>
                <a:cubicBezTo>
                  <a:pt x="7768" y="12654"/>
                  <a:pt x="7768" y="12654"/>
                  <a:pt x="7768" y="12654"/>
                </a:cubicBezTo>
                <a:cubicBezTo>
                  <a:pt x="7889" y="12484"/>
                  <a:pt x="7829" y="12201"/>
                  <a:pt x="7648" y="12088"/>
                </a:cubicBezTo>
                <a:close/>
                <a:moveTo>
                  <a:pt x="13138" y="6999"/>
                </a:moveTo>
                <a:cubicBezTo>
                  <a:pt x="14647" y="6999"/>
                  <a:pt x="14647" y="6999"/>
                  <a:pt x="14647" y="6999"/>
                </a:cubicBezTo>
                <a:cubicBezTo>
                  <a:pt x="14647" y="6377"/>
                  <a:pt x="14647" y="6377"/>
                  <a:pt x="14647" y="6377"/>
                </a:cubicBezTo>
                <a:cubicBezTo>
                  <a:pt x="13138" y="6377"/>
                  <a:pt x="13138" y="6377"/>
                  <a:pt x="13138" y="6377"/>
                </a:cubicBezTo>
                <a:cubicBezTo>
                  <a:pt x="13138" y="6999"/>
                  <a:pt x="13138" y="6999"/>
                  <a:pt x="13138" y="6999"/>
                </a:cubicBezTo>
                <a:close/>
                <a:moveTo>
                  <a:pt x="7587" y="3267"/>
                </a:moveTo>
                <a:cubicBezTo>
                  <a:pt x="6803" y="2023"/>
                  <a:pt x="6803" y="2023"/>
                  <a:pt x="6803" y="2023"/>
                </a:cubicBezTo>
                <a:cubicBezTo>
                  <a:pt x="6200" y="2362"/>
                  <a:pt x="6200" y="2362"/>
                  <a:pt x="6200" y="2362"/>
                </a:cubicBezTo>
                <a:cubicBezTo>
                  <a:pt x="6984" y="3606"/>
                  <a:pt x="6984" y="3606"/>
                  <a:pt x="6984" y="3606"/>
                </a:cubicBezTo>
                <a:cubicBezTo>
                  <a:pt x="7587" y="3267"/>
                  <a:pt x="7587" y="3267"/>
                  <a:pt x="7587" y="3267"/>
                </a:cubicBezTo>
                <a:close/>
                <a:moveTo>
                  <a:pt x="9578" y="2928"/>
                </a:moveTo>
                <a:cubicBezTo>
                  <a:pt x="9578" y="1514"/>
                  <a:pt x="9578" y="1514"/>
                  <a:pt x="9578" y="1514"/>
                </a:cubicBezTo>
                <a:cubicBezTo>
                  <a:pt x="8915" y="1514"/>
                  <a:pt x="8915" y="1514"/>
                  <a:pt x="8915" y="1514"/>
                </a:cubicBezTo>
                <a:cubicBezTo>
                  <a:pt x="8915" y="2928"/>
                  <a:pt x="8915" y="2928"/>
                  <a:pt x="8915" y="2928"/>
                </a:cubicBezTo>
                <a:cubicBezTo>
                  <a:pt x="9578" y="2928"/>
                  <a:pt x="9578" y="2928"/>
                  <a:pt x="9578" y="2928"/>
                </a:cubicBezTo>
                <a:close/>
                <a:moveTo>
                  <a:pt x="12836" y="5133"/>
                </a:moveTo>
                <a:cubicBezTo>
                  <a:pt x="14104" y="4398"/>
                  <a:pt x="14104" y="4398"/>
                  <a:pt x="14104" y="4398"/>
                </a:cubicBezTo>
                <a:cubicBezTo>
                  <a:pt x="13802" y="3833"/>
                  <a:pt x="13802" y="3833"/>
                  <a:pt x="13802" y="3833"/>
                </a:cubicBezTo>
                <a:cubicBezTo>
                  <a:pt x="12474" y="4568"/>
                  <a:pt x="12474" y="4568"/>
                  <a:pt x="12474" y="4568"/>
                </a:cubicBezTo>
                <a:cubicBezTo>
                  <a:pt x="12836" y="5133"/>
                  <a:pt x="12836" y="5133"/>
                  <a:pt x="12836" y="5133"/>
                </a:cubicBezTo>
                <a:close/>
                <a:moveTo>
                  <a:pt x="11509" y="3606"/>
                </a:moveTo>
                <a:cubicBezTo>
                  <a:pt x="12293" y="2419"/>
                  <a:pt x="12293" y="2419"/>
                  <a:pt x="12293" y="2419"/>
                </a:cubicBezTo>
                <a:cubicBezTo>
                  <a:pt x="11690" y="2080"/>
                  <a:pt x="11690" y="2080"/>
                  <a:pt x="11690" y="2080"/>
                </a:cubicBezTo>
                <a:cubicBezTo>
                  <a:pt x="10906" y="3324"/>
                  <a:pt x="10906" y="3324"/>
                  <a:pt x="10906" y="3324"/>
                </a:cubicBezTo>
                <a:cubicBezTo>
                  <a:pt x="11509" y="3606"/>
                  <a:pt x="11509" y="3606"/>
                  <a:pt x="11509" y="3606"/>
                </a:cubicBezTo>
                <a:close/>
                <a:moveTo>
                  <a:pt x="8251" y="11127"/>
                </a:moveTo>
                <a:cubicBezTo>
                  <a:pt x="5838" y="9374"/>
                  <a:pt x="5838" y="9374"/>
                  <a:pt x="5838" y="9374"/>
                </a:cubicBezTo>
                <a:cubicBezTo>
                  <a:pt x="5657" y="9261"/>
                  <a:pt x="5415" y="9317"/>
                  <a:pt x="5295" y="9487"/>
                </a:cubicBezTo>
                <a:cubicBezTo>
                  <a:pt x="5295" y="9487"/>
                  <a:pt x="5295" y="9487"/>
                  <a:pt x="5295" y="9487"/>
                </a:cubicBezTo>
                <a:cubicBezTo>
                  <a:pt x="5174" y="9657"/>
                  <a:pt x="5234" y="9939"/>
                  <a:pt x="5415" y="10052"/>
                </a:cubicBezTo>
                <a:cubicBezTo>
                  <a:pt x="7829" y="11805"/>
                  <a:pt x="7829" y="11805"/>
                  <a:pt x="7829" y="11805"/>
                </a:cubicBezTo>
                <a:cubicBezTo>
                  <a:pt x="8010" y="11918"/>
                  <a:pt x="8251" y="11862"/>
                  <a:pt x="8372" y="11692"/>
                </a:cubicBezTo>
                <a:cubicBezTo>
                  <a:pt x="8372" y="11692"/>
                  <a:pt x="8372" y="11692"/>
                  <a:pt x="8372" y="11692"/>
                </a:cubicBezTo>
                <a:cubicBezTo>
                  <a:pt x="8492" y="11523"/>
                  <a:pt x="8432" y="11240"/>
                  <a:pt x="8251" y="11127"/>
                </a:cubicBezTo>
                <a:close/>
                <a:moveTo>
                  <a:pt x="10664" y="4398"/>
                </a:moveTo>
                <a:cubicBezTo>
                  <a:pt x="9216" y="3606"/>
                  <a:pt x="7467" y="4002"/>
                  <a:pt x="6743" y="5190"/>
                </a:cubicBezTo>
                <a:cubicBezTo>
                  <a:pt x="5958" y="6434"/>
                  <a:pt x="6924" y="7847"/>
                  <a:pt x="6260" y="9148"/>
                </a:cubicBezTo>
                <a:cubicBezTo>
                  <a:pt x="8492" y="10335"/>
                  <a:pt x="8492" y="10335"/>
                  <a:pt x="8492" y="10335"/>
                </a:cubicBezTo>
                <a:cubicBezTo>
                  <a:pt x="9337" y="9148"/>
                  <a:pt x="11087" y="9261"/>
                  <a:pt x="11871" y="8017"/>
                </a:cubicBezTo>
                <a:cubicBezTo>
                  <a:pt x="12655" y="6773"/>
                  <a:pt x="12052" y="5190"/>
                  <a:pt x="10664" y="4398"/>
                </a:cubicBezTo>
                <a:close/>
                <a:moveTo>
                  <a:pt x="5053" y="11523"/>
                </a:moveTo>
                <a:cubicBezTo>
                  <a:pt x="4812" y="11975"/>
                  <a:pt x="4993" y="12484"/>
                  <a:pt x="5476" y="12767"/>
                </a:cubicBezTo>
                <a:cubicBezTo>
                  <a:pt x="5838" y="12936"/>
                  <a:pt x="6320" y="12880"/>
                  <a:pt x="6622" y="12654"/>
                </a:cubicBezTo>
                <a:lnTo>
                  <a:pt x="5053" y="11523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5" name="Freeform 25"/>
          <p:cNvSpPr/>
          <p:nvPr/>
        </p:nvSpPr>
        <p:spPr>
          <a:xfrm flipH="1">
            <a:off x="1693707" y="980318"/>
            <a:ext cx="551211" cy="520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70" y="0"/>
                </a:moveTo>
                <a:cubicBezTo>
                  <a:pt x="5974" y="0"/>
                  <a:pt x="6606" y="730"/>
                  <a:pt x="6606" y="1582"/>
                </a:cubicBezTo>
                <a:cubicBezTo>
                  <a:pt x="6606" y="2434"/>
                  <a:pt x="5974" y="3164"/>
                  <a:pt x="5170" y="3164"/>
                </a:cubicBezTo>
                <a:cubicBezTo>
                  <a:pt x="4309" y="3164"/>
                  <a:pt x="3677" y="2434"/>
                  <a:pt x="3677" y="1582"/>
                </a:cubicBezTo>
                <a:cubicBezTo>
                  <a:pt x="3677" y="730"/>
                  <a:pt x="4309" y="0"/>
                  <a:pt x="5170" y="0"/>
                </a:cubicBezTo>
                <a:close/>
                <a:moveTo>
                  <a:pt x="2126" y="16063"/>
                </a:moveTo>
                <a:cubicBezTo>
                  <a:pt x="5457" y="16063"/>
                  <a:pt x="5457" y="16063"/>
                  <a:pt x="5457" y="16063"/>
                </a:cubicBezTo>
                <a:cubicBezTo>
                  <a:pt x="6204" y="16063"/>
                  <a:pt x="6779" y="16672"/>
                  <a:pt x="6779" y="17463"/>
                </a:cubicBezTo>
                <a:cubicBezTo>
                  <a:pt x="6779" y="18862"/>
                  <a:pt x="6779" y="18862"/>
                  <a:pt x="6779" y="18862"/>
                </a:cubicBezTo>
                <a:cubicBezTo>
                  <a:pt x="6894" y="18862"/>
                  <a:pt x="6894" y="18862"/>
                  <a:pt x="6894" y="18862"/>
                </a:cubicBezTo>
                <a:cubicBezTo>
                  <a:pt x="7526" y="18862"/>
                  <a:pt x="7526" y="18862"/>
                  <a:pt x="7526" y="18862"/>
                </a:cubicBezTo>
                <a:cubicBezTo>
                  <a:pt x="7698" y="18862"/>
                  <a:pt x="7698" y="18862"/>
                  <a:pt x="7698" y="18862"/>
                </a:cubicBezTo>
                <a:cubicBezTo>
                  <a:pt x="7698" y="17463"/>
                  <a:pt x="7698" y="17463"/>
                  <a:pt x="7698" y="17463"/>
                </a:cubicBezTo>
                <a:cubicBezTo>
                  <a:pt x="7698" y="16672"/>
                  <a:pt x="8272" y="16063"/>
                  <a:pt x="8962" y="16063"/>
                </a:cubicBezTo>
                <a:cubicBezTo>
                  <a:pt x="12351" y="16063"/>
                  <a:pt x="12351" y="16063"/>
                  <a:pt x="12351" y="16063"/>
                </a:cubicBezTo>
                <a:cubicBezTo>
                  <a:pt x="13040" y="16063"/>
                  <a:pt x="13615" y="16672"/>
                  <a:pt x="13615" y="17463"/>
                </a:cubicBezTo>
                <a:cubicBezTo>
                  <a:pt x="13615" y="18862"/>
                  <a:pt x="13615" y="18862"/>
                  <a:pt x="13615" y="18862"/>
                </a:cubicBezTo>
                <a:cubicBezTo>
                  <a:pt x="13845" y="18862"/>
                  <a:pt x="13845" y="18862"/>
                  <a:pt x="13845" y="18862"/>
                </a:cubicBezTo>
                <a:cubicBezTo>
                  <a:pt x="14362" y="18862"/>
                  <a:pt x="14362" y="18862"/>
                  <a:pt x="14362" y="18862"/>
                </a:cubicBezTo>
                <a:cubicBezTo>
                  <a:pt x="14649" y="18862"/>
                  <a:pt x="14649" y="18862"/>
                  <a:pt x="14649" y="18862"/>
                </a:cubicBezTo>
                <a:cubicBezTo>
                  <a:pt x="14649" y="17463"/>
                  <a:pt x="14649" y="17463"/>
                  <a:pt x="14649" y="17463"/>
                </a:cubicBezTo>
                <a:cubicBezTo>
                  <a:pt x="14649" y="16672"/>
                  <a:pt x="15223" y="16063"/>
                  <a:pt x="15970" y="16063"/>
                </a:cubicBezTo>
                <a:cubicBezTo>
                  <a:pt x="19302" y="16063"/>
                  <a:pt x="19302" y="16063"/>
                  <a:pt x="19302" y="16063"/>
                </a:cubicBezTo>
                <a:cubicBezTo>
                  <a:pt x="19991" y="16063"/>
                  <a:pt x="20566" y="16672"/>
                  <a:pt x="20566" y="17463"/>
                </a:cubicBezTo>
                <a:cubicBezTo>
                  <a:pt x="20566" y="18862"/>
                  <a:pt x="20566" y="18862"/>
                  <a:pt x="20566" y="18862"/>
                </a:cubicBezTo>
                <a:cubicBezTo>
                  <a:pt x="20796" y="18862"/>
                  <a:pt x="20796" y="18862"/>
                  <a:pt x="20796" y="18862"/>
                </a:cubicBezTo>
                <a:cubicBezTo>
                  <a:pt x="21313" y="18862"/>
                  <a:pt x="21313" y="18862"/>
                  <a:pt x="21313" y="18862"/>
                </a:cubicBezTo>
                <a:cubicBezTo>
                  <a:pt x="21600" y="18862"/>
                  <a:pt x="21600" y="18862"/>
                  <a:pt x="21600" y="18862"/>
                </a:cubicBezTo>
                <a:cubicBezTo>
                  <a:pt x="21600" y="19653"/>
                  <a:pt x="21600" y="19653"/>
                  <a:pt x="21600" y="19653"/>
                </a:cubicBezTo>
                <a:cubicBezTo>
                  <a:pt x="21313" y="19653"/>
                  <a:pt x="21313" y="19653"/>
                  <a:pt x="21313" y="19653"/>
                </a:cubicBezTo>
                <a:cubicBezTo>
                  <a:pt x="20796" y="19653"/>
                  <a:pt x="20796" y="19653"/>
                  <a:pt x="20796" y="19653"/>
                </a:cubicBezTo>
                <a:cubicBezTo>
                  <a:pt x="20566" y="19653"/>
                  <a:pt x="20566" y="19653"/>
                  <a:pt x="20566" y="19653"/>
                </a:cubicBezTo>
                <a:cubicBezTo>
                  <a:pt x="20566" y="21600"/>
                  <a:pt x="20566" y="21600"/>
                  <a:pt x="20566" y="21600"/>
                </a:cubicBezTo>
                <a:cubicBezTo>
                  <a:pt x="14649" y="21600"/>
                  <a:pt x="14649" y="21600"/>
                  <a:pt x="14649" y="21600"/>
                </a:cubicBezTo>
                <a:cubicBezTo>
                  <a:pt x="14649" y="19653"/>
                  <a:pt x="14649" y="19653"/>
                  <a:pt x="14649" y="19653"/>
                </a:cubicBezTo>
                <a:cubicBezTo>
                  <a:pt x="14362" y="19653"/>
                  <a:pt x="14362" y="19653"/>
                  <a:pt x="14362" y="19653"/>
                </a:cubicBezTo>
                <a:cubicBezTo>
                  <a:pt x="13845" y="19653"/>
                  <a:pt x="13845" y="19653"/>
                  <a:pt x="13845" y="19653"/>
                </a:cubicBezTo>
                <a:cubicBezTo>
                  <a:pt x="13615" y="19653"/>
                  <a:pt x="13615" y="19653"/>
                  <a:pt x="13615" y="19653"/>
                </a:cubicBezTo>
                <a:cubicBezTo>
                  <a:pt x="13615" y="21600"/>
                  <a:pt x="13615" y="21600"/>
                  <a:pt x="13615" y="21600"/>
                </a:cubicBezTo>
                <a:cubicBezTo>
                  <a:pt x="7698" y="21600"/>
                  <a:pt x="7698" y="21600"/>
                  <a:pt x="7698" y="21600"/>
                </a:cubicBezTo>
                <a:cubicBezTo>
                  <a:pt x="7698" y="19653"/>
                  <a:pt x="7698" y="19653"/>
                  <a:pt x="7698" y="19653"/>
                </a:cubicBezTo>
                <a:cubicBezTo>
                  <a:pt x="7526" y="19653"/>
                  <a:pt x="7526" y="19653"/>
                  <a:pt x="7526" y="19653"/>
                </a:cubicBezTo>
                <a:cubicBezTo>
                  <a:pt x="6894" y="19653"/>
                  <a:pt x="6894" y="19653"/>
                  <a:pt x="6894" y="19653"/>
                </a:cubicBezTo>
                <a:cubicBezTo>
                  <a:pt x="6779" y="19653"/>
                  <a:pt x="6779" y="19653"/>
                  <a:pt x="6779" y="19653"/>
                </a:cubicBezTo>
                <a:cubicBezTo>
                  <a:pt x="6779" y="21600"/>
                  <a:pt x="6779" y="21600"/>
                  <a:pt x="6779" y="21600"/>
                </a:cubicBezTo>
                <a:cubicBezTo>
                  <a:pt x="804" y="21600"/>
                  <a:pt x="804" y="21600"/>
                  <a:pt x="804" y="21600"/>
                </a:cubicBezTo>
                <a:cubicBezTo>
                  <a:pt x="804" y="19653"/>
                  <a:pt x="804" y="19653"/>
                  <a:pt x="804" y="19653"/>
                </a:cubicBezTo>
                <a:cubicBezTo>
                  <a:pt x="0" y="19653"/>
                  <a:pt x="0" y="19653"/>
                  <a:pt x="0" y="19653"/>
                </a:cubicBezTo>
                <a:cubicBezTo>
                  <a:pt x="0" y="18862"/>
                  <a:pt x="0" y="18862"/>
                  <a:pt x="0" y="18862"/>
                </a:cubicBezTo>
                <a:cubicBezTo>
                  <a:pt x="804" y="18862"/>
                  <a:pt x="804" y="18862"/>
                  <a:pt x="804" y="18862"/>
                </a:cubicBezTo>
                <a:cubicBezTo>
                  <a:pt x="804" y="17463"/>
                  <a:pt x="804" y="17463"/>
                  <a:pt x="804" y="17463"/>
                </a:cubicBezTo>
                <a:cubicBezTo>
                  <a:pt x="804" y="16672"/>
                  <a:pt x="1379" y="16063"/>
                  <a:pt x="2126" y="16063"/>
                </a:cubicBezTo>
                <a:close/>
                <a:moveTo>
                  <a:pt x="17636" y="13386"/>
                </a:moveTo>
                <a:cubicBezTo>
                  <a:pt x="18555" y="13386"/>
                  <a:pt x="19302" y="14116"/>
                  <a:pt x="19302" y="15090"/>
                </a:cubicBezTo>
                <a:cubicBezTo>
                  <a:pt x="19302" y="15272"/>
                  <a:pt x="19245" y="15515"/>
                  <a:pt x="19187" y="15698"/>
                </a:cubicBezTo>
                <a:cubicBezTo>
                  <a:pt x="16143" y="15698"/>
                  <a:pt x="16143" y="15698"/>
                  <a:pt x="16143" y="15698"/>
                </a:cubicBezTo>
                <a:cubicBezTo>
                  <a:pt x="16085" y="15515"/>
                  <a:pt x="16028" y="15272"/>
                  <a:pt x="16028" y="15090"/>
                </a:cubicBezTo>
                <a:cubicBezTo>
                  <a:pt x="16028" y="14116"/>
                  <a:pt x="16774" y="13386"/>
                  <a:pt x="17636" y="13386"/>
                </a:cubicBezTo>
                <a:close/>
                <a:moveTo>
                  <a:pt x="10685" y="13386"/>
                </a:moveTo>
                <a:cubicBezTo>
                  <a:pt x="11604" y="13386"/>
                  <a:pt x="12351" y="14116"/>
                  <a:pt x="12351" y="15090"/>
                </a:cubicBezTo>
                <a:cubicBezTo>
                  <a:pt x="12351" y="15272"/>
                  <a:pt x="12294" y="15515"/>
                  <a:pt x="12236" y="15698"/>
                </a:cubicBezTo>
                <a:cubicBezTo>
                  <a:pt x="9191" y="15698"/>
                  <a:pt x="9191" y="15698"/>
                  <a:pt x="9191" y="15698"/>
                </a:cubicBezTo>
                <a:cubicBezTo>
                  <a:pt x="9134" y="15515"/>
                  <a:pt x="9077" y="15272"/>
                  <a:pt x="9077" y="15090"/>
                </a:cubicBezTo>
                <a:cubicBezTo>
                  <a:pt x="9077" y="14116"/>
                  <a:pt x="9823" y="13386"/>
                  <a:pt x="10685" y="13386"/>
                </a:cubicBezTo>
                <a:close/>
                <a:moveTo>
                  <a:pt x="3849" y="13386"/>
                </a:moveTo>
                <a:cubicBezTo>
                  <a:pt x="4711" y="13386"/>
                  <a:pt x="5457" y="14116"/>
                  <a:pt x="5457" y="15090"/>
                </a:cubicBezTo>
                <a:cubicBezTo>
                  <a:pt x="5457" y="15272"/>
                  <a:pt x="5400" y="15515"/>
                  <a:pt x="5343" y="15698"/>
                </a:cubicBezTo>
                <a:cubicBezTo>
                  <a:pt x="2298" y="15698"/>
                  <a:pt x="2298" y="15698"/>
                  <a:pt x="2298" y="15698"/>
                </a:cubicBezTo>
                <a:cubicBezTo>
                  <a:pt x="2240" y="15515"/>
                  <a:pt x="2183" y="15272"/>
                  <a:pt x="2183" y="15090"/>
                </a:cubicBezTo>
                <a:cubicBezTo>
                  <a:pt x="2183" y="14116"/>
                  <a:pt x="2930" y="13386"/>
                  <a:pt x="3849" y="13386"/>
                </a:cubicBezTo>
                <a:close/>
                <a:moveTo>
                  <a:pt x="17636" y="7910"/>
                </a:moveTo>
                <a:cubicBezTo>
                  <a:pt x="17636" y="8944"/>
                  <a:pt x="17636" y="8944"/>
                  <a:pt x="17636" y="8944"/>
                </a:cubicBezTo>
                <a:cubicBezTo>
                  <a:pt x="16832" y="8944"/>
                  <a:pt x="16832" y="8944"/>
                  <a:pt x="16832" y="8944"/>
                </a:cubicBezTo>
                <a:cubicBezTo>
                  <a:pt x="17694" y="12230"/>
                  <a:pt x="17694" y="12230"/>
                  <a:pt x="17694" y="12230"/>
                </a:cubicBezTo>
                <a:cubicBezTo>
                  <a:pt x="16602" y="12230"/>
                  <a:pt x="16602" y="12230"/>
                  <a:pt x="16602" y="12230"/>
                </a:cubicBezTo>
                <a:cubicBezTo>
                  <a:pt x="15683" y="8944"/>
                  <a:pt x="15683" y="8944"/>
                  <a:pt x="15683" y="8944"/>
                </a:cubicBezTo>
                <a:cubicBezTo>
                  <a:pt x="12409" y="8944"/>
                  <a:pt x="12409" y="8944"/>
                  <a:pt x="12409" y="8944"/>
                </a:cubicBezTo>
                <a:cubicBezTo>
                  <a:pt x="11547" y="12230"/>
                  <a:pt x="11547" y="12230"/>
                  <a:pt x="11547" y="12230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11317" y="8944"/>
                  <a:pt x="11317" y="8944"/>
                  <a:pt x="11317" y="8944"/>
                </a:cubicBezTo>
                <a:cubicBezTo>
                  <a:pt x="10398" y="8944"/>
                  <a:pt x="10398" y="8944"/>
                  <a:pt x="10398" y="8944"/>
                </a:cubicBezTo>
                <a:cubicBezTo>
                  <a:pt x="10398" y="7910"/>
                  <a:pt x="10398" y="7910"/>
                  <a:pt x="10398" y="7910"/>
                </a:cubicBezTo>
                <a:cubicBezTo>
                  <a:pt x="17636" y="7910"/>
                  <a:pt x="17636" y="7910"/>
                  <a:pt x="17636" y="7910"/>
                </a:cubicBezTo>
                <a:close/>
                <a:moveTo>
                  <a:pt x="10340" y="974"/>
                </a:moveTo>
                <a:cubicBezTo>
                  <a:pt x="10053" y="974"/>
                  <a:pt x="9766" y="1095"/>
                  <a:pt x="9536" y="1278"/>
                </a:cubicBezTo>
                <a:cubicBezTo>
                  <a:pt x="9536" y="1278"/>
                  <a:pt x="9536" y="1278"/>
                  <a:pt x="9536" y="1278"/>
                </a:cubicBezTo>
                <a:cubicBezTo>
                  <a:pt x="9364" y="1521"/>
                  <a:pt x="9249" y="1825"/>
                  <a:pt x="9249" y="2130"/>
                </a:cubicBezTo>
                <a:cubicBezTo>
                  <a:pt x="9249" y="4381"/>
                  <a:pt x="9249" y="4381"/>
                  <a:pt x="9249" y="4381"/>
                </a:cubicBezTo>
                <a:cubicBezTo>
                  <a:pt x="8904" y="4442"/>
                  <a:pt x="8904" y="4442"/>
                  <a:pt x="8904" y="4442"/>
                </a:cubicBezTo>
                <a:cubicBezTo>
                  <a:pt x="8904" y="4077"/>
                  <a:pt x="8904" y="4077"/>
                  <a:pt x="8904" y="4077"/>
                </a:cubicBezTo>
                <a:cubicBezTo>
                  <a:pt x="7353" y="4077"/>
                  <a:pt x="7353" y="4077"/>
                  <a:pt x="7353" y="4077"/>
                </a:cubicBezTo>
                <a:cubicBezTo>
                  <a:pt x="6262" y="3346"/>
                  <a:pt x="6262" y="3346"/>
                  <a:pt x="6262" y="3346"/>
                </a:cubicBezTo>
                <a:cubicBezTo>
                  <a:pt x="3619" y="3346"/>
                  <a:pt x="6721" y="3346"/>
                  <a:pt x="3791" y="3346"/>
                </a:cubicBezTo>
                <a:cubicBezTo>
                  <a:pt x="3274" y="3346"/>
                  <a:pt x="2872" y="3833"/>
                  <a:pt x="2872" y="4320"/>
                </a:cubicBezTo>
                <a:cubicBezTo>
                  <a:pt x="2872" y="7423"/>
                  <a:pt x="2872" y="7423"/>
                  <a:pt x="2872" y="7423"/>
                </a:cubicBezTo>
                <a:cubicBezTo>
                  <a:pt x="3791" y="7423"/>
                  <a:pt x="3791" y="7423"/>
                  <a:pt x="3791" y="7423"/>
                </a:cubicBezTo>
                <a:cubicBezTo>
                  <a:pt x="3791" y="5172"/>
                  <a:pt x="3791" y="5172"/>
                  <a:pt x="3791" y="5172"/>
                </a:cubicBezTo>
                <a:cubicBezTo>
                  <a:pt x="3964" y="5172"/>
                  <a:pt x="3964" y="5172"/>
                  <a:pt x="3964" y="5172"/>
                </a:cubicBezTo>
                <a:cubicBezTo>
                  <a:pt x="3964" y="7423"/>
                  <a:pt x="3964" y="7423"/>
                  <a:pt x="3964" y="7423"/>
                </a:cubicBezTo>
                <a:cubicBezTo>
                  <a:pt x="3964" y="8032"/>
                  <a:pt x="3964" y="8032"/>
                  <a:pt x="3964" y="8032"/>
                </a:cubicBezTo>
                <a:cubicBezTo>
                  <a:pt x="3964" y="12108"/>
                  <a:pt x="3964" y="12108"/>
                  <a:pt x="3964" y="12108"/>
                </a:cubicBezTo>
                <a:cubicBezTo>
                  <a:pt x="4998" y="12108"/>
                  <a:pt x="4998" y="12108"/>
                  <a:pt x="4998" y="12108"/>
                </a:cubicBezTo>
                <a:cubicBezTo>
                  <a:pt x="4998" y="8701"/>
                  <a:pt x="4998" y="8701"/>
                  <a:pt x="4998" y="8701"/>
                </a:cubicBezTo>
                <a:cubicBezTo>
                  <a:pt x="5228" y="8701"/>
                  <a:pt x="5228" y="8701"/>
                  <a:pt x="5228" y="8701"/>
                </a:cubicBezTo>
                <a:cubicBezTo>
                  <a:pt x="5228" y="12108"/>
                  <a:pt x="5228" y="12108"/>
                  <a:pt x="5228" y="12108"/>
                </a:cubicBezTo>
                <a:cubicBezTo>
                  <a:pt x="6262" y="12108"/>
                  <a:pt x="6262" y="12108"/>
                  <a:pt x="6262" y="12108"/>
                </a:cubicBezTo>
                <a:cubicBezTo>
                  <a:pt x="6262" y="11500"/>
                  <a:pt x="6262" y="11500"/>
                  <a:pt x="6262" y="11500"/>
                </a:cubicBezTo>
                <a:cubicBezTo>
                  <a:pt x="6262" y="8032"/>
                  <a:pt x="6262" y="8032"/>
                  <a:pt x="6262" y="8032"/>
                </a:cubicBezTo>
                <a:cubicBezTo>
                  <a:pt x="6262" y="7423"/>
                  <a:pt x="6262" y="7423"/>
                  <a:pt x="6262" y="7423"/>
                </a:cubicBezTo>
                <a:cubicBezTo>
                  <a:pt x="6262" y="5172"/>
                  <a:pt x="6262" y="5172"/>
                  <a:pt x="6262" y="5172"/>
                </a:cubicBezTo>
                <a:cubicBezTo>
                  <a:pt x="6262" y="4563"/>
                  <a:pt x="6262" y="4563"/>
                  <a:pt x="6262" y="4563"/>
                </a:cubicBezTo>
                <a:cubicBezTo>
                  <a:pt x="7353" y="5172"/>
                  <a:pt x="7353" y="5172"/>
                  <a:pt x="7353" y="5172"/>
                </a:cubicBezTo>
                <a:cubicBezTo>
                  <a:pt x="8904" y="5172"/>
                  <a:pt x="8904" y="5172"/>
                  <a:pt x="8904" y="5172"/>
                </a:cubicBezTo>
                <a:cubicBezTo>
                  <a:pt x="8904" y="4868"/>
                  <a:pt x="8904" y="4868"/>
                  <a:pt x="8904" y="4868"/>
                </a:cubicBezTo>
                <a:cubicBezTo>
                  <a:pt x="9249" y="4807"/>
                  <a:pt x="9249" y="4807"/>
                  <a:pt x="9249" y="4807"/>
                </a:cubicBezTo>
                <a:cubicBezTo>
                  <a:pt x="9249" y="6510"/>
                  <a:pt x="9249" y="6510"/>
                  <a:pt x="9249" y="6510"/>
                </a:cubicBezTo>
                <a:cubicBezTo>
                  <a:pt x="9249" y="6815"/>
                  <a:pt x="9364" y="7119"/>
                  <a:pt x="9536" y="7301"/>
                </a:cubicBezTo>
                <a:cubicBezTo>
                  <a:pt x="9536" y="7301"/>
                  <a:pt x="9536" y="7301"/>
                  <a:pt x="9536" y="7301"/>
                </a:cubicBezTo>
                <a:cubicBezTo>
                  <a:pt x="9536" y="7301"/>
                  <a:pt x="9536" y="7301"/>
                  <a:pt x="9536" y="7301"/>
                </a:cubicBezTo>
                <a:cubicBezTo>
                  <a:pt x="9766" y="7545"/>
                  <a:pt x="10053" y="7666"/>
                  <a:pt x="10340" y="7666"/>
                </a:cubicBezTo>
                <a:cubicBezTo>
                  <a:pt x="17464" y="7666"/>
                  <a:pt x="17464" y="7666"/>
                  <a:pt x="17464" y="7666"/>
                </a:cubicBezTo>
                <a:cubicBezTo>
                  <a:pt x="17751" y="7666"/>
                  <a:pt x="18038" y="7545"/>
                  <a:pt x="18211" y="7301"/>
                </a:cubicBezTo>
                <a:cubicBezTo>
                  <a:pt x="18211" y="7301"/>
                  <a:pt x="18211" y="7301"/>
                  <a:pt x="18211" y="7301"/>
                </a:cubicBezTo>
                <a:cubicBezTo>
                  <a:pt x="18440" y="7119"/>
                  <a:pt x="18555" y="6815"/>
                  <a:pt x="18555" y="6510"/>
                </a:cubicBezTo>
                <a:cubicBezTo>
                  <a:pt x="18555" y="2130"/>
                  <a:pt x="18555" y="2130"/>
                  <a:pt x="18555" y="2130"/>
                </a:cubicBezTo>
                <a:cubicBezTo>
                  <a:pt x="18555" y="1825"/>
                  <a:pt x="18440" y="1521"/>
                  <a:pt x="18211" y="1278"/>
                </a:cubicBezTo>
                <a:cubicBezTo>
                  <a:pt x="18038" y="1095"/>
                  <a:pt x="17751" y="974"/>
                  <a:pt x="17464" y="974"/>
                </a:cubicBezTo>
                <a:cubicBezTo>
                  <a:pt x="10340" y="974"/>
                  <a:pt x="10340" y="974"/>
                  <a:pt x="10340" y="974"/>
                </a:cubicBezTo>
                <a:close/>
                <a:moveTo>
                  <a:pt x="17464" y="1886"/>
                </a:moveTo>
                <a:cubicBezTo>
                  <a:pt x="17521" y="1886"/>
                  <a:pt x="17579" y="1886"/>
                  <a:pt x="17636" y="1947"/>
                </a:cubicBezTo>
                <a:cubicBezTo>
                  <a:pt x="17636" y="2008"/>
                  <a:pt x="17694" y="2069"/>
                  <a:pt x="17694" y="2130"/>
                </a:cubicBezTo>
                <a:cubicBezTo>
                  <a:pt x="17694" y="6510"/>
                  <a:pt x="17694" y="6510"/>
                  <a:pt x="17694" y="6510"/>
                </a:cubicBezTo>
                <a:cubicBezTo>
                  <a:pt x="17694" y="6571"/>
                  <a:pt x="17636" y="6632"/>
                  <a:pt x="17636" y="6632"/>
                </a:cubicBezTo>
                <a:cubicBezTo>
                  <a:pt x="17636" y="6693"/>
                  <a:pt x="17636" y="6693"/>
                  <a:pt x="17636" y="6693"/>
                </a:cubicBezTo>
                <a:cubicBezTo>
                  <a:pt x="17579" y="6693"/>
                  <a:pt x="17521" y="6754"/>
                  <a:pt x="17464" y="6754"/>
                </a:cubicBezTo>
                <a:cubicBezTo>
                  <a:pt x="10340" y="6754"/>
                  <a:pt x="10340" y="6754"/>
                  <a:pt x="10340" y="6754"/>
                </a:cubicBezTo>
                <a:cubicBezTo>
                  <a:pt x="10283" y="6754"/>
                  <a:pt x="10226" y="6693"/>
                  <a:pt x="10168" y="6693"/>
                </a:cubicBezTo>
                <a:cubicBezTo>
                  <a:pt x="10168" y="6632"/>
                  <a:pt x="10168" y="6632"/>
                  <a:pt x="10168" y="6632"/>
                </a:cubicBezTo>
                <a:cubicBezTo>
                  <a:pt x="10111" y="6632"/>
                  <a:pt x="10111" y="6571"/>
                  <a:pt x="10111" y="6510"/>
                </a:cubicBezTo>
                <a:cubicBezTo>
                  <a:pt x="10111" y="4624"/>
                  <a:pt x="10111" y="4624"/>
                  <a:pt x="10111" y="4624"/>
                </a:cubicBezTo>
                <a:cubicBezTo>
                  <a:pt x="13672" y="3833"/>
                  <a:pt x="13672" y="3833"/>
                  <a:pt x="13672" y="3833"/>
                </a:cubicBezTo>
                <a:cubicBezTo>
                  <a:pt x="13615" y="3772"/>
                  <a:pt x="13615" y="3772"/>
                  <a:pt x="13615" y="3772"/>
                </a:cubicBezTo>
                <a:cubicBezTo>
                  <a:pt x="10111" y="4259"/>
                  <a:pt x="10111" y="4259"/>
                  <a:pt x="10111" y="4259"/>
                </a:cubicBezTo>
                <a:cubicBezTo>
                  <a:pt x="10111" y="2130"/>
                  <a:pt x="10111" y="2130"/>
                  <a:pt x="10111" y="2130"/>
                </a:cubicBezTo>
                <a:cubicBezTo>
                  <a:pt x="10111" y="2069"/>
                  <a:pt x="10111" y="2008"/>
                  <a:pt x="10168" y="1947"/>
                </a:cubicBezTo>
                <a:cubicBezTo>
                  <a:pt x="10168" y="1947"/>
                  <a:pt x="10168" y="1947"/>
                  <a:pt x="10168" y="1947"/>
                </a:cubicBezTo>
                <a:cubicBezTo>
                  <a:pt x="10226" y="1886"/>
                  <a:pt x="10283" y="1886"/>
                  <a:pt x="10340" y="1886"/>
                </a:cubicBezTo>
                <a:lnTo>
                  <a:pt x="17464" y="1886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6" name="Freeform 73"/>
          <p:cNvSpPr/>
          <p:nvPr/>
        </p:nvSpPr>
        <p:spPr>
          <a:xfrm>
            <a:off x="6329529" y="2665382"/>
            <a:ext cx="676964" cy="5524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6" y="13421"/>
                </a:moveTo>
                <a:cubicBezTo>
                  <a:pt x="1886" y="11744"/>
                  <a:pt x="1886" y="11744"/>
                  <a:pt x="1886" y="11744"/>
                </a:cubicBezTo>
                <a:cubicBezTo>
                  <a:pt x="1886" y="1258"/>
                  <a:pt x="1886" y="1258"/>
                  <a:pt x="1886" y="1258"/>
                </a:cubicBezTo>
                <a:cubicBezTo>
                  <a:pt x="1886" y="0"/>
                  <a:pt x="1886" y="0"/>
                  <a:pt x="1886" y="0"/>
                </a:cubicBezTo>
                <a:cubicBezTo>
                  <a:pt x="2743" y="0"/>
                  <a:pt x="2743" y="0"/>
                  <a:pt x="2743" y="0"/>
                </a:cubicBezTo>
                <a:cubicBezTo>
                  <a:pt x="19200" y="0"/>
                  <a:pt x="19200" y="0"/>
                  <a:pt x="19200" y="0"/>
                </a:cubicBezTo>
                <a:cubicBezTo>
                  <a:pt x="20229" y="0"/>
                  <a:pt x="20229" y="0"/>
                  <a:pt x="20229" y="0"/>
                </a:cubicBezTo>
                <a:cubicBezTo>
                  <a:pt x="20229" y="1258"/>
                  <a:pt x="20229" y="1258"/>
                  <a:pt x="20229" y="1258"/>
                </a:cubicBezTo>
                <a:cubicBezTo>
                  <a:pt x="20229" y="11744"/>
                  <a:pt x="20229" y="11744"/>
                  <a:pt x="20229" y="11744"/>
                </a:cubicBezTo>
                <a:cubicBezTo>
                  <a:pt x="20229" y="13421"/>
                  <a:pt x="20229" y="13421"/>
                  <a:pt x="20229" y="13421"/>
                </a:cubicBezTo>
                <a:cubicBezTo>
                  <a:pt x="18171" y="13421"/>
                  <a:pt x="18171" y="13421"/>
                  <a:pt x="18171" y="13421"/>
                </a:cubicBezTo>
                <a:cubicBezTo>
                  <a:pt x="3771" y="13421"/>
                  <a:pt x="3771" y="13421"/>
                  <a:pt x="3771" y="13421"/>
                </a:cubicBezTo>
                <a:cubicBezTo>
                  <a:pt x="1886" y="13421"/>
                  <a:pt x="1886" y="13421"/>
                  <a:pt x="1886" y="13421"/>
                </a:cubicBezTo>
                <a:close/>
                <a:moveTo>
                  <a:pt x="15429" y="5662"/>
                </a:moveTo>
                <a:cubicBezTo>
                  <a:pt x="15429" y="6082"/>
                  <a:pt x="15429" y="6082"/>
                  <a:pt x="15429" y="6082"/>
                </a:cubicBezTo>
                <a:cubicBezTo>
                  <a:pt x="15429" y="6082"/>
                  <a:pt x="15429" y="6082"/>
                  <a:pt x="15600" y="6082"/>
                </a:cubicBezTo>
                <a:cubicBezTo>
                  <a:pt x="15771" y="6291"/>
                  <a:pt x="15943" y="6501"/>
                  <a:pt x="15943" y="6711"/>
                </a:cubicBezTo>
                <a:cubicBezTo>
                  <a:pt x="16114" y="6920"/>
                  <a:pt x="16114" y="7130"/>
                  <a:pt x="15943" y="7340"/>
                </a:cubicBezTo>
                <a:cubicBezTo>
                  <a:pt x="15943" y="7550"/>
                  <a:pt x="15943" y="7550"/>
                  <a:pt x="15943" y="7550"/>
                </a:cubicBezTo>
                <a:cubicBezTo>
                  <a:pt x="16286" y="7759"/>
                  <a:pt x="16286" y="7759"/>
                  <a:pt x="16286" y="7759"/>
                </a:cubicBezTo>
                <a:cubicBezTo>
                  <a:pt x="16286" y="7550"/>
                  <a:pt x="16286" y="7550"/>
                  <a:pt x="16286" y="7550"/>
                </a:cubicBezTo>
                <a:cubicBezTo>
                  <a:pt x="16457" y="7130"/>
                  <a:pt x="16457" y="6711"/>
                  <a:pt x="16286" y="6501"/>
                </a:cubicBezTo>
                <a:cubicBezTo>
                  <a:pt x="16286" y="6291"/>
                  <a:pt x="15943" y="5872"/>
                  <a:pt x="15600" y="5662"/>
                </a:cubicBezTo>
                <a:cubicBezTo>
                  <a:pt x="15600" y="5662"/>
                  <a:pt x="15600" y="5662"/>
                  <a:pt x="15429" y="5662"/>
                </a:cubicBezTo>
                <a:close/>
                <a:moveTo>
                  <a:pt x="15771" y="9437"/>
                </a:moveTo>
                <a:cubicBezTo>
                  <a:pt x="16114" y="9437"/>
                  <a:pt x="16114" y="9437"/>
                  <a:pt x="16114" y="9437"/>
                </a:cubicBezTo>
                <a:cubicBezTo>
                  <a:pt x="15943" y="8808"/>
                  <a:pt x="15429" y="7969"/>
                  <a:pt x="15429" y="7969"/>
                </a:cubicBezTo>
                <a:cubicBezTo>
                  <a:pt x="15257" y="7969"/>
                  <a:pt x="15257" y="7969"/>
                  <a:pt x="15257" y="7969"/>
                </a:cubicBezTo>
                <a:cubicBezTo>
                  <a:pt x="15086" y="8179"/>
                  <a:pt x="15086" y="8179"/>
                  <a:pt x="15086" y="8179"/>
                </a:cubicBezTo>
                <a:cubicBezTo>
                  <a:pt x="15086" y="8179"/>
                  <a:pt x="15086" y="8179"/>
                  <a:pt x="15086" y="8179"/>
                </a:cubicBezTo>
                <a:cubicBezTo>
                  <a:pt x="14914" y="8179"/>
                  <a:pt x="14914" y="8179"/>
                  <a:pt x="14914" y="8179"/>
                </a:cubicBezTo>
                <a:cubicBezTo>
                  <a:pt x="14743" y="8388"/>
                  <a:pt x="14743" y="8388"/>
                  <a:pt x="14743" y="8388"/>
                </a:cubicBezTo>
                <a:cubicBezTo>
                  <a:pt x="14400" y="7759"/>
                  <a:pt x="14400" y="7550"/>
                  <a:pt x="14057" y="6920"/>
                </a:cubicBezTo>
                <a:cubicBezTo>
                  <a:pt x="14400" y="6711"/>
                  <a:pt x="14400" y="6711"/>
                  <a:pt x="14400" y="6711"/>
                </a:cubicBezTo>
                <a:cubicBezTo>
                  <a:pt x="14571" y="6501"/>
                  <a:pt x="14571" y="6501"/>
                  <a:pt x="14571" y="6501"/>
                </a:cubicBezTo>
                <a:cubicBezTo>
                  <a:pt x="14743" y="6501"/>
                  <a:pt x="14743" y="6501"/>
                  <a:pt x="14743" y="6501"/>
                </a:cubicBezTo>
                <a:cubicBezTo>
                  <a:pt x="14743" y="6291"/>
                  <a:pt x="14400" y="5243"/>
                  <a:pt x="14229" y="5033"/>
                </a:cubicBezTo>
                <a:cubicBezTo>
                  <a:pt x="14057" y="5033"/>
                  <a:pt x="14057" y="5033"/>
                  <a:pt x="14057" y="5033"/>
                </a:cubicBezTo>
                <a:cubicBezTo>
                  <a:pt x="13886" y="5243"/>
                  <a:pt x="13886" y="5243"/>
                  <a:pt x="13886" y="5243"/>
                </a:cubicBezTo>
                <a:cubicBezTo>
                  <a:pt x="13886" y="5243"/>
                  <a:pt x="13886" y="5243"/>
                  <a:pt x="13886" y="5243"/>
                </a:cubicBezTo>
                <a:cubicBezTo>
                  <a:pt x="13714" y="5243"/>
                  <a:pt x="13714" y="5243"/>
                  <a:pt x="13714" y="5243"/>
                </a:cubicBezTo>
                <a:cubicBezTo>
                  <a:pt x="13371" y="5452"/>
                  <a:pt x="13371" y="5662"/>
                  <a:pt x="13371" y="6082"/>
                </a:cubicBezTo>
                <a:cubicBezTo>
                  <a:pt x="13371" y="6082"/>
                  <a:pt x="13371" y="6082"/>
                  <a:pt x="13371" y="6082"/>
                </a:cubicBezTo>
                <a:cubicBezTo>
                  <a:pt x="13371" y="6082"/>
                  <a:pt x="13371" y="6082"/>
                  <a:pt x="13371" y="6082"/>
                </a:cubicBezTo>
                <a:cubicBezTo>
                  <a:pt x="13543" y="7550"/>
                  <a:pt x="14057" y="8598"/>
                  <a:pt x="14743" y="9647"/>
                </a:cubicBezTo>
                <a:cubicBezTo>
                  <a:pt x="14914" y="9856"/>
                  <a:pt x="15257" y="9856"/>
                  <a:pt x="15600" y="9647"/>
                </a:cubicBezTo>
                <a:cubicBezTo>
                  <a:pt x="15600" y="9647"/>
                  <a:pt x="15600" y="9647"/>
                  <a:pt x="15600" y="9647"/>
                </a:cubicBezTo>
                <a:cubicBezTo>
                  <a:pt x="15771" y="9437"/>
                  <a:pt x="15771" y="9437"/>
                  <a:pt x="15771" y="9437"/>
                </a:cubicBezTo>
                <a:cubicBezTo>
                  <a:pt x="15771" y="9437"/>
                  <a:pt x="15771" y="9437"/>
                  <a:pt x="15771" y="9437"/>
                </a:cubicBezTo>
                <a:close/>
                <a:moveTo>
                  <a:pt x="15429" y="6711"/>
                </a:moveTo>
                <a:cubicBezTo>
                  <a:pt x="15257" y="6711"/>
                  <a:pt x="15086" y="6711"/>
                  <a:pt x="15086" y="6920"/>
                </a:cubicBezTo>
                <a:cubicBezTo>
                  <a:pt x="14914" y="7130"/>
                  <a:pt x="15086" y="7340"/>
                  <a:pt x="15257" y="7550"/>
                </a:cubicBezTo>
                <a:cubicBezTo>
                  <a:pt x="15429" y="7550"/>
                  <a:pt x="15600" y="7340"/>
                  <a:pt x="15600" y="7130"/>
                </a:cubicBezTo>
                <a:cubicBezTo>
                  <a:pt x="15600" y="6920"/>
                  <a:pt x="15600" y="6711"/>
                  <a:pt x="15429" y="6711"/>
                </a:cubicBezTo>
                <a:close/>
                <a:moveTo>
                  <a:pt x="15771" y="4823"/>
                </a:moveTo>
                <a:cubicBezTo>
                  <a:pt x="15600" y="5243"/>
                  <a:pt x="15600" y="5243"/>
                  <a:pt x="15600" y="5243"/>
                </a:cubicBezTo>
                <a:cubicBezTo>
                  <a:pt x="15600" y="5243"/>
                  <a:pt x="15771" y="5243"/>
                  <a:pt x="15771" y="5243"/>
                </a:cubicBezTo>
                <a:cubicBezTo>
                  <a:pt x="16114" y="5452"/>
                  <a:pt x="16457" y="5662"/>
                  <a:pt x="16629" y="6082"/>
                </a:cubicBezTo>
                <a:cubicBezTo>
                  <a:pt x="16800" y="6501"/>
                  <a:pt x="16800" y="6920"/>
                  <a:pt x="16800" y="7550"/>
                </a:cubicBezTo>
                <a:cubicBezTo>
                  <a:pt x="16800" y="7550"/>
                  <a:pt x="16629" y="7759"/>
                  <a:pt x="16629" y="7759"/>
                </a:cubicBezTo>
                <a:cubicBezTo>
                  <a:pt x="16971" y="7969"/>
                  <a:pt x="16971" y="7969"/>
                  <a:pt x="16971" y="7969"/>
                </a:cubicBezTo>
                <a:cubicBezTo>
                  <a:pt x="16971" y="7759"/>
                  <a:pt x="17143" y="7759"/>
                  <a:pt x="17143" y="7550"/>
                </a:cubicBezTo>
                <a:cubicBezTo>
                  <a:pt x="17143" y="6920"/>
                  <a:pt x="17143" y="6291"/>
                  <a:pt x="16971" y="5872"/>
                </a:cubicBezTo>
                <a:cubicBezTo>
                  <a:pt x="16629" y="5452"/>
                  <a:pt x="16286" y="5033"/>
                  <a:pt x="15943" y="4823"/>
                </a:cubicBezTo>
                <a:cubicBezTo>
                  <a:pt x="15771" y="4823"/>
                  <a:pt x="15771" y="4823"/>
                  <a:pt x="15771" y="4823"/>
                </a:cubicBezTo>
                <a:close/>
                <a:moveTo>
                  <a:pt x="8743" y="2936"/>
                </a:moveTo>
                <a:cubicBezTo>
                  <a:pt x="8400" y="2936"/>
                  <a:pt x="8229" y="3146"/>
                  <a:pt x="8057" y="3355"/>
                </a:cubicBezTo>
                <a:cubicBezTo>
                  <a:pt x="7886" y="3565"/>
                  <a:pt x="7886" y="3775"/>
                  <a:pt x="7886" y="3984"/>
                </a:cubicBezTo>
                <a:cubicBezTo>
                  <a:pt x="7886" y="4194"/>
                  <a:pt x="7886" y="4194"/>
                  <a:pt x="7886" y="4194"/>
                </a:cubicBezTo>
                <a:cubicBezTo>
                  <a:pt x="8057" y="4194"/>
                  <a:pt x="8229" y="4194"/>
                  <a:pt x="8229" y="4194"/>
                </a:cubicBezTo>
                <a:cubicBezTo>
                  <a:pt x="8229" y="3984"/>
                  <a:pt x="8229" y="3984"/>
                  <a:pt x="8229" y="3984"/>
                </a:cubicBezTo>
                <a:cubicBezTo>
                  <a:pt x="8229" y="3984"/>
                  <a:pt x="8400" y="3775"/>
                  <a:pt x="8400" y="3775"/>
                </a:cubicBezTo>
                <a:cubicBezTo>
                  <a:pt x="8400" y="3565"/>
                  <a:pt x="8571" y="3565"/>
                  <a:pt x="8743" y="3565"/>
                </a:cubicBezTo>
                <a:cubicBezTo>
                  <a:pt x="11657" y="3565"/>
                  <a:pt x="11657" y="3565"/>
                  <a:pt x="11657" y="3565"/>
                </a:cubicBezTo>
                <a:cubicBezTo>
                  <a:pt x="11829" y="3565"/>
                  <a:pt x="11829" y="3565"/>
                  <a:pt x="12000" y="3775"/>
                </a:cubicBezTo>
                <a:cubicBezTo>
                  <a:pt x="12000" y="3775"/>
                  <a:pt x="12000" y="3984"/>
                  <a:pt x="12000" y="3984"/>
                </a:cubicBezTo>
                <a:cubicBezTo>
                  <a:pt x="12000" y="6291"/>
                  <a:pt x="12000" y="6291"/>
                  <a:pt x="12000" y="6291"/>
                </a:cubicBezTo>
                <a:cubicBezTo>
                  <a:pt x="12000" y="6501"/>
                  <a:pt x="12000" y="6501"/>
                  <a:pt x="12000" y="6711"/>
                </a:cubicBezTo>
                <a:cubicBezTo>
                  <a:pt x="11829" y="6711"/>
                  <a:pt x="11829" y="6711"/>
                  <a:pt x="11657" y="6711"/>
                </a:cubicBezTo>
                <a:cubicBezTo>
                  <a:pt x="11143" y="6711"/>
                  <a:pt x="11143" y="6711"/>
                  <a:pt x="11143" y="6711"/>
                </a:cubicBezTo>
                <a:cubicBezTo>
                  <a:pt x="10971" y="6711"/>
                  <a:pt x="10971" y="6711"/>
                  <a:pt x="10971" y="6711"/>
                </a:cubicBezTo>
                <a:cubicBezTo>
                  <a:pt x="10971" y="6920"/>
                  <a:pt x="10971" y="6920"/>
                  <a:pt x="10971" y="6920"/>
                </a:cubicBezTo>
                <a:cubicBezTo>
                  <a:pt x="10629" y="7130"/>
                  <a:pt x="10629" y="7130"/>
                  <a:pt x="10629" y="7130"/>
                </a:cubicBezTo>
                <a:cubicBezTo>
                  <a:pt x="10800" y="7130"/>
                  <a:pt x="10800" y="7130"/>
                  <a:pt x="10800" y="7130"/>
                </a:cubicBezTo>
                <a:cubicBezTo>
                  <a:pt x="10800" y="6711"/>
                  <a:pt x="10800" y="6711"/>
                  <a:pt x="10800" y="6711"/>
                </a:cubicBezTo>
                <a:cubicBezTo>
                  <a:pt x="10457" y="6711"/>
                  <a:pt x="10457" y="6711"/>
                  <a:pt x="10457" y="6711"/>
                </a:cubicBezTo>
                <a:cubicBezTo>
                  <a:pt x="9257" y="6711"/>
                  <a:pt x="9257" y="6711"/>
                  <a:pt x="9257" y="6711"/>
                </a:cubicBezTo>
                <a:cubicBezTo>
                  <a:pt x="9257" y="6920"/>
                  <a:pt x="9086" y="6920"/>
                  <a:pt x="9086" y="7130"/>
                </a:cubicBezTo>
                <a:cubicBezTo>
                  <a:pt x="9086" y="7130"/>
                  <a:pt x="9086" y="7130"/>
                  <a:pt x="8914" y="7340"/>
                </a:cubicBezTo>
                <a:cubicBezTo>
                  <a:pt x="10286" y="7340"/>
                  <a:pt x="10286" y="7340"/>
                  <a:pt x="10286" y="7340"/>
                </a:cubicBezTo>
                <a:cubicBezTo>
                  <a:pt x="10114" y="7759"/>
                  <a:pt x="10114" y="7759"/>
                  <a:pt x="10114" y="7759"/>
                </a:cubicBezTo>
                <a:cubicBezTo>
                  <a:pt x="10114" y="7969"/>
                  <a:pt x="10114" y="7969"/>
                  <a:pt x="10114" y="7969"/>
                </a:cubicBezTo>
                <a:cubicBezTo>
                  <a:pt x="10286" y="7969"/>
                  <a:pt x="10286" y="7969"/>
                  <a:pt x="10286" y="7969"/>
                </a:cubicBezTo>
                <a:cubicBezTo>
                  <a:pt x="10457" y="8179"/>
                  <a:pt x="10457" y="8179"/>
                  <a:pt x="10457" y="8179"/>
                </a:cubicBezTo>
                <a:cubicBezTo>
                  <a:pt x="10629" y="8179"/>
                  <a:pt x="10629" y="8179"/>
                  <a:pt x="10629" y="8179"/>
                </a:cubicBezTo>
                <a:cubicBezTo>
                  <a:pt x="10629" y="8179"/>
                  <a:pt x="10629" y="8179"/>
                  <a:pt x="10629" y="8179"/>
                </a:cubicBezTo>
                <a:cubicBezTo>
                  <a:pt x="11143" y="7340"/>
                  <a:pt x="11143" y="7340"/>
                  <a:pt x="11143" y="7340"/>
                </a:cubicBezTo>
                <a:cubicBezTo>
                  <a:pt x="11657" y="7340"/>
                  <a:pt x="11657" y="7340"/>
                  <a:pt x="11657" y="7340"/>
                </a:cubicBezTo>
                <a:cubicBezTo>
                  <a:pt x="12000" y="7340"/>
                  <a:pt x="12171" y="7130"/>
                  <a:pt x="12343" y="6920"/>
                </a:cubicBezTo>
                <a:cubicBezTo>
                  <a:pt x="12514" y="6920"/>
                  <a:pt x="12514" y="6501"/>
                  <a:pt x="12514" y="6291"/>
                </a:cubicBezTo>
                <a:cubicBezTo>
                  <a:pt x="12514" y="3984"/>
                  <a:pt x="12514" y="3984"/>
                  <a:pt x="12514" y="3984"/>
                </a:cubicBezTo>
                <a:cubicBezTo>
                  <a:pt x="12514" y="3775"/>
                  <a:pt x="12514" y="3565"/>
                  <a:pt x="12343" y="3355"/>
                </a:cubicBezTo>
                <a:cubicBezTo>
                  <a:pt x="12171" y="3146"/>
                  <a:pt x="12000" y="2936"/>
                  <a:pt x="11657" y="2936"/>
                </a:cubicBezTo>
                <a:cubicBezTo>
                  <a:pt x="8743" y="2936"/>
                  <a:pt x="8743" y="2936"/>
                  <a:pt x="8743" y="2936"/>
                </a:cubicBezTo>
                <a:close/>
                <a:moveTo>
                  <a:pt x="9429" y="5662"/>
                </a:moveTo>
                <a:cubicBezTo>
                  <a:pt x="9429" y="6082"/>
                  <a:pt x="9429" y="6082"/>
                  <a:pt x="9429" y="6082"/>
                </a:cubicBezTo>
                <a:cubicBezTo>
                  <a:pt x="11657" y="6082"/>
                  <a:pt x="11657" y="6082"/>
                  <a:pt x="11657" y="6082"/>
                </a:cubicBezTo>
                <a:cubicBezTo>
                  <a:pt x="11657" y="5662"/>
                  <a:pt x="11657" y="5662"/>
                  <a:pt x="11657" y="5662"/>
                </a:cubicBezTo>
                <a:cubicBezTo>
                  <a:pt x="9429" y="5662"/>
                  <a:pt x="9429" y="5662"/>
                  <a:pt x="9429" y="5662"/>
                </a:cubicBezTo>
                <a:close/>
                <a:moveTo>
                  <a:pt x="9429" y="4823"/>
                </a:moveTo>
                <a:cubicBezTo>
                  <a:pt x="9429" y="5243"/>
                  <a:pt x="9429" y="5243"/>
                  <a:pt x="9429" y="5243"/>
                </a:cubicBezTo>
                <a:cubicBezTo>
                  <a:pt x="11657" y="5243"/>
                  <a:pt x="11657" y="5243"/>
                  <a:pt x="11657" y="5243"/>
                </a:cubicBezTo>
                <a:cubicBezTo>
                  <a:pt x="11657" y="4823"/>
                  <a:pt x="11657" y="4823"/>
                  <a:pt x="11657" y="4823"/>
                </a:cubicBezTo>
                <a:cubicBezTo>
                  <a:pt x="9429" y="4823"/>
                  <a:pt x="9429" y="4823"/>
                  <a:pt x="9429" y="4823"/>
                </a:cubicBezTo>
                <a:close/>
                <a:moveTo>
                  <a:pt x="9257" y="4194"/>
                </a:moveTo>
                <a:cubicBezTo>
                  <a:pt x="9257" y="4404"/>
                  <a:pt x="9257" y="4404"/>
                  <a:pt x="9257" y="4404"/>
                </a:cubicBezTo>
                <a:cubicBezTo>
                  <a:pt x="11657" y="4404"/>
                  <a:pt x="11657" y="4404"/>
                  <a:pt x="11657" y="4404"/>
                </a:cubicBezTo>
                <a:cubicBezTo>
                  <a:pt x="11657" y="4194"/>
                  <a:pt x="11657" y="4194"/>
                  <a:pt x="11657" y="4194"/>
                </a:cubicBezTo>
                <a:cubicBezTo>
                  <a:pt x="9257" y="4194"/>
                  <a:pt x="9257" y="4194"/>
                  <a:pt x="9257" y="4194"/>
                </a:cubicBezTo>
                <a:close/>
                <a:moveTo>
                  <a:pt x="6000" y="8388"/>
                </a:moveTo>
                <a:cubicBezTo>
                  <a:pt x="5486" y="8808"/>
                  <a:pt x="5314" y="10066"/>
                  <a:pt x="5314" y="10695"/>
                </a:cubicBezTo>
                <a:cubicBezTo>
                  <a:pt x="5829" y="11324"/>
                  <a:pt x="9257" y="11324"/>
                  <a:pt x="9943" y="10695"/>
                </a:cubicBezTo>
                <a:cubicBezTo>
                  <a:pt x="10114" y="9856"/>
                  <a:pt x="9771" y="8808"/>
                  <a:pt x="9257" y="8179"/>
                </a:cubicBezTo>
                <a:cubicBezTo>
                  <a:pt x="9086" y="8179"/>
                  <a:pt x="9086" y="8179"/>
                  <a:pt x="8914" y="8179"/>
                </a:cubicBezTo>
                <a:cubicBezTo>
                  <a:pt x="8743" y="8179"/>
                  <a:pt x="8571" y="8179"/>
                  <a:pt x="8571" y="8179"/>
                </a:cubicBezTo>
                <a:cubicBezTo>
                  <a:pt x="8400" y="8179"/>
                  <a:pt x="8400" y="7969"/>
                  <a:pt x="8400" y="7759"/>
                </a:cubicBezTo>
                <a:cubicBezTo>
                  <a:pt x="8400" y="7550"/>
                  <a:pt x="8571" y="7340"/>
                  <a:pt x="8571" y="7130"/>
                </a:cubicBezTo>
                <a:cubicBezTo>
                  <a:pt x="8743" y="7130"/>
                  <a:pt x="8743" y="6920"/>
                  <a:pt x="8743" y="6920"/>
                </a:cubicBezTo>
                <a:cubicBezTo>
                  <a:pt x="8743" y="6711"/>
                  <a:pt x="8914" y="6501"/>
                  <a:pt x="8914" y="6501"/>
                </a:cubicBezTo>
                <a:cubicBezTo>
                  <a:pt x="8914" y="6291"/>
                  <a:pt x="8914" y="6291"/>
                  <a:pt x="8914" y="6291"/>
                </a:cubicBezTo>
                <a:cubicBezTo>
                  <a:pt x="8743" y="6291"/>
                  <a:pt x="8743" y="6291"/>
                  <a:pt x="8743" y="6291"/>
                </a:cubicBezTo>
                <a:cubicBezTo>
                  <a:pt x="8743" y="6291"/>
                  <a:pt x="8743" y="6291"/>
                  <a:pt x="8743" y="6291"/>
                </a:cubicBezTo>
                <a:cubicBezTo>
                  <a:pt x="8743" y="5662"/>
                  <a:pt x="8743" y="5243"/>
                  <a:pt x="8400" y="4823"/>
                </a:cubicBezTo>
                <a:cubicBezTo>
                  <a:pt x="8057" y="4404"/>
                  <a:pt x="7200" y="4614"/>
                  <a:pt x="6857" y="5033"/>
                </a:cubicBezTo>
                <a:cubicBezTo>
                  <a:pt x="6514" y="5243"/>
                  <a:pt x="6514" y="5452"/>
                  <a:pt x="6514" y="6291"/>
                </a:cubicBezTo>
                <a:cubicBezTo>
                  <a:pt x="6514" y="6291"/>
                  <a:pt x="6514" y="6291"/>
                  <a:pt x="6514" y="6291"/>
                </a:cubicBezTo>
                <a:cubicBezTo>
                  <a:pt x="6514" y="6291"/>
                  <a:pt x="6514" y="6291"/>
                  <a:pt x="6514" y="6291"/>
                </a:cubicBezTo>
                <a:cubicBezTo>
                  <a:pt x="6514" y="6501"/>
                  <a:pt x="6514" y="6501"/>
                  <a:pt x="6514" y="6501"/>
                </a:cubicBezTo>
                <a:cubicBezTo>
                  <a:pt x="6514" y="6501"/>
                  <a:pt x="6514" y="6711"/>
                  <a:pt x="6514" y="6920"/>
                </a:cubicBezTo>
                <a:cubicBezTo>
                  <a:pt x="6514" y="6920"/>
                  <a:pt x="6686" y="7130"/>
                  <a:pt x="6686" y="7130"/>
                </a:cubicBezTo>
                <a:cubicBezTo>
                  <a:pt x="6686" y="7340"/>
                  <a:pt x="6857" y="7550"/>
                  <a:pt x="7029" y="7759"/>
                </a:cubicBezTo>
                <a:cubicBezTo>
                  <a:pt x="7029" y="7969"/>
                  <a:pt x="6857" y="7969"/>
                  <a:pt x="6857" y="8179"/>
                </a:cubicBezTo>
                <a:cubicBezTo>
                  <a:pt x="6686" y="8179"/>
                  <a:pt x="6686" y="8388"/>
                  <a:pt x="6514" y="8388"/>
                </a:cubicBezTo>
                <a:cubicBezTo>
                  <a:pt x="6343" y="8388"/>
                  <a:pt x="6171" y="8388"/>
                  <a:pt x="6000" y="8388"/>
                </a:cubicBezTo>
                <a:close/>
                <a:moveTo>
                  <a:pt x="18171" y="11744"/>
                </a:moveTo>
                <a:cubicBezTo>
                  <a:pt x="18171" y="2097"/>
                  <a:pt x="18171" y="2097"/>
                  <a:pt x="18171" y="2097"/>
                </a:cubicBezTo>
                <a:cubicBezTo>
                  <a:pt x="3771" y="2097"/>
                  <a:pt x="3771" y="2097"/>
                  <a:pt x="3771" y="2097"/>
                </a:cubicBezTo>
                <a:cubicBezTo>
                  <a:pt x="3771" y="11744"/>
                  <a:pt x="3771" y="11744"/>
                  <a:pt x="3771" y="11744"/>
                </a:cubicBezTo>
                <a:cubicBezTo>
                  <a:pt x="18171" y="11744"/>
                  <a:pt x="18171" y="11744"/>
                  <a:pt x="18171" y="11744"/>
                </a:cubicBezTo>
                <a:close/>
                <a:moveTo>
                  <a:pt x="20229" y="14050"/>
                </a:moveTo>
                <a:cubicBezTo>
                  <a:pt x="21600" y="18245"/>
                  <a:pt x="21600" y="18245"/>
                  <a:pt x="21600" y="18245"/>
                </a:cubicBezTo>
                <a:cubicBezTo>
                  <a:pt x="21600" y="20761"/>
                  <a:pt x="21600" y="20761"/>
                  <a:pt x="21600" y="20761"/>
                </a:cubicBezTo>
                <a:cubicBezTo>
                  <a:pt x="20743" y="21600"/>
                  <a:pt x="20743" y="21600"/>
                  <a:pt x="20743" y="21600"/>
                </a:cubicBezTo>
                <a:cubicBezTo>
                  <a:pt x="1029" y="21600"/>
                  <a:pt x="1029" y="21600"/>
                  <a:pt x="1029" y="21600"/>
                </a:cubicBezTo>
                <a:cubicBezTo>
                  <a:pt x="0" y="20761"/>
                  <a:pt x="0" y="20761"/>
                  <a:pt x="0" y="20761"/>
                </a:cubicBezTo>
                <a:cubicBezTo>
                  <a:pt x="0" y="18245"/>
                  <a:pt x="0" y="18245"/>
                  <a:pt x="0" y="18245"/>
                </a:cubicBezTo>
                <a:cubicBezTo>
                  <a:pt x="1886" y="14050"/>
                  <a:pt x="1886" y="14050"/>
                  <a:pt x="1886" y="14050"/>
                </a:cubicBezTo>
                <a:cubicBezTo>
                  <a:pt x="3771" y="14050"/>
                  <a:pt x="3771" y="14050"/>
                  <a:pt x="3771" y="14050"/>
                </a:cubicBezTo>
                <a:cubicBezTo>
                  <a:pt x="18171" y="14050"/>
                  <a:pt x="18171" y="14050"/>
                  <a:pt x="18171" y="14050"/>
                </a:cubicBezTo>
                <a:cubicBezTo>
                  <a:pt x="20229" y="14050"/>
                  <a:pt x="20229" y="14050"/>
                  <a:pt x="20229" y="14050"/>
                </a:cubicBezTo>
                <a:close/>
                <a:moveTo>
                  <a:pt x="7714" y="15099"/>
                </a:moveTo>
                <a:cubicBezTo>
                  <a:pt x="7543" y="15309"/>
                  <a:pt x="7543" y="15309"/>
                  <a:pt x="7543" y="15518"/>
                </a:cubicBezTo>
                <a:cubicBezTo>
                  <a:pt x="8057" y="15518"/>
                  <a:pt x="8571" y="15518"/>
                  <a:pt x="9257" y="15518"/>
                </a:cubicBezTo>
                <a:cubicBezTo>
                  <a:pt x="9257" y="15309"/>
                  <a:pt x="9257" y="15309"/>
                  <a:pt x="9257" y="15099"/>
                </a:cubicBezTo>
                <a:cubicBezTo>
                  <a:pt x="8743" y="15099"/>
                  <a:pt x="8229" y="15099"/>
                  <a:pt x="7714" y="15099"/>
                </a:cubicBezTo>
                <a:close/>
                <a:moveTo>
                  <a:pt x="7200" y="17196"/>
                </a:moveTo>
                <a:cubicBezTo>
                  <a:pt x="7029" y="17406"/>
                  <a:pt x="7029" y="17616"/>
                  <a:pt x="7029" y="17825"/>
                </a:cubicBezTo>
                <a:cubicBezTo>
                  <a:pt x="7714" y="17825"/>
                  <a:pt x="8229" y="17825"/>
                  <a:pt x="8914" y="17825"/>
                </a:cubicBezTo>
                <a:cubicBezTo>
                  <a:pt x="8914" y="17616"/>
                  <a:pt x="8914" y="17406"/>
                  <a:pt x="8914" y="17196"/>
                </a:cubicBezTo>
                <a:cubicBezTo>
                  <a:pt x="8400" y="17196"/>
                  <a:pt x="7714" y="17196"/>
                  <a:pt x="7200" y="17196"/>
                </a:cubicBezTo>
                <a:close/>
                <a:moveTo>
                  <a:pt x="4286" y="17196"/>
                </a:moveTo>
                <a:cubicBezTo>
                  <a:pt x="4286" y="17406"/>
                  <a:pt x="4286" y="17616"/>
                  <a:pt x="4114" y="17825"/>
                </a:cubicBezTo>
                <a:cubicBezTo>
                  <a:pt x="4800" y="17825"/>
                  <a:pt x="5314" y="17825"/>
                  <a:pt x="6000" y="17825"/>
                </a:cubicBezTo>
                <a:cubicBezTo>
                  <a:pt x="6000" y="17616"/>
                  <a:pt x="6171" y="17406"/>
                  <a:pt x="6171" y="17196"/>
                </a:cubicBezTo>
                <a:cubicBezTo>
                  <a:pt x="5657" y="17196"/>
                  <a:pt x="4971" y="17196"/>
                  <a:pt x="4286" y="17196"/>
                </a:cubicBezTo>
                <a:close/>
                <a:moveTo>
                  <a:pt x="9943" y="17196"/>
                </a:moveTo>
                <a:cubicBezTo>
                  <a:pt x="9943" y="17406"/>
                  <a:pt x="9943" y="17616"/>
                  <a:pt x="9943" y="17825"/>
                </a:cubicBezTo>
                <a:cubicBezTo>
                  <a:pt x="10457" y="17825"/>
                  <a:pt x="11143" y="17825"/>
                  <a:pt x="11829" y="17825"/>
                </a:cubicBezTo>
                <a:cubicBezTo>
                  <a:pt x="11829" y="17616"/>
                  <a:pt x="11829" y="17406"/>
                  <a:pt x="11829" y="17196"/>
                </a:cubicBezTo>
                <a:cubicBezTo>
                  <a:pt x="11143" y="17196"/>
                  <a:pt x="10629" y="17196"/>
                  <a:pt x="9943" y="17196"/>
                </a:cubicBezTo>
                <a:close/>
                <a:moveTo>
                  <a:pt x="12857" y="17196"/>
                </a:moveTo>
                <a:cubicBezTo>
                  <a:pt x="12857" y="17406"/>
                  <a:pt x="12857" y="17616"/>
                  <a:pt x="12857" y="17825"/>
                </a:cubicBezTo>
                <a:cubicBezTo>
                  <a:pt x="13371" y="17825"/>
                  <a:pt x="14057" y="17825"/>
                  <a:pt x="14743" y="17825"/>
                </a:cubicBezTo>
                <a:cubicBezTo>
                  <a:pt x="14571" y="17616"/>
                  <a:pt x="14571" y="17406"/>
                  <a:pt x="14571" y="17196"/>
                </a:cubicBezTo>
                <a:cubicBezTo>
                  <a:pt x="14057" y="17196"/>
                  <a:pt x="13371" y="17196"/>
                  <a:pt x="12857" y="17196"/>
                </a:cubicBezTo>
                <a:close/>
                <a:moveTo>
                  <a:pt x="15600" y="17196"/>
                </a:moveTo>
                <a:cubicBezTo>
                  <a:pt x="15600" y="17406"/>
                  <a:pt x="15600" y="17616"/>
                  <a:pt x="15600" y="17825"/>
                </a:cubicBezTo>
                <a:cubicBezTo>
                  <a:pt x="16286" y="17825"/>
                  <a:pt x="16971" y="17825"/>
                  <a:pt x="17486" y="17825"/>
                </a:cubicBezTo>
                <a:cubicBezTo>
                  <a:pt x="17486" y="17616"/>
                  <a:pt x="17486" y="17406"/>
                  <a:pt x="17486" y="17196"/>
                </a:cubicBezTo>
                <a:cubicBezTo>
                  <a:pt x="16800" y="17196"/>
                  <a:pt x="16286" y="17196"/>
                  <a:pt x="15600" y="17196"/>
                </a:cubicBezTo>
                <a:close/>
                <a:moveTo>
                  <a:pt x="6686" y="15938"/>
                </a:moveTo>
                <a:cubicBezTo>
                  <a:pt x="6686" y="16148"/>
                  <a:pt x="6686" y="16357"/>
                  <a:pt x="6514" y="16567"/>
                </a:cubicBezTo>
                <a:cubicBezTo>
                  <a:pt x="7200" y="16567"/>
                  <a:pt x="7714" y="16567"/>
                  <a:pt x="8400" y="16567"/>
                </a:cubicBezTo>
                <a:cubicBezTo>
                  <a:pt x="8400" y="16357"/>
                  <a:pt x="8400" y="16148"/>
                  <a:pt x="8400" y="15938"/>
                </a:cubicBezTo>
                <a:cubicBezTo>
                  <a:pt x="7886" y="15938"/>
                  <a:pt x="7371" y="15938"/>
                  <a:pt x="6686" y="15938"/>
                </a:cubicBezTo>
                <a:close/>
                <a:moveTo>
                  <a:pt x="4800" y="15938"/>
                </a:moveTo>
                <a:cubicBezTo>
                  <a:pt x="4629" y="16148"/>
                  <a:pt x="4629" y="16357"/>
                  <a:pt x="4457" y="16567"/>
                </a:cubicBezTo>
                <a:cubicBezTo>
                  <a:pt x="4971" y="16567"/>
                  <a:pt x="5314" y="16567"/>
                  <a:pt x="5657" y="16567"/>
                </a:cubicBezTo>
                <a:cubicBezTo>
                  <a:pt x="5657" y="16357"/>
                  <a:pt x="5657" y="16148"/>
                  <a:pt x="5829" y="15938"/>
                </a:cubicBezTo>
                <a:cubicBezTo>
                  <a:pt x="5486" y="15938"/>
                  <a:pt x="5143" y="15938"/>
                  <a:pt x="4800" y="15938"/>
                </a:cubicBezTo>
                <a:close/>
                <a:moveTo>
                  <a:pt x="9429" y="15938"/>
                </a:moveTo>
                <a:cubicBezTo>
                  <a:pt x="9429" y="16148"/>
                  <a:pt x="9257" y="16357"/>
                  <a:pt x="9257" y="16567"/>
                </a:cubicBezTo>
                <a:cubicBezTo>
                  <a:pt x="9943" y="16567"/>
                  <a:pt x="10457" y="16567"/>
                  <a:pt x="11143" y="16567"/>
                </a:cubicBezTo>
                <a:cubicBezTo>
                  <a:pt x="11143" y="16357"/>
                  <a:pt x="11143" y="16148"/>
                  <a:pt x="11143" y="15938"/>
                </a:cubicBezTo>
                <a:cubicBezTo>
                  <a:pt x="10629" y="15938"/>
                  <a:pt x="9943" y="15938"/>
                  <a:pt x="9429" y="15938"/>
                </a:cubicBezTo>
                <a:close/>
                <a:moveTo>
                  <a:pt x="12000" y="15938"/>
                </a:moveTo>
                <a:cubicBezTo>
                  <a:pt x="12000" y="16148"/>
                  <a:pt x="12000" y="16357"/>
                  <a:pt x="12000" y="16567"/>
                </a:cubicBezTo>
                <a:cubicBezTo>
                  <a:pt x="12686" y="16567"/>
                  <a:pt x="13200" y="16567"/>
                  <a:pt x="13886" y="16567"/>
                </a:cubicBezTo>
                <a:cubicBezTo>
                  <a:pt x="13886" y="16357"/>
                  <a:pt x="13886" y="16148"/>
                  <a:pt x="13886" y="15938"/>
                </a:cubicBezTo>
                <a:cubicBezTo>
                  <a:pt x="13200" y="15938"/>
                  <a:pt x="12686" y="15938"/>
                  <a:pt x="12000" y="15938"/>
                </a:cubicBezTo>
                <a:close/>
                <a:moveTo>
                  <a:pt x="14914" y="15938"/>
                </a:moveTo>
                <a:cubicBezTo>
                  <a:pt x="14914" y="16148"/>
                  <a:pt x="14914" y="16357"/>
                  <a:pt x="14914" y="16567"/>
                </a:cubicBezTo>
                <a:cubicBezTo>
                  <a:pt x="15771" y="16567"/>
                  <a:pt x="16457" y="16567"/>
                  <a:pt x="17314" y="16567"/>
                </a:cubicBezTo>
                <a:cubicBezTo>
                  <a:pt x="17314" y="16357"/>
                  <a:pt x="17314" y="16148"/>
                  <a:pt x="17143" y="15938"/>
                </a:cubicBezTo>
                <a:cubicBezTo>
                  <a:pt x="16457" y="15938"/>
                  <a:pt x="15600" y="15938"/>
                  <a:pt x="14914" y="15938"/>
                </a:cubicBezTo>
                <a:close/>
                <a:moveTo>
                  <a:pt x="5143" y="15099"/>
                </a:moveTo>
                <a:cubicBezTo>
                  <a:pt x="4971" y="15309"/>
                  <a:pt x="4971" y="15309"/>
                  <a:pt x="4800" y="15518"/>
                </a:cubicBezTo>
                <a:cubicBezTo>
                  <a:pt x="5486" y="15518"/>
                  <a:pt x="6000" y="15518"/>
                  <a:pt x="6514" y="15518"/>
                </a:cubicBezTo>
                <a:cubicBezTo>
                  <a:pt x="6686" y="15309"/>
                  <a:pt x="6686" y="15309"/>
                  <a:pt x="6686" y="15099"/>
                </a:cubicBezTo>
                <a:cubicBezTo>
                  <a:pt x="6171" y="15099"/>
                  <a:pt x="5657" y="15099"/>
                  <a:pt x="5143" y="15099"/>
                </a:cubicBezTo>
                <a:close/>
                <a:moveTo>
                  <a:pt x="10114" y="15099"/>
                </a:moveTo>
                <a:cubicBezTo>
                  <a:pt x="10114" y="15309"/>
                  <a:pt x="10114" y="15309"/>
                  <a:pt x="10114" y="15518"/>
                </a:cubicBezTo>
                <a:cubicBezTo>
                  <a:pt x="10629" y="15518"/>
                  <a:pt x="11314" y="15518"/>
                  <a:pt x="11829" y="15518"/>
                </a:cubicBezTo>
                <a:cubicBezTo>
                  <a:pt x="11829" y="15309"/>
                  <a:pt x="11829" y="15309"/>
                  <a:pt x="11829" y="15099"/>
                </a:cubicBezTo>
                <a:cubicBezTo>
                  <a:pt x="11314" y="15099"/>
                  <a:pt x="10800" y="15099"/>
                  <a:pt x="10114" y="15099"/>
                </a:cubicBezTo>
                <a:close/>
                <a:moveTo>
                  <a:pt x="12686" y="15099"/>
                </a:moveTo>
                <a:cubicBezTo>
                  <a:pt x="12686" y="15309"/>
                  <a:pt x="12686" y="15309"/>
                  <a:pt x="12686" y="15518"/>
                </a:cubicBezTo>
                <a:cubicBezTo>
                  <a:pt x="13371" y="15518"/>
                  <a:pt x="13886" y="15518"/>
                  <a:pt x="14571" y="15518"/>
                </a:cubicBezTo>
                <a:cubicBezTo>
                  <a:pt x="14400" y="15309"/>
                  <a:pt x="14400" y="15309"/>
                  <a:pt x="14400" y="15099"/>
                </a:cubicBezTo>
                <a:cubicBezTo>
                  <a:pt x="13886" y="15099"/>
                  <a:pt x="13371" y="15099"/>
                  <a:pt x="12686" y="15099"/>
                </a:cubicBezTo>
                <a:close/>
                <a:moveTo>
                  <a:pt x="15257" y="15099"/>
                </a:moveTo>
                <a:cubicBezTo>
                  <a:pt x="15429" y="15309"/>
                  <a:pt x="15429" y="15309"/>
                  <a:pt x="15429" y="15518"/>
                </a:cubicBezTo>
                <a:cubicBezTo>
                  <a:pt x="15943" y="15518"/>
                  <a:pt x="16629" y="15518"/>
                  <a:pt x="17143" y="15518"/>
                </a:cubicBezTo>
                <a:cubicBezTo>
                  <a:pt x="17143" y="15309"/>
                  <a:pt x="16971" y="15309"/>
                  <a:pt x="16971" y="15099"/>
                </a:cubicBezTo>
                <a:cubicBezTo>
                  <a:pt x="16457" y="15099"/>
                  <a:pt x="15943" y="15099"/>
                  <a:pt x="15257" y="15099"/>
                </a:cubicBezTo>
                <a:close/>
                <a:moveTo>
                  <a:pt x="1714" y="19083"/>
                </a:moveTo>
                <a:cubicBezTo>
                  <a:pt x="1714" y="20132"/>
                  <a:pt x="1714" y="20132"/>
                  <a:pt x="1714" y="20132"/>
                </a:cubicBezTo>
                <a:cubicBezTo>
                  <a:pt x="3429" y="20132"/>
                  <a:pt x="3429" y="20132"/>
                  <a:pt x="3429" y="20132"/>
                </a:cubicBezTo>
                <a:cubicBezTo>
                  <a:pt x="3429" y="19083"/>
                  <a:pt x="3429" y="19083"/>
                  <a:pt x="3429" y="19083"/>
                </a:cubicBezTo>
                <a:cubicBezTo>
                  <a:pt x="1714" y="19083"/>
                  <a:pt x="1714" y="19083"/>
                  <a:pt x="1714" y="19083"/>
                </a:cubicBezTo>
                <a:close/>
                <a:moveTo>
                  <a:pt x="18171" y="19083"/>
                </a:moveTo>
                <a:cubicBezTo>
                  <a:pt x="18171" y="20132"/>
                  <a:pt x="18171" y="20132"/>
                  <a:pt x="18171" y="20132"/>
                </a:cubicBezTo>
                <a:cubicBezTo>
                  <a:pt x="19886" y="20132"/>
                  <a:pt x="19886" y="20132"/>
                  <a:pt x="19886" y="20132"/>
                </a:cubicBezTo>
                <a:cubicBezTo>
                  <a:pt x="19886" y="19083"/>
                  <a:pt x="19886" y="19083"/>
                  <a:pt x="19886" y="19083"/>
                </a:cubicBezTo>
                <a:cubicBezTo>
                  <a:pt x="18171" y="19083"/>
                  <a:pt x="18171" y="19083"/>
                  <a:pt x="18171" y="19083"/>
                </a:cubicBezTo>
                <a:close/>
                <a:moveTo>
                  <a:pt x="6686" y="19083"/>
                </a:moveTo>
                <a:cubicBezTo>
                  <a:pt x="6686" y="20132"/>
                  <a:pt x="6686" y="20132"/>
                  <a:pt x="6686" y="20132"/>
                </a:cubicBezTo>
                <a:cubicBezTo>
                  <a:pt x="8400" y="20132"/>
                  <a:pt x="8400" y="20132"/>
                  <a:pt x="8400" y="20132"/>
                </a:cubicBezTo>
                <a:cubicBezTo>
                  <a:pt x="8400" y="19083"/>
                  <a:pt x="8400" y="19083"/>
                  <a:pt x="8400" y="19083"/>
                </a:cubicBezTo>
                <a:cubicBezTo>
                  <a:pt x="6686" y="19083"/>
                  <a:pt x="6686" y="19083"/>
                  <a:pt x="6686" y="19083"/>
                </a:cubicBezTo>
                <a:close/>
                <a:moveTo>
                  <a:pt x="4286" y="19083"/>
                </a:moveTo>
                <a:cubicBezTo>
                  <a:pt x="4286" y="20132"/>
                  <a:pt x="4286" y="20132"/>
                  <a:pt x="4286" y="20132"/>
                </a:cubicBezTo>
                <a:cubicBezTo>
                  <a:pt x="6000" y="20132"/>
                  <a:pt x="6000" y="20132"/>
                  <a:pt x="6000" y="20132"/>
                </a:cubicBezTo>
                <a:cubicBezTo>
                  <a:pt x="6000" y="19083"/>
                  <a:pt x="6000" y="19083"/>
                  <a:pt x="6000" y="19083"/>
                </a:cubicBezTo>
                <a:lnTo>
                  <a:pt x="4286" y="19083"/>
                </a:lnTo>
                <a:close/>
              </a:path>
            </a:pathLst>
          </a:custGeom>
          <a:solidFill>
            <a:srgbClr val="404040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7" name="Freeform 48"/>
          <p:cNvSpPr/>
          <p:nvPr/>
        </p:nvSpPr>
        <p:spPr>
          <a:xfrm>
            <a:off x="6397164" y="1269748"/>
            <a:ext cx="538131" cy="4377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1" extrusionOk="0">
                <a:moveTo>
                  <a:pt x="6060" y="13453"/>
                </a:moveTo>
                <a:cubicBezTo>
                  <a:pt x="5750" y="14022"/>
                  <a:pt x="5439" y="14400"/>
                  <a:pt x="5128" y="14779"/>
                </a:cubicBezTo>
                <a:cubicBezTo>
                  <a:pt x="5128" y="15348"/>
                  <a:pt x="5283" y="15537"/>
                  <a:pt x="5439" y="15916"/>
                </a:cubicBezTo>
                <a:cubicBezTo>
                  <a:pt x="5594" y="15916"/>
                  <a:pt x="7459" y="15916"/>
                  <a:pt x="7614" y="16295"/>
                </a:cubicBezTo>
                <a:cubicBezTo>
                  <a:pt x="8236" y="17243"/>
                  <a:pt x="8236" y="18948"/>
                  <a:pt x="8081" y="19706"/>
                </a:cubicBezTo>
                <a:cubicBezTo>
                  <a:pt x="6216" y="20843"/>
                  <a:pt x="2020" y="20843"/>
                  <a:pt x="0" y="19706"/>
                </a:cubicBezTo>
                <a:cubicBezTo>
                  <a:pt x="0" y="18948"/>
                  <a:pt x="0" y="17243"/>
                  <a:pt x="622" y="16295"/>
                </a:cubicBezTo>
                <a:cubicBezTo>
                  <a:pt x="777" y="15916"/>
                  <a:pt x="2486" y="15916"/>
                  <a:pt x="2797" y="15916"/>
                </a:cubicBezTo>
                <a:cubicBezTo>
                  <a:pt x="2953" y="15537"/>
                  <a:pt x="2953" y="15158"/>
                  <a:pt x="2953" y="14779"/>
                </a:cubicBezTo>
                <a:cubicBezTo>
                  <a:pt x="2642" y="14400"/>
                  <a:pt x="2331" y="14022"/>
                  <a:pt x="2176" y="13453"/>
                </a:cubicBezTo>
                <a:cubicBezTo>
                  <a:pt x="1865" y="13453"/>
                  <a:pt x="1399" y="13453"/>
                  <a:pt x="1243" y="13453"/>
                </a:cubicBezTo>
                <a:cubicBezTo>
                  <a:pt x="1088" y="11558"/>
                  <a:pt x="1399" y="8906"/>
                  <a:pt x="2020" y="8337"/>
                </a:cubicBezTo>
                <a:cubicBezTo>
                  <a:pt x="2953" y="7390"/>
                  <a:pt x="5128" y="7390"/>
                  <a:pt x="6060" y="8148"/>
                </a:cubicBezTo>
                <a:cubicBezTo>
                  <a:pt x="6682" y="8716"/>
                  <a:pt x="7148" y="11748"/>
                  <a:pt x="6837" y="13453"/>
                </a:cubicBezTo>
                <a:cubicBezTo>
                  <a:pt x="6837" y="13453"/>
                  <a:pt x="6060" y="13453"/>
                  <a:pt x="6060" y="13453"/>
                </a:cubicBezTo>
                <a:close/>
                <a:moveTo>
                  <a:pt x="13519" y="7390"/>
                </a:moveTo>
                <a:cubicBezTo>
                  <a:pt x="13830" y="7390"/>
                  <a:pt x="14296" y="7390"/>
                  <a:pt x="14607" y="7390"/>
                </a:cubicBezTo>
                <a:cubicBezTo>
                  <a:pt x="14918" y="7579"/>
                  <a:pt x="15073" y="7390"/>
                  <a:pt x="15229" y="7200"/>
                </a:cubicBezTo>
                <a:cubicBezTo>
                  <a:pt x="15384" y="7011"/>
                  <a:pt x="15384" y="6632"/>
                  <a:pt x="15540" y="6253"/>
                </a:cubicBezTo>
                <a:cubicBezTo>
                  <a:pt x="15229" y="5874"/>
                  <a:pt x="15073" y="5495"/>
                  <a:pt x="14918" y="5116"/>
                </a:cubicBezTo>
                <a:cubicBezTo>
                  <a:pt x="14763" y="4927"/>
                  <a:pt x="14607" y="4737"/>
                  <a:pt x="14607" y="4548"/>
                </a:cubicBezTo>
                <a:cubicBezTo>
                  <a:pt x="14607" y="4358"/>
                  <a:pt x="14452" y="3979"/>
                  <a:pt x="14452" y="3790"/>
                </a:cubicBezTo>
                <a:cubicBezTo>
                  <a:pt x="14452" y="3600"/>
                  <a:pt x="14452" y="3600"/>
                  <a:pt x="14452" y="3600"/>
                </a:cubicBezTo>
                <a:cubicBezTo>
                  <a:pt x="14607" y="3600"/>
                  <a:pt x="14607" y="3600"/>
                  <a:pt x="14607" y="3600"/>
                </a:cubicBezTo>
                <a:cubicBezTo>
                  <a:pt x="14607" y="3600"/>
                  <a:pt x="14607" y="3411"/>
                  <a:pt x="14607" y="3411"/>
                </a:cubicBezTo>
                <a:cubicBezTo>
                  <a:pt x="14452" y="1895"/>
                  <a:pt x="14607" y="1327"/>
                  <a:pt x="15073" y="758"/>
                </a:cubicBezTo>
                <a:cubicBezTo>
                  <a:pt x="16006" y="-189"/>
                  <a:pt x="17560" y="-189"/>
                  <a:pt x="18492" y="569"/>
                </a:cubicBezTo>
                <a:cubicBezTo>
                  <a:pt x="19114" y="1137"/>
                  <a:pt x="19269" y="2085"/>
                  <a:pt x="19114" y="3411"/>
                </a:cubicBezTo>
                <a:cubicBezTo>
                  <a:pt x="19114" y="3411"/>
                  <a:pt x="19114" y="3411"/>
                  <a:pt x="19114" y="3600"/>
                </a:cubicBezTo>
                <a:cubicBezTo>
                  <a:pt x="19269" y="3600"/>
                  <a:pt x="19269" y="3600"/>
                  <a:pt x="19269" y="3600"/>
                </a:cubicBezTo>
                <a:cubicBezTo>
                  <a:pt x="19269" y="3790"/>
                  <a:pt x="19269" y="3790"/>
                  <a:pt x="19269" y="3790"/>
                </a:cubicBezTo>
                <a:cubicBezTo>
                  <a:pt x="19269" y="3979"/>
                  <a:pt x="19269" y="4358"/>
                  <a:pt x="19114" y="4548"/>
                </a:cubicBezTo>
                <a:cubicBezTo>
                  <a:pt x="19114" y="4737"/>
                  <a:pt x="18958" y="4927"/>
                  <a:pt x="18803" y="5116"/>
                </a:cubicBezTo>
                <a:cubicBezTo>
                  <a:pt x="18803" y="5495"/>
                  <a:pt x="18492" y="5874"/>
                  <a:pt x="18337" y="6253"/>
                </a:cubicBezTo>
                <a:cubicBezTo>
                  <a:pt x="18337" y="6632"/>
                  <a:pt x="18492" y="7011"/>
                  <a:pt x="18647" y="7390"/>
                </a:cubicBezTo>
                <a:cubicBezTo>
                  <a:pt x="18803" y="7390"/>
                  <a:pt x="19114" y="7390"/>
                  <a:pt x="19269" y="7390"/>
                </a:cubicBezTo>
                <a:cubicBezTo>
                  <a:pt x="19580" y="7390"/>
                  <a:pt x="19891" y="7390"/>
                  <a:pt x="20201" y="7390"/>
                </a:cubicBezTo>
                <a:cubicBezTo>
                  <a:pt x="21134" y="8337"/>
                  <a:pt x="21600" y="10800"/>
                  <a:pt x="21600" y="12316"/>
                </a:cubicBezTo>
                <a:cubicBezTo>
                  <a:pt x="20046" y="13453"/>
                  <a:pt x="13209" y="13643"/>
                  <a:pt x="12276" y="12316"/>
                </a:cubicBezTo>
                <a:cubicBezTo>
                  <a:pt x="12276" y="10990"/>
                  <a:pt x="12432" y="8716"/>
                  <a:pt x="13519" y="7390"/>
                </a:cubicBezTo>
                <a:close/>
                <a:moveTo>
                  <a:pt x="16783" y="7579"/>
                </a:moveTo>
                <a:cubicBezTo>
                  <a:pt x="16472" y="8148"/>
                  <a:pt x="16472" y="8148"/>
                  <a:pt x="16472" y="8148"/>
                </a:cubicBezTo>
                <a:cubicBezTo>
                  <a:pt x="16783" y="8337"/>
                  <a:pt x="16783" y="8337"/>
                  <a:pt x="16783" y="8337"/>
                </a:cubicBezTo>
                <a:cubicBezTo>
                  <a:pt x="16161" y="11558"/>
                  <a:pt x="16161" y="11558"/>
                  <a:pt x="16161" y="11558"/>
                </a:cubicBezTo>
                <a:cubicBezTo>
                  <a:pt x="16938" y="12316"/>
                  <a:pt x="16938" y="12316"/>
                  <a:pt x="16938" y="12316"/>
                </a:cubicBezTo>
                <a:cubicBezTo>
                  <a:pt x="16938" y="12316"/>
                  <a:pt x="16938" y="12316"/>
                  <a:pt x="16938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871" y="11558"/>
                  <a:pt x="17871" y="11558"/>
                  <a:pt x="17871" y="11558"/>
                </a:cubicBezTo>
                <a:cubicBezTo>
                  <a:pt x="17249" y="8337"/>
                  <a:pt x="17249" y="8337"/>
                  <a:pt x="17249" y="8337"/>
                </a:cubicBezTo>
                <a:cubicBezTo>
                  <a:pt x="17560" y="8148"/>
                  <a:pt x="17560" y="8148"/>
                  <a:pt x="17560" y="8148"/>
                </a:cubicBezTo>
                <a:cubicBezTo>
                  <a:pt x="17249" y="7579"/>
                  <a:pt x="17249" y="7579"/>
                  <a:pt x="17249" y="7579"/>
                </a:cubicBezTo>
                <a:cubicBezTo>
                  <a:pt x="17094" y="7579"/>
                  <a:pt x="17094" y="7579"/>
                  <a:pt x="17094" y="7579"/>
                </a:cubicBezTo>
                <a:cubicBezTo>
                  <a:pt x="16783" y="7579"/>
                  <a:pt x="16783" y="7579"/>
                  <a:pt x="16783" y="7579"/>
                </a:cubicBezTo>
                <a:close/>
                <a:moveTo>
                  <a:pt x="10567" y="21411"/>
                </a:moveTo>
                <a:cubicBezTo>
                  <a:pt x="8858" y="16106"/>
                  <a:pt x="8858" y="16106"/>
                  <a:pt x="8858" y="16106"/>
                </a:cubicBezTo>
                <a:cubicBezTo>
                  <a:pt x="13675" y="15537"/>
                  <a:pt x="13675" y="15537"/>
                  <a:pt x="13675" y="15537"/>
                </a:cubicBezTo>
                <a:cubicBezTo>
                  <a:pt x="12742" y="17243"/>
                  <a:pt x="12742" y="17243"/>
                  <a:pt x="12742" y="17243"/>
                </a:cubicBezTo>
                <a:cubicBezTo>
                  <a:pt x="14296" y="18190"/>
                  <a:pt x="16006" y="17622"/>
                  <a:pt x="17094" y="15916"/>
                </a:cubicBezTo>
                <a:cubicBezTo>
                  <a:pt x="17249" y="15537"/>
                  <a:pt x="17404" y="15158"/>
                  <a:pt x="17404" y="14590"/>
                </a:cubicBezTo>
                <a:cubicBezTo>
                  <a:pt x="18181" y="14969"/>
                  <a:pt x="18181" y="14969"/>
                  <a:pt x="18181" y="14969"/>
                </a:cubicBezTo>
                <a:cubicBezTo>
                  <a:pt x="18181" y="15916"/>
                  <a:pt x="17871" y="17053"/>
                  <a:pt x="17404" y="18000"/>
                </a:cubicBezTo>
                <a:cubicBezTo>
                  <a:pt x="16006" y="20464"/>
                  <a:pt x="13364" y="21222"/>
                  <a:pt x="11344" y="19895"/>
                </a:cubicBezTo>
                <a:cubicBezTo>
                  <a:pt x="10567" y="21411"/>
                  <a:pt x="10567" y="21411"/>
                  <a:pt x="10567" y="21411"/>
                </a:cubicBezTo>
                <a:close/>
                <a:moveTo>
                  <a:pt x="11188" y="0"/>
                </a:moveTo>
                <a:cubicBezTo>
                  <a:pt x="10412" y="1516"/>
                  <a:pt x="10412" y="1516"/>
                  <a:pt x="10412" y="1516"/>
                </a:cubicBezTo>
                <a:cubicBezTo>
                  <a:pt x="8236" y="190"/>
                  <a:pt x="5594" y="948"/>
                  <a:pt x="4351" y="3411"/>
                </a:cubicBezTo>
                <a:cubicBezTo>
                  <a:pt x="3729" y="4358"/>
                  <a:pt x="3574" y="5495"/>
                  <a:pt x="3574" y="6443"/>
                </a:cubicBezTo>
                <a:cubicBezTo>
                  <a:pt x="4196" y="6822"/>
                  <a:pt x="4196" y="6822"/>
                  <a:pt x="4196" y="6822"/>
                </a:cubicBezTo>
                <a:cubicBezTo>
                  <a:pt x="4351" y="6253"/>
                  <a:pt x="4506" y="5874"/>
                  <a:pt x="4662" y="5495"/>
                </a:cubicBezTo>
                <a:cubicBezTo>
                  <a:pt x="5594" y="3790"/>
                  <a:pt x="7459" y="3222"/>
                  <a:pt x="9013" y="4169"/>
                </a:cubicBezTo>
                <a:cubicBezTo>
                  <a:pt x="7925" y="5874"/>
                  <a:pt x="7925" y="5874"/>
                  <a:pt x="7925" y="5874"/>
                </a:cubicBezTo>
                <a:cubicBezTo>
                  <a:pt x="12898" y="5306"/>
                  <a:pt x="12898" y="5306"/>
                  <a:pt x="12898" y="5306"/>
                </a:cubicBezTo>
                <a:lnTo>
                  <a:pt x="11188" y="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8" name="文本框 1167"/>
          <p:cNvSpPr txBox="1"/>
          <p:nvPr/>
        </p:nvSpPr>
        <p:spPr>
          <a:xfrm>
            <a:off x="1576841" y="1640498"/>
            <a:ext cx="859210" cy="28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词法分析</a:t>
            </a:r>
            <a:endParaRPr b="1" dirty="0"/>
          </a:p>
        </p:txBody>
      </p:sp>
      <p:sp>
        <p:nvSpPr>
          <p:cNvPr id="849" name="文本框 60"/>
          <p:cNvSpPr txBox="1"/>
          <p:nvPr/>
        </p:nvSpPr>
        <p:spPr>
          <a:xfrm>
            <a:off x="214309" y="1868301"/>
            <a:ext cx="2744790" cy="73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接着进行词法分析，把输入的源代码按字符序列识别为一个个</a:t>
            </a:r>
            <a:r>
              <a:rPr lang="en-US" altLang="zh-CN" dirty="0"/>
              <a:t>Token</a:t>
            </a:r>
            <a:r>
              <a:rPr lang="zh-CN" altLang="en-US" dirty="0"/>
              <a:t>，这些</a:t>
            </a:r>
            <a:r>
              <a:rPr lang="en-US" altLang="zh-CN" dirty="0"/>
              <a:t>Token</a:t>
            </a:r>
            <a:r>
              <a:rPr lang="zh-CN" altLang="en-US" dirty="0"/>
              <a:t>是程序的基本组成单元，例如关键字、标识符、运算符等。</a:t>
            </a:r>
            <a:endParaRPr dirty="0"/>
          </a:p>
        </p:txBody>
      </p:sp>
      <p:sp>
        <p:nvSpPr>
          <p:cNvPr id="850" name="文本框 61"/>
          <p:cNvSpPr txBox="1"/>
          <p:nvPr/>
        </p:nvSpPr>
        <p:spPr>
          <a:xfrm>
            <a:off x="1417489" y="3368674"/>
            <a:ext cx="1757512" cy="28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输出</a:t>
            </a:r>
            <a:r>
              <a:rPr lang="en-US" altLang="zh-CN" b="1" dirty="0"/>
              <a:t>Token</a:t>
            </a:r>
            <a:r>
              <a:rPr lang="zh-CN" altLang="en-US" b="1" dirty="0"/>
              <a:t>流和</a:t>
            </a:r>
            <a:r>
              <a:rPr lang="en-US" altLang="zh-CN" b="1" dirty="0"/>
              <a:t>AST</a:t>
            </a:r>
            <a:endParaRPr b="1" dirty="0"/>
          </a:p>
        </p:txBody>
      </p:sp>
      <p:sp>
        <p:nvSpPr>
          <p:cNvPr id="851" name="文本框 62"/>
          <p:cNvSpPr txBox="1"/>
          <p:nvPr/>
        </p:nvSpPr>
        <p:spPr>
          <a:xfrm>
            <a:off x="611371" y="3636962"/>
            <a:ext cx="2311217" cy="50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最后输出</a:t>
            </a:r>
            <a:r>
              <a:rPr lang="en-US" altLang="zh-CN" dirty="0"/>
              <a:t>Token</a:t>
            </a:r>
            <a:r>
              <a:rPr lang="zh-CN" altLang="en-US" dirty="0"/>
              <a:t>流和</a:t>
            </a:r>
            <a:r>
              <a:rPr lang="en-US" altLang="zh-CN" dirty="0"/>
              <a:t>AST</a:t>
            </a:r>
            <a:r>
              <a:rPr lang="zh-CN" altLang="en-US" dirty="0"/>
              <a:t>，为后续的代码分析、优化和生成提供关键数据。</a:t>
            </a:r>
            <a:endParaRPr dirty="0"/>
          </a:p>
        </p:txBody>
      </p:sp>
      <p:sp>
        <p:nvSpPr>
          <p:cNvPr id="852" name="文本框 63"/>
          <p:cNvSpPr txBox="1"/>
          <p:nvPr/>
        </p:nvSpPr>
        <p:spPr>
          <a:xfrm>
            <a:off x="6255178" y="3368674"/>
            <a:ext cx="839056" cy="28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语法分析</a:t>
            </a:r>
            <a:endParaRPr b="1" dirty="0"/>
          </a:p>
        </p:txBody>
      </p:sp>
      <p:sp>
        <p:nvSpPr>
          <p:cNvPr id="853" name="文本框 64"/>
          <p:cNvSpPr txBox="1"/>
          <p:nvPr/>
        </p:nvSpPr>
        <p:spPr>
          <a:xfrm>
            <a:off x="6038356" y="3565382"/>
            <a:ext cx="2781795" cy="73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随后开展语法分析，依据语言的语法规则，将</a:t>
            </a:r>
            <a:r>
              <a:rPr lang="en-US" altLang="zh-CN" dirty="0"/>
              <a:t>Token</a:t>
            </a:r>
            <a:r>
              <a:rPr lang="zh-CN" altLang="en-US" dirty="0"/>
              <a:t>序列组织成抽象语法树（</a:t>
            </a:r>
            <a:r>
              <a:rPr lang="en-US" altLang="zh-CN" dirty="0"/>
              <a:t>AST</a:t>
            </a:r>
            <a:r>
              <a:rPr lang="zh-CN" altLang="en-US" dirty="0"/>
              <a:t>），清晰地展现程序的语法结构。</a:t>
            </a:r>
            <a:endParaRPr dirty="0"/>
          </a:p>
        </p:txBody>
      </p:sp>
      <p:sp>
        <p:nvSpPr>
          <p:cNvPr id="854" name="文本框 65"/>
          <p:cNvSpPr txBox="1"/>
          <p:nvPr/>
        </p:nvSpPr>
        <p:spPr>
          <a:xfrm>
            <a:off x="6165850" y="1801813"/>
            <a:ext cx="1358900" cy="28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支持源代码输入</a:t>
            </a:r>
            <a:endParaRPr b="1" dirty="0"/>
          </a:p>
        </p:txBody>
      </p:sp>
      <p:sp>
        <p:nvSpPr>
          <p:cNvPr id="855" name="文本框 66"/>
          <p:cNvSpPr txBox="1"/>
          <p:nvPr/>
        </p:nvSpPr>
        <p:spPr>
          <a:xfrm>
            <a:off x="5783264" y="2070100"/>
            <a:ext cx="3036888" cy="73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系统首先需要具备接收源代码的能力，无论是简单的代码片段，还是复杂的项目代码，都能够准确地接收并处理。</a:t>
            </a:r>
            <a:endParaRPr dirty="0"/>
          </a:p>
        </p:txBody>
      </p:sp>
      <p:sp>
        <p:nvSpPr>
          <p:cNvPr id="856" name="矩形 32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功能需求</a:t>
            </a:r>
            <a:endParaRPr dirty="0"/>
          </a:p>
        </p:txBody>
      </p:sp>
      <p:sp>
        <p:nvSpPr>
          <p:cNvPr id="857" name="矩形 33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58" name="矩形 34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59" name="矩形 35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61" name="矩形 37"/>
          <p:cNvSpPr/>
          <p:nvPr/>
        </p:nvSpPr>
        <p:spPr>
          <a:xfrm>
            <a:off x="7860266" y="264080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62" name="矩形 38"/>
          <p:cNvSpPr/>
          <p:nvPr/>
        </p:nvSpPr>
        <p:spPr>
          <a:xfrm>
            <a:off x="7383463" y="269395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" name="矩形 36">
            <a:extLst>
              <a:ext uri="{FF2B5EF4-FFF2-40B4-BE49-F238E27FC236}">
                <a16:creationId xmlns:a16="http://schemas.microsoft.com/office/drawing/2014/main" id="{E2E37D1A-D751-1781-8B04-4554F9AA07BB}"/>
              </a:ext>
            </a:extLst>
          </p:cNvPr>
          <p:cNvSpPr/>
          <p:nvPr/>
        </p:nvSpPr>
        <p:spPr>
          <a:xfrm>
            <a:off x="7620300" y="267627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85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0" animBg="1" advAuto="0"/>
      <p:bldP spid="839" grpId="0" animBg="1" advAuto="0"/>
      <p:bldP spid="840" grpId="0" animBg="1" advAuto="0"/>
      <p:bldP spid="841" grpId="0" animBg="1" advAuto="0"/>
      <p:bldP spid="842" grpId="0" animBg="1" advAuto="0"/>
      <p:bldP spid="843" grpId="0" animBg="1" advAuto="0"/>
      <p:bldP spid="844" grpId="0" animBg="1" advAuto="0"/>
      <p:bldP spid="845" grpId="0" animBg="1" advAuto="0"/>
      <p:bldP spid="846" grpId="0" animBg="1" advAuto="0"/>
      <p:bldP spid="847" grpId="0" animBg="1" advAuto="0"/>
      <p:bldP spid="848" grpId="0" animBg="1" advAuto="0"/>
      <p:bldP spid="849" grpId="0" animBg="1" advAuto="0"/>
      <p:bldP spid="850" grpId="0" animBg="1" advAuto="0"/>
      <p:bldP spid="851" grpId="0" animBg="1" advAuto="0"/>
      <p:bldP spid="852" grpId="0" animBg="1" advAuto="0"/>
      <p:bldP spid="853" grpId="0" animBg="1" advAuto="0"/>
      <p:bldP spid="854" grpId="0" animBg="1" advAuto="0"/>
      <p:bldP spid="855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椭圆 1"/>
          <p:cNvSpPr/>
          <p:nvPr/>
        </p:nvSpPr>
        <p:spPr>
          <a:xfrm>
            <a:off x="819149" y="1673224"/>
            <a:ext cx="2363790" cy="2363790"/>
          </a:xfrm>
          <a:prstGeom prst="ellips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95" name="椭圆 2"/>
          <p:cNvSpPr/>
          <p:nvPr/>
        </p:nvSpPr>
        <p:spPr>
          <a:xfrm>
            <a:off x="704849" y="1558924"/>
            <a:ext cx="2592390" cy="2592390"/>
          </a:xfrm>
          <a:prstGeom prst="ellipse">
            <a:avLst/>
          </a:prstGeom>
          <a:ln w="25400">
            <a:solidFill>
              <a:srgbClr val="41445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796" name="图片 3" descr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95" y="2208213"/>
            <a:ext cx="914400" cy="1285876"/>
          </a:xfrm>
          <a:prstGeom prst="rect">
            <a:avLst/>
          </a:prstGeom>
          <a:ln w="12700">
            <a:miter lim="400000"/>
          </a:ln>
        </p:spPr>
      </p:pic>
      <p:sp>
        <p:nvSpPr>
          <p:cNvPr id="822" name="直接连接符 4"/>
          <p:cNvSpPr/>
          <p:nvPr/>
        </p:nvSpPr>
        <p:spPr>
          <a:xfrm>
            <a:off x="3156576" y="1727788"/>
            <a:ext cx="961060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3" name="直接连接符 5"/>
          <p:cNvSpPr/>
          <p:nvPr/>
        </p:nvSpPr>
        <p:spPr>
          <a:xfrm>
            <a:off x="3309934" y="2851059"/>
            <a:ext cx="765780" cy="1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4" name="直接连接符 6"/>
          <p:cNvSpPr/>
          <p:nvPr/>
        </p:nvSpPr>
        <p:spPr>
          <a:xfrm>
            <a:off x="3156576" y="3470573"/>
            <a:ext cx="961061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802" name="组合 7"/>
          <p:cNvGrpSpPr/>
          <p:nvPr/>
        </p:nvGrpSpPr>
        <p:grpSpPr>
          <a:xfrm>
            <a:off x="4075111" y="1198562"/>
            <a:ext cx="719141" cy="720727"/>
            <a:chOff x="-1" y="0"/>
            <a:chExt cx="719140" cy="720725"/>
          </a:xfrm>
        </p:grpSpPr>
        <p:sp>
          <p:nvSpPr>
            <p:cNvPr id="800" name="椭圆 8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1" name="TextBox 9"/>
            <p:cNvSpPr txBox="1"/>
            <p:nvPr/>
          </p:nvSpPr>
          <p:spPr>
            <a:xfrm>
              <a:off x="123999" y="123936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01</a:t>
              </a:r>
            </a:p>
          </p:txBody>
        </p:sp>
      </p:grpSp>
      <p:grpSp>
        <p:nvGrpSpPr>
          <p:cNvPr id="805" name="组合 10"/>
          <p:cNvGrpSpPr/>
          <p:nvPr/>
        </p:nvGrpSpPr>
        <p:grpSpPr>
          <a:xfrm>
            <a:off x="4075111" y="2490787"/>
            <a:ext cx="719141" cy="719141"/>
            <a:chOff x="-1" y="-1"/>
            <a:chExt cx="719140" cy="719140"/>
          </a:xfrm>
        </p:grpSpPr>
        <p:sp>
          <p:nvSpPr>
            <p:cNvPr id="803" name="椭圆 11"/>
            <p:cNvSpPr/>
            <p:nvPr/>
          </p:nvSpPr>
          <p:spPr>
            <a:xfrm>
              <a:off x="-1" y="-1"/>
              <a:ext cx="719140" cy="719140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4" name="TextBox 12"/>
            <p:cNvSpPr txBox="1"/>
            <p:nvPr/>
          </p:nvSpPr>
          <p:spPr>
            <a:xfrm>
              <a:off x="108049" y="112643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02</a:t>
              </a:r>
            </a:p>
          </p:txBody>
        </p:sp>
      </p:grpSp>
      <p:grpSp>
        <p:nvGrpSpPr>
          <p:cNvPr id="808" name="组合 13"/>
          <p:cNvGrpSpPr/>
          <p:nvPr/>
        </p:nvGrpSpPr>
        <p:grpSpPr>
          <a:xfrm>
            <a:off x="4075111" y="3790950"/>
            <a:ext cx="719141" cy="720726"/>
            <a:chOff x="-1" y="0"/>
            <a:chExt cx="719140" cy="720725"/>
          </a:xfrm>
        </p:grpSpPr>
        <p:sp>
          <p:nvSpPr>
            <p:cNvPr id="806" name="椭圆 14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7" name="TextBox 15"/>
            <p:cNvSpPr txBox="1"/>
            <p:nvPr/>
          </p:nvSpPr>
          <p:spPr>
            <a:xfrm>
              <a:off x="118683" y="118621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03</a:t>
              </a:r>
            </a:p>
          </p:txBody>
        </p:sp>
      </p:grpSp>
      <p:sp>
        <p:nvSpPr>
          <p:cNvPr id="809" name="TextBox 16"/>
          <p:cNvSpPr txBox="1"/>
          <p:nvPr/>
        </p:nvSpPr>
        <p:spPr>
          <a:xfrm>
            <a:off x="4979987" y="1487487"/>
            <a:ext cx="3546476" cy="89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实现准确无误的词法分析和语法分析是首要目标，确保对各种合法的源代码都能正确解析，不出现误判和漏判。</a:t>
            </a:r>
            <a:endParaRPr dirty="0"/>
          </a:p>
        </p:txBody>
      </p:sp>
      <p:sp>
        <p:nvSpPr>
          <p:cNvPr id="810" name="矩形 17"/>
          <p:cNvSpPr txBox="1"/>
          <p:nvPr/>
        </p:nvSpPr>
        <p:spPr>
          <a:xfrm>
            <a:off x="4856457" y="1152480"/>
            <a:ext cx="379353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确保词法分析和语法分析准确无误</a:t>
            </a:r>
            <a:endParaRPr b="1" dirty="0"/>
          </a:p>
        </p:txBody>
      </p:sp>
      <p:sp>
        <p:nvSpPr>
          <p:cNvPr id="811" name="TextBox 18"/>
          <p:cNvSpPr txBox="1"/>
          <p:nvPr/>
        </p:nvSpPr>
        <p:spPr>
          <a:xfrm>
            <a:off x="5006975" y="2717800"/>
            <a:ext cx="3546475" cy="89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采用模块化设计理念，将词法分析器、语法分析器以及</a:t>
            </a:r>
            <a:r>
              <a:rPr lang="en-US" altLang="zh-CN" dirty="0"/>
              <a:t>AST</a:t>
            </a:r>
            <a:r>
              <a:rPr lang="zh-CN" altLang="en-US" dirty="0"/>
              <a:t>节点定义等功能模块分开，每个模块职责单一、独立，便于开发、维护和扩展。</a:t>
            </a:r>
            <a:endParaRPr dirty="0"/>
          </a:p>
        </p:txBody>
      </p:sp>
      <p:sp>
        <p:nvSpPr>
          <p:cNvPr id="812" name="矩形 19"/>
          <p:cNvSpPr txBox="1"/>
          <p:nvPr/>
        </p:nvSpPr>
        <p:spPr>
          <a:xfrm>
            <a:off x="4856457" y="2434937"/>
            <a:ext cx="202088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模块化设计理念</a:t>
            </a:r>
            <a:endParaRPr b="1" dirty="0"/>
          </a:p>
        </p:txBody>
      </p:sp>
      <p:sp>
        <p:nvSpPr>
          <p:cNvPr id="813" name="TextBox 20"/>
          <p:cNvSpPr txBox="1"/>
          <p:nvPr/>
        </p:nvSpPr>
        <p:spPr>
          <a:xfrm>
            <a:off x="4994273" y="3948113"/>
            <a:ext cx="3546475" cy="1167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系统还需具备良好的扩展性，能够适应未来对语言功能的扩展，如增加新的语法规则、数据类型等，只需在相应模块进行修改和添加，而不影响其他部分的正常运行。</a:t>
            </a:r>
            <a:endParaRPr dirty="0"/>
          </a:p>
        </p:txBody>
      </p:sp>
      <p:sp>
        <p:nvSpPr>
          <p:cNvPr id="814" name="矩形 21"/>
          <p:cNvSpPr txBox="1"/>
          <p:nvPr/>
        </p:nvSpPr>
        <p:spPr>
          <a:xfrm>
            <a:off x="4856456" y="3643895"/>
            <a:ext cx="202088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系统扩展性</a:t>
            </a:r>
            <a:endParaRPr b="1" dirty="0"/>
          </a:p>
        </p:txBody>
      </p:sp>
      <p:sp>
        <p:nvSpPr>
          <p:cNvPr id="2" name="矩形 32">
            <a:extLst>
              <a:ext uri="{FF2B5EF4-FFF2-40B4-BE49-F238E27FC236}">
                <a16:creationId xmlns:a16="http://schemas.microsoft.com/office/drawing/2014/main" id="{EA9CDE2F-0C07-A06B-196E-E40A41064A74}"/>
              </a:ext>
            </a:extLst>
          </p:cNvPr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设计目标</a:t>
            </a:r>
            <a:endParaRPr dirty="0"/>
          </a:p>
        </p:txBody>
      </p:sp>
      <p:sp>
        <p:nvSpPr>
          <p:cNvPr id="3" name="矩形 33">
            <a:extLst>
              <a:ext uri="{FF2B5EF4-FFF2-40B4-BE49-F238E27FC236}">
                <a16:creationId xmlns:a16="http://schemas.microsoft.com/office/drawing/2014/main" id="{91D6C02D-6EA5-3726-81A9-DCB2D6789CB7}"/>
              </a:ext>
            </a:extLst>
          </p:cNvPr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" name="矩形 34">
            <a:extLst>
              <a:ext uri="{FF2B5EF4-FFF2-40B4-BE49-F238E27FC236}">
                <a16:creationId xmlns:a16="http://schemas.microsoft.com/office/drawing/2014/main" id="{9844AC19-CDC4-0A5E-466E-E08004A11206}"/>
              </a:ext>
            </a:extLst>
          </p:cNvPr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" name="矩形 35">
            <a:extLst>
              <a:ext uri="{FF2B5EF4-FFF2-40B4-BE49-F238E27FC236}">
                <a16:creationId xmlns:a16="http://schemas.microsoft.com/office/drawing/2014/main" id="{2915D567-7DD1-828A-7166-AC35867BCC78}"/>
              </a:ext>
            </a:extLst>
          </p:cNvPr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6" name="矩形 37">
            <a:extLst>
              <a:ext uri="{FF2B5EF4-FFF2-40B4-BE49-F238E27FC236}">
                <a16:creationId xmlns:a16="http://schemas.microsoft.com/office/drawing/2014/main" id="{F4DE7692-A216-F1F8-F8F7-D406C106BC6D}"/>
              </a:ext>
            </a:extLst>
          </p:cNvPr>
          <p:cNvSpPr/>
          <p:nvPr/>
        </p:nvSpPr>
        <p:spPr>
          <a:xfrm>
            <a:off x="7860266" y="264080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" name="矩形 38">
            <a:extLst>
              <a:ext uri="{FF2B5EF4-FFF2-40B4-BE49-F238E27FC236}">
                <a16:creationId xmlns:a16="http://schemas.microsoft.com/office/drawing/2014/main" id="{F467ABC4-19DA-BC86-2B4D-E955730AB2AB}"/>
              </a:ext>
            </a:extLst>
          </p:cNvPr>
          <p:cNvSpPr/>
          <p:nvPr/>
        </p:nvSpPr>
        <p:spPr>
          <a:xfrm>
            <a:off x="7383463" y="269395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" name="矩形 36">
            <a:extLst>
              <a:ext uri="{FF2B5EF4-FFF2-40B4-BE49-F238E27FC236}">
                <a16:creationId xmlns:a16="http://schemas.microsoft.com/office/drawing/2014/main" id="{90CBA735-895C-B79F-B8D0-E8C786005B70}"/>
              </a:ext>
            </a:extLst>
          </p:cNvPr>
          <p:cNvSpPr/>
          <p:nvPr/>
        </p:nvSpPr>
        <p:spPr>
          <a:xfrm>
            <a:off x="7620300" y="267627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28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" grpId="0" animBg="1" advAuto="0"/>
      <p:bldP spid="795" grpId="0" animBg="1" advAuto="0"/>
      <p:bldP spid="796" grpId="0" animBg="1" advAuto="0"/>
      <p:bldP spid="822" grpId="0" animBg="1" advAuto="0"/>
      <p:bldP spid="823" grpId="0" animBg="1" advAuto="0"/>
      <p:bldP spid="824" grpId="0" animBg="1" advAuto="0"/>
      <p:bldP spid="802" grpId="0" animBg="1" advAuto="0"/>
      <p:bldP spid="805" grpId="0" animBg="1" advAuto="0"/>
      <p:bldP spid="808" grpId="0" animBg="1" advAuto="0"/>
      <p:bldP spid="809" grpId="0" animBg="1" advAuto="0"/>
      <p:bldP spid="810" grpId="0" animBg="1" advAuto="0"/>
      <p:bldP spid="811" grpId="0" animBg="1" advAuto="0"/>
      <p:bldP spid="812" grpId="0" animBg="1" advAuto="0"/>
      <p:bldP spid="813" grpId="0" animBg="1" advAuto="0"/>
      <p:bldP spid="814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8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第三部分</a:t>
            </a:r>
          </a:p>
        </p:txBody>
      </p:sp>
      <p:sp>
        <p:nvSpPr>
          <p:cNvPr id="759" name="TextBox 23"/>
          <p:cNvSpPr txBox="1"/>
          <p:nvPr/>
        </p:nvSpPr>
        <p:spPr>
          <a:xfrm>
            <a:off x="3773487" y="1827213"/>
            <a:ext cx="2773836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词法分析：</a:t>
            </a:r>
            <a:r>
              <a:rPr lang="en-US" altLang="zh-CN" dirty="0"/>
              <a:t>Token</a:t>
            </a:r>
            <a:r>
              <a:rPr lang="zh-CN" altLang="en-US" dirty="0"/>
              <a:t>的诞生之旅</a:t>
            </a:r>
            <a:endParaRPr dirty="0"/>
          </a:p>
        </p:txBody>
      </p:sp>
      <p:sp>
        <p:nvSpPr>
          <p:cNvPr id="760" name="TextBox 24"/>
          <p:cNvSpPr txBox="1"/>
          <p:nvPr/>
        </p:nvSpPr>
        <p:spPr>
          <a:xfrm>
            <a:off x="3773487" y="2154238"/>
            <a:ext cx="2565446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语法分析：</a:t>
            </a:r>
            <a:r>
              <a:rPr lang="en-US" altLang="zh-CN" dirty="0"/>
              <a:t>AST</a:t>
            </a:r>
            <a:r>
              <a:rPr lang="zh-CN" altLang="en-US" dirty="0"/>
              <a:t>的构建之路</a:t>
            </a:r>
            <a:endParaRPr dirty="0"/>
          </a:p>
        </p:txBody>
      </p:sp>
      <p:grpSp>
        <p:nvGrpSpPr>
          <p:cNvPr id="764" name="组合 11"/>
          <p:cNvGrpSpPr/>
          <p:nvPr/>
        </p:nvGrpSpPr>
        <p:grpSpPr>
          <a:xfrm>
            <a:off x="3773487" y="1247774"/>
            <a:ext cx="3535515" cy="530915"/>
            <a:chOff x="0" y="0"/>
            <a:chExt cx="3535511" cy="530913"/>
          </a:xfrm>
        </p:grpSpPr>
        <p:sp>
          <p:nvSpPr>
            <p:cNvPr id="762" name="TextBox 4"/>
            <p:cNvSpPr txBox="1"/>
            <p:nvPr/>
          </p:nvSpPr>
          <p:spPr>
            <a:xfrm>
              <a:off x="0" y="0"/>
              <a:ext cx="69314" cy="530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endParaRPr dirty="0"/>
            </a:p>
          </p:txBody>
        </p:sp>
        <p:sp>
          <p:nvSpPr>
            <p:cNvPr id="763" name="文本框 8"/>
            <p:cNvSpPr txBox="1"/>
            <p:nvPr/>
          </p:nvSpPr>
          <p:spPr>
            <a:xfrm>
              <a:off x="80721" y="46038"/>
              <a:ext cx="3454790" cy="4385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词法与语法分析核心揭秘</a:t>
              </a:r>
              <a:endParaRPr dirty="0"/>
            </a:p>
          </p:txBody>
        </p:sp>
      </p:grpSp>
      <p:sp>
        <p:nvSpPr>
          <p:cNvPr id="765" name="矩形 9"/>
          <p:cNvSpPr/>
          <p:nvPr/>
        </p:nvSpPr>
        <p:spPr>
          <a:xfrm>
            <a:off x="3825875" y="2589212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83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0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" grpId="0" animBg="1" advAuto="0"/>
      <p:bldP spid="759" grpId="0" animBg="1" advAuto="0"/>
      <p:bldP spid="760" grpId="0" animBg="1" advAuto="0"/>
      <p:bldP spid="764" grpId="0" animBg="1" advAuto="0"/>
      <p:bldP spid="765" grpId="0" animBg="1" advAuto="0"/>
      <p:bldP spid="766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矩形 36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核心探究</a:t>
            </a:r>
            <a:endParaRPr dirty="0"/>
          </a:p>
        </p:txBody>
      </p:sp>
      <p:sp>
        <p:nvSpPr>
          <p:cNvPr id="816" name="矩形 3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7" name="矩形 3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8" name="矩形 3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9" name="矩形 4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20" name="矩形 4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21" name="矩形 4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1224" name="组合 15"/>
          <p:cNvGrpSpPr/>
          <p:nvPr/>
        </p:nvGrpSpPr>
        <p:grpSpPr>
          <a:xfrm>
            <a:off x="410249" y="852016"/>
            <a:ext cx="8346079" cy="1513765"/>
            <a:chOff x="0" y="0"/>
            <a:chExt cx="8346078" cy="1513763"/>
          </a:xfrm>
        </p:grpSpPr>
        <p:sp>
          <p:nvSpPr>
            <p:cNvPr id="1222" name="矩形 16"/>
            <p:cNvSpPr txBox="1"/>
            <p:nvPr/>
          </p:nvSpPr>
          <p:spPr>
            <a:xfrm>
              <a:off x="0" y="346074"/>
              <a:ext cx="8346078" cy="1167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词法分析阶段，借助有限自动机这一强大工具来识别关键字、标识符、运算符等。有限自动机包含有限个状态，每个状态对应着不同的识别阶段。当输入字符时，根据状态转移函数，在不同状态之间进行转移。例如，识别关键字“</a:t>
              </a:r>
              <a:r>
                <a:rPr lang="en-US" altLang="zh-CN" dirty="0"/>
                <a:t>if”</a:t>
              </a:r>
              <a:r>
                <a:rPr lang="zh-CN" altLang="en-US" dirty="0"/>
                <a:t>，从初始状态开始，当输入字符“</a:t>
              </a:r>
              <a:r>
                <a:rPr lang="en-US" altLang="zh-CN" dirty="0" err="1"/>
                <a:t>i</a:t>
              </a:r>
              <a:r>
                <a:rPr lang="en-US" altLang="zh-CN" dirty="0"/>
                <a:t>”</a:t>
              </a:r>
              <a:r>
                <a:rPr lang="zh-CN" altLang="en-US" dirty="0"/>
                <a:t>时，转移到下一个状态，接着输入“</a:t>
              </a:r>
              <a:r>
                <a:rPr lang="en-US" altLang="zh-CN" dirty="0"/>
                <a:t>f”</a:t>
              </a:r>
              <a:r>
                <a:rPr lang="zh-CN" altLang="en-US" dirty="0"/>
                <a:t>，如果匹配成功则进入接受状态，识别出“</a:t>
              </a:r>
              <a:r>
                <a:rPr lang="en-US" altLang="zh-CN" dirty="0"/>
                <a:t>if”</a:t>
              </a:r>
              <a:r>
                <a:rPr lang="zh-CN" altLang="en-US" dirty="0"/>
                <a:t>关键字。通过这样的方式，将输入的字符流逐步识别为一个个</a:t>
              </a:r>
              <a:r>
                <a:rPr lang="en-US" altLang="zh-CN" dirty="0"/>
                <a:t>Token</a:t>
              </a:r>
              <a:r>
                <a:rPr lang="zh-CN" altLang="en-US" dirty="0"/>
                <a:t>，生成</a:t>
              </a:r>
              <a:r>
                <a:rPr lang="en-US" altLang="zh-CN" dirty="0"/>
                <a:t>Token</a:t>
              </a:r>
              <a:r>
                <a:rPr lang="zh-CN" altLang="en-US" dirty="0"/>
                <a:t>流，为后续的语法分析提供基本单元。</a:t>
              </a:r>
              <a:endParaRPr dirty="0"/>
            </a:p>
          </p:txBody>
        </p:sp>
        <p:sp>
          <p:nvSpPr>
            <p:cNvPr id="1223" name="矩形 17"/>
            <p:cNvSpPr txBox="1"/>
            <p:nvPr/>
          </p:nvSpPr>
          <p:spPr>
            <a:xfrm>
              <a:off x="8761" y="0"/>
              <a:ext cx="311880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词法分析：</a:t>
              </a:r>
              <a:r>
                <a:rPr lang="en-US" altLang="zh-CN" b="1" dirty="0"/>
                <a:t>Token</a:t>
              </a:r>
              <a:r>
                <a:rPr lang="zh-CN" altLang="en-US" b="1" dirty="0"/>
                <a:t>的诞生之旅</a:t>
              </a:r>
            </a:p>
          </p:txBody>
        </p:sp>
      </p:grpSp>
      <p:grpSp>
        <p:nvGrpSpPr>
          <p:cNvPr id="1231" name="组合 18"/>
          <p:cNvGrpSpPr/>
          <p:nvPr/>
        </p:nvGrpSpPr>
        <p:grpSpPr>
          <a:xfrm>
            <a:off x="1162908" y="2393475"/>
            <a:ext cx="7349270" cy="2491263"/>
            <a:chOff x="0" y="-1"/>
            <a:chExt cx="6907150" cy="2122491"/>
          </a:xfrm>
        </p:grpSpPr>
        <p:grpSp>
          <p:nvGrpSpPr>
            <p:cNvPr id="1229" name="组合 19"/>
            <p:cNvGrpSpPr/>
            <p:nvPr/>
          </p:nvGrpSpPr>
          <p:grpSpPr>
            <a:xfrm>
              <a:off x="0" y="-1"/>
              <a:ext cx="6907150" cy="2122491"/>
              <a:chOff x="0" y="0"/>
              <a:chExt cx="6907149" cy="2122489"/>
            </a:xfrm>
          </p:grpSpPr>
          <p:sp>
            <p:nvSpPr>
              <p:cNvPr id="1225" name="任意多边形 21"/>
              <p:cNvSpPr/>
              <p:nvPr/>
            </p:nvSpPr>
            <p:spPr>
              <a:xfrm>
                <a:off x="6804756" y="1228725"/>
                <a:ext cx="102394" cy="13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686C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262626"/>
                    </a:solidFill>
                  </a:defRPr>
                </a:pPr>
                <a:endParaRPr/>
              </a:p>
            </p:txBody>
          </p:sp>
          <p:grpSp>
            <p:nvGrpSpPr>
              <p:cNvPr id="1228" name="组合 22"/>
              <p:cNvGrpSpPr/>
              <p:nvPr/>
            </p:nvGrpSpPr>
            <p:grpSpPr>
              <a:xfrm>
                <a:off x="0" y="0"/>
                <a:ext cx="6840760" cy="2122490"/>
                <a:chOff x="0" y="0"/>
                <a:chExt cx="6840759" cy="2122489"/>
              </a:xfrm>
            </p:grpSpPr>
            <p:sp>
              <p:nvSpPr>
                <p:cNvPr id="1226" name="任意多边形 23"/>
                <p:cNvSpPr/>
                <p:nvPr/>
              </p:nvSpPr>
              <p:spPr>
                <a:xfrm>
                  <a:off x="5495068" y="0"/>
                  <a:ext cx="114301" cy="714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3600" y="0"/>
                      </a:lnTo>
                      <a:close/>
                    </a:path>
                  </a:pathLst>
                </a:custGeom>
                <a:solidFill>
                  <a:srgbClr val="686C8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227" name="矩形 24"/>
                <p:cNvSpPr/>
                <p:nvPr/>
              </p:nvSpPr>
              <p:spPr>
                <a:xfrm>
                  <a:off x="0" y="59419"/>
                  <a:ext cx="6840760" cy="2063071"/>
                </a:xfrm>
                <a:prstGeom prst="rect">
                  <a:avLst/>
                </a:prstGeom>
                <a:solidFill>
                  <a:srgbClr val="41445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sp>
          <p:nvSpPr>
            <p:cNvPr id="1230" name="矩形 20"/>
            <p:cNvSpPr txBox="1"/>
            <p:nvPr/>
          </p:nvSpPr>
          <p:spPr>
            <a:xfrm>
              <a:off x="162204" y="418729"/>
              <a:ext cx="5390014" cy="14668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语法分析采用递归下降方法，这种方法基于语言的语法规则，自顶向下地对</a:t>
              </a:r>
              <a:r>
                <a:rPr lang="en-US" altLang="zh-CN" dirty="0"/>
                <a:t>Token</a:t>
              </a:r>
              <a:r>
                <a:rPr lang="zh-CN" altLang="en-US" dirty="0"/>
                <a:t>序列进行解析。对于每个语法规则，编写相应的解析函数。例如，对于表达式语法规则，可能有“表达式 </a:t>
              </a:r>
              <a:r>
                <a:rPr lang="en-US" altLang="zh-CN" dirty="0"/>
                <a:t>- &gt; </a:t>
              </a:r>
              <a:r>
                <a:rPr lang="zh-CN" altLang="en-US" dirty="0"/>
                <a:t>项 </a:t>
              </a:r>
              <a:r>
                <a:rPr lang="en-US" altLang="zh-CN" dirty="0"/>
                <a:t>+ </a:t>
              </a:r>
              <a:r>
                <a:rPr lang="zh-CN" altLang="en-US" dirty="0"/>
                <a:t>项”这样的规则，解析函数会先递归解析第一个项，再匹配“</a:t>
              </a:r>
              <a:r>
                <a:rPr lang="en-US" altLang="zh-CN" dirty="0"/>
                <a:t>+”</a:t>
              </a:r>
              <a:r>
                <a:rPr lang="zh-CN" altLang="en-US" dirty="0"/>
                <a:t>运算符，然后递归解析第二个项，以此类推。在解析过程中，构建抽象语法树（</a:t>
              </a:r>
              <a:r>
                <a:rPr lang="en-US" altLang="zh-CN" dirty="0"/>
                <a:t>AST</a:t>
              </a:r>
              <a:r>
                <a:rPr lang="zh-CN" altLang="en-US" dirty="0"/>
                <a:t>），每个节点代表一个语法结构，节点之间的关系反映了语法规则的嵌套和组合，最终构建出完整的</a:t>
              </a:r>
              <a:r>
                <a:rPr lang="en-US" altLang="zh-CN" dirty="0"/>
                <a:t>AST</a:t>
              </a:r>
              <a:r>
                <a:rPr lang="zh-CN" altLang="en-US" dirty="0"/>
                <a:t>，展现程序的语法全貌。</a:t>
              </a:r>
              <a:endParaRPr dirty="0"/>
            </a:p>
          </p:txBody>
        </p:sp>
      </p:grpSp>
      <p:grpSp>
        <p:nvGrpSpPr>
          <p:cNvPr id="1234" name="组合 25"/>
          <p:cNvGrpSpPr/>
          <p:nvPr/>
        </p:nvGrpSpPr>
        <p:grpSpPr>
          <a:xfrm>
            <a:off x="6728480" y="2175624"/>
            <a:ext cx="1783696" cy="2551908"/>
            <a:chOff x="0" y="-167284"/>
            <a:chExt cx="1552484" cy="1955318"/>
          </a:xfrm>
        </p:grpSpPr>
        <p:sp>
          <p:nvSpPr>
            <p:cNvPr id="1232" name="任意多边形 26"/>
            <p:cNvSpPr/>
            <p:nvPr/>
          </p:nvSpPr>
          <p:spPr>
            <a:xfrm>
              <a:off x="0" y="-1"/>
              <a:ext cx="1552484" cy="1468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"/>
                  </a:moveTo>
                  <a:lnTo>
                    <a:pt x="21600" y="21600"/>
                  </a:lnTo>
                  <a:lnTo>
                    <a:pt x="21600" y="6615"/>
                  </a:lnTo>
                  <a:lnTo>
                    <a:pt x="149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86C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1233" name="矩形 27"/>
            <p:cNvSpPr txBox="1"/>
            <p:nvPr/>
          </p:nvSpPr>
          <p:spPr>
            <a:xfrm rot="2895616">
              <a:off x="-35896" y="635568"/>
              <a:ext cx="1955318" cy="34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语法分析：</a:t>
              </a:r>
              <a:r>
                <a:rPr lang="en-US" altLang="zh-CN" dirty="0"/>
                <a:t>AST</a:t>
              </a:r>
              <a:r>
                <a:rPr lang="zh-CN" altLang="en-US" dirty="0"/>
                <a:t>的构建之路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981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1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" grpId="0" animBg="1" advAuto="0"/>
      <p:bldP spid="1231" grpId="0" animBg="1" advAuto="0"/>
      <p:bldP spid="1234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5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第四部分</a:t>
            </a:r>
          </a:p>
        </p:txBody>
      </p:sp>
      <p:sp>
        <p:nvSpPr>
          <p:cNvPr id="867" name="TextBox 24"/>
          <p:cNvSpPr txBox="1"/>
          <p:nvPr/>
        </p:nvSpPr>
        <p:spPr>
          <a:xfrm>
            <a:off x="3773487" y="215423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模块组成</a:t>
            </a:r>
            <a:endParaRPr dirty="0"/>
          </a:p>
        </p:txBody>
      </p:sp>
      <p:sp>
        <p:nvSpPr>
          <p:cNvPr id="868" name="TextBox 25"/>
          <p:cNvSpPr txBox="1"/>
          <p:nvPr/>
        </p:nvSpPr>
        <p:spPr>
          <a:xfrm>
            <a:off x="3773487" y="2505074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流程详解</a:t>
            </a:r>
            <a:endParaRPr dirty="0"/>
          </a:p>
        </p:txBody>
      </p:sp>
      <p:grpSp>
        <p:nvGrpSpPr>
          <p:cNvPr id="871" name="组合 11"/>
          <p:cNvGrpSpPr/>
          <p:nvPr/>
        </p:nvGrpSpPr>
        <p:grpSpPr>
          <a:xfrm>
            <a:off x="3773487" y="1247774"/>
            <a:ext cx="3859915" cy="853951"/>
            <a:chOff x="0" y="0"/>
            <a:chExt cx="3859910" cy="853948"/>
          </a:xfrm>
        </p:grpSpPr>
        <p:sp>
          <p:nvSpPr>
            <p:cNvPr id="869" name="TextBox 4"/>
            <p:cNvSpPr txBox="1"/>
            <p:nvPr/>
          </p:nvSpPr>
          <p:spPr>
            <a:xfrm>
              <a:off x="0" y="0"/>
              <a:ext cx="69314" cy="530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endParaRPr dirty="0"/>
            </a:p>
          </p:txBody>
        </p:sp>
        <p:sp>
          <p:nvSpPr>
            <p:cNvPr id="870" name="文本框 8"/>
            <p:cNvSpPr txBox="1"/>
            <p:nvPr/>
          </p:nvSpPr>
          <p:spPr>
            <a:xfrm>
              <a:off x="97347" y="46038"/>
              <a:ext cx="3762563" cy="807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系统架构与模块剖析：</a:t>
              </a:r>
              <a:endParaRPr lang="en-US" altLang="zh-CN" dirty="0"/>
            </a:p>
            <a:p>
              <a:r>
                <a:rPr lang="en-US" altLang="zh-CN" dirty="0"/>
                <a:t>	</a:t>
              </a:r>
              <a:r>
                <a:rPr lang="zh-CN" altLang="en-US" dirty="0"/>
                <a:t>解析系统的内部构造</a:t>
              </a:r>
              <a:endParaRPr dirty="0"/>
            </a:p>
          </p:txBody>
        </p:sp>
      </p:grpSp>
      <p:sp>
        <p:nvSpPr>
          <p:cNvPr id="872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3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9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0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50"/>
                            </p:stCondLst>
                            <p:childTnLst>
                              <p:par>
                                <p:cTn id="22" presetID="9" presetClass="entr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" grpId="0" animBg="1" advAuto="0"/>
      <p:bldP spid="867" grpId="0" animBg="1" advAuto="0"/>
      <p:bldP spid="868" grpId="0" animBg="1" advAuto="0"/>
      <p:bldP spid="871" grpId="0" animBg="1" advAuto="0"/>
      <p:bldP spid="872" grpId="0" animBg="1" advAuto="0"/>
      <p:bldP spid="873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矩形 56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模块组成</a:t>
            </a:r>
            <a:endParaRPr dirty="0"/>
          </a:p>
        </p:txBody>
      </p:sp>
      <p:sp>
        <p:nvSpPr>
          <p:cNvPr id="921" name="矩形 5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2" name="矩形 5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3" name="矩形 5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4" name="矩形 6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5" name="矩形 6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6" name="矩形 6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427" name="组合 8"/>
          <p:cNvGrpSpPr/>
          <p:nvPr/>
        </p:nvGrpSpPr>
        <p:grpSpPr>
          <a:xfrm>
            <a:off x="199463" y="938844"/>
            <a:ext cx="6540502" cy="1409066"/>
            <a:chOff x="-888142" y="-74247"/>
            <a:chExt cx="6540500" cy="1409062"/>
          </a:xfrm>
        </p:grpSpPr>
        <p:sp>
          <p:nvSpPr>
            <p:cNvPr id="425" name="矩形 9"/>
            <p:cNvSpPr txBox="1"/>
            <p:nvPr/>
          </p:nvSpPr>
          <p:spPr>
            <a:xfrm>
              <a:off x="-888142" y="167128"/>
              <a:ext cx="6540500" cy="11676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词法分析器的主要功能是将源代码转换为</a:t>
              </a:r>
              <a:r>
                <a:rPr lang="en-US" altLang="zh-CN" dirty="0"/>
                <a:t>Token</a:t>
              </a:r>
              <a:r>
                <a:rPr lang="zh-CN" altLang="en-US" dirty="0"/>
                <a:t>流。在这个过程中，词法分析器根据定义的状态转移逻辑和</a:t>
              </a:r>
              <a:r>
                <a:rPr lang="en-US" altLang="zh-CN" dirty="0"/>
                <a:t>Token</a:t>
              </a:r>
              <a:r>
                <a:rPr lang="zh-CN" altLang="en-US" dirty="0"/>
                <a:t>识别规则，逐字符扫描源代码，识别并提取出关键字、标识符、运算符等元素。这些</a:t>
              </a:r>
              <a:r>
                <a:rPr lang="en-US" altLang="zh-CN" dirty="0"/>
                <a:t>Token</a:t>
              </a:r>
              <a:r>
                <a:rPr lang="zh-CN" altLang="en-US" dirty="0"/>
                <a:t>是后续语法分析的基础，确保系统能够准确地理解源代码的基本单元。</a:t>
              </a:r>
            </a:p>
            <a:p>
              <a:endParaRPr lang="zh-CN" altLang="en-US" dirty="0"/>
            </a:p>
          </p:txBody>
        </p:sp>
        <p:sp>
          <p:nvSpPr>
            <p:cNvPr id="426" name="文本框 26"/>
            <p:cNvSpPr txBox="1"/>
            <p:nvPr/>
          </p:nvSpPr>
          <p:spPr>
            <a:xfrm>
              <a:off x="-888142" y="-74247"/>
              <a:ext cx="2554542" cy="307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模块一：词法分析器（</a:t>
              </a:r>
              <a:r>
                <a:rPr lang="en-US" altLang="zh-CN" b="1" dirty="0" err="1"/>
                <a:t>Lexer</a:t>
              </a:r>
              <a:r>
                <a:rPr lang="zh-CN" altLang="en-US" b="1" dirty="0"/>
                <a:t>）</a:t>
              </a:r>
              <a:endParaRPr b="1" dirty="0"/>
            </a:p>
          </p:txBody>
        </p:sp>
      </p:grpSp>
      <p:grpSp>
        <p:nvGrpSpPr>
          <p:cNvPr id="430" name="组合 12"/>
          <p:cNvGrpSpPr/>
          <p:nvPr/>
        </p:nvGrpSpPr>
        <p:grpSpPr>
          <a:xfrm>
            <a:off x="192900" y="2131604"/>
            <a:ext cx="5146922" cy="1166916"/>
            <a:chOff x="0" y="0"/>
            <a:chExt cx="6248786" cy="1166915"/>
          </a:xfrm>
        </p:grpSpPr>
        <p:sp>
          <p:nvSpPr>
            <p:cNvPr id="428" name="矩形 13"/>
            <p:cNvSpPr txBox="1"/>
            <p:nvPr/>
          </p:nvSpPr>
          <p:spPr>
            <a:xfrm>
              <a:off x="0" y="276225"/>
              <a:ext cx="6248786" cy="890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语法分析器负责基于</a:t>
              </a:r>
              <a:r>
                <a:rPr lang="en-US" altLang="zh-CN" dirty="0"/>
                <a:t>Token</a:t>
              </a:r>
              <a:r>
                <a:rPr lang="zh-CN" altLang="en-US" dirty="0"/>
                <a:t>流构建抽象语法树（</a:t>
              </a:r>
              <a:r>
                <a:rPr lang="en-US" altLang="zh-CN" dirty="0"/>
                <a:t>AST</a:t>
              </a:r>
              <a:r>
                <a:rPr lang="zh-CN" altLang="en-US" dirty="0"/>
                <a:t>）。它通过递归调用解析函数，按照语言的语法规则逐步解析</a:t>
              </a:r>
              <a:r>
                <a:rPr lang="en-US" altLang="zh-CN" dirty="0"/>
                <a:t>Token</a:t>
              </a:r>
              <a:r>
                <a:rPr lang="zh-CN" altLang="en-US" dirty="0"/>
                <a:t>流，构建出程序的层次结构。语法分析器确保程序的语法结构被正确理解，并能够提供给后续的语义分析和优化处理使用。</a:t>
              </a:r>
            </a:p>
          </p:txBody>
        </p:sp>
        <p:sp>
          <p:nvSpPr>
            <p:cNvPr id="429" name="文本框 30"/>
            <p:cNvSpPr txBox="1"/>
            <p:nvPr/>
          </p:nvSpPr>
          <p:spPr>
            <a:xfrm>
              <a:off x="0" y="0"/>
              <a:ext cx="263309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模块二：语法分析器（</a:t>
              </a:r>
              <a:r>
                <a:rPr lang="en-US" altLang="zh-CN" b="1" dirty="0"/>
                <a:t>Parser</a:t>
              </a:r>
              <a:r>
                <a:rPr lang="zh-CN" altLang="en-US" b="1" dirty="0"/>
                <a:t>）</a:t>
              </a:r>
              <a:endParaRPr b="1" dirty="0"/>
            </a:p>
          </p:txBody>
        </p:sp>
      </p:grpSp>
      <p:grpSp>
        <p:nvGrpSpPr>
          <p:cNvPr id="433" name="组合 16"/>
          <p:cNvGrpSpPr/>
          <p:nvPr/>
        </p:nvGrpSpPr>
        <p:grpSpPr>
          <a:xfrm>
            <a:off x="199463" y="3674571"/>
            <a:ext cx="6394687" cy="1166917"/>
            <a:chOff x="0" y="0"/>
            <a:chExt cx="5614608" cy="1166914"/>
          </a:xfrm>
        </p:grpSpPr>
        <p:sp>
          <p:nvSpPr>
            <p:cNvPr id="431" name="矩形 17"/>
            <p:cNvSpPr txBox="1"/>
            <p:nvPr/>
          </p:nvSpPr>
          <p:spPr>
            <a:xfrm>
              <a:off x="0" y="276225"/>
              <a:ext cx="5614608" cy="890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en-US" altLang="zh-CN" dirty="0"/>
                <a:t>AST</a:t>
              </a:r>
              <a:r>
                <a:rPr lang="zh-CN" altLang="en-US" dirty="0"/>
                <a:t>节点定义模块负责定义抽象语法树中各个节点的结构和属性。每个节点代表源代码中的一种语法结构，如表达式、语句、函数定义等。该模块确定了如何表示这些语法结构，并为构建语法树提供了必要的数据结构。</a:t>
              </a:r>
              <a:endParaRPr dirty="0"/>
            </a:p>
          </p:txBody>
        </p:sp>
        <p:sp>
          <p:nvSpPr>
            <p:cNvPr id="432" name="文本框 34"/>
            <p:cNvSpPr txBox="1"/>
            <p:nvPr/>
          </p:nvSpPr>
          <p:spPr>
            <a:xfrm>
              <a:off x="0" y="0"/>
              <a:ext cx="2221118" cy="307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模块三：</a:t>
              </a:r>
              <a:r>
                <a:rPr lang="en-US" altLang="zh-CN" b="1" dirty="0"/>
                <a:t>AST</a:t>
              </a:r>
              <a:r>
                <a:rPr lang="zh-CN" altLang="en-US" b="1" dirty="0"/>
                <a:t>节点定义模块</a:t>
              </a:r>
              <a:endParaRPr b="1" dirty="0"/>
            </a:p>
          </p:txBody>
        </p:sp>
      </p:grpSp>
      <p:sp>
        <p:nvSpPr>
          <p:cNvPr id="434" name="环形箭头 5"/>
          <p:cNvSpPr/>
          <p:nvPr/>
        </p:nvSpPr>
        <p:spPr>
          <a:xfrm>
            <a:off x="7887179" y="2448345"/>
            <a:ext cx="1063094" cy="1649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2" h="20924" extrusionOk="0">
                <a:moveTo>
                  <a:pt x="0" y="78"/>
                </a:moveTo>
                <a:lnTo>
                  <a:pt x="0" y="78"/>
                </a:lnTo>
                <a:cubicBezTo>
                  <a:pt x="10408" y="-676"/>
                  <a:pt x="19802" y="4108"/>
                  <a:pt x="20981" y="10764"/>
                </a:cubicBezTo>
                <a:cubicBezTo>
                  <a:pt x="21600" y="14254"/>
                  <a:pt x="19823" y="17744"/>
                  <a:pt x="16109" y="20332"/>
                </a:cubicBezTo>
                <a:lnTo>
                  <a:pt x="16964" y="20924"/>
                </a:lnTo>
                <a:lnTo>
                  <a:pt x="14359" y="20596"/>
                </a:lnTo>
                <a:lnTo>
                  <a:pt x="13963" y="18846"/>
                </a:lnTo>
                <a:lnTo>
                  <a:pt x="14817" y="19438"/>
                </a:lnTo>
                <a:cubicBezTo>
                  <a:pt x="21128" y="14958"/>
                  <a:pt x="20565" y="8055"/>
                  <a:pt x="13562" y="4020"/>
                </a:cubicBezTo>
                <a:cubicBezTo>
                  <a:pt x="9930" y="1927"/>
                  <a:pt x="5070" y="931"/>
                  <a:pt x="213" y="1283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5" name="形状 6"/>
          <p:cNvSpPr/>
          <p:nvPr/>
        </p:nvSpPr>
        <p:spPr>
          <a:xfrm>
            <a:off x="5963175" y="2110358"/>
            <a:ext cx="511063" cy="758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41" y="0"/>
                </a:moveTo>
                <a:lnTo>
                  <a:pt x="21600" y="2509"/>
                </a:lnTo>
                <a:lnTo>
                  <a:pt x="21600" y="2509"/>
                </a:lnTo>
                <a:cubicBezTo>
                  <a:pt x="11798" y="5271"/>
                  <a:pt x="5742" y="11963"/>
                  <a:pt x="6593" y="19095"/>
                </a:cubicBezTo>
                <a:lnTo>
                  <a:pt x="9206" y="18710"/>
                </a:lnTo>
                <a:lnTo>
                  <a:pt x="5109" y="21600"/>
                </a:lnTo>
                <a:lnTo>
                  <a:pt x="0" y="20067"/>
                </a:lnTo>
                <a:lnTo>
                  <a:pt x="2616" y="19681"/>
                </a:lnTo>
                <a:lnTo>
                  <a:pt x="2616" y="19681"/>
                </a:lnTo>
                <a:cubicBezTo>
                  <a:pt x="1369" y="11255"/>
                  <a:pt x="8440" y="3268"/>
                  <a:pt x="20041" y="0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6" name="环形箭头 7"/>
          <p:cNvSpPr/>
          <p:nvPr/>
        </p:nvSpPr>
        <p:spPr>
          <a:xfrm>
            <a:off x="6613867" y="1458312"/>
            <a:ext cx="297351" cy="604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82" h="21600" extrusionOk="0">
                <a:moveTo>
                  <a:pt x="183" y="21600"/>
                </a:moveTo>
                <a:lnTo>
                  <a:pt x="183" y="21600"/>
                </a:lnTo>
                <a:cubicBezTo>
                  <a:pt x="-1018" y="14315"/>
                  <a:pt x="3721" y="7101"/>
                  <a:pt x="13258" y="1696"/>
                </a:cubicBezTo>
                <a:lnTo>
                  <a:pt x="10348" y="0"/>
                </a:lnTo>
                <a:lnTo>
                  <a:pt x="19330" y="999"/>
                </a:lnTo>
                <a:lnTo>
                  <a:pt x="20582" y="5964"/>
                </a:lnTo>
                <a:lnTo>
                  <a:pt x="17674" y="4269"/>
                </a:lnTo>
                <a:lnTo>
                  <a:pt x="17674" y="4269"/>
                </a:lnTo>
                <a:cubicBezTo>
                  <a:pt x="9688" y="8944"/>
                  <a:pt x="5750" y="15100"/>
                  <a:pt x="6774" y="21311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7" name="Freeform 12"/>
          <p:cNvSpPr/>
          <p:nvPr/>
        </p:nvSpPr>
        <p:spPr>
          <a:xfrm>
            <a:off x="6753364" y="2526020"/>
            <a:ext cx="265113" cy="2651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9651"/>
                  <a:pt x="11949" y="0"/>
                  <a:pt x="0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8" name="Freeform 10"/>
          <p:cNvSpPr/>
          <p:nvPr/>
        </p:nvSpPr>
        <p:spPr>
          <a:xfrm>
            <a:off x="7220090" y="1706871"/>
            <a:ext cx="231776" cy="1063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76" y="20661"/>
                </a:moveTo>
                <a:cubicBezTo>
                  <a:pt x="21600" y="0"/>
                  <a:pt x="21600" y="0"/>
                  <a:pt x="21600" y="0"/>
                </a:cubicBezTo>
                <a:cubicBezTo>
                  <a:pt x="6480" y="0"/>
                  <a:pt x="6480" y="0"/>
                  <a:pt x="6480" y="0"/>
                </a:cubicBezTo>
                <a:cubicBezTo>
                  <a:pt x="8640" y="19722"/>
                  <a:pt x="8640" y="19722"/>
                  <a:pt x="8640" y="19722"/>
                </a:cubicBezTo>
                <a:cubicBezTo>
                  <a:pt x="7344" y="15965"/>
                  <a:pt x="3456" y="7513"/>
                  <a:pt x="0" y="10330"/>
                </a:cubicBezTo>
                <a:cubicBezTo>
                  <a:pt x="432" y="13148"/>
                  <a:pt x="432" y="13148"/>
                  <a:pt x="432" y="13148"/>
                </a:cubicBezTo>
                <a:cubicBezTo>
                  <a:pt x="3456" y="10330"/>
                  <a:pt x="6912" y="18783"/>
                  <a:pt x="8208" y="21600"/>
                </a:cubicBezTo>
                <a:cubicBezTo>
                  <a:pt x="8640" y="20661"/>
                  <a:pt x="8640" y="20661"/>
                  <a:pt x="8640" y="20661"/>
                </a:cubicBezTo>
                <a:lnTo>
                  <a:pt x="18576" y="2066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D0D0D"/>
                </a:solidFill>
              </a:defRPr>
            </a:pPr>
            <a:endParaRPr/>
          </a:p>
        </p:txBody>
      </p:sp>
      <p:grpSp>
        <p:nvGrpSpPr>
          <p:cNvPr id="445" name="组合 19"/>
          <p:cNvGrpSpPr/>
          <p:nvPr/>
        </p:nvGrpSpPr>
        <p:grpSpPr>
          <a:xfrm>
            <a:off x="6220679" y="1469633"/>
            <a:ext cx="2455526" cy="2721103"/>
            <a:chOff x="0" y="0"/>
            <a:chExt cx="2455524" cy="2721102"/>
          </a:xfrm>
        </p:grpSpPr>
        <p:sp>
          <p:nvSpPr>
            <p:cNvPr id="439" name="任意多边形 2"/>
            <p:cNvSpPr/>
            <p:nvPr/>
          </p:nvSpPr>
          <p:spPr>
            <a:xfrm>
              <a:off x="876795" y="1166357"/>
              <a:ext cx="1578730" cy="1554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633220">
                <a:lnSpc>
                  <a:spcPct val="90000"/>
                </a:lnSpc>
                <a:spcBef>
                  <a:spcPts val="700"/>
                </a:spcBef>
                <a:defRPr sz="37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0" name="任意多边形 3"/>
            <p:cNvSpPr/>
            <p:nvPr/>
          </p:nvSpPr>
          <p:spPr>
            <a:xfrm>
              <a:off x="0" y="796837"/>
              <a:ext cx="1043146" cy="1131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57" y="5344"/>
                  </a:moveTo>
                  <a:lnTo>
                    <a:pt x="20297" y="4360"/>
                  </a:lnTo>
                  <a:lnTo>
                    <a:pt x="21600" y="6440"/>
                  </a:lnTo>
                  <a:lnTo>
                    <a:pt x="18906" y="8774"/>
                  </a:lnTo>
                  <a:cubicBezTo>
                    <a:pt x="19296" y="10101"/>
                    <a:pt x="19296" y="11499"/>
                    <a:pt x="18906" y="12826"/>
                  </a:cubicBezTo>
                  <a:lnTo>
                    <a:pt x="21600" y="15160"/>
                  </a:lnTo>
                  <a:lnTo>
                    <a:pt x="20297" y="17240"/>
                  </a:lnTo>
                  <a:lnTo>
                    <a:pt x="16757" y="16256"/>
                  </a:lnTo>
                  <a:cubicBezTo>
                    <a:pt x="15705" y="17232"/>
                    <a:pt x="14391" y="17931"/>
                    <a:pt x="12949" y="18283"/>
                  </a:cubicBezTo>
                  <a:lnTo>
                    <a:pt x="12103" y="21600"/>
                  </a:lnTo>
                  <a:lnTo>
                    <a:pt x="9497" y="21600"/>
                  </a:lnTo>
                  <a:lnTo>
                    <a:pt x="8651" y="18283"/>
                  </a:lnTo>
                  <a:cubicBezTo>
                    <a:pt x="7209" y="17931"/>
                    <a:pt x="5895" y="17232"/>
                    <a:pt x="4843" y="16256"/>
                  </a:cubicBezTo>
                  <a:lnTo>
                    <a:pt x="1303" y="17240"/>
                  </a:lnTo>
                  <a:lnTo>
                    <a:pt x="0" y="15160"/>
                  </a:lnTo>
                  <a:lnTo>
                    <a:pt x="2694" y="12826"/>
                  </a:lnTo>
                  <a:cubicBezTo>
                    <a:pt x="2304" y="11499"/>
                    <a:pt x="2304" y="10101"/>
                    <a:pt x="2694" y="8774"/>
                  </a:cubicBezTo>
                  <a:lnTo>
                    <a:pt x="0" y="6440"/>
                  </a:lnTo>
                  <a:lnTo>
                    <a:pt x="1303" y="4360"/>
                  </a:lnTo>
                  <a:lnTo>
                    <a:pt x="4843" y="5344"/>
                  </a:lnTo>
                  <a:cubicBezTo>
                    <a:pt x="5895" y="4368"/>
                    <a:pt x="7209" y="3669"/>
                    <a:pt x="8651" y="3317"/>
                  </a:cubicBezTo>
                  <a:lnTo>
                    <a:pt x="9497" y="0"/>
                  </a:lnTo>
                  <a:lnTo>
                    <a:pt x="12103" y="0"/>
                  </a:lnTo>
                  <a:lnTo>
                    <a:pt x="12949" y="3317"/>
                  </a:lnTo>
                  <a:cubicBezTo>
                    <a:pt x="14391" y="3669"/>
                    <a:pt x="15705" y="4368"/>
                    <a:pt x="16757" y="5344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ts val="700"/>
                </a:spcBef>
                <a:defRPr sz="2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" name="任意多边形 4"/>
            <p:cNvSpPr/>
            <p:nvPr/>
          </p:nvSpPr>
          <p:spPr>
            <a:xfrm>
              <a:off x="608184" y="0"/>
              <a:ext cx="1103127" cy="1103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12" y="4073"/>
                  </a:moveTo>
                  <a:lnTo>
                    <a:pt x="17624" y="2269"/>
                  </a:lnTo>
                  <a:lnTo>
                    <a:pt x="19331" y="3976"/>
                  </a:lnTo>
                  <a:lnTo>
                    <a:pt x="17527" y="6889"/>
                  </a:lnTo>
                  <a:cubicBezTo>
                    <a:pt x="18222" y="8083"/>
                    <a:pt x="18586" y="9442"/>
                    <a:pt x="18582" y="10824"/>
                  </a:cubicBezTo>
                  <a:lnTo>
                    <a:pt x="21600" y="12444"/>
                  </a:lnTo>
                  <a:lnTo>
                    <a:pt x="20975" y="14776"/>
                  </a:lnTo>
                  <a:lnTo>
                    <a:pt x="17551" y="14670"/>
                  </a:lnTo>
                  <a:cubicBezTo>
                    <a:pt x="16864" y="15869"/>
                    <a:pt x="15869" y="16864"/>
                    <a:pt x="14670" y="17551"/>
                  </a:cubicBezTo>
                  <a:lnTo>
                    <a:pt x="14776" y="20975"/>
                  </a:lnTo>
                  <a:lnTo>
                    <a:pt x="12444" y="21600"/>
                  </a:lnTo>
                  <a:lnTo>
                    <a:pt x="10824" y="18582"/>
                  </a:lnTo>
                  <a:cubicBezTo>
                    <a:pt x="9442" y="18586"/>
                    <a:pt x="8083" y="18222"/>
                    <a:pt x="6888" y="17527"/>
                  </a:cubicBezTo>
                  <a:lnTo>
                    <a:pt x="3976" y="19331"/>
                  </a:lnTo>
                  <a:lnTo>
                    <a:pt x="2269" y="17624"/>
                  </a:lnTo>
                  <a:lnTo>
                    <a:pt x="4073" y="14711"/>
                  </a:lnTo>
                  <a:cubicBezTo>
                    <a:pt x="3378" y="13517"/>
                    <a:pt x="3014" y="12158"/>
                    <a:pt x="3018" y="10776"/>
                  </a:cubicBezTo>
                  <a:lnTo>
                    <a:pt x="0" y="9156"/>
                  </a:lnTo>
                  <a:lnTo>
                    <a:pt x="625" y="6824"/>
                  </a:lnTo>
                  <a:lnTo>
                    <a:pt x="4049" y="6930"/>
                  </a:lnTo>
                  <a:cubicBezTo>
                    <a:pt x="4736" y="5731"/>
                    <a:pt x="5731" y="4736"/>
                    <a:pt x="6930" y="4049"/>
                  </a:cubicBezTo>
                  <a:lnTo>
                    <a:pt x="6824" y="625"/>
                  </a:lnTo>
                  <a:lnTo>
                    <a:pt x="9156" y="0"/>
                  </a:lnTo>
                  <a:lnTo>
                    <a:pt x="10776" y="3018"/>
                  </a:lnTo>
                  <a:cubicBezTo>
                    <a:pt x="12158" y="3014"/>
                    <a:pt x="13517" y="3378"/>
                    <a:pt x="14712" y="4073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099819">
                <a:lnSpc>
                  <a:spcPct val="90000"/>
                </a:lnSpc>
                <a:spcBef>
                  <a:spcPts val="700"/>
                </a:spcBef>
                <a:defRPr sz="25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2" name="Freeform 7"/>
            <p:cNvSpPr/>
            <p:nvPr/>
          </p:nvSpPr>
          <p:spPr>
            <a:xfrm>
              <a:off x="1355010" y="1718375"/>
              <a:ext cx="579437" cy="433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79" y="16118"/>
                  </a:moveTo>
                  <a:cubicBezTo>
                    <a:pt x="1721" y="16118"/>
                    <a:pt x="1721" y="16118"/>
                    <a:pt x="1721" y="16118"/>
                  </a:cubicBezTo>
                  <a:cubicBezTo>
                    <a:pt x="369" y="19681"/>
                    <a:pt x="369" y="19681"/>
                    <a:pt x="369" y="19681"/>
                  </a:cubicBezTo>
                  <a:cubicBezTo>
                    <a:pt x="21231" y="19681"/>
                    <a:pt x="21231" y="19681"/>
                    <a:pt x="21231" y="19681"/>
                  </a:cubicBezTo>
                  <a:lnTo>
                    <a:pt x="19879" y="16118"/>
                  </a:lnTo>
                  <a:close/>
                  <a:moveTo>
                    <a:pt x="8525" y="18804"/>
                  </a:moveTo>
                  <a:cubicBezTo>
                    <a:pt x="9099" y="17379"/>
                    <a:pt x="9099" y="17379"/>
                    <a:pt x="9099" y="17379"/>
                  </a:cubicBezTo>
                  <a:cubicBezTo>
                    <a:pt x="12583" y="17379"/>
                    <a:pt x="12583" y="17379"/>
                    <a:pt x="12583" y="17379"/>
                  </a:cubicBezTo>
                  <a:cubicBezTo>
                    <a:pt x="13075" y="18804"/>
                    <a:pt x="13075" y="18804"/>
                    <a:pt x="13075" y="18804"/>
                  </a:cubicBezTo>
                  <a:lnTo>
                    <a:pt x="8525" y="18804"/>
                  </a:lnTo>
                  <a:close/>
                  <a:moveTo>
                    <a:pt x="19592" y="15350"/>
                  </a:moveTo>
                  <a:cubicBezTo>
                    <a:pt x="19592" y="15295"/>
                    <a:pt x="19592" y="15295"/>
                    <a:pt x="19592" y="15241"/>
                  </a:cubicBezTo>
                  <a:cubicBezTo>
                    <a:pt x="19592" y="15241"/>
                    <a:pt x="19592" y="15241"/>
                    <a:pt x="19592" y="15186"/>
                  </a:cubicBezTo>
                  <a:cubicBezTo>
                    <a:pt x="19592" y="658"/>
                    <a:pt x="19592" y="658"/>
                    <a:pt x="19592" y="658"/>
                  </a:cubicBezTo>
                  <a:cubicBezTo>
                    <a:pt x="19592" y="274"/>
                    <a:pt x="19346" y="0"/>
                    <a:pt x="19059" y="0"/>
                  </a:cubicBezTo>
                  <a:cubicBezTo>
                    <a:pt x="2541" y="0"/>
                    <a:pt x="2541" y="0"/>
                    <a:pt x="2541" y="0"/>
                  </a:cubicBezTo>
                  <a:cubicBezTo>
                    <a:pt x="2254" y="0"/>
                    <a:pt x="2008" y="274"/>
                    <a:pt x="2008" y="658"/>
                  </a:cubicBezTo>
                  <a:cubicBezTo>
                    <a:pt x="2008" y="15186"/>
                    <a:pt x="2008" y="15186"/>
                    <a:pt x="2008" y="15186"/>
                  </a:cubicBezTo>
                  <a:cubicBezTo>
                    <a:pt x="2008" y="15241"/>
                    <a:pt x="2049" y="15241"/>
                    <a:pt x="2049" y="15241"/>
                  </a:cubicBezTo>
                  <a:cubicBezTo>
                    <a:pt x="2049" y="15295"/>
                    <a:pt x="2008" y="15295"/>
                    <a:pt x="2008" y="15350"/>
                  </a:cubicBezTo>
                  <a:cubicBezTo>
                    <a:pt x="2008" y="15350"/>
                    <a:pt x="2008" y="15350"/>
                    <a:pt x="2008" y="15350"/>
                  </a:cubicBezTo>
                  <a:cubicBezTo>
                    <a:pt x="19592" y="15350"/>
                    <a:pt x="19592" y="15350"/>
                    <a:pt x="19592" y="15350"/>
                  </a:cubicBezTo>
                  <a:close/>
                  <a:moveTo>
                    <a:pt x="18321" y="14199"/>
                  </a:moveTo>
                  <a:cubicBezTo>
                    <a:pt x="3279" y="14199"/>
                    <a:pt x="3279" y="14199"/>
                    <a:pt x="3279" y="14199"/>
                  </a:cubicBezTo>
                  <a:cubicBezTo>
                    <a:pt x="3279" y="1645"/>
                    <a:pt x="3279" y="1645"/>
                    <a:pt x="3279" y="1645"/>
                  </a:cubicBezTo>
                  <a:cubicBezTo>
                    <a:pt x="18321" y="1645"/>
                    <a:pt x="18321" y="1645"/>
                    <a:pt x="18321" y="1645"/>
                  </a:cubicBezTo>
                  <a:lnTo>
                    <a:pt x="18321" y="14199"/>
                  </a:lnTo>
                  <a:close/>
                  <a:moveTo>
                    <a:pt x="21559" y="20449"/>
                  </a:moveTo>
                  <a:cubicBezTo>
                    <a:pt x="41" y="20449"/>
                    <a:pt x="41" y="20449"/>
                    <a:pt x="41" y="20449"/>
                  </a:cubicBezTo>
                  <a:cubicBezTo>
                    <a:pt x="0" y="20613"/>
                    <a:pt x="0" y="20613"/>
                    <a:pt x="0" y="20613"/>
                  </a:cubicBezTo>
                  <a:cubicBezTo>
                    <a:pt x="0" y="20942"/>
                    <a:pt x="246" y="21600"/>
                    <a:pt x="492" y="21600"/>
                  </a:cubicBezTo>
                  <a:cubicBezTo>
                    <a:pt x="21108" y="21600"/>
                    <a:pt x="21108" y="21600"/>
                    <a:pt x="21108" y="21600"/>
                  </a:cubicBezTo>
                  <a:cubicBezTo>
                    <a:pt x="21354" y="21600"/>
                    <a:pt x="21600" y="20942"/>
                    <a:pt x="21600" y="20613"/>
                  </a:cubicBezTo>
                  <a:lnTo>
                    <a:pt x="21559" y="2044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783590">
                <a:defRPr>
                  <a:solidFill>
                    <a:srgbClr val="464646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/>
            </a:p>
          </p:txBody>
        </p:sp>
        <p:sp>
          <p:nvSpPr>
            <p:cNvPr id="443" name="Freeform 11"/>
            <p:cNvSpPr/>
            <p:nvPr/>
          </p:nvSpPr>
          <p:spPr>
            <a:xfrm>
              <a:off x="233521" y="1090954"/>
              <a:ext cx="535637" cy="529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86" y="0"/>
                  </a:moveTo>
                  <a:cubicBezTo>
                    <a:pt x="4775" y="0"/>
                    <a:pt x="0" y="4826"/>
                    <a:pt x="0" y="10800"/>
                  </a:cubicBezTo>
                  <a:cubicBezTo>
                    <a:pt x="0" y="16774"/>
                    <a:pt x="4775" y="21600"/>
                    <a:pt x="10686" y="21600"/>
                  </a:cubicBezTo>
                  <a:cubicBezTo>
                    <a:pt x="16598" y="21600"/>
                    <a:pt x="21600" y="16774"/>
                    <a:pt x="21600" y="10800"/>
                  </a:cubicBezTo>
                  <a:cubicBezTo>
                    <a:pt x="10686" y="10800"/>
                    <a:pt x="10686" y="10800"/>
                    <a:pt x="10686" y="10800"/>
                  </a:cubicBezTo>
                  <a:lnTo>
                    <a:pt x="10686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1"/>
            <p:cNvSpPr/>
            <p:nvPr/>
          </p:nvSpPr>
          <p:spPr>
            <a:xfrm>
              <a:off x="942260" y="343600"/>
              <a:ext cx="414337" cy="474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76" y="419"/>
                  </a:moveTo>
                  <a:cubicBezTo>
                    <a:pt x="14076" y="419"/>
                    <a:pt x="14076" y="419"/>
                    <a:pt x="14076" y="419"/>
                  </a:cubicBezTo>
                  <a:cubicBezTo>
                    <a:pt x="7281" y="419"/>
                    <a:pt x="7281" y="419"/>
                    <a:pt x="7281" y="419"/>
                  </a:cubicBezTo>
                  <a:cubicBezTo>
                    <a:pt x="7524" y="0"/>
                    <a:pt x="7524" y="0"/>
                    <a:pt x="7524" y="0"/>
                  </a:cubicBezTo>
                  <a:cubicBezTo>
                    <a:pt x="6310" y="419"/>
                    <a:pt x="4854" y="629"/>
                    <a:pt x="3883" y="0"/>
                  </a:cubicBezTo>
                  <a:cubicBezTo>
                    <a:pt x="3398" y="419"/>
                    <a:pt x="3398" y="419"/>
                    <a:pt x="3398" y="419"/>
                  </a:cubicBezTo>
                  <a:cubicBezTo>
                    <a:pt x="3883" y="839"/>
                    <a:pt x="4611" y="1049"/>
                    <a:pt x="5339" y="1049"/>
                  </a:cubicBezTo>
                  <a:cubicBezTo>
                    <a:pt x="5825" y="1049"/>
                    <a:pt x="6310" y="839"/>
                    <a:pt x="6553" y="839"/>
                  </a:cubicBezTo>
                  <a:cubicBezTo>
                    <a:pt x="2670" y="3146"/>
                    <a:pt x="0" y="8388"/>
                    <a:pt x="0" y="12163"/>
                  </a:cubicBezTo>
                  <a:cubicBezTo>
                    <a:pt x="0" y="17406"/>
                    <a:pt x="4854" y="21600"/>
                    <a:pt x="10921" y="21600"/>
                  </a:cubicBezTo>
                  <a:cubicBezTo>
                    <a:pt x="16746" y="21600"/>
                    <a:pt x="21600" y="17406"/>
                    <a:pt x="21600" y="12163"/>
                  </a:cubicBezTo>
                  <a:cubicBezTo>
                    <a:pt x="21600" y="7969"/>
                    <a:pt x="18445" y="2307"/>
                    <a:pt x="14076" y="419"/>
                  </a:cubicBezTo>
                  <a:close/>
                  <a:moveTo>
                    <a:pt x="13834" y="15309"/>
                  </a:moveTo>
                  <a:cubicBezTo>
                    <a:pt x="13348" y="15728"/>
                    <a:pt x="12620" y="15938"/>
                    <a:pt x="11892" y="16148"/>
                  </a:cubicBezTo>
                  <a:cubicBezTo>
                    <a:pt x="11892" y="17616"/>
                    <a:pt x="11892" y="17616"/>
                    <a:pt x="11892" y="17616"/>
                  </a:cubicBezTo>
                  <a:cubicBezTo>
                    <a:pt x="9951" y="17616"/>
                    <a:pt x="9951" y="17616"/>
                    <a:pt x="9951" y="17616"/>
                  </a:cubicBezTo>
                  <a:cubicBezTo>
                    <a:pt x="9951" y="16148"/>
                    <a:pt x="9951" y="16148"/>
                    <a:pt x="9951" y="16148"/>
                  </a:cubicBezTo>
                  <a:cubicBezTo>
                    <a:pt x="8980" y="15938"/>
                    <a:pt x="8252" y="15728"/>
                    <a:pt x="7766" y="15309"/>
                  </a:cubicBezTo>
                  <a:cubicBezTo>
                    <a:pt x="6796" y="14680"/>
                    <a:pt x="6553" y="14050"/>
                    <a:pt x="6553" y="13212"/>
                  </a:cubicBezTo>
                  <a:cubicBezTo>
                    <a:pt x="6553" y="12792"/>
                    <a:pt x="6553" y="12792"/>
                    <a:pt x="6553" y="12792"/>
                  </a:cubicBezTo>
                  <a:cubicBezTo>
                    <a:pt x="8252" y="12792"/>
                    <a:pt x="8252" y="12792"/>
                    <a:pt x="8252" y="12792"/>
                  </a:cubicBezTo>
                  <a:cubicBezTo>
                    <a:pt x="8252" y="13002"/>
                    <a:pt x="8252" y="13002"/>
                    <a:pt x="8252" y="13002"/>
                  </a:cubicBezTo>
                  <a:cubicBezTo>
                    <a:pt x="8252" y="13631"/>
                    <a:pt x="8494" y="14050"/>
                    <a:pt x="8980" y="14470"/>
                  </a:cubicBezTo>
                  <a:cubicBezTo>
                    <a:pt x="9465" y="14680"/>
                    <a:pt x="9951" y="14889"/>
                    <a:pt x="10921" y="14889"/>
                  </a:cubicBezTo>
                  <a:cubicBezTo>
                    <a:pt x="11649" y="14889"/>
                    <a:pt x="12135" y="14680"/>
                    <a:pt x="12620" y="14470"/>
                  </a:cubicBezTo>
                  <a:cubicBezTo>
                    <a:pt x="13106" y="14050"/>
                    <a:pt x="13348" y="13631"/>
                    <a:pt x="13348" y="13002"/>
                  </a:cubicBezTo>
                  <a:cubicBezTo>
                    <a:pt x="13348" y="12583"/>
                    <a:pt x="13106" y="12163"/>
                    <a:pt x="12620" y="11744"/>
                  </a:cubicBezTo>
                  <a:cubicBezTo>
                    <a:pt x="12378" y="11534"/>
                    <a:pt x="11649" y="11324"/>
                    <a:pt x="10436" y="11115"/>
                  </a:cubicBezTo>
                  <a:cubicBezTo>
                    <a:pt x="9222" y="10905"/>
                    <a:pt x="8494" y="10485"/>
                    <a:pt x="7766" y="10066"/>
                  </a:cubicBezTo>
                  <a:cubicBezTo>
                    <a:pt x="7281" y="9437"/>
                    <a:pt x="7038" y="8808"/>
                    <a:pt x="7038" y="8179"/>
                  </a:cubicBezTo>
                  <a:cubicBezTo>
                    <a:pt x="7038" y="7340"/>
                    <a:pt x="7281" y="6501"/>
                    <a:pt x="8009" y="6082"/>
                  </a:cubicBezTo>
                  <a:cubicBezTo>
                    <a:pt x="8494" y="5662"/>
                    <a:pt x="9222" y="5452"/>
                    <a:pt x="9951" y="5243"/>
                  </a:cubicBezTo>
                  <a:cubicBezTo>
                    <a:pt x="9951" y="3984"/>
                    <a:pt x="9951" y="3984"/>
                    <a:pt x="9951" y="3984"/>
                  </a:cubicBezTo>
                  <a:cubicBezTo>
                    <a:pt x="11892" y="3984"/>
                    <a:pt x="11892" y="3984"/>
                    <a:pt x="11892" y="3984"/>
                  </a:cubicBezTo>
                  <a:cubicBezTo>
                    <a:pt x="11892" y="5243"/>
                    <a:pt x="11892" y="5243"/>
                    <a:pt x="11892" y="5243"/>
                  </a:cubicBezTo>
                  <a:cubicBezTo>
                    <a:pt x="12620" y="5243"/>
                    <a:pt x="13348" y="5662"/>
                    <a:pt x="13834" y="6082"/>
                  </a:cubicBezTo>
                  <a:cubicBezTo>
                    <a:pt x="14562" y="6501"/>
                    <a:pt x="15047" y="7340"/>
                    <a:pt x="15047" y="8179"/>
                  </a:cubicBezTo>
                  <a:cubicBezTo>
                    <a:pt x="15047" y="8388"/>
                    <a:pt x="15047" y="8388"/>
                    <a:pt x="15047" y="8388"/>
                  </a:cubicBezTo>
                  <a:cubicBezTo>
                    <a:pt x="13106" y="8388"/>
                    <a:pt x="13106" y="8388"/>
                    <a:pt x="13106" y="8388"/>
                  </a:cubicBezTo>
                  <a:cubicBezTo>
                    <a:pt x="13106" y="8179"/>
                    <a:pt x="13106" y="8179"/>
                    <a:pt x="13106" y="8179"/>
                  </a:cubicBezTo>
                  <a:cubicBezTo>
                    <a:pt x="13106" y="7550"/>
                    <a:pt x="12863" y="7130"/>
                    <a:pt x="12620" y="6920"/>
                  </a:cubicBezTo>
                  <a:cubicBezTo>
                    <a:pt x="12135" y="6711"/>
                    <a:pt x="11649" y="6501"/>
                    <a:pt x="10921" y="6501"/>
                  </a:cubicBezTo>
                  <a:cubicBezTo>
                    <a:pt x="10193" y="6501"/>
                    <a:pt x="9708" y="6711"/>
                    <a:pt x="9222" y="6920"/>
                  </a:cubicBezTo>
                  <a:cubicBezTo>
                    <a:pt x="8980" y="7130"/>
                    <a:pt x="8737" y="7550"/>
                    <a:pt x="8737" y="8179"/>
                  </a:cubicBezTo>
                  <a:cubicBezTo>
                    <a:pt x="8737" y="8598"/>
                    <a:pt x="8980" y="8808"/>
                    <a:pt x="9222" y="9017"/>
                  </a:cubicBezTo>
                  <a:cubicBezTo>
                    <a:pt x="9708" y="9437"/>
                    <a:pt x="10193" y="9647"/>
                    <a:pt x="11164" y="9856"/>
                  </a:cubicBezTo>
                  <a:cubicBezTo>
                    <a:pt x="12620" y="10066"/>
                    <a:pt x="13591" y="10485"/>
                    <a:pt x="14076" y="10905"/>
                  </a:cubicBezTo>
                  <a:cubicBezTo>
                    <a:pt x="14804" y="11534"/>
                    <a:pt x="15290" y="12163"/>
                    <a:pt x="15290" y="13002"/>
                  </a:cubicBezTo>
                  <a:cubicBezTo>
                    <a:pt x="15290" y="13841"/>
                    <a:pt x="14804" y="14680"/>
                    <a:pt x="13834" y="1530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0D0D0D"/>
                  </a:solidFill>
                </a:defRPr>
              </a:pPr>
              <a:endParaRPr/>
            </a:p>
          </p:txBody>
        </p:sp>
      </p:grpSp>
      <p:sp>
        <p:nvSpPr>
          <p:cNvPr id="446" name="文本框 43"/>
          <p:cNvSpPr txBox="1"/>
          <p:nvPr/>
        </p:nvSpPr>
        <p:spPr>
          <a:xfrm>
            <a:off x="6696214" y="978208"/>
            <a:ext cx="691328" cy="414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45%</a:t>
            </a:r>
          </a:p>
        </p:txBody>
      </p:sp>
      <p:sp>
        <p:nvSpPr>
          <p:cNvPr id="447" name="文本框 44"/>
          <p:cNvSpPr txBox="1"/>
          <p:nvPr/>
        </p:nvSpPr>
        <p:spPr>
          <a:xfrm>
            <a:off x="5488126" y="2941946"/>
            <a:ext cx="691328" cy="41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68%</a:t>
            </a:r>
          </a:p>
        </p:txBody>
      </p:sp>
      <p:sp>
        <p:nvSpPr>
          <p:cNvPr id="448" name="文本框 45"/>
          <p:cNvSpPr txBox="1"/>
          <p:nvPr/>
        </p:nvSpPr>
        <p:spPr>
          <a:xfrm>
            <a:off x="8220215" y="4081771"/>
            <a:ext cx="691327" cy="41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75%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" grpId="0" animBg="1" advAuto="0"/>
      <p:bldP spid="430" grpId="0" animBg="1" advAuto="0"/>
      <p:bldP spid="433" grpId="0" animBg="1" advAuto="0"/>
      <p:bldP spid="434" grpId="0" animBg="1" advAuto="0"/>
      <p:bldP spid="435" grpId="0" animBg="1" advAuto="0"/>
      <p:bldP spid="436" grpId="0" animBg="1" advAuto="0"/>
      <p:bldP spid="445" grpId="0" animBg="1" advAuto="0"/>
      <p:bldP spid="446" grpId="0" animBg="1" advAuto="0"/>
      <p:bldP spid="447" grpId="0" animBg="1" advAuto="0"/>
      <p:bldP spid="448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矩形 56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流程详解</a:t>
            </a:r>
            <a:endParaRPr dirty="0"/>
          </a:p>
        </p:txBody>
      </p:sp>
      <p:sp>
        <p:nvSpPr>
          <p:cNvPr id="921" name="矩形 5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2" name="矩形 5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3" name="矩形 5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4" name="矩形 6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5" name="矩形 6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6" name="矩形 6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94" name="椭圆 1"/>
          <p:cNvSpPr/>
          <p:nvPr/>
        </p:nvSpPr>
        <p:spPr>
          <a:xfrm>
            <a:off x="819149" y="1673224"/>
            <a:ext cx="2363790" cy="2363790"/>
          </a:xfrm>
          <a:prstGeom prst="ellips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95" name="椭圆 2"/>
          <p:cNvSpPr/>
          <p:nvPr/>
        </p:nvSpPr>
        <p:spPr>
          <a:xfrm>
            <a:off x="704849" y="1558924"/>
            <a:ext cx="2592390" cy="2592390"/>
          </a:xfrm>
          <a:prstGeom prst="ellipse">
            <a:avLst/>
          </a:prstGeom>
          <a:ln w="25400">
            <a:solidFill>
              <a:srgbClr val="41445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796" name="图片 3" descr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95" y="2208213"/>
            <a:ext cx="914400" cy="1285876"/>
          </a:xfrm>
          <a:prstGeom prst="rect">
            <a:avLst/>
          </a:prstGeom>
          <a:ln w="12700">
            <a:miter lim="400000"/>
          </a:ln>
        </p:spPr>
      </p:pic>
      <p:sp>
        <p:nvSpPr>
          <p:cNvPr id="822" name="直接连接符 4"/>
          <p:cNvSpPr/>
          <p:nvPr/>
        </p:nvSpPr>
        <p:spPr>
          <a:xfrm>
            <a:off x="3156576" y="1727788"/>
            <a:ext cx="961060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3" name="直接连接符 5"/>
          <p:cNvSpPr/>
          <p:nvPr/>
        </p:nvSpPr>
        <p:spPr>
          <a:xfrm>
            <a:off x="3309934" y="2851059"/>
            <a:ext cx="765780" cy="1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4" name="直接连接符 6"/>
          <p:cNvSpPr/>
          <p:nvPr/>
        </p:nvSpPr>
        <p:spPr>
          <a:xfrm>
            <a:off x="3156576" y="3470573"/>
            <a:ext cx="961061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802" name="组合 7"/>
          <p:cNvGrpSpPr/>
          <p:nvPr/>
        </p:nvGrpSpPr>
        <p:grpSpPr>
          <a:xfrm>
            <a:off x="4075111" y="1198562"/>
            <a:ext cx="719141" cy="720727"/>
            <a:chOff x="-1" y="0"/>
            <a:chExt cx="719140" cy="720725"/>
          </a:xfrm>
        </p:grpSpPr>
        <p:sp>
          <p:nvSpPr>
            <p:cNvPr id="800" name="椭圆 8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1" name="TextBox 9"/>
            <p:cNvSpPr txBox="1"/>
            <p:nvPr/>
          </p:nvSpPr>
          <p:spPr>
            <a:xfrm>
              <a:off x="123999" y="123936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01</a:t>
              </a:r>
            </a:p>
          </p:txBody>
        </p:sp>
      </p:grpSp>
      <p:grpSp>
        <p:nvGrpSpPr>
          <p:cNvPr id="805" name="组合 10"/>
          <p:cNvGrpSpPr/>
          <p:nvPr/>
        </p:nvGrpSpPr>
        <p:grpSpPr>
          <a:xfrm>
            <a:off x="4075111" y="2490787"/>
            <a:ext cx="719141" cy="719141"/>
            <a:chOff x="-1" y="-1"/>
            <a:chExt cx="719140" cy="719140"/>
          </a:xfrm>
        </p:grpSpPr>
        <p:sp>
          <p:nvSpPr>
            <p:cNvPr id="803" name="椭圆 11"/>
            <p:cNvSpPr/>
            <p:nvPr/>
          </p:nvSpPr>
          <p:spPr>
            <a:xfrm>
              <a:off x="-1" y="-1"/>
              <a:ext cx="719140" cy="719140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4" name="TextBox 12"/>
            <p:cNvSpPr txBox="1"/>
            <p:nvPr/>
          </p:nvSpPr>
          <p:spPr>
            <a:xfrm>
              <a:off x="108049" y="112643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02</a:t>
              </a:r>
            </a:p>
          </p:txBody>
        </p:sp>
      </p:grpSp>
      <p:grpSp>
        <p:nvGrpSpPr>
          <p:cNvPr id="808" name="组合 13"/>
          <p:cNvGrpSpPr/>
          <p:nvPr/>
        </p:nvGrpSpPr>
        <p:grpSpPr>
          <a:xfrm>
            <a:off x="4075111" y="3790950"/>
            <a:ext cx="719141" cy="720726"/>
            <a:chOff x="-1" y="0"/>
            <a:chExt cx="719140" cy="720725"/>
          </a:xfrm>
        </p:grpSpPr>
        <p:sp>
          <p:nvSpPr>
            <p:cNvPr id="806" name="椭圆 14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7" name="TextBox 15"/>
            <p:cNvSpPr txBox="1"/>
            <p:nvPr/>
          </p:nvSpPr>
          <p:spPr>
            <a:xfrm>
              <a:off x="118683" y="118621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dirty="0"/>
                <a:t>03</a:t>
              </a:r>
            </a:p>
          </p:txBody>
        </p:sp>
      </p:grpSp>
      <p:sp>
        <p:nvSpPr>
          <p:cNvPr id="809" name="TextBox 16"/>
          <p:cNvSpPr txBox="1"/>
          <p:nvPr/>
        </p:nvSpPr>
        <p:spPr>
          <a:xfrm>
            <a:off x="4979987" y="1487487"/>
            <a:ext cx="4057687" cy="613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整个流程从源代码输入开始。源代码首先进入词法分析器，词法分析器的任务是将源代码逐字符解析为</a:t>
            </a:r>
            <a:r>
              <a:rPr lang="en-US" altLang="zh-CN" dirty="0"/>
              <a:t>Token</a:t>
            </a:r>
            <a:r>
              <a:rPr lang="zh-CN" altLang="en-US" dirty="0"/>
              <a:t>流。</a:t>
            </a:r>
            <a:endParaRPr dirty="0"/>
          </a:p>
        </p:txBody>
      </p:sp>
      <p:sp>
        <p:nvSpPr>
          <p:cNvPr id="810" name="矩形 17"/>
          <p:cNvSpPr txBox="1"/>
          <p:nvPr/>
        </p:nvSpPr>
        <p:spPr>
          <a:xfrm>
            <a:off x="4856457" y="1152480"/>
            <a:ext cx="379353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步骤一：源代码输入与词法分析</a:t>
            </a:r>
            <a:endParaRPr b="1" dirty="0"/>
          </a:p>
        </p:txBody>
      </p:sp>
      <p:sp>
        <p:nvSpPr>
          <p:cNvPr id="811" name="TextBox 18"/>
          <p:cNvSpPr txBox="1"/>
          <p:nvPr/>
        </p:nvSpPr>
        <p:spPr>
          <a:xfrm>
            <a:off x="5006976" y="2717800"/>
            <a:ext cx="3799568" cy="89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altLang="zh-CN" dirty="0"/>
              <a:t>Token</a:t>
            </a:r>
            <a:r>
              <a:rPr lang="zh-CN" altLang="en-US" dirty="0"/>
              <a:t>流接着输入到语法分析器，语法分析器通过递归下降解析方法，根据语言的语法规则解析</a:t>
            </a:r>
            <a:r>
              <a:rPr lang="en-US" altLang="zh-CN" dirty="0"/>
              <a:t>Token</a:t>
            </a:r>
            <a:r>
              <a:rPr lang="zh-CN" altLang="en-US" dirty="0"/>
              <a:t>流，构建出抽象语法树（</a:t>
            </a:r>
            <a:r>
              <a:rPr lang="en-US" altLang="zh-CN" dirty="0"/>
              <a:t>AST</a:t>
            </a:r>
            <a:r>
              <a:rPr lang="zh-CN" altLang="en-US" dirty="0"/>
              <a:t>）。</a:t>
            </a:r>
            <a:endParaRPr dirty="0"/>
          </a:p>
        </p:txBody>
      </p:sp>
      <p:sp>
        <p:nvSpPr>
          <p:cNvPr id="812" name="矩形 19"/>
          <p:cNvSpPr txBox="1"/>
          <p:nvPr/>
        </p:nvSpPr>
        <p:spPr>
          <a:xfrm>
            <a:off x="4856457" y="2434937"/>
            <a:ext cx="288936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步骤二：语法分析与</a:t>
            </a:r>
            <a:r>
              <a:rPr lang="en-US" altLang="zh-CN" b="1" dirty="0"/>
              <a:t>AST</a:t>
            </a:r>
            <a:r>
              <a:rPr lang="zh-CN" altLang="en-US" b="1" dirty="0"/>
              <a:t>构建</a:t>
            </a:r>
            <a:endParaRPr b="1" dirty="0"/>
          </a:p>
        </p:txBody>
      </p:sp>
      <p:sp>
        <p:nvSpPr>
          <p:cNvPr id="813" name="TextBox 20"/>
          <p:cNvSpPr txBox="1"/>
          <p:nvPr/>
        </p:nvSpPr>
        <p:spPr>
          <a:xfrm>
            <a:off x="4994273" y="3948113"/>
            <a:ext cx="4043401" cy="1167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最后，系统输出</a:t>
            </a:r>
            <a:r>
              <a:rPr lang="en-US" altLang="zh-CN" dirty="0"/>
              <a:t>Token</a:t>
            </a:r>
            <a:r>
              <a:rPr lang="zh-CN" altLang="en-US" dirty="0"/>
              <a:t>流和</a:t>
            </a:r>
            <a:r>
              <a:rPr lang="en-US" altLang="zh-CN" dirty="0"/>
              <a:t>AST</a:t>
            </a:r>
            <a:r>
              <a:rPr lang="zh-CN" altLang="en-US" dirty="0"/>
              <a:t>。</a:t>
            </a:r>
            <a:r>
              <a:rPr lang="en-US" altLang="zh-CN" dirty="0"/>
              <a:t>Token</a:t>
            </a:r>
            <a:r>
              <a:rPr lang="zh-CN" altLang="en-US" dirty="0"/>
              <a:t>流可以用于语法检查、代码高亮等功能，帮助开发者更好地理解代码结构和潜在的语法问题。</a:t>
            </a:r>
            <a:r>
              <a:rPr lang="en-US" altLang="zh-CN" dirty="0"/>
              <a:t>AST</a:t>
            </a:r>
            <a:r>
              <a:rPr lang="zh-CN" altLang="en-US" dirty="0"/>
              <a:t>则为后续的语义分析、等提供了数据结构支持，确保编译器或解释器能够正确地处理源代码。</a:t>
            </a:r>
            <a:endParaRPr dirty="0"/>
          </a:p>
        </p:txBody>
      </p:sp>
      <p:sp>
        <p:nvSpPr>
          <p:cNvPr id="814" name="矩形 21"/>
          <p:cNvSpPr txBox="1"/>
          <p:nvPr/>
        </p:nvSpPr>
        <p:spPr>
          <a:xfrm>
            <a:off x="4856456" y="3643895"/>
            <a:ext cx="300484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b="1" dirty="0"/>
              <a:t>步骤三：输出</a:t>
            </a:r>
            <a:r>
              <a:rPr lang="en-US" altLang="zh-CN" b="1" dirty="0"/>
              <a:t>Token</a:t>
            </a:r>
            <a:r>
              <a:rPr lang="zh-CN" altLang="en-US" b="1" dirty="0"/>
              <a:t>流与</a:t>
            </a:r>
            <a:r>
              <a:rPr lang="en-US" altLang="zh-CN" b="1" dirty="0"/>
              <a:t>AST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5411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" grpId="0" animBg="1" advAuto="0"/>
      <p:bldP spid="795" grpId="0" animBg="1" advAuto="0"/>
      <p:bldP spid="796" grpId="0" animBg="1" advAuto="0"/>
      <p:bldP spid="822" grpId="0" animBg="1" advAuto="0"/>
      <p:bldP spid="823" grpId="0" animBg="1" advAuto="0"/>
      <p:bldP spid="824" grpId="0" animBg="1" advAuto="0"/>
      <p:bldP spid="802" grpId="0" animBg="1" advAuto="0"/>
      <p:bldP spid="805" grpId="0" animBg="1" advAuto="0"/>
      <p:bldP spid="808" grpId="0" animBg="1" advAuto="0"/>
      <p:bldP spid="809" grpId="0" animBg="1" advAuto="0"/>
      <p:bldP spid="810" grpId="0" animBg="1" advAuto="0"/>
      <p:bldP spid="811" grpId="0" animBg="1" advAuto="0"/>
      <p:bldP spid="812" grpId="0" animBg="1" advAuto="0"/>
      <p:bldP spid="813" grpId="0" animBg="1" advAuto="0"/>
      <p:bldP spid="814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3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第五部分</a:t>
            </a:r>
          </a:p>
        </p:txBody>
      </p:sp>
      <p:grpSp>
        <p:nvGrpSpPr>
          <p:cNvPr id="1218" name="组合 11"/>
          <p:cNvGrpSpPr/>
          <p:nvPr/>
        </p:nvGrpSpPr>
        <p:grpSpPr>
          <a:xfrm>
            <a:off x="3608389" y="1265521"/>
            <a:ext cx="3909726" cy="1000159"/>
            <a:chOff x="0" y="0"/>
            <a:chExt cx="3909721" cy="1000156"/>
          </a:xfrm>
        </p:grpSpPr>
        <p:sp>
          <p:nvSpPr>
            <p:cNvPr id="1216" name="TextBox 4"/>
            <p:cNvSpPr txBox="1"/>
            <p:nvPr/>
          </p:nvSpPr>
          <p:spPr>
            <a:xfrm>
              <a:off x="0" y="0"/>
              <a:ext cx="69314" cy="561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2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endParaRPr dirty="0"/>
            </a:p>
          </p:txBody>
        </p:sp>
        <p:sp>
          <p:nvSpPr>
            <p:cNvPr id="1217" name="文本框 8"/>
            <p:cNvSpPr txBox="1"/>
            <p:nvPr/>
          </p:nvSpPr>
          <p:spPr>
            <a:xfrm>
              <a:off x="147158" y="192246"/>
              <a:ext cx="3762563" cy="807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测试与成果展示：</a:t>
              </a:r>
              <a:endParaRPr lang="en-US" altLang="zh-CN" dirty="0"/>
            </a:p>
            <a:p>
              <a:r>
                <a:rPr lang="en-US" altLang="zh-CN" dirty="0"/>
                <a:t>	</a:t>
              </a:r>
              <a:r>
                <a:rPr lang="zh-CN" altLang="en-US" dirty="0"/>
                <a:t>检验分析系统的成效</a:t>
              </a:r>
              <a:endParaRPr dirty="0"/>
            </a:p>
          </p:txBody>
        </p:sp>
      </p:grpSp>
      <p:sp>
        <p:nvSpPr>
          <p:cNvPr id="1219" name="矩形 9"/>
          <p:cNvSpPr/>
          <p:nvPr/>
        </p:nvSpPr>
        <p:spPr>
          <a:xfrm>
            <a:off x="3825875" y="2926670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20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94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" grpId="0" animBg="1" advAuto="0"/>
      <p:bldP spid="1218" grpId="0" animBg="1" advAuto="0"/>
      <p:bldP spid="1219" grpId="0" animBg="1" advAuto="0"/>
      <p:bldP spid="1220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矩形 45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测试用例</a:t>
            </a:r>
            <a:endParaRPr dirty="0"/>
          </a:p>
        </p:txBody>
      </p:sp>
      <p:sp>
        <p:nvSpPr>
          <p:cNvPr id="1149" name="矩形 46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0" name="矩形 47"/>
          <p:cNvSpPr/>
          <p:nvPr/>
        </p:nvSpPr>
        <p:spPr>
          <a:xfrm>
            <a:off x="8099425" y="256821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2" name="矩形 49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3" name="矩形 50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4" name="矩形 51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" name="矩形 48">
            <a:extLst>
              <a:ext uri="{FF2B5EF4-FFF2-40B4-BE49-F238E27FC236}">
                <a16:creationId xmlns:a16="http://schemas.microsoft.com/office/drawing/2014/main" id="{05670045-AF2E-BC64-BB24-2DD49941D8C7}"/>
              </a:ext>
            </a:extLst>
          </p:cNvPr>
          <p:cNvSpPr/>
          <p:nvPr/>
        </p:nvSpPr>
        <p:spPr>
          <a:xfrm>
            <a:off x="8332939" y="256821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79" name="TextBox 29"/>
          <p:cNvSpPr txBox="1"/>
          <p:nvPr/>
        </p:nvSpPr>
        <p:spPr>
          <a:xfrm>
            <a:off x="385914" y="813381"/>
            <a:ext cx="8039100" cy="345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zh-CN" dirty="0"/>
              <a:t>此测试用例完整触及</a:t>
            </a:r>
            <a:r>
              <a:rPr lang="en-US" altLang="zh-CN" dirty="0"/>
              <a:t> PPT </a:t>
            </a:r>
            <a:r>
              <a:rPr lang="zh-CN" altLang="zh-CN" dirty="0"/>
              <a:t>中绿色节点所有基础规则，兼顾词法与语法各类典型场景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99DE75-045B-FEEC-5B56-6B78610A812F}"/>
              </a:ext>
            </a:extLst>
          </p:cNvPr>
          <p:cNvSpPr txBox="1"/>
          <p:nvPr/>
        </p:nvSpPr>
        <p:spPr>
          <a:xfrm>
            <a:off x="385914" y="1396167"/>
            <a:ext cx="3138779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 test.rs — 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示例程序，涵盖绿色规则（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0.1–5.1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;              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空语句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          </a:t>
            </a:r>
            <a:r>
              <a:rPr lang="en-US" altLang="zh-CN" sz="1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// return </a:t>
            </a:r>
            <a:r>
              <a:rPr lang="zh-CN" altLang="zh-CN" sz="1000" kern="0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无表达式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&gt;=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count_down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C0F514-EE60-FAFE-5459-F74847BE5B71}"/>
              </a:ext>
            </a:extLst>
          </p:cNvPr>
          <p:cNvSpPr txBox="1"/>
          <p:nvPr/>
        </p:nvSpPr>
        <p:spPr>
          <a:xfrm>
            <a:off x="4239406" y="1396167"/>
            <a:ext cx="4641110" cy="20928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sz="10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temp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* (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temp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{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mut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altLang="zh-CN" sz="10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altLang="zh-CN" sz="1000" kern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65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矩形 45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成果展示</a:t>
            </a:r>
            <a:endParaRPr dirty="0"/>
          </a:p>
        </p:txBody>
      </p:sp>
      <p:sp>
        <p:nvSpPr>
          <p:cNvPr id="1149" name="矩形 46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0" name="矩形 47"/>
          <p:cNvSpPr/>
          <p:nvPr/>
        </p:nvSpPr>
        <p:spPr>
          <a:xfrm>
            <a:off x="8099425" y="256821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2" name="矩形 49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3" name="矩形 50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4" name="矩形 51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" name="矩形 48">
            <a:extLst>
              <a:ext uri="{FF2B5EF4-FFF2-40B4-BE49-F238E27FC236}">
                <a16:creationId xmlns:a16="http://schemas.microsoft.com/office/drawing/2014/main" id="{05670045-AF2E-BC64-BB24-2DD49941D8C7}"/>
              </a:ext>
            </a:extLst>
          </p:cNvPr>
          <p:cNvSpPr/>
          <p:nvPr/>
        </p:nvSpPr>
        <p:spPr>
          <a:xfrm>
            <a:off x="8332939" y="256821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79" name="TextBox 29"/>
          <p:cNvSpPr txBox="1"/>
          <p:nvPr/>
        </p:nvSpPr>
        <p:spPr>
          <a:xfrm>
            <a:off x="665978" y="950183"/>
            <a:ext cx="2226077" cy="345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zh-CN" dirty="0"/>
              <a:t>词法分析器输出</a:t>
            </a:r>
            <a:r>
              <a:rPr lang="en-US" altLang="zh-CN" dirty="0"/>
              <a:t>tokens.txt</a:t>
            </a:r>
            <a:endParaRPr lang="zh-CN" altLang="zh-CN" dirty="0"/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1F97CD8-A6B6-A88B-8A40-73567A3B3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07" y="1353754"/>
            <a:ext cx="3749848" cy="3092099"/>
          </a:xfrm>
          <a:prstGeom prst="rect">
            <a:avLst/>
          </a:prstGeom>
        </p:spPr>
      </p:pic>
      <p:sp>
        <p:nvSpPr>
          <p:cNvPr id="5" name="TextBox 29">
            <a:extLst>
              <a:ext uri="{FF2B5EF4-FFF2-40B4-BE49-F238E27FC236}">
                <a16:creationId xmlns:a16="http://schemas.microsoft.com/office/drawing/2014/main" id="{77097476-94F2-373D-2280-BA8BBB58B4D3}"/>
              </a:ext>
            </a:extLst>
          </p:cNvPr>
          <p:cNvSpPr txBox="1"/>
          <p:nvPr/>
        </p:nvSpPr>
        <p:spPr>
          <a:xfrm>
            <a:off x="5819373" y="972116"/>
            <a:ext cx="2226077" cy="345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zh-CN" dirty="0"/>
              <a:t>语法分析器输出</a:t>
            </a:r>
            <a:r>
              <a:rPr lang="en-US" altLang="zh-CN" dirty="0"/>
              <a:t>ast.txt</a:t>
            </a:r>
            <a:endParaRPr lang="zh-CN" altLang="zh-CN" dirty="0"/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CD77861-0000-9432-1DBD-0F5054DDB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444" y="1404321"/>
            <a:ext cx="4712321" cy="23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1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1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第六部分</a:t>
            </a:r>
          </a:p>
        </p:txBody>
      </p:sp>
      <p:grpSp>
        <p:nvGrpSpPr>
          <p:cNvPr id="1264" name="组合 11"/>
          <p:cNvGrpSpPr/>
          <p:nvPr/>
        </p:nvGrpSpPr>
        <p:grpSpPr>
          <a:xfrm>
            <a:off x="3681413" y="1350962"/>
            <a:ext cx="1964156" cy="561692"/>
            <a:chOff x="0" y="0"/>
            <a:chExt cx="1964155" cy="561690"/>
          </a:xfrm>
        </p:grpSpPr>
        <p:sp>
          <p:nvSpPr>
            <p:cNvPr id="1262" name="TextBox 4"/>
            <p:cNvSpPr txBox="1"/>
            <p:nvPr/>
          </p:nvSpPr>
          <p:spPr>
            <a:xfrm>
              <a:off x="0" y="0"/>
              <a:ext cx="69314" cy="561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2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endParaRPr dirty="0"/>
            </a:p>
          </p:txBody>
        </p:sp>
        <p:sp>
          <p:nvSpPr>
            <p:cNvPr id="1263" name="文本框 8"/>
            <p:cNvSpPr txBox="1"/>
            <p:nvPr/>
          </p:nvSpPr>
          <p:spPr>
            <a:xfrm>
              <a:off x="99543" y="46038"/>
              <a:ext cx="1864612" cy="5001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8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回顾与展望</a:t>
              </a:r>
              <a:endParaRPr dirty="0"/>
            </a:p>
          </p:txBody>
        </p:sp>
      </p:grpSp>
      <p:sp>
        <p:nvSpPr>
          <p:cNvPr id="1265" name="矩形 9"/>
          <p:cNvSpPr/>
          <p:nvPr/>
        </p:nvSpPr>
        <p:spPr>
          <a:xfrm>
            <a:off x="3825875" y="2866802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73C2E98B-5BFC-254F-E44B-B9F2E3E18BD4}"/>
              </a:ext>
            </a:extLst>
          </p:cNvPr>
          <p:cNvSpPr txBox="1"/>
          <p:nvPr/>
        </p:nvSpPr>
        <p:spPr>
          <a:xfrm>
            <a:off x="3781423" y="2046688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项目总结</a:t>
            </a:r>
            <a:endParaRPr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9A9AC030-79A5-5912-574F-1447FBD677DB}"/>
              </a:ext>
            </a:extLst>
          </p:cNvPr>
          <p:cNvSpPr txBox="1"/>
          <p:nvPr/>
        </p:nvSpPr>
        <p:spPr>
          <a:xfrm>
            <a:off x="3781423" y="2436082"/>
            <a:ext cx="1055417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未来展望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055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00"/>
                            </p:stCondLst>
                            <p:childTnLst>
                              <p:par>
                                <p:cTn id="26" presetID="9" presetClass="entr" fill="hold" grpId="0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" grpId="0" animBg="1" advAuto="0"/>
      <p:bldP spid="1264" grpId="0" animBg="1" advAuto="0"/>
      <p:bldP spid="1265" grpId="0" animBg="1" advAuto="0"/>
      <p:bldP spid="1266" grpId="0" animBg="1" advAuto="0"/>
      <p:bldP spid="4" grpId="0" animBg="1" advAuto="0"/>
      <p:bldP spid="5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矩形 45"/>
          <p:cNvSpPr txBox="1"/>
          <p:nvPr/>
        </p:nvSpPr>
        <p:spPr>
          <a:xfrm>
            <a:off x="6477000" y="176212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en-US" dirty="0"/>
              <a:t>总结展望</a:t>
            </a:r>
            <a:endParaRPr dirty="0"/>
          </a:p>
        </p:txBody>
      </p:sp>
      <p:sp>
        <p:nvSpPr>
          <p:cNvPr id="1149" name="矩形 46"/>
          <p:cNvSpPr/>
          <p:nvPr/>
        </p:nvSpPr>
        <p:spPr>
          <a:xfrm>
            <a:off x="8332938" y="256820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0" name="矩形 47"/>
          <p:cNvSpPr/>
          <p:nvPr/>
        </p:nvSpPr>
        <p:spPr>
          <a:xfrm>
            <a:off x="8099425" y="256821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2" name="矩形 49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3" name="矩形 50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4" name="矩形 51"/>
          <p:cNvSpPr/>
          <p:nvPr/>
        </p:nvSpPr>
        <p:spPr>
          <a:xfrm>
            <a:off x="7388224" y="256819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" name="矩形 48">
            <a:extLst>
              <a:ext uri="{FF2B5EF4-FFF2-40B4-BE49-F238E27FC236}">
                <a16:creationId xmlns:a16="http://schemas.microsoft.com/office/drawing/2014/main" id="{38599568-C143-95D1-F56D-4C889B0B328C}"/>
              </a:ext>
            </a:extLst>
          </p:cNvPr>
          <p:cNvSpPr/>
          <p:nvPr/>
        </p:nvSpPr>
        <p:spPr>
          <a:xfrm>
            <a:off x="8567888" y="256820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1224" name="组合 15"/>
          <p:cNvGrpSpPr/>
          <p:nvPr/>
        </p:nvGrpSpPr>
        <p:grpSpPr>
          <a:xfrm>
            <a:off x="1162908" y="1005515"/>
            <a:ext cx="7162801" cy="1236766"/>
            <a:chOff x="0" y="0"/>
            <a:chExt cx="7162800" cy="1236764"/>
          </a:xfrm>
        </p:grpSpPr>
        <p:sp>
          <p:nvSpPr>
            <p:cNvPr id="1222" name="矩形 16"/>
            <p:cNvSpPr txBox="1"/>
            <p:nvPr/>
          </p:nvSpPr>
          <p:spPr>
            <a:xfrm>
              <a:off x="0" y="346074"/>
              <a:ext cx="7162800" cy="8906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我们成功完成了类</a:t>
              </a:r>
              <a:r>
                <a:rPr lang="en-US" altLang="zh-CN" dirty="0"/>
                <a:t>Rust</a:t>
              </a:r>
              <a:r>
                <a:rPr lang="zh-CN" altLang="en-US" dirty="0"/>
                <a:t>语言的词法和语法分析，在这一过程中，深入理解了编程语言的底层解析原理，熟练掌握了</a:t>
              </a:r>
              <a:r>
                <a:rPr lang="en-US" altLang="zh-CN" dirty="0"/>
                <a:t>Python 3</a:t>
              </a:r>
              <a:r>
                <a:rPr lang="zh-CN" altLang="en-US" dirty="0"/>
                <a:t>在词法分析和语法分析中的应用，成功实现了词法分析器和语法分析器，生成了符合预期的</a:t>
              </a:r>
              <a:r>
                <a:rPr lang="en-US" altLang="zh-CN" dirty="0"/>
                <a:t>Token</a:t>
              </a:r>
              <a:r>
                <a:rPr lang="zh-CN" altLang="en-US" dirty="0"/>
                <a:t>流和</a:t>
              </a:r>
              <a:r>
                <a:rPr lang="en-US" altLang="zh-CN" dirty="0"/>
                <a:t>AST</a:t>
              </a:r>
              <a:r>
                <a:rPr lang="zh-CN" altLang="en-US" dirty="0"/>
                <a:t>，为进一步开发编译器或解释器奠定了关键基础，积累了宝贵的技术经验。</a:t>
              </a:r>
              <a:endParaRPr dirty="0"/>
            </a:p>
          </p:txBody>
        </p:sp>
        <p:sp>
          <p:nvSpPr>
            <p:cNvPr id="1223" name="矩形 17"/>
            <p:cNvSpPr txBox="1"/>
            <p:nvPr/>
          </p:nvSpPr>
          <p:spPr>
            <a:xfrm>
              <a:off x="8761" y="0"/>
              <a:ext cx="1015661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b="1" dirty="0"/>
                <a:t>项目总结</a:t>
              </a:r>
              <a:endParaRPr b="1" dirty="0"/>
            </a:p>
          </p:txBody>
        </p:sp>
      </p:grpSp>
      <p:grpSp>
        <p:nvGrpSpPr>
          <p:cNvPr id="1231" name="组合 18"/>
          <p:cNvGrpSpPr/>
          <p:nvPr/>
        </p:nvGrpSpPr>
        <p:grpSpPr>
          <a:xfrm>
            <a:off x="1162908" y="2393475"/>
            <a:ext cx="6907151" cy="2122493"/>
            <a:chOff x="0" y="-1"/>
            <a:chExt cx="6907150" cy="2122491"/>
          </a:xfrm>
        </p:grpSpPr>
        <p:grpSp>
          <p:nvGrpSpPr>
            <p:cNvPr id="1229" name="组合 19"/>
            <p:cNvGrpSpPr/>
            <p:nvPr/>
          </p:nvGrpSpPr>
          <p:grpSpPr>
            <a:xfrm>
              <a:off x="0" y="-1"/>
              <a:ext cx="6907150" cy="2122491"/>
              <a:chOff x="0" y="0"/>
              <a:chExt cx="6907149" cy="2122489"/>
            </a:xfrm>
          </p:grpSpPr>
          <p:sp>
            <p:nvSpPr>
              <p:cNvPr id="1225" name="任意多边形 21"/>
              <p:cNvSpPr/>
              <p:nvPr/>
            </p:nvSpPr>
            <p:spPr>
              <a:xfrm>
                <a:off x="6804756" y="1228725"/>
                <a:ext cx="102394" cy="13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686C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262626"/>
                    </a:solidFill>
                  </a:defRPr>
                </a:pPr>
                <a:endParaRPr/>
              </a:p>
            </p:txBody>
          </p:sp>
          <p:grpSp>
            <p:nvGrpSpPr>
              <p:cNvPr id="1228" name="组合 22"/>
              <p:cNvGrpSpPr/>
              <p:nvPr/>
            </p:nvGrpSpPr>
            <p:grpSpPr>
              <a:xfrm>
                <a:off x="0" y="0"/>
                <a:ext cx="6840760" cy="2122490"/>
                <a:chOff x="0" y="0"/>
                <a:chExt cx="6840759" cy="2122489"/>
              </a:xfrm>
            </p:grpSpPr>
            <p:sp>
              <p:nvSpPr>
                <p:cNvPr id="1226" name="任意多边形 23"/>
                <p:cNvSpPr/>
                <p:nvPr/>
              </p:nvSpPr>
              <p:spPr>
                <a:xfrm>
                  <a:off x="5495068" y="0"/>
                  <a:ext cx="114301" cy="714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3600" y="0"/>
                      </a:lnTo>
                      <a:close/>
                    </a:path>
                  </a:pathLst>
                </a:custGeom>
                <a:solidFill>
                  <a:srgbClr val="686C8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227" name="矩形 24"/>
                <p:cNvSpPr/>
                <p:nvPr/>
              </p:nvSpPr>
              <p:spPr>
                <a:xfrm>
                  <a:off x="0" y="59419"/>
                  <a:ext cx="6840760" cy="2063071"/>
                </a:xfrm>
                <a:prstGeom prst="rect">
                  <a:avLst/>
                </a:prstGeom>
                <a:solidFill>
                  <a:srgbClr val="41445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sp>
          <p:nvSpPr>
            <p:cNvPr id="1230" name="矩形 20"/>
            <p:cNvSpPr txBox="1"/>
            <p:nvPr/>
          </p:nvSpPr>
          <p:spPr>
            <a:xfrm>
              <a:off x="194269" y="230112"/>
              <a:ext cx="5176528" cy="1721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未来计划扩展语法规则，使系统能够支持更多复杂的语言特性，如泛型、高阶函数等，满足更高级的编程需求。同时，增强错误处理功能，在词法分析和语法分析过程中，能够更准确地捕获和报告错误，为开发者提供详细的错误信息和定位，提高开发效率。还将深入开展语义分析功能的研究和实现，使系统不仅能解析语法结构，还能理解程序的语义，为代码优化和生成提供更强大的支持 。</a:t>
              </a:r>
              <a:endParaRPr dirty="0"/>
            </a:p>
          </p:txBody>
        </p:sp>
      </p:grpSp>
      <p:grpSp>
        <p:nvGrpSpPr>
          <p:cNvPr id="1234" name="组合 25"/>
          <p:cNvGrpSpPr/>
          <p:nvPr/>
        </p:nvGrpSpPr>
        <p:grpSpPr>
          <a:xfrm>
            <a:off x="6659563" y="2393948"/>
            <a:ext cx="1397002" cy="1358902"/>
            <a:chOff x="0" y="-1"/>
            <a:chExt cx="1397000" cy="1358901"/>
          </a:xfrm>
        </p:grpSpPr>
        <p:sp>
          <p:nvSpPr>
            <p:cNvPr id="1232" name="任意多边形 26"/>
            <p:cNvSpPr/>
            <p:nvPr/>
          </p:nvSpPr>
          <p:spPr>
            <a:xfrm>
              <a:off x="0" y="-1"/>
              <a:ext cx="1397000" cy="1358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"/>
                  </a:moveTo>
                  <a:lnTo>
                    <a:pt x="21600" y="21600"/>
                  </a:lnTo>
                  <a:lnTo>
                    <a:pt x="21600" y="6615"/>
                  </a:lnTo>
                  <a:lnTo>
                    <a:pt x="149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86C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1233" name="矩形 27"/>
            <p:cNvSpPr txBox="1"/>
            <p:nvPr/>
          </p:nvSpPr>
          <p:spPr>
            <a:xfrm rot="2637414">
              <a:off x="347168" y="467812"/>
              <a:ext cx="810475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rPr lang="zh-CN" altLang="en-US" dirty="0"/>
                <a:t>未来展望</a:t>
              </a: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1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" grpId="0" animBg="1" advAuto="0"/>
      <p:bldP spid="1231" grpId="0" animBg="1" advAuto="0"/>
      <p:bldP spid="1234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矩形 23"/>
          <p:cNvSpPr txBox="1"/>
          <p:nvPr/>
        </p:nvSpPr>
        <p:spPr>
          <a:xfrm>
            <a:off x="2916238" y="2129248"/>
            <a:ext cx="3551238" cy="1120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6600">
                <a:solidFill>
                  <a:srgbClr val="414455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03220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" grpId="0" animBg="1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1763</Words>
  <Application>Microsoft Office PowerPoint</Application>
  <PresentationFormat>全屏显示(16:9)</PresentationFormat>
  <Paragraphs>159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宇 张</cp:lastModifiedBy>
  <cp:revision>79</cp:revision>
  <dcterms:modified xsi:type="dcterms:W3CDTF">2025-05-11T07:43:50Z</dcterms:modified>
</cp:coreProperties>
</file>