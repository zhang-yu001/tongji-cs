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s/slide119.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theme/theme4.xml" ContentType="application/vnd.openxmlformats-officedocument.them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Layouts/slideLayout16.xml" ContentType="application/vnd.openxmlformats-officedocument.presentationml.slideLayout+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ppt/slideLayouts/slideLayout2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2" r:id="rId2"/>
  </p:sldMasterIdLst>
  <p:notesMasterIdLst>
    <p:notesMasterId r:id="rId125"/>
  </p:notesMasterIdLst>
  <p:handoutMasterIdLst>
    <p:handoutMasterId r:id="rId126"/>
  </p:handoutMasterIdLst>
  <p:sldIdLst>
    <p:sldId id="544" r:id="rId3"/>
    <p:sldId id="263" r:id="rId4"/>
    <p:sldId id="545" r:id="rId5"/>
    <p:sldId id="649" r:id="rId6"/>
    <p:sldId id="648" r:id="rId7"/>
    <p:sldId id="650" r:id="rId8"/>
    <p:sldId id="651" r:id="rId9"/>
    <p:sldId id="656" r:id="rId10"/>
    <p:sldId id="657" r:id="rId11"/>
    <p:sldId id="658" r:id="rId12"/>
    <p:sldId id="653" r:id="rId13"/>
    <p:sldId id="660" r:id="rId14"/>
    <p:sldId id="661" r:id="rId15"/>
    <p:sldId id="665" r:id="rId16"/>
    <p:sldId id="662" r:id="rId17"/>
    <p:sldId id="666" r:id="rId18"/>
    <p:sldId id="654" r:id="rId19"/>
    <p:sldId id="667" r:id="rId20"/>
    <p:sldId id="668" r:id="rId21"/>
    <p:sldId id="669" r:id="rId22"/>
    <p:sldId id="670" r:id="rId23"/>
    <p:sldId id="655" r:id="rId24"/>
    <p:sldId id="678" r:id="rId25"/>
    <p:sldId id="679" r:id="rId26"/>
    <p:sldId id="683" r:id="rId27"/>
    <p:sldId id="684" r:id="rId28"/>
    <p:sldId id="685" r:id="rId29"/>
    <p:sldId id="686" r:id="rId30"/>
    <p:sldId id="687" r:id="rId31"/>
    <p:sldId id="693" r:id="rId32"/>
    <p:sldId id="694" r:id="rId33"/>
    <p:sldId id="695" r:id="rId34"/>
    <p:sldId id="703" r:id="rId35"/>
    <p:sldId id="671" r:id="rId36"/>
    <p:sldId id="672" r:id="rId37"/>
    <p:sldId id="673" r:id="rId38"/>
    <p:sldId id="674" r:id="rId39"/>
    <p:sldId id="675" r:id="rId40"/>
    <p:sldId id="676" r:id="rId41"/>
    <p:sldId id="646" r:id="rId42"/>
    <p:sldId id="715" r:id="rId43"/>
    <p:sldId id="704" r:id="rId44"/>
    <p:sldId id="705" r:id="rId45"/>
    <p:sldId id="735" r:id="rId46"/>
    <p:sldId id="721" r:id="rId47"/>
    <p:sldId id="725" r:id="rId48"/>
    <p:sldId id="706" r:id="rId49"/>
    <p:sldId id="887" r:id="rId50"/>
    <p:sldId id="888" r:id="rId51"/>
    <p:sldId id="889" r:id="rId52"/>
    <p:sldId id="890" r:id="rId53"/>
    <p:sldId id="891" r:id="rId54"/>
    <p:sldId id="728" r:id="rId55"/>
    <p:sldId id="707" r:id="rId56"/>
    <p:sldId id="892" r:id="rId57"/>
    <p:sldId id="893" r:id="rId58"/>
    <p:sldId id="894" r:id="rId59"/>
    <p:sldId id="729" r:id="rId60"/>
    <p:sldId id="895" r:id="rId61"/>
    <p:sldId id="896" r:id="rId62"/>
    <p:sldId id="897" r:id="rId63"/>
    <p:sldId id="899" r:id="rId64"/>
    <p:sldId id="900" r:id="rId65"/>
    <p:sldId id="901" r:id="rId66"/>
    <p:sldId id="902" r:id="rId67"/>
    <p:sldId id="732" r:id="rId68"/>
    <p:sldId id="733" r:id="rId69"/>
    <p:sldId id="708" r:id="rId70"/>
    <p:sldId id="736" r:id="rId71"/>
    <p:sldId id="716" r:id="rId72"/>
    <p:sldId id="722" r:id="rId73"/>
    <p:sldId id="739" r:id="rId74"/>
    <p:sldId id="740" r:id="rId75"/>
    <p:sldId id="710" r:id="rId76"/>
    <p:sldId id="910" r:id="rId77"/>
    <p:sldId id="741" r:id="rId78"/>
    <p:sldId id="751" r:id="rId79"/>
    <p:sldId id="904" r:id="rId80"/>
    <p:sldId id="905" r:id="rId81"/>
    <p:sldId id="906" r:id="rId82"/>
    <p:sldId id="907" r:id="rId83"/>
    <p:sldId id="908" r:id="rId84"/>
    <p:sldId id="742" r:id="rId85"/>
    <p:sldId id="744" r:id="rId86"/>
    <p:sldId id="752" r:id="rId87"/>
    <p:sldId id="711" r:id="rId88"/>
    <p:sldId id="755" r:id="rId89"/>
    <p:sldId id="756" r:id="rId90"/>
    <p:sldId id="757" r:id="rId91"/>
    <p:sldId id="765" r:id="rId92"/>
    <p:sldId id="766" r:id="rId93"/>
    <p:sldId id="767" r:id="rId94"/>
    <p:sldId id="776" r:id="rId95"/>
    <p:sldId id="717" r:id="rId96"/>
    <p:sldId id="777" r:id="rId97"/>
    <p:sldId id="647" r:id="rId98"/>
    <p:sldId id="803" r:id="rId99"/>
    <p:sldId id="802" r:id="rId100"/>
    <p:sldId id="806" r:id="rId101"/>
    <p:sldId id="807" r:id="rId102"/>
    <p:sldId id="874" r:id="rId103"/>
    <p:sldId id="808" r:id="rId104"/>
    <p:sldId id="844" r:id="rId105"/>
    <p:sldId id="809" r:id="rId106"/>
    <p:sldId id="810" r:id="rId107"/>
    <p:sldId id="845" r:id="rId108"/>
    <p:sldId id="852" r:id="rId109"/>
    <p:sldId id="853" r:id="rId110"/>
    <p:sldId id="848" r:id="rId111"/>
    <p:sldId id="849" r:id="rId112"/>
    <p:sldId id="804" r:id="rId113"/>
    <p:sldId id="856" r:id="rId114"/>
    <p:sldId id="857" r:id="rId115"/>
    <p:sldId id="858" r:id="rId116"/>
    <p:sldId id="859" r:id="rId117"/>
    <p:sldId id="876" r:id="rId118"/>
    <p:sldId id="860" r:id="rId119"/>
    <p:sldId id="868" r:id="rId120"/>
    <p:sldId id="869" r:id="rId121"/>
    <p:sldId id="870" r:id="rId122"/>
    <p:sldId id="862" r:id="rId123"/>
    <p:sldId id="871" r:id="rId124"/>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8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8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8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8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0000FF"/>
    <a:srgbClr val="FF0000"/>
    <a:srgbClr val="FFFF00"/>
    <a:srgbClr val="008000"/>
    <a:srgbClr val="00002E"/>
    <a:srgbClr val="000000"/>
    <a:srgbClr val="CC99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31" autoAdjust="0"/>
  </p:normalViewPr>
  <p:slideViewPr>
    <p:cSldViewPr>
      <p:cViewPr varScale="1">
        <p:scale>
          <a:sx n="63" d="100"/>
          <a:sy n="63" d="100"/>
        </p:scale>
        <p:origin x="-151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588"/>
    </p:cViewPr>
  </p:sorterViewPr>
  <p:notesViewPr>
    <p:cSldViewPr>
      <p:cViewPr varScale="1">
        <p:scale>
          <a:sx n="57" d="100"/>
          <a:sy n="57" d="100"/>
        </p:scale>
        <p:origin x="-1752" y="-7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fld id="{3038D8D3-A6D0-44F8-8607-9E5A5055E5E3}" type="slidenum">
              <a:rPr lang="zh-CN" altLang="en-US"/>
              <a:pPr/>
              <a:t>‹#›</a:t>
            </a:fld>
            <a:endParaRPr lang="en-US" altLang="zh-CN"/>
          </a:p>
        </p:txBody>
      </p:sp>
    </p:spTree>
    <p:extLst>
      <p:ext uri="{BB962C8B-B14F-4D97-AF65-F5344CB8AC3E}">
        <p14:creationId xmlns="" xmlns:p14="http://schemas.microsoft.com/office/powerpoint/2010/main" val="17863580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endParaRPr lang="en-US" altLang="zh-CN"/>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fld id="{3BEBEE94-3A7A-4FB8-ACCC-526D3FF5783B}" type="slidenum">
              <a:rPr lang="zh-CN" altLang="en-US"/>
              <a:pPr/>
              <a:t>‹#›</a:t>
            </a:fld>
            <a:endParaRPr lang="en-US" altLang="zh-CN"/>
          </a:p>
        </p:txBody>
      </p:sp>
    </p:spTree>
    <p:extLst>
      <p:ext uri="{BB962C8B-B14F-4D97-AF65-F5344CB8AC3E}">
        <p14:creationId xmlns="" xmlns:p14="http://schemas.microsoft.com/office/powerpoint/2010/main" val="272418312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92194" name="Picture 2" descr="图片1"/>
          <p:cNvPicPr>
            <a:picLocks noChangeAspect="1" noChangeArrowheads="1"/>
          </p:cNvPicPr>
          <p:nvPr userDrawn="1"/>
        </p:nvPicPr>
        <p:blipFill>
          <a:blip r:embed="rId3" cstate="print">
            <a:extLst>
              <a:ext uri="{28A0092B-C50C-407E-A947-70E740481C1C}">
                <a14:useLocalDpi xmlns=""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92195" name="Group 3"/>
          <p:cNvGrpSpPr>
            <a:grpSpLocks/>
          </p:cNvGrpSpPr>
          <p:nvPr/>
        </p:nvGrpSpPr>
        <p:grpSpPr bwMode="auto">
          <a:xfrm>
            <a:off x="0" y="38100"/>
            <a:ext cx="647700" cy="6769100"/>
            <a:chOff x="0" y="43"/>
            <a:chExt cx="5760" cy="4229"/>
          </a:xfrm>
        </p:grpSpPr>
        <p:sp>
          <p:nvSpPr>
            <p:cNvPr id="39219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pic>
        <p:nvPicPr>
          <p:cNvPr id="392302" name="Picture 110" descr="tongji"/>
          <p:cNvPicPr>
            <a:picLocks noChangeAspect="1" noChangeArrowheads="1"/>
          </p:cNvPicPr>
          <p:nvPr/>
        </p:nvPicPr>
        <p:blipFill>
          <a:blip r:embed="rId4" cstate="print">
            <a:clrChange>
              <a:clrFrom>
                <a:srgbClr val="7187C3"/>
              </a:clrFrom>
              <a:clrTo>
                <a:srgbClr val="7187C3">
                  <a:alpha val="0"/>
                </a:srgbClr>
              </a:clrTo>
            </a:clrChange>
            <a:extLst>
              <a:ext uri="{28A0092B-C50C-407E-A947-70E740481C1C}">
                <a14:useLocalDpi xmlns="" xmlns:a14="http://schemas.microsoft.com/office/drawing/2010/main" val="0"/>
              </a:ext>
            </a:extLst>
          </a:blip>
          <a:srcRect/>
          <a:stretch>
            <a:fillRect/>
          </a:stretch>
        </p:blipFill>
        <p:spPr bwMode="auto">
          <a:xfrm>
            <a:off x="7524750" y="333375"/>
            <a:ext cx="1008063" cy="1008063"/>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spd="slow">
    <p:random/>
    <p:sndAc>
      <p:stSnd>
        <p:snd r:embed="rId1"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2679551949"/>
      </p:ext>
    </p:extLst>
  </p:cSld>
  <p:clrMapOvr>
    <a:masterClrMapping/>
  </p:clrMapOvr>
  <p:transition spd="slow">
    <p:random/>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 xmlns:p14="http://schemas.microsoft.com/office/powerpoint/2010/main" val="3413146063"/>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438946038"/>
      </p:ext>
    </p:extLst>
  </p:cSld>
  <p:clrMapOvr>
    <a:masterClrMapping/>
  </p:clrMapOvr>
  <p:transition spd="slow">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897316461"/>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 xmlns:p14="http://schemas.microsoft.com/office/powerpoint/2010/main" val="1750026718"/>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280300099"/>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 xmlns:p14="http://schemas.microsoft.com/office/powerpoint/2010/main" val="1651088431"/>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 xmlns:p14="http://schemas.microsoft.com/office/powerpoint/2010/main" val="2156539279"/>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2188432848"/>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1771564479"/>
      </p:ext>
    </p:extLst>
  </p:cSld>
  <p:clrMapOvr>
    <a:masterClrMapping/>
  </p:clrMapOvr>
  <p:transition spd="slow">
    <p:random/>
    <p:sndAc>
      <p:stSnd>
        <p:snd r:embed="rId1"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758206083"/>
      </p:ext>
    </p:extLst>
  </p:cSld>
  <p:clrMapOvr>
    <a:masterClrMapping/>
  </p:clrMapOvr>
  <p:transition spd="slow">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endParaRPr lang="zh-CN" altLang="en-US"/>
          </a:p>
        </p:txBody>
      </p:sp>
    </p:spTree>
    <p:extLst>
      <p:ext uri="{BB962C8B-B14F-4D97-AF65-F5344CB8AC3E}">
        <p14:creationId xmlns="" xmlns:p14="http://schemas.microsoft.com/office/powerpoint/2010/main" val="3539562346"/>
      </p:ext>
    </p:extLst>
  </p:cSld>
  <p:clrMapOvr>
    <a:masterClrMapping/>
  </p:clrMapOvr>
  <p:transition spd="slow">
    <p:random/>
    <p:sndAc>
      <p:stSnd>
        <p:snd r:embed="rId1" name="camera.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 xmlns:p14="http://schemas.microsoft.com/office/powerpoint/2010/main" val="37000087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72843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 xmlns:p14="http://schemas.microsoft.com/office/powerpoint/2010/main" val="11834629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5871554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31779354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 xmlns:p14="http://schemas.microsoft.com/office/powerpoint/2010/main" val="11323013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9671851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 xmlns:p14="http://schemas.microsoft.com/office/powerpoint/2010/main" val="26064665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 xmlns:p14="http://schemas.microsoft.com/office/powerpoint/2010/main" val="3975718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4275941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 xmlns:p14="http://schemas.microsoft.com/office/powerpoint/2010/main" val="449122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284" name="Picture 116" descr="图片1"/>
          <p:cNvPicPr>
            <a:picLocks noChangeAspect="1" noChangeArrowheads="1"/>
          </p:cNvPicPr>
          <p:nvPr/>
        </p:nvPicPr>
        <p:blipFill>
          <a:blip r:embed="rId16" cstate="print">
            <a:extLst>
              <a:ext uri="{28A0092B-C50C-407E-A947-70E740481C1C}">
                <a14:useLocalDpi xmlns=""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7171" name="Group 3"/>
          <p:cNvGrpSpPr>
            <a:grpSpLocks/>
          </p:cNvGrpSpPr>
          <p:nvPr/>
        </p:nvGrpSpPr>
        <p:grpSpPr bwMode="auto">
          <a:xfrm>
            <a:off x="0" y="38100"/>
            <a:ext cx="647700" cy="6769100"/>
            <a:chOff x="0" y="43"/>
            <a:chExt cx="5760" cy="4229"/>
          </a:xfrm>
        </p:grpSpPr>
        <p:sp>
          <p:nvSpPr>
            <p:cNvPr id="7172"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3"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8"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0"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1"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3"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4"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5"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7"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8"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9"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0"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1"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2"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3"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4"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5"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6"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0"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4"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8"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2"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6"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0"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4"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8"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2"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6"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0"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4"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8"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9"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0"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1"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2"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3"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4"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5"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6"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7"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8"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9"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0"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1"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2"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3"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4"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5"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6"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7"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8"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9"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71"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pPr>
            <a:r>
              <a:rPr lang="zh-CN" altLang="en-US" sz="1200" dirty="0">
                <a:solidFill>
                  <a:srgbClr val="000000"/>
                </a:solidFill>
                <a:latin typeface="Arial" charset="0"/>
              </a:rPr>
              <a:t>《</a:t>
            </a:r>
            <a:r>
              <a:rPr lang="en-US" altLang="zh-CN" sz="1200" dirty="0">
                <a:solidFill>
                  <a:srgbClr val="000000"/>
                </a:solidFill>
                <a:latin typeface="Arial" charset="0"/>
              </a:rPr>
              <a:t>Computer </a:t>
            </a:r>
            <a:r>
              <a:rPr lang="en-US" altLang="zh-CN" sz="1200" dirty="0" smtClean="0">
                <a:solidFill>
                  <a:srgbClr val="000000"/>
                </a:solidFill>
                <a:latin typeface="Arial" charset="0"/>
              </a:rPr>
              <a:t>Networks》V5     </a:t>
            </a:r>
            <a:r>
              <a:rPr lang="zh-CN" altLang="en-US" sz="1200" dirty="0">
                <a:solidFill>
                  <a:srgbClr val="000000"/>
                </a:solidFill>
                <a:latin typeface="Arial" charset="0"/>
              </a:rPr>
              <a:t>（</a:t>
            </a:r>
            <a:fld id="{86BD2812-114B-4676-BA32-501762766E26}" type="slidenum">
              <a:rPr lang="zh-CN" altLang="en-US" sz="1200">
                <a:solidFill>
                  <a:srgbClr val="000000"/>
                </a:solidFill>
                <a:latin typeface="Arial" charset="0"/>
              </a:rPr>
              <a:pPr>
                <a:lnSpc>
                  <a:spcPct val="85000"/>
                </a:lnSpc>
                <a:buClrTx/>
                <a:buFontTx/>
                <a:buNone/>
              </a:pPr>
              <a:t>‹#›</a:t>
            </a:fld>
            <a:r>
              <a:rPr lang="en-US" altLang="zh-CN" sz="1200" dirty="0">
                <a:solidFill>
                  <a:srgbClr val="000000"/>
                </a:solidFill>
                <a:latin typeface="Arial" charset="0"/>
              </a:rPr>
              <a:t>/</a:t>
            </a:r>
            <a:r>
              <a:rPr lang="en-US" altLang="zh-CN" sz="1200" dirty="0" smtClean="0">
                <a:solidFill>
                  <a:srgbClr val="000000"/>
                </a:solidFill>
                <a:latin typeface="Arial" charset="0"/>
              </a:rPr>
              <a:t>179</a:t>
            </a:r>
            <a:r>
              <a:rPr lang="zh-CN" altLang="en-US" sz="1200" dirty="0" smtClean="0">
                <a:solidFill>
                  <a:srgbClr val="000000"/>
                </a:solidFill>
                <a:latin typeface="Arial" charset="0"/>
              </a:rPr>
              <a:t>）</a:t>
            </a:r>
            <a:endParaRPr lang="zh-CN" altLang="en-US" sz="1200" dirty="0">
              <a:solidFill>
                <a:srgbClr val="000000"/>
              </a:solidFill>
              <a:latin typeface="Arial" charset="0"/>
            </a:endParaRPr>
          </a:p>
        </p:txBody>
      </p:sp>
      <p:sp>
        <p:nvSpPr>
          <p:cNvPr id="7282" name="Rectangle 114"/>
          <p:cNvSpPr>
            <a:spLocks noChangeArrowheads="1"/>
          </p:cNvSpPr>
          <p:nvPr/>
        </p:nvSpPr>
        <p:spPr bwMode="auto">
          <a:xfrm>
            <a:off x="5334000" y="6315075"/>
            <a:ext cx="3810000" cy="533400"/>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pPr>
            <a:r>
              <a:rPr lang="zh-CN" altLang="en-US" sz="1200">
                <a:solidFill>
                  <a:srgbClr val="000000"/>
                </a:solidFill>
              </a:rPr>
              <a:t>同济大学.电子与信息工程学院.计算机科学与工程系</a:t>
            </a:r>
          </a:p>
        </p:txBody>
      </p:sp>
      <p:pic>
        <p:nvPicPr>
          <p:cNvPr id="7287" name="Picture 119" descr="tongji"/>
          <p:cNvPicPr>
            <a:picLocks noChangeAspect="1" noChangeArrowheads="1"/>
          </p:cNvPicPr>
          <p:nvPr/>
        </p:nvPicPr>
        <p:blipFill>
          <a:blip r:embed="rId17" cstate="print">
            <a:clrChange>
              <a:clrFrom>
                <a:srgbClr val="7187C3"/>
              </a:clrFrom>
              <a:clrTo>
                <a:srgbClr val="7187C3">
                  <a:alpha val="0"/>
                </a:srgbClr>
              </a:clrTo>
            </a:clrChange>
            <a:extLst>
              <a:ext uri="{28A0092B-C50C-407E-A947-70E740481C1C}">
                <a14:useLocalDpi xmlns="" xmlns:a14="http://schemas.microsoft.com/office/drawing/2010/main" val="0"/>
              </a:ext>
            </a:extLst>
          </a:blip>
          <a:srcRect/>
          <a:stretch>
            <a:fillRect/>
          </a:stretch>
        </p:blipFill>
        <p:spPr bwMode="auto">
          <a:xfrm>
            <a:off x="7524750" y="333375"/>
            <a:ext cx="1008063" cy="1008063"/>
          </a:xfrm>
          <a:prstGeom prst="rect">
            <a:avLst/>
          </a:prstGeom>
          <a:noFill/>
          <a:extLst>
            <a:ext uri="{909E8E84-426E-40DD-AFC4-6F175D3DCCD1}">
              <a14:hiddenFill xmlns=""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75" r:id="rId12"/>
    <p:sldLayoutId id="2147483676" r:id="rId13"/>
  </p:sldLayoutIdLst>
  <p:transition spd="slow">
    <p:random/>
    <p:sndAc>
      <p:stSnd>
        <p:snd r:embed="rId15" name="camera.wav"/>
      </p:stSnd>
    </p:sndAc>
  </p:transition>
  <p:timing>
    <p:tnLst>
      <p:par>
        <p:cTn id="1" dur="indefinite" restart="never" nodeType="tmRoot"/>
      </p:par>
    </p:tnLst>
  </p:timing>
  <p:txStyles>
    <p:titleStyle>
      <a:lvl1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2pPr>
      <a:lvl3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3pPr>
      <a:lvl4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4pPr>
      <a:lvl5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9pPr>
    </p:titleStyle>
    <p:bodyStyle>
      <a:lvl1pPr marL="444500" indent="-444500" algn="l" rtl="0" fontAlgn="base">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fontAlgn="base">
        <a:spcBef>
          <a:spcPct val="20000"/>
        </a:spcBef>
        <a:spcAft>
          <a:spcPct val="0"/>
        </a:spcAft>
        <a:buClr>
          <a:schemeClr val="accent2"/>
        </a:buClr>
        <a:buSzPct val="55000"/>
        <a:buFont typeface="Wingdings" pitchFamily="2" charset="2"/>
        <a:buBlip>
          <a:blip r:embed="rId18"/>
        </a:buBlip>
        <a:defRPr kumimoji="1" sz="2800" b="1">
          <a:solidFill>
            <a:srgbClr val="000000"/>
          </a:solidFill>
          <a:latin typeface="+mn-lt"/>
          <a:ea typeface="+mn-ea"/>
        </a:defRPr>
      </a:lvl2pPr>
      <a:lvl3pPr marL="1317625" indent="-228600" algn="l" rtl="0" fontAlgn="base">
        <a:spcBef>
          <a:spcPct val="20000"/>
        </a:spcBef>
        <a:spcAft>
          <a:spcPct val="0"/>
        </a:spcAft>
        <a:buClr>
          <a:schemeClr val="accent2"/>
        </a:buClr>
        <a:buSzPct val="65000"/>
        <a:buFont typeface="Wingdings" pitchFamily="2" charset="2"/>
        <a:buBlip>
          <a:blip r:embed="rId19"/>
        </a:buBlip>
        <a:defRPr kumimoji="1" sz="2400" b="1">
          <a:solidFill>
            <a:srgbClr val="000000"/>
          </a:solidFill>
          <a:latin typeface="+mn-lt"/>
          <a:ea typeface="+mn-ea"/>
        </a:defRPr>
      </a:lvl3pPr>
      <a:lvl4pPr marL="1725613" indent="-228600" algn="l" rtl="0" fontAlgn="base">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ianchunqi@tongji.edu.cn" TargetMode="External"/><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96.xml"/><Relationship Id="rId4" Type="http://schemas.openxmlformats.org/officeDocument/2006/relationships/slide" Target="slide40.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18" Type="http://schemas.openxmlformats.org/officeDocument/2006/relationships/oleObject" Target="../embeddings/oleObject14.bin"/><Relationship Id="rId3" Type="http://schemas.openxmlformats.org/officeDocument/2006/relationships/audio" Target="../media/audio1.wav"/><Relationship Id="rId7" Type="http://schemas.openxmlformats.org/officeDocument/2006/relationships/oleObject" Target="../embeddings/oleObject3.bin"/><Relationship Id="rId12" Type="http://schemas.openxmlformats.org/officeDocument/2006/relationships/oleObject" Target="../embeddings/oleObject8.bin"/><Relationship Id="rId17" Type="http://schemas.openxmlformats.org/officeDocument/2006/relationships/oleObject" Target="../embeddings/oleObject13.bin"/><Relationship Id="rId2" Type="http://schemas.openxmlformats.org/officeDocument/2006/relationships/slideLayout" Target="../slideLayouts/slideLayout2.xml"/><Relationship Id="rId16" Type="http://schemas.openxmlformats.org/officeDocument/2006/relationships/oleObject" Target="../embeddings/oleObject12.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oleObject" Target="../embeddings/oleObject7.bin"/><Relationship Id="rId5" Type="http://schemas.openxmlformats.org/officeDocument/2006/relationships/oleObject" Target="../embeddings/oleObject1.bin"/><Relationship Id="rId15" Type="http://schemas.openxmlformats.org/officeDocument/2006/relationships/oleObject" Target="../embeddings/oleObject11.bin"/><Relationship Id="rId10" Type="http://schemas.openxmlformats.org/officeDocument/2006/relationships/oleObject" Target="../embeddings/oleObject6.bin"/><Relationship Id="rId19" Type="http://schemas.openxmlformats.org/officeDocument/2006/relationships/oleObject" Target="../embeddings/oleObject15.bin"/><Relationship Id="rId4" Type="http://schemas.openxmlformats.org/officeDocument/2006/relationships/slide" Target="slide2.xml"/><Relationship Id="rId9" Type="http://schemas.openxmlformats.org/officeDocument/2006/relationships/oleObject" Target="../embeddings/oleObject5.bin"/><Relationship Id="rId14" Type="http://schemas.openxmlformats.org/officeDocument/2006/relationships/oleObject" Target="../embeddings/oleObject10.bin"/></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image" Target="../media/image10.wmf"/></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3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slide" Target="slide11.xml"/><Relationship Id="rId4" Type="http://schemas.openxmlformats.org/officeDocument/2006/relationships/slide" Target="slide8.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7.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7.xml"/></Relationships>
</file>

<file path=ppt/slides/_rels/slide11.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slide" Target="slide12.xml"/><Relationship Id="rId4" Type="http://schemas.openxmlformats.org/officeDocument/2006/relationships/slide" Target="slide7.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7.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7.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slide" Target="slide11.xml"/><Relationship Id="rId4" Type="http://schemas.openxmlformats.org/officeDocument/2006/relationships/slide" Target="slide7.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7.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slide" Target="slide11.xml"/><Relationship Id="rId4" Type="http://schemas.openxmlformats.org/officeDocument/2006/relationships/slide" Target="slide7.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xml"/><Relationship Id="rId5" Type="http://schemas.openxmlformats.org/officeDocument/2006/relationships/slide" Target="slide18.xml"/><Relationship Id="rId4" Type="http://schemas.openxmlformats.org/officeDocument/2006/relationships/slide" Target="slide7.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7.xml"/><Relationship Id="rId4" Type="http://schemas.openxmlformats.org/officeDocument/2006/relationships/slide" Target="slide7.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slide" Target="slide17.xml"/><Relationship Id="rId4" Type="http://schemas.openxmlformats.org/officeDocument/2006/relationships/slide" Target="slide7.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slide" Target="slide17.xml"/><Relationship Id="rId4" Type="http://schemas.openxmlformats.org/officeDocument/2006/relationships/slide" Target="slide7.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7.xml"/><Relationship Id="rId4" Type="http://schemas.openxmlformats.org/officeDocument/2006/relationships/slide" Target="slide7.xml"/></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slide" Target="slide17.xml"/><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oleObject" Target="../embeddings/oleObject16.bin"/></Relationships>
</file>

<file path=ppt/slides/_rels/slide23.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24.xml"/><Relationship Id="rId7" Type="http://schemas.openxmlformats.org/officeDocument/2006/relationships/slide" Target="slide7.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2.xml"/><Relationship Id="rId5" Type="http://schemas.openxmlformats.org/officeDocument/2006/relationships/slide" Target="slide30.xml"/><Relationship Id="rId4" Type="http://schemas.openxmlformats.org/officeDocument/2006/relationships/slide" Target="slide25.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2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2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2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30.xml.rels><?xml version="1.0" encoding="UTF-8" standalone="yes"?>
<Relationships xmlns="http://schemas.openxmlformats.org/package/2006/relationships"><Relationship Id="rId8" Type="http://schemas.openxmlformats.org/officeDocument/2006/relationships/slide" Target="slide33.xml"/><Relationship Id="rId3" Type="http://schemas.openxmlformats.org/officeDocument/2006/relationships/slide" Target="slide2.xml"/><Relationship Id="rId7" Type="http://schemas.openxmlformats.org/officeDocument/2006/relationships/slide" Target="slide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3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3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33.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slide" Target="slide2.xml"/><Relationship Id="rId7" Type="http://schemas.openxmlformats.org/officeDocument/2006/relationships/slide" Target="slide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7.xml"/><Relationship Id="rId4" Type="http://schemas.openxmlformats.org/officeDocument/2006/relationships/slide" Target="slide7.xml"/></Relationships>
</file>

<file path=ppt/slides/_rels/slide34.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35.xml"/><Relationship Id="rId7" Type="http://schemas.openxmlformats.org/officeDocument/2006/relationships/slide" Target="slide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38.xml"/><Relationship Id="rId4" Type="http://schemas.openxmlformats.org/officeDocument/2006/relationships/slide" Target="slide36.xml"/></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17.xml"/><Relationship Id="rId4" Type="http://schemas.openxmlformats.org/officeDocument/2006/relationships/slide" Target="slide7.xml"/></Relationships>
</file>

<file path=ppt/slides/_rels/slide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17.xml"/><Relationship Id="rId4" Type="http://schemas.openxmlformats.org/officeDocument/2006/relationships/slide" Target="slide7.xml"/></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17.xml"/><Relationship Id="rId4" Type="http://schemas.openxmlformats.org/officeDocument/2006/relationships/slide" Target="slide7.xml"/></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17.xml"/><Relationship Id="rId4" Type="http://schemas.openxmlformats.org/officeDocument/2006/relationships/slide" Target="slide7.xml"/></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7.xml"/></Relationships>
</file>

<file path=ppt/slides/_rels/slide40.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94.xml"/><Relationship Id="rId4" Type="http://schemas.openxmlformats.org/officeDocument/2006/relationships/slide" Target="slide70.xml"/></Relationships>
</file>

<file path=ppt/slides/_rels/slide41.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slide" Target="slide2.xml"/><Relationship Id="rId7" Type="http://schemas.openxmlformats.org/officeDocument/2006/relationships/slide" Target="slide4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3.xml"/><Relationship Id="rId5" Type="http://schemas.openxmlformats.org/officeDocument/2006/relationships/slide" Target="slide42.xml"/><Relationship Id="rId4" Type="http://schemas.openxmlformats.org/officeDocument/2006/relationships/slide" Target="slide40.xml"/><Relationship Id="rId9" Type="http://schemas.openxmlformats.org/officeDocument/2006/relationships/slide" Target="slide68.xml"/></Relationships>
</file>

<file path=ppt/slides/_rels/slide4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4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5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6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6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40.xml"/></Relationships>
</file>

<file path=ppt/slides/_rels/slide70.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slide" Target="slide2.xml"/><Relationship Id="rId7" Type="http://schemas.openxmlformats.org/officeDocument/2006/relationships/slide" Target="slide9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4.xml"/><Relationship Id="rId5" Type="http://schemas.openxmlformats.org/officeDocument/2006/relationships/slide" Target="slide71.xml"/><Relationship Id="rId4" Type="http://schemas.openxmlformats.org/officeDocument/2006/relationships/slide" Target="slide40.xml"/><Relationship Id="rId9" Type="http://schemas.openxmlformats.org/officeDocument/2006/relationships/slide" Target="slide90.xml"/></Relationships>
</file>

<file path=ppt/slides/_rels/slide7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7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2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slide" Target="slide70.xml"/><Relationship Id="rId4" Type="http://schemas.openxmlformats.org/officeDocument/2006/relationships/slide" Target="slide40.xml"/></Relationships>
</file>

<file path=ppt/slides/_rels/slide7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slide" Target="slide70.xml"/><Relationship Id="rId4" Type="http://schemas.openxmlformats.org/officeDocument/2006/relationships/slide" Target="slide40.xml"/></Relationships>
</file>

<file path=ppt/slides/_rels/slide7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7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8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8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8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8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8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8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9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9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9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9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0.xml"/><Relationship Id="rId4" Type="http://schemas.openxmlformats.org/officeDocument/2006/relationships/slide" Target="slide40.xml"/></Relationships>
</file>

<file path=ppt/slides/_rels/slide9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40.xml"/></Relationships>
</file>

<file path=ppt/slides/_rels/slide9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40.xml"/></Relationships>
</file>

<file path=ppt/slides/_rels/slide9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97.xml"/></Relationships>
</file>

<file path=ppt/slides/_rels/slide9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98.xml"/><Relationship Id="rId4" Type="http://schemas.openxmlformats.org/officeDocument/2006/relationships/slide" Target="slide96.xml"/></Relationships>
</file>

<file path=ppt/slides/_rels/slide9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1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slide" Target="slide99.xml"/><Relationship Id="rId4" Type="http://schemas.openxmlformats.org/officeDocument/2006/relationships/slide" Target="slide96.xml"/></Relationships>
</file>

<file path=ppt/slides/_rels/slide99.xml.rels><?xml version="1.0" encoding="UTF-8" standalone="yes"?>
<Relationships xmlns="http://schemas.openxmlformats.org/package/2006/relationships"><Relationship Id="rId8" Type="http://schemas.openxmlformats.org/officeDocument/2006/relationships/slide" Target="slide102.xml"/><Relationship Id="rId3" Type="http://schemas.openxmlformats.org/officeDocument/2006/relationships/slide" Target="slide2.xml"/><Relationship Id="rId7" Type="http://schemas.openxmlformats.org/officeDocument/2006/relationships/slide" Target="slide10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0.xml"/><Relationship Id="rId5" Type="http://schemas.openxmlformats.org/officeDocument/2006/relationships/slide" Target="slide98.xml"/><Relationship Id="rId4" Type="http://schemas.openxmlformats.org/officeDocument/2006/relationships/slide" Target="slide96.xml"/></Relationships>
</file>

<file path=ppt/slides/_rels/slide10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9.xml"/><Relationship Id="rId5" Type="http://schemas.openxmlformats.org/officeDocument/2006/relationships/slide" Target="slide98.xml"/><Relationship Id="rId4" Type="http://schemas.openxmlformats.org/officeDocument/2006/relationships/slide" Target="slide96.xml"/></Relationships>
</file>

<file path=ppt/slides/_rels/slide10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0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2.xml"/><Relationship Id="rId5" Type="http://schemas.openxmlformats.org/officeDocument/2006/relationships/slide" Target="slide98.xml"/><Relationship Id="rId4" Type="http://schemas.openxmlformats.org/officeDocument/2006/relationships/slide" Target="slide96.xml"/></Relationships>
</file>

<file path=ppt/slides/_rels/slide10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slide" Target="slide98.xml"/><Relationship Id="rId4" Type="http://schemas.openxmlformats.org/officeDocument/2006/relationships/slide" Target="slide96.xml"/></Relationships>
</file>

<file path=ppt/slides/_rels/slide10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slide" Target="slide98.xml"/><Relationship Id="rId4" Type="http://schemas.openxmlformats.org/officeDocument/2006/relationships/slide" Target="slide96.xml"/></Relationships>
</file>

<file path=ppt/slides/_rels/slide104.xml.rels><?xml version="1.0" encoding="UTF-8" standalone="yes"?>
<Relationships xmlns="http://schemas.openxmlformats.org/package/2006/relationships"><Relationship Id="rId8" Type="http://schemas.openxmlformats.org/officeDocument/2006/relationships/slide" Target="slide101.xml"/><Relationship Id="rId3" Type="http://schemas.openxmlformats.org/officeDocument/2006/relationships/slide" Target="slide105.xml"/><Relationship Id="rId7" Type="http://schemas.openxmlformats.org/officeDocument/2006/relationships/slide" Target="slide9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6.xml"/><Relationship Id="rId5" Type="http://schemas.openxmlformats.org/officeDocument/2006/relationships/slide" Target="slide2.xml"/><Relationship Id="rId4" Type="http://schemas.openxmlformats.org/officeDocument/2006/relationships/slide" Target="slide109.xml"/></Relationships>
</file>

<file path=ppt/slides/_rels/slide10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0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slide" Target="slide98.xml"/><Relationship Id="rId4" Type="http://schemas.openxmlformats.org/officeDocument/2006/relationships/slide" Target="slide96.xml"/></Relationships>
</file>

<file path=ppt/slides/_rels/slide10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0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slide" Target="slide98.xml"/><Relationship Id="rId4" Type="http://schemas.openxmlformats.org/officeDocument/2006/relationships/slide" Target="slide96.xml"/></Relationships>
</file>

<file path=ppt/slides/_rels/slide10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0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slide" Target="slide98.xml"/><Relationship Id="rId4" Type="http://schemas.openxmlformats.org/officeDocument/2006/relationships/slide" Target="slide96.xml"/></Relationships>
</file>

<file path=ppt/slides/_rels/slide10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0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slide" Target="slide98.xml"/><Relationship Id="rId4" Type="http://schemas.openxmlformats.org/officeDocument/2006/relationships/slide" Target="slide96.xml"/></Relationships>
</file>

<file path=ppt/slides/_rels/slide10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0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slide" Target="slide98.xml"/><Relationship Id="rId4" Type="http://schemas.openxmlformats.org/officeDocument/2006/relationships/slide" Target="slide96.xml"/></Relationships>
</file>

<file path=ppt/slides/_rels/slide11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0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1.xml"/><Relationship Id="rId5" Type="http://schemas.openxmlformats.org/officeDocument/2006/relationships/slide" Target="slide98.xml"/><Relationship Id="rId4" Type="http://schemas.openxmlformats.org/officeDocument/2006/relationships/slide" Target="slide96.xml"/></Relationships>
</file>

<file path=ppt/slides/_rels/slide1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17.xml"/><Relationship Id="rId5" Type="http://schemas.openxmlformats.org/officeDocument/2006/relationships/slide" Target="slide112.xml"/><Relationship Id="rId4" Type="http://schemas.openxmlformats.org/officeDocument/2006/relationships/slide" Target="slide96.xml"/></Relationships>
</file>

<file path=ppt/slides/_rels/slide1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slide" Target="slide111.xml"/><Relationship Id="rId4" Type="http://schemas.openxmlformats.org/officeDocument/2006/relationships/slide" Target="slide96.xml"/></Relationships>
</file>

<file path=ppt/slides/_rels/slide1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slide" Target="slide111.xml"/><Relationship Id="rId4" Type="http://schemas.openxmlformats.org/officeDocument/2006/relationships/slide" Target="slide96.xml"/></Relationships>
</file>

<file path=ppt/slides/_rels/slide1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96.xml"/></Relationships>
</file>

<file path=ppt/slides/_rels/slide1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96.xml"/></Relationships>
</file>

<file path=ppt/slides/_rels/slide1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slide" Target="slide111.xml"/><Relationship Id="rId4" Type="http://schemas.openxmlformats.org/officeDocument/2006/relationships/slide" Target="slide96.xml"/></Relationships>
</file>

<file path=ppt/slides/_rels/slide1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96.xml"/></Relationships>
</file>

<file path=ppt/slides/_rels/slide1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96.xml"/></Relationships>
</file>

<file path=ppt/slides/_rels/slide1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96.xml"/></Relationships>
</file>

<file path=ppt/slides/_rels/slide1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96.xml"/></Relationships>
</file>

<file path=ppt/slides/_rels/slide1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96.xml"/></Relationships>
</file>

<file path=ppt/slides/_rels/slide122.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ctrTitle"/>
          </p:nvPr>
        </p:nvSpPr>
        <p:spPr>
          <a:xfrm>
            <a:off x="755650" y="1628775"/>
            <a:ext cx="7772400" cy="2305050"/>
          </a:xfrm>
        </p:spPr>
        <p:txBody>
          <a:bodyPr/>
          <a:lstStyle/>
          <a:p>
            <a:pPr>
              <a:lnSpc>
                <a:spcPct val="120000"/>
              </a:lnSpc>
            </a:pPr>
            <a:r>
              <a:rPr lang="zh-CN" altLang="en-US" sz="5400" dirty="0"/>
              <a:t>第三章  </a:t>
            </a:r>
            <a:br>
              <a:rPr lang="zh-CN" altLang="en-US" sz="5400" dirty="0"/>
            </a:br>
            <a:r>
              <a:rPr lang="zh-CN" altLang="en-US" sz="5400" dirty="0"/>
              <a:t>数据链路层</a:t>
            </a:r>
          </a:p>
        </p:txBody>
      </p:sp>
      <p:sp>
        <p:nvSpPr>
          <p:cNvPr id="398339" name="Rectangle 3"/>
          <p:cNvSpPr>
            <a:spLocks noGrp="1" noChangeArrowheads="1"/>
          </p:cNvSpPr>
          <p:nvPr>
            <p:ph type="subTitle" idx="1"/>
          </p:nvPr>
        </p:nvSpPr>
        <p:spPr>
          <a:xfrm>
            <a:off x="683569" y="4868863"/>
            <a:ext cx="7306320" cy="1008062"/>
          </a:xfrm>
        </p:spPr>
        <p:txBody>
          <a:bodyPr/>
          <a:lstStyle/>
          <a:p>
            <a:pPr>
              <a:lnSpc>
                <a:spcPct val="150000"/>
              </a:lnSpc>
            </a:pPr>
            <a:r>
              <a:rPr lang="zh-CN" altLang="en-US" dirty="0" smtClean="0"/>
              <a:t>田春岐    </a:t>
            </a:r>
            <a:r>
              <a:rPr lang="en-US" altLang="zh-CN" dirty="0" smtClean="0">
                <a:latin typeface="华文新魏" pitchFamily="2" charset="-122"/>
                <a:ea typeface="华文新魏" pitchFamily="2" charset="-122"/>
                <a:hlinkClick r:id="rId3"/>
              </a:rPr>
              <a:t>tianchunqi@tongji.edu.cn</a:t>
            </a:r>
            <a:endParaRPr lang="zh-CN" altLang="en-US" dirty="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a:latin typeface="宋体" pitchFamily="2" charset="-122"/>
              </a:rPr>
              <a:t>数据链路层</a:t>
            </a:r>
            <a:endParaRPr lang="zh-CN" altLang="en-US"/>
          </a:p>
        </p:txBody>
      </p:sp>
      <p:sp>
        <p:nvSpPr>
          <p:cNvPr id="25612" name="Rectangle 12"/>
          <p:cNvSpPr>
            <a:spLocks noGrp="1" noChangeArrowheads="1"/>
          </p:cNvSpPr>
          <p:nvPr>
            <p:ph type="body" idx="1"/>
          </p:nvPr>
        </p:nvSpPr>
        <p:spPr>
          <a:xfrm>
            <a:off x="2268538" y="2133600"/>
            <a:ext cx="4699000" cy="3529013"/>
          </a:xfrm>
        </p:spPr>
        <p:txBody>
          <a:bodyPr/>
          <a:lstStyle/>
          <a:p>
            <a:pPr>
              <a:lnSpc>
                <a:spcPct val="200000"/>
              </a:lnSpc>
            </a:pPr>
            <a:r>
              <a:rPr lang="zh-CN" altLang="en-US" dirty="0">
                <a:hlinkClick r:id="rId3" action="ppaction://hlinksldjump"/>
              </a:rPr>
              <a:t>数据链路层设计问题 </a:t>
            </a:r>
            <a:endParaRPr lang="zh-CN" altLang="en-US" dirty="0"/>
          </a:p>
          <a:p>
            <a:pPr>
              <a:lnSpc>
                <a:spcPct val="200000"/>
              </a:lnSpc>
            </a:pPr>
            <a:r>
              <a:rPr lang="zh-CN" altLang="en-US" dirty="0">
                <a:hlinkClick r:id="rId4" action="ppaction://hlinksldjump"/>
              </a:rPr>
              <a:t>数据链路层协议</a:t>
            </a:r>
            <a:endParaRPr lang="zh-CN" altLang="en-US" dirty="0"/>
          </a:p>
          <a:p>
            <a:pPr>
              <a:lnSpc>
                <a:spcPct val="200000"/>
              </a:lnSpc>
            </a:pPr>
            <a:r>
              <a:rPr lang="zh-CN" altLang="en-US" dirty="0">
                <a:hlinkClick r:id="rId5" action="ppaction://hlinksldjump"/>
              </a:rPr>
              <a:t>数据链路层协议举例 </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zh-CN" altLang="en-US"/>
              <a:t>一些术语</a:t>
            </a:r>
          </a:p>
        </p:txBody>
      </p:sp>
      <p:sp>
        <p:nvSpPr>
          <p:cNvPr id="4003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endParaRPr lang="zh-CN" altLang="en-US" sz="1200">
              <a:ea typeface="幼圆" pitchFamily="49" charset="-122"/>
            </a:endParaRPr>
          </a:p>
        </p:txBody>
      </p:sp>
      <p:sp>
        <p:nvSpPr>
          <p:cNvPr id="400389" name="Rectangle 5"/>
          <p:cNvSpPr>
            <a:spLocks noGrp="1" noChangeArrowheads="1"/>
          </p:cNvSpPr>
          <p:nvPr>
            <p:ph type="body" idx="1"/>
          </p:nvPr>
        </p:nvSpPr>
        <p:spPr>
          <a:xfrm>
            <a:off x="809625" y="1773238"/>
            <a:ext cx="3762375" cy="4679950"/>
          </a:xfrm>
        </p:spPr>
        <p:txBody>
          <a:bodyPr/>
          <a:lstStyle/>
          <a:p>
            <a:pPr>
              <a:lnSpc>
                <a:spcPct val="105000"/>
              </a:lnSpc>
            </a:pPr>
            <a:r>
              <a:rPr lang="zh-CN" altLang="en-US" sz="2800" dirty="0">
                <a:solidFill>
                  <a:srgbClr val="FF0000"/>
                </a:solidFill>
              </a:rPr>
              <a:t>节点</a:t>
            </a:r>
            <a:r>
              <a:rPr lang="en-US" altLang="zh-CN" sz="2800" dirty="0"/>
              <a:t>:</a:t>
            </a:r>
            <a:r>
              <a:rPr lang="zh-CN" altLang="en-US" sz="2800" dirty="0">
                <a:solidFill>
                  <a:srgbClr val="0000FF"/>
                </a:solidFill>
              </a:rPr>
              <a:t>主机</a:t>
            </a:r>
            <a:r>
              <a:rPr lang="zh-CN" altLang="en-US" sz="2800" dirty="0"/>
              <a:t>、</a:t>
            </a:r>
            <a:r>
              <a:rPr lang="zh-CN" altLang="en-US" sz="2800" dirty="0">
                <a:solidFill>
                  <a:srgbClr val="0000FF"/>
                </a:solidFill>
              </a:rPr>
              <a:t>路由器</a:t>
            </a:r>
          </a:p>
          <a:p>
            <a:pPr>
              <a:lnSpc>
                <a:spcPct val="105000"/>
              </a:lnSpc>
            </a:pPr>
            <a:r>
              <a:rPr lang="zh-CN" altLang="en-US" sz="2800" dirty="0">
                <a:solidFill>
                  <a:srgbClr val="FF0000"/>
                </a:solidFill>
              </a:rPr>
              <a:t>链路</a:t>
            </a:r>
            <a:r>
              <a:rPr lang="en-US" altLang="zh-CN" sz="2800" dirty="0"/>
              <a:t>:</a:t>
            </a:r>
            <a:r>
              <a:rPr lang="zh-CN" altLang="en-US" sz="2800" dirty="0"/>
              <a:t>通信</a:t>
            </a:r>
            <a:r>
              <a:rPr lang="zh-CN" altLang="en-US" sz="2800" dirty="0" smtClean="0"/>
              <a:t>路径</a:t>
            </a:r>
            <a:r>
              <a:rPr lang="zh-CN" altLang="en-US" sz="2800" dirty="0"/>
              <a:t>中</a:t>
            </a:r>
            <a:r>
              <a:rPr lang="zh-CN" altLang="en-US" sz="2800" dirty="0" smtClean="0"/>
              <a:t>的</a:t>
            </a:r>
            <a:r>
              <a:rPr lang="zh-CN" altLang="en-US" sz="2800" dirty="0"/>
              <a:t>相邻节点的路径：</a:t>
            </a:r>
          </a:p>
          <a:p>
            <a:pPr lvl="1">
              <a:lnSpc>
                <a:spcPct val="105000"/>
              </a:lnSpc>
            </a:pPr>
            <a:r>
              <a:rPr lang="zh-CN" altLang="en-US" dirty="0">
                <a:solidFill>
                  <a:srgbClr val="0000FF"/>
                </a:solidFill>
              </a:rPr>
              <a:t>有线链路</a:t>
            </a:r>
          </a:p>
          <a:p>
            <a:pPr lvl="1">
              <a:lnSpc>
                <a:spcPct val="105000"/>
              </a:lnSpc>
            </a:pPr>
            <a:r>
              <a:rPr lang="zh-CN" altLang="en-US" dirty="0">
                <a:solidFill>
                  <a:srgbClr val="0000FF"/>
                </a:solidFill>
              </a:rPr>
              <a:t>无线链路</a:t>
            </a:r>
          </a:p>
          <a:p>
            <a:pPr lvl="1">
              <a:lnSpc>
                <a:spcPct val="105000"/>
              </a:lnSpc>
            </a:pPr>
            <a:r>
              <a:rPr lang="zh-CN" altLang="en-US" dirty="0">
                <a:solidFill>
                  <a:srgbClr val="0000FF"/>
                </a:solidFill>
              </a:rPr>
              <a:t>局域网</a:t>
            </a:r>
          </a:p>
          <a:p>
            <a:pPr>
              <a:lnSpc>
                <a:spcPct val="105000"/>
              </a:lnSpc>
            </a:pPr>
            <a:r>
              <a:rPr lang="zh-CN" altLang="en-US" sz="2800" dirty="0">
                <a:solidFill>
                  <a:srgbClr val="FF0000"/>
                </a:solidFill>
              </a:rPr>
              <a:t>帧</a:t>
            </a:r>
            <a:r>
              <a:rPr lang="en-US" altLang="zh-CN" sz="2800" dirty="0"/>
              <a:t>:</a:t>
            </a:r>
            <a:r>
              <a:rPr lang="zh-CN" altLang="en-US" sz="2800" dirty="0"/>
              <a:t>第二层的</a:t>
            </a:r>
            <a:r>
              <a:rPr lang="zh-CN" altLang="en-US" sz="2800" dirty="0">
                <a:solidFill>
                  <a:srgbClr val="0000FF"/>
                </a:solidFill>
              </a:rPr>
              <a:t>数据传输单元</a:t>
            </a:r>
            <a:r>
              <a:rPr lang="zh-CN" altLang="en-US" sz="2800" dirty="0"/>
              <a:t>，用于封装高层数据。</a:t>
            </a:r>
          </a:p>
        </p:txBody>
      </p:sp>
      <p:sp>
        <p:nvSpPr>
          <p:cNvPr id="40039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400392" name="Freeform 8"/>
          <p:cNvSpPr>
            <a:spLocks/>
          </p:cNvSpPr>
          <p:nvPr/>
        </p:nvSpPr>
        <p:spPr bwMode="auto">
          <a:xfrm>
            <a:off x="6853238" y="2090738"/>
            <a:ext cx="2046287" cy="2049462"/>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393" name="Freeform 9"/>
          <p:cNvSpPr>
            <a:spLocks/>
          </p:cNvSpPr>
          <p:nvPr/>
        </p:nvSpPr>
        <p:spPr bwMode="auto">
          <a:xfrm>
            <a:off x="4716463" y="1916113"/>
            <a:ext cx="2122487" cy="1943100"/>
          </a:xfrm>
          <a:custGeom>
            <a:avLst/>
            <a:gdLst>
              <a:gd name="T0" fmla="*/ 550 w 1340"/>
              <a:gd name="T1" fmla="*/ 42 h 1191"/>
              <a:gd name="T2" fmla="*/ 82 w 1340"/>
              <a:gd name="T3" fmla="*/ 60 h 1191"/>
              <a:gd name="T4" fmla="*/ 58 w 1340"/>
              <a:gd name="T5" fmla="*/ 402 h 1191"/>
              <a:gd name="T6" fmla="*/ 28 w 1340"/>
              <a:gd name="T7" fmla="*/ 720 h 1191"/>
              <a:gd name="T8" fmla="*/ 112 w 1340"/>
              <a:gd name="T9" fmla="*/ 870 h 1191"/>
              <a:gd name="T10" fmla="*/ 538 w 1340"/>
              <a:gd name="T11" fmla="*/ 876 h 1191"/>
              <a:gd name="T12" fmla="*/ 640 w 1340"/>
              <a:gd name="T13" fmla="*/ 1128 h 1191"/>
              <a:gd name="T14" fmla="*/ 1234 w 1340"/>
              <a:gd name="T15" fmla="*/ 1098 h 1191"/>
              <a:gd name="T16" fmla="*/ 1276 w 1340"/>
              <a:gd name="T17" fmla="*/ 570 h 1191"/>
              <a:gd name="T18" fmla="*/ 1204 w 1340"/>
              <a:gd name="T19" fmla="*/ 342 h 1191"/>
              <a:gd name="T20" fmla="*/ 760 w 1340"/>
              <a:gd name="T21" fmla="*/ 288 h 1191"/>
              <a:gd name="T22" fmla="*/ 550 w 1340"/>
              <a:gd name="T23" fmla="*/ 42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394" name="Freeform 10"/>
          <p:cNvSpPr>
            <a:spLocks/>
          </p:cNvSpPr>
          <p:nvPr/>
        </p:nvSpPr>
        <p:spPr bwMode="auto">
          <a:xfrm>
            <a:off x="5135563" y="3690938"/>
            <a:ext cx="3382962" cy="2714625"/>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395" name="Group 11"/>
          <p:cNvGrpSpPr>
            <a:grpSpLocks/>
          </p:cNvGrpSpPr>
          <p:nvPr/>
        </p:nvGrpSpPr>
        <p:grpSpPr bwMode="auto">
          <a:xfrm>
            <a:off x="4849813" y="2081213"/>
            <a:ext cx="835025" cy="390525"/>
            <a:chOff x="3552" y="246"/>
            <a:chExt cx="527" cy="248"/>
          </a:xfrm>
        </p:grpSpPr>
        <p:graphicFrame>
          <p:nvGraphicFramePr>
            <p:cNvPr id="400396" name="Object 12"/>
            <p:cNvGraphicFramePr>
              <a:graphicFrameLocks noChangeAspect="1"/>
            </p:cNvGraphicFramePr>
            <p:nvPr/>
          </p:nvGraphicFramePr>
          <p:xfrm>
            <a:off x="3552" y="246"/>
            <a:ext cx="299" cy="248"/>
          </p:xfrm>
          <a:graphic>
            <a:graphicData uri="http://schemas.openxmlformats.org/presentationml/2006/ole">
              <p:oleObj spid="_x0000_s401104" name="Clip" r:id="rId5" imgW="1307263" imgH="1084139" progId="">
                <p:embed/>
              </p:oleObj>
            </a:graphicData>
          </a:graphic>
        </p:graphicFrame>
        <p:graphicFrame>
          <p:nvGraphicFramePr>
            <p:cNvPr id="400397" name="Object 13"/>
            <p:cNvGraphicFramePr>
              <a:graphicFrameLocks noChangeAspect="1"/>
            </p:cNvGraphicFramePr>
            <p:nvPr/>
          </p:nvGraphicFramePr>
          <p:xfrm>
            <a:off x="3878" y="338"/>
            <a:ext cx="201" cy="144"/>
          </p:xfrm>
          <a:graphic>
            <a:graphicData uri="http://schemas.openxmlformats.org/presentationml/2006/ole">
              <p:oleObj spid="_x0000_s401105" name="Clip" r:id="rId6" imgW="681706" imgH="480401" progId="">
                <p:embed/>
              </p:oleObj>
            </a:graphicData>
          </a:graphic>
        </p:graphicFrame>
        <p:sp>
          <p:nvSpPr>
            <p:cNvPr id="400398" name="Line 14"/>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399" name="Group 15"/>
          <p:cNvGrpSpPr>
            <a:grpSpLocks/>
          </p:cNvGrpSpPr>
          <p:nvPr/>
        </p:nvGrpSpPr>
        <p:grpSpPr bwMode="auto">
          <a:xfrm>
            <a:off x="4849813" y="2809875"/>
            <a:ext cx="835025" cy="390525"/>
            <a:chOff x="3552" y="246"/>
            <a:chExt cx="527" cy="248"/>
          </a:xfrm>
        </p:grpSpPr>
        <p:graphicFrame>
          <p:nvGraphicFramePr>
            <p:cNvPr id="400400" name="Object 16"/>
            <p:cNvGraphicFramePr>
              <a:graphicFrameLocks noChangeAspect="1"/>
            </p:cNvGraphicFramePr>
            <p:nvPr/>
          </p:nvGraphicFramePr>
          <p:xfrm>
            <a:off x="3552" y="246"/>
            <a:ext cx="299" cy="248"/>
          </p:xfrm>
          <a:graphic>
            <a:graphicData uri="http://schemas.openxmlformats.org/presentationml/2006/ole">
              <p:oleObj spid="_x0000_s401106" name="Clip" r:id="rId7" imgW="1307263" imgH="1084139" progId="">
                <p:embed/>
              </p:oleObj>
            </a:graphicData>
          </a:graphic>
        </p:graphicFrame>
        <p:graphicFrame>
          <p:nvGraphicFramePr>
            <p:cNvPr id="400401" name="Object 17"/>
            <p:cNvGraphicFramePr>
              <a:graphicFrameLocks noChangeAspect="1"/>
            </p:cNvGraphicFramePr>
            <p:nvPr/>
          </p:nvGraphicFramePr>
          <p:xfrm>
            <a:off x="3878" y="338"/>
            <a:ext cx="201" cy="144"/>
          </p:xfrm>
          <a:graphic>
            <a:graphicData uri="http://schemas.openxmlformats.org/presentationml/2006/ole">
              <p:oleObj spid="_x0000_s401107" name="Clip" r:id="rId8" imgW="681706" imgH="480401" progId="">
                <p:embed/>
              </p:oleObj>
            </a:graphicData>
          </a:graphic>
        </p:graphicFrame>
        <p:sp>
          <p:nvSpPr>
            <p:cNvPr id="400402" name="Line 18"/>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403" name="Group 19"/>
          <p:cNvGrpSpPr>
            <a:grpSpLocks/>
          </p:cNvGrpSpPr>
          <p:nvPr/>
        </p:nvGrpSpPr>
        <p:grpSpPr bwMode="auto">
          <a:xfrm>
            <a:off x="5278438" y="2549525"/>
            <a:ext cx="79375" cy="261938"/>
            <a:chOff x="3842" y="406"/>
            <a:chExt cx="51" cy="167"/>
          </a:xfrm>
        </p:grpSpPr>
        <p:sp>
          <p:nvSpPr>
            <p:cNvPr id="400404" name="Oval 20"/>
            <p:cNvSpPr>
              <a:spLocks noChangeArrowheads="1"/>
            </p:cNvSpPr>
            <p:nvPr/>
          </p:nvSpPr>
          <p:spPr bwMode="auto">
            <a:xfrm>
              <a:off x="3842" y="406"/>
              <a:ext cx="47" cy="47"/>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05" name="Oval 21"/>
            <p:cNvSpPr>
              <a:spLocks noChangeArrowheads="1"/>
            </p:cNvSpPr>
            <p:nvPr/>
          </p:nvSpPr>
          <p:spPr bwMode="auto">
            <a:xfrm>
              <a:off x="3844" y="466"/>
              <a:ext cx="47" cy="47"/>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06" name="Oval 22"/>
            <p:cNvSpPr>
              <a:spLocks noChangeArrowheads="1"/>
            </p:cNvSpPr>
            <p:nvPr/>
          </p:nvSpPr>
          <p:spPr bwMode="auto">
            <a:xfrm>
              <a:off x="3846" y="526"/>
              <a:ext cx="47" cy="47"/>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407" name="Group 23"/>
          <p:cNvGrpSpPr>
            <a:grpSpLocks/>
          </p:cNvGrpSpPr>
          <p:nvPr/>
        </p:nvGrpSpPr>
        <p:grpSpPr bwMode="auto">
          <a:xfrm>
            <a:off x="5811838" y="3165475"/>
            <a:ext cx="238125" cy="482600"/>
            <a:chOff x="4180" y="783"/>
            <a:chExt cx="150" cy="307"/>
          </a:xfrm>
        </p:grpSpPr>
        <p:sp>
          <p:nvSpPr>
            <p:cNvPr id="400408" name="AutoShape 24"/>
            <p:cNvSpPr>
              <a:spLocks noChangeArrowheads="1"/>
            </p:cNvSpPr>
            <p:nvPr/>
          </p:nvSpPr>
          <p:spPr bwMode="auto">
            <a:xfrm>
              <a:off x="4180" y="1019"/>
              <a:ext cx="150" cy="71"/>
            </a:xfrm>
            <a:prstGeom prst="parallelogram">
              <a:avLst>
                <a:gd name="adj" fmla="val 81387"/>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09" name="Rectangle 25"/>
            <p:cNvSpPr>
              <a:spLocks noChangeArrowheads="1"/>
            </p:cNvSpPr>
            <p:nvPr/>
          </p:nvSpPr>
          <p:spPr bwMode="auto">
            <a:xfrm>
              <a:off x="4256" y="785"/>
              <a:ext cx="69" cy="236"/>
            </a:xfrm>
            <a:prstGeom prst="rect">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10" name="Rectangle 26"/>
            <p:cNvSpPr>
              <a:spLocks noChangeArrowheads="1"/>
            </p:cNvSpPr>
            <p:nvPr/>
          </p:nvSpPr>
          <p:spPr bwMode="auto">
            <a:xfrm>
              <a:off x="4181" y="852"/>
              <a:ext cx="95" cy="236"/>
            </a:xfrm>
            <a:prstGeom prst="rect">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11" name="AutoShape 27"/>
            <p:cNvSpPr>
              <a:spLocks noChangeArrowheads="1"/>
            </p:cNvSpPr>
            <p:nvPr/>
          </p:nvSpPr>
          <p:spPr bwMode="auto">
            <a:xfrm>
              <a:off x="4180" y="783"/>
              <a:ext cx="150" cy="71"/>
            </a:xfrm>
            <a:prstGeom prst="parallelogram">
              <a:avLst>
                <a:gd name="adj" fmla="val 81387"/>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12" name="Line 28"/>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13" name="Line 29"/>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14" name="Rectangle 30"/>
            <p:cNvSpPr>
              <a:spLocks noChangeArrowheads="1"/>
            </p:cNvSpPr>
            <p:nvPr/>
          </p:nvSpPr>
          <p:spPr bwMode="auto">
            <a:xfrm>
              <a:off x="4193" y="883"/>
              <a:ext cx="63" cy="136"/>
            </a:xfrm>
            <a:prstGeom prst="rect">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15" name="Rectangle 31"/>
            <p:cNvSpPr>
              <a:spLocks noChangeArrowheads="1"/>
            </p:cNvSpPr>
            <p:nvPr/>
          </p:nvSpPr>
          <p:spPr bwMode="auto">
            <a:xfrm>
              <a:off x="4202" y="924"/>
              <a:ext cx="48" cy="48"/>
            </a:xfrm>
            <a:prstGeom prst="rect">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416" name="Group 32"/>
          <p:cNvGrpSpPr>
            <a:grpSpLocks/>
          </p:cNvGrpSpPr>
          <p:nvPr/>
        </p:nvGrpSpPr>
        <p:grpSpPr bwMode="auto">
          <a:xfrm rot="-5400000">
            <a:off x="6164262" y="3270251"/>
            <a:ext cx="100013" cy="265112"/>
            <a:chOff x="3842" y="406"/>
            <a:chExt cx="51" cy="167"/>
          </a:xfrm>
        </p:grpSpPr>
        <p:sp>
          <p:nvSpPr>
            <p:cNvPr id="400417" name="Oval 33"/>
            <p:cNvSpPr>
              <a:spLocks noChangeArrowheads="1"/>
            </p:cNvSpPr>
            <p:nvPr/>
          </p:nvSpPr>
          <p:spPr bwMode="auto">
            <a:xfrm>
              <a:off x="3842" y="406"/>
              <a:ext cx="47" cy="47"/>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18" name="Oval 34"/>
            <p:cNvSpPr>
              <a:spLocks noChangeArrowheads="1"/>
            </p:cNvSpPr>
            <p:nvPr/>
          </p:nvSpPr>
          <p:spPr bwMode="auto">
            <a:xfrm>
              <a:off x="3844" y="466"/>
              <a:ext cx="47" cy="47"/>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19" name="Oval 35"/>
            <p:cNvSpPr>
              <a:spLocks noChangeArrowheads="1"/>
            </p:cNvSpPr>
            <p:nvPr/>
          </p:nvSpPr>
          <p:spPr bwMode="auto">
            <a:xfrm>
              <a:off x="3846" y="526"/>
              <a:ext cx="47" cy="47"/>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0420" name="Line 36"/>
          <p:cNvSpPr>
            <a:spLocks noChangeShapeType="1"/>
          </p:cNvSpPr>
          <p:nvPr/>
        </p:nvSpPr>
        <p:spPr bwMode="auto">
          <a:xfrm>
            <a:off x="5967413" y="3052763"/>
            <a:ext cx="563562" cy="1587"/>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21" name="Line 37"/>
          <p:cNvSpPr>
            <a:spLocks noChangeShapeType="1"/>
          </p:cNvSpPr>
          <p:nvPr/>
        </p:nvSpPr>
        <p:spPr bwMode="auto">
          <a:xfrm>
            <a:off x="5970588" y="3048000"/>
            <a:ext cx="3175" cy="11747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22" name="Line 38"/>
          <p:cNvSpPr>
            <a:spLocks noChangeShapeType="1"/>
          </p:cNvSpPr>
          <p:nvPr/>
        </p:nvSpPr>
        <p:spPr bwMode="auto">
          <a:xfrm>
            <a:off x="6534150" y="3046413"/>
            <a:ext cx="1588" cy="100012"/>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23" name="Line 39"/>
          <p:cNvSpPr>
            <a:spLocks noChangeShapeType="1"/>
          </p:cNvSpPr>
          <p:nvPr/>
        </p:nvSpPr>
        <p:spPr bwMode="auto">
          <a:xfrm>
            <a:off x="5626100" y="2392363"/>
            <a:ext cx="328613" cy="32385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24" name="Line 40"/>
          <p:cNvSpPr>
            <a:spLocks noChangeShapeType="1"/>
          </p:cNvSpPr>
          <p:nvPr/>
        </p:nvSpPr>
        <p:spPr bwMode="auto">
          <a:xfrm flipV="1">
            <a:off x="5640388" y="2741613"/>
            <a:ext cx="314325" cy="40322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25" name="Line 41"/>
          <p:cNvSpPr>
            <a:spLocks noChangeShapeType="1"/>
          </p:cNvSpPr>
          <p:nvPr/>
        </p:nvSpPr>
        <p:spPr bwMode="auto">
          <a:xfrm flipV="1">
            <a:off x="6240463" y="2846388"/>
            <a:ext cx="1587" cy="20002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426" name="Group 42"/>
          <p:cNvGrpSpPr>
            <a:grpSpLocks/>
          </p:cNvGrpSpPr>
          <p:nvPr/>
        </p:nvGrpSpPr>
        <p:grpSpPr bwMode="auto">
          <a:xfrm>
            <a:off x="6375400" y="3136900"/>
            <a:ext cx="238125" cy="484188"/>
            <a:chOff x="4180" y="783"/>
            <a:chExt cx="150" cy="307"/>
          </a:xfrm>
        </p:grpSpPr>
        <p:sp>
          <p:nvSpPr>
            <p:cNvPr id="400427" name="AutoShape 43"/>
            <p:cNvSpPr>
              <a:spLocks noChangeArrowheads="1"/>
            </p:cNvSpPr>
            <p:nvPr/>
          </p:nvSpPr>
          <p:spPr bwMode="auto">
            <a:xfrm>
              <a:off x="4180" y="1019"/>
              <a:ext cx="150" cy="71"/>
            </a:xfrm>
            <a:prstGeom prst="parallelogram">
              <a:avLst>
                <a:gd name="adj" fmla="val 81387"/>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28" name="Rectangle 44"/>
            <p:cNvSpPr>
              <a:spLocks noChangeArrowheads="1"/>
            </p:cNvSpPr>
            <p:nvPr/>
          </p:nvSpPr>
          <p:spPr bwMode="auto">
            <a:xfrm>
              <a:off x="4256" y="785"/>
              <a:ext cx="69" cy="236"/>
            </a:xfrm>
            <a:prstGeom prst="rect">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29" name="Rectangle 45"/>
            <p:cNvSpPr>
              <a:spLocks noChangeArrowheads="1"/>
            </p:cNvSpPr>
            <p:nvPr/>
          </p:nvSpPr>
          <p:spPr bwMode="auto">
            <a:xfrm>
              <a:off x="4181" y="852"/>
              <a:ext cx="95" cy="236"/>
            </a:xfrm>
            <a:prstGeom prst="rect">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30" name="AutoShape 46"/>
            <p:cNvSpPr>
              <a:spLocks noChangeArrowheads="1"/>
            </p:cNvSpPr>
            <p:nvPr/>
          </p:nvSpPr>
          <p:spPr bwMode="auto">
            <a:xfrm>
              <a:off x="4180" y="783"/>
              <a:ext cx="150" cy="71"/>
            </a:xfrm>
            <a:prstGeom prst="parallelogram">
              <a:avLst>
                <a:gd name="adj" fmla="val 81387"/>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31" name="Line 47"/>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32" name="Line 48"/>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33" name="Rectangle 49"/>
            <p:cNvSpPr>
              <a:spLocks noChangeArrowheads="1"/>
            </p:cNvSpPr>
            <p:nvPr/>
          </p:nvSpPr>
          <p:spPr bwMode="auto">
            <a:xfrm>
              <a:off x="4193" y="883"/>
              <a:ext cx="63" cy="136"/>
            </a:xfrm>
            <a:prstGeom prst="rect">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34" name="Rectangle 50"/>
            <p:cNvSpPr>
              <a:spLocks noChangeArrowheads="1"/>
            </p:cNvSpPr>
            <p:nvPr/>
          </p:nvSpPr>
          <p:spPr bwMode="auto">
            <a:xfrm>
              <a:off x="4202" y="924"/>
              <a:ext cx="48" cy="48"/>
            </a:xfrm>
            <a:prstGeom prst="rect">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435" name="Group 51"/>
          <p:cNvGrpSpPr>
            <a:grpSpLocks/>
          </p:cNvGrpSpPr>
          <p:nvPr/>
        </p:nvGrpSpPr>
        <p:grpSpPr bwMode="auto">
          <a:xfrm>
            <a:off x="5286375" y="3894138"/>
            <a:ext cx="546100" cy="1133475"/>
            <a:chOff x="3314" y="1248"/>
            <a:chExt cx="344" cy="694"/>
          </a:xfrm>
        </p:grpSpPr>
        <p:graphicFrame>
          <p:nvGraphicFramePr>
            <p:cNvPr id="400436" name="Object 52"/>
            <p:cNvGraphicFramePr>
              <a:graphicFrameLocks noChangeAspect="1"/>
            </p:cNvGraphicFramePr>
            <p:nvPr/>
          </p:nvGraphicFramePr>
          <p:xfrm>
            <a:off x="3314" y="1248"/>
            <a:ext cx="299" cy="248"/>
          </p:xfrm>
          <a:graphic>
            <a:graphicData uri="http://schemas.openxmlformats.org/presentationml/2006/ole">
              <p:oleObj spid="_x0000_s401108" name="Clip" r:id="rId9" imgW="1307263" imgH="1084139" progId="">
                <p:embed/>
              </p:oleObj>
            </a:graphicData>
          </a:graphic>
        </p:graphicFrame>
        <p:sp>
          <p:nvSpPr>
            <p:cNvPr id="400437" name="Line 53"/>
            <p:cNvSpPr>
              <a:spLocks noChangeShapeType="1"/>
            </p:cNvSpPr>
            <p:nvPr/>
          </p:nvSpPr>
          <p:spPr bwMode="auto">
            <a:xfrm flipV="1">
              <a:off x="3606" y="1433"/>
              <a:ext cx="52" cy="5"/>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00438" name="Object 54"/>
            <p:cNvGraphicFramePr>
              <a:graphicFrameLocks noChangeAspect="1"/>
            </p:cNvGraphicFramePr>
            <p:nvPr/>
          </p:nvGraphicFramePr>
          <p:xfrm>
            <a:off x="3314" y="1694"/>
            <a:ext cx="299" cy="248"/>
          </p:xfrm>
          <a:graphic>
            <a:graphicData uri="http://schemas.openxmlformats.org/presentationml/2006/ole">
              <p:oleObj spid="_x0000_s401109" name="Clip" r:id="rId10" imgW="1307263" imgH="1084139" progId="">
                <p:embed/>
              </p:oleObj>
            </a:graphicData>
          </a:graphic>
        </p:graphicFrame>
        <p:sp>
          <p:nvSpPr>
            <p:cNvPr id="400439" name="Line 55"/>
            <p:cNvSpPr>
              <a:spLocks noChangeShapeType="1"/>
            </p:cNvSpPr>
            <p:nvPr/>
          </p:nvSpPr>
          <p:spPr bwMode="auto">
            <a:xfrm flipV="1">
              <a:off x="3606" y="1882"/>
              <a:ext cx="52" cy="2"/>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440" name="Group 56"/>
            <p:cNvGrpSpPr>
              <a:grpSpLocks/>
            </p:cNvGrpSpPr>
            <p:nvPr/>
          </p:nvGrpSpPr>
          <p:grpSpPr bwMode="auto">
            <a:xfrm>
              <a:off x="3404" y="1504"/>
              <a:ext cx="51" cy="167"/>
              <a:chOff x="3842" y="406"/>
              <a:chExt cx="51" cy="167"/>
            </a:xfrm>
          </p:grpSpPr>
          <p:sp>
            <p:nvSpPr>
              <p:cNvPr id="400441" name="Oval 57"/>
              <p:cNvSpPr>
                <a:spLocks noChangeArrowheads="1"/>
              </p:cNvSpPr>
              <p:nvPr/>
            </p:nvSpPr>
            <p:spPr bwMode="auto">
              <a:xfrm>
                <a:off x="3842" y="406"/>
                <a:ext cx="47" cy="47"/>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42" name="Oval 58"/>
              <p:cNvSpPr>
                <a:spLocks noChangeArrowheads="1"/>
              </p:cNvSpPr>
              <p:nvPr/>
            </p:nvSpPr>
            <p:spPr bwMode="auto">
              <a:xfrm>
                <a:off x="3844" y="466"/>
                <a:ext cx="47" cy="47"/>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43" name="Oval 59"/>
              <p:cNvSpPr>
                <a:spLocks noChangeArrowheads="1"/>
              </p:cNvSpPr>
              <p:nvPr/>
            </p:nvSpPr>
            <p:spPr bwMode="auto">
              <a:xfrm>
                <a:off x="3846" y="526"/>
                <a:ext cx="47" cy="47"/>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0444" name="Line 60"/>
            <p:cNvSpPr>
              <a:spLocks noChangeShapeType="1"/>
            </p:cNvSpPr>
            <p:nvPr/>
          </p:nvSpPr>
          <p:spPr bwMode="auto">
            <a:xfrm>
              <a:off x="3654" y="1431"/>
              <a:ext cx="0" cy="45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400445" name="Object 61"/>
          <p:cNvGraphicFramePr>
            <a:graphicFrameLocks noChangeAspect="1"/>
          </p:cNvGraphicFramePr>
          <p:nvPr/>
        </p:nvGraphicFramePr>
        <p:xfrm>
          <a:off x="6273800" y="5129213"/>
          <a:ext cx="476250" cy="406400"/>
        </p:xfrm>
        <a:graphic>
          <a:graphicData uri="http://schemas.openxmlformats.org/presentationml/2006/ole">
            <p:oleObj spid="_x0000_s401110" name="Clip" r:id="rId11" imgW="1307263" imgH="1084139" progId="">
              <p:embed/>
            </p:oleObj>
          </a:graphicData>
        </a:graphic>
      </p:graphicFrame>
      <p:graphicFrame>
        <p:nvGraphicFramePr>
          <p:cNvPr id="400446" name="Object 62"/>
          <p:cNvGraphicFramePr>
            <a:graphicFrameLocks noChangeAspect="1"/>
          </p:cNvGraphicFramePr>
          <p:nvPr/>
        </p:nvGraphicFramePr>
        <p:xfrm>
          <a:off x="5575300" y="5116513"/>
          <a:ext cx="473075" cy="403225"/>
        </p:xfrm>
        <a:graphic>
          <a:graphicData uri="http://schemas.openxmlformats.org/presentationml/2006/ole">
            <p:oleObj spid="_x0000_s401111" name="Clip" r:id="rId12" imgW="1307263" imgH="1084139" progId="">
              <p:embed/>
            </p:oleObj>
          </a:graphicData>
        </a:graphic>
      </p:graphicFrame>
      <p:sp>
        <p:nvSpPr>
          <p:cNvPr id="400447" name="Oval 63"/>
          <p:cNvSpPr>
            <a:spLocks noChangeArrowheads="1"/>
          </p:cNvSpPr>
          <p:nvPr/>
        </p:nvSpPr>
        <p:spPr bwMode="auto">
          <a:xfrm rot="-5400000">
            <a:off x="6047582" y="5245893"/>
            <a:ext cx="76200" cy="74613"/>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48" name="Oval 64"/>
          <p:cNvSpPr>
            <a:spLocks noChangeArrowheads="1"/>
          </p:cNvSpPr>
          <p:nvPr/>
        </p:nvSpPr>
        <p:spPr bwMode="auto">
          <a:xfrm rot="-5400000">
            <a:off x="6143625" y="5243513"/>
            <a:ext cx="77788" cy="74612"/>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49" name="Oval 65"/>
          <p:cNvSpPr>
            <a:spLocks noChangeArrowheads="1"/>
          </p:cNvSpPr>
          <p:nvPr/>
        </p:nvSpPr>
        <p:spPr bwMode="auto">
          <a:xfrm rot="-5400000">
            <a:off x="6231732" y="5249068"/>
            <a:ext cx="76200" cy="74613"/>
          </a:xfrm>
          <a:prstGeom prst="ellipse">
            <a:avLst/>
          </a:prstGeom>
          <a:solidFill>
            <a:schemeClr val="bg2"/>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50" name="Line 66"/>
          <p:cNvSpPr>
            <a:spLocks noChangeShapeType="1"/>
          </p:cNvSpPr>
          <p:nvPr/>
        </p:nvSpPr>
        <p:spPr bwMode="auto">
          <a:xfrm rot="-5400000">
            <a:off x="6527800" y="5099050"/>
            <a:ext cx="73025" cy="3175"/>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51" name="Line 67"/>
          <p:cNvSpPr>
            <a:spLocks noChangeShapeType="1"/>
          </p:cNvSpPr>
          <p:nvPr/>
        </p:nvSpPr>
        <p:spPr bwMode="auto">
          <a:xfrm rot="5400000" flipH="1">
            <a:off x="5814219" y="5088732"/>
            <a:ext cx="77787"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52" name="Line 68"/>
          <p:cNvSpPr>
            <a:spLocks noChangeShapeType="1"/>
          </p:cNvSpPr>
          <p:nvPr/>
        </p:nvSpPr>
        <p:spPr bwMode="auto">
          <a:xfrm rot="16200000" flipV="1">
            <a:off x="6212682" y="4701381"/>
            <a:ext cx="0" cy="712787"/>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53" name="Line 69"/>
          <p:cNvSpPr>
            <a:spLocks noChangeShapeType="1"/>
          </p:cNvSpPr>
          <p:nvPr/>
        </p:nvSpPr>
        <p:spPr bwMode="auto">
          <a:xfrm flipV="1">
            <a:off x="5832475" y="4598988"/>
            <a:ext cx="106363" cy="4762"/>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54" name="Line 70"/>
          <p:cNvSpPr>
            <a:spLocks noChangeShapeType="1"/>
          </p:cNvSpPr>
          <p:nvPr/>
        </p:nvSpPr>
        <p:spPr bwMode="auto">
          <a:xfrm flipH="1">
            <a:off x="7421563" y="4651375"/>
            <a:ext cx="317500" cy="481013"/>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00455" name="Object 71"/>
          <p:cNvGraphicFramePr>
            <a:graphicFrameLocks noChangeAspect="1"/>
          </p:cNvGraphicFramePr>
          <p:nvPr/>
        </p:nvGraphicFramePr>
        <p:xfrm>
          <a:off x="7623175" y="4105275"/>
          <a:ext cx="231775" cy="293688"/>
        </p:xfrm>
        <a:graphic>
          <a:graphicData uri="http://schemas.openxmlformats.org/presentationml/2006/ole">
            <p:oleObj spid="_x0000_s401112" name="Clip" r:id="rId13" imgW="982811" imgH="1208363" progId="">
              <p:embed/>
            </p:oleObj>
          </a:graphicData>
        </a:graphic>
      </p:graphicFrame>
      <p:graphicFrame>
        <p:nvGraphicFramePr>
          <p:cNvPr id="400456" name="Object 72"/>
          <p:cNvGraphicFramePr>
            <a:graphicFrameLocks noChangeAspect="1"/>
          </p:cNvGraphicFramePr>
          <p:nvPr/>
        </p:nvGraphicFramePr>
        <p:xfrm>
          <a:off x="6102350" y="4203700"/>
          <a:ext cx="231775" cy="293688"/>
        </p:xfrm>
        <a:graphic>
          <a:graphicData uri="http://schemas.openxmlformats.org/presentationml/2006/ole">
            <p:oleObj spid="_x0000_s401113" name="Clip" r:id="rId14" imgW="982811" imgH="1208363" progId="">
              <p:embed/>
            </p:oleObj>
          </a:graphicData>
        </a:graphic>
      </p:graphicFrame>
      <p:sp>
        <p:nvSpPr>
          <p:cNvPr id="400457" name="Freeform 73"/>
          <p:cNvSpPr>
            <a:spLocks/>
          </p:cNvSpPr>
          <p:nvPr/>
        </p:nvSpPr>
        <p:spPr bwMode="auto">
          <a:xfrm>
            <a:off x="6194425" y="3927475"/>
            <a:ext cx="1539875" cy="373063"/>
          </a:xfrm>
          <a:custGeom>
            <a:avLst/>
            <a:gdLst>
              <a:gd name="T0" fmla="*/ 0 w 972"/>
              <a:gd name="T1" fmla="*/ 228 h 228"/>
              <a:gd name="T2" fmla="*/ 432 w 972"/>
              <a:gd name="T3" fmla="*/ 9 h 228"/>
              <a:gd name="T4" fmla="*/ 972 w 972"/>
              <a:gd name="T5" fmla="*/ 171 h 228"/>
            </a:gdLst>
            <a:ahLst/>
            <a:cxnLst>
              <a:cxn ang="0">
                <a:pos x="T0" y="T1"/>
              </a:cxn>
              <a:cxn ang="0">
                <a:pos x="T2" y="T3"/>
              </a:cxn>
              <a:cxn ang="0">
                <a:pos x="T4" y="T5"/>
              </a:cxn>
            </a:cxnLst>
            <a:rect l="0" t="0" r="r" b="b"/>
            <a:pathLst>
              <a:path w="972" h="228">
                <a:moveTo>
                  <a:pt x="0" y="228"/>
                </a:moveTo>
                <a:cubicBezTo>
                  <a:pt x="135" y="123"/>
                  <a:pt x="270" y="18"/>
                  <a:pt x="432" y="9"/>
                </a:cubicBezTo>
                <a:cubicBezTo>
                  <a:pt x="594" y="0"/>
                  <a:pt x="783" y="85"/>
                  <a:pt x="972" y="171"/>
                </a:cubicBezTo>
              </a:path>
            </a:pathLst>
          </a:custGeom>
          <a:solidFill>
            <a:schemeClr val="bg2"/>
          </a:solidFill>
          <a:ln w="19050" cap="flat" cmpd="sng">
            <a:solidFill>
              <a:schemeClr val="tx1"/>
            </a:solidFill>
            <a:prstDash val="dash"/>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458" name="Group 74"/>
          <p:cNvGrpSpPr>
            <a:grpSpLocks/>
          </p:cNvGrpSpPr>
          <p:nvPr/>
        </p:nvGrpSpPr>
        <p:grpSpPr bwMode="auto">
          <a:xfrm>
            <a:off x="6497638" y="5667375"/>
            <a:ext cx="463550" cy="522288"/>
            <a:chOff x="2870" y="1518"/>
            <a:chExt cx="292" cy="320"/>
          </a:xfrm>
        </p:grpSpPr>
        <p:graphicFrame>
          <p:nvGraphicFramePr>
            <p:cNvPr id="400459" name="Object 75"/>
            <p:cNvGraphicFramePr>
              <a:graphicFrameLocks noChangeAspect="1"/>
            </p:cNvGraphicFramePr>
            <p:nvPr/>
          </p:nvGraphicFramePr>
          <p:xfrm>
            <a:off x="2870" y="1518"/>
            <a:ext cx="272" cy="282"/>
          </p:xfrm>
          <a:graphic>
            <a:graphicData uri="http://schemas.openxmlformats.org/presentationml/2006/ole">
              <p:oleObj spid="_x0000_s401114" name="Clip" r:id="rId15" imgW="826829" imgH="840406" progId="">
                <p:embed/>
              </p:oleObj>
            </a:graphicData>
          </a:graphic>
        </p:graphicFrame>
        <p:graphicFrame>
          <p:nvGraphicFramePr>
            <p:cNvPr id="400460" name="Object 76"/>
            <p:cNvGraphicFramePr>
              <a:graphicFrameLocks noChangeAspect="1"/>
            </p:cNvGraphicFramePr>
            <p:nvPr/>
          </p:nvGraphicFramePr>
          <p:xfrm>
            <a:off x="2913" y="1602"/>
            <a:ext cx="249" cy="236"/>
          </p:xfrm>
          <a:graphic>
            <a:graphicData uri="http://schemas.openxmlformats.org/presentationml/2006/ole">
              <p:oleObj spid="_x0000_s401115" name="Clip" r:id="rId16" imgW="1268295" imgH="1199426" progId="">
                <p:embed/>
              </p:oleObj>
            </a:graphicData>
          </a:graphic>
        </p:graphicFrame>
      </p:grpSp>
      <p:grpSp>
        <p:nvGrpSpPr>
          <p:cNvPr id="400461" name="Group 77"/>
          <p:cNvGrpSpPr>
            <a:grpSpLocks/>
          </p:cNvGrpSpPr>
          <p:nvPr/>
        </p:nvGrpSpPr>
        <p:grpSpPr bwMode="auto">
          <a:xfrm>
            <a:off x="7383463" y="5707063"/>
            <a:ext cx="461962" cy="522287"/>
            <a:chOff x="2870" y="1518"/>
            <a:chExt cx="292" cy="320"/>
          </a:xfrm>
        </p:grpSpPr>
        <p:graphicFrame>
          <p:nvGraphicFramePr>
            <p:cNvPr id="400462" name="Object 78"/>
            <p:cNvGraphicFramePr>
              <a:graphicFrameLocks noChangeAspect="1"/>
            </p:cNvGraphicFramePr>
            <p:nvPr/>
          </p:nvGraphicFramePr>
          <p:xfrm>
            <a:off x="2870" y="1518"/>
            <a:ext cx="272" cy="282"/>
          </p:xfrm>
          <a:graphic>
            <a:graphicData uri="http://schemas.openxmlformats.org/presentationml/2006/ole">
              <p:oleObj spid="_x0000_s401116" name="Clip" r:id="rId17" imgW="826829" imgH="840406" progId="">
                <p:embed/>
              </p:oleObj>
            </a:graphicData>
          </a:graphic>
        </p:graphicFrame>
        <p:graphicFrame>
          <p:nvGraphicFramePr>
            <p:cNvPr id="400463" name="Object 79"/>
            <p:cNvGraphicFramePr>
              <a:graphicFrameLocks noChangeAspect="1"/>
            </p:cNvGraphicFramePr>
            <p:nvPr/>
          </p:nvGraphicFramePr>
          <p:xfrm>
            <a:off x="2913" y="1602"/>
            <a:ext cx="249" cy="236"/>
          </p:xfrm>
          <a:graphic>
            <a:graphicData uri="http://schemas.openxmlformats.org/presentationml/2006/ole">
              <p:oleObj spid="_x0000_s401117" name="Clip" r:id="rId18" imgW="1268295" imgH="1199426" progId="">
                <p:embed/>
              </p:oleObj>
            </a:graphicData>
          </a:graphic>
        </p:graphicFrame>
      </p:grpSp>
      <p:grpSp>
        <p:nvGrpSpPr>
          <p:cNvPr id="400464" name="Group 80"/>
          <p:cNvGrpSpPr>
            <a:grpSpLocks/>
          </p:cNvGrpSpPr>
          <p:nvPr/>
        </p:nvGrpSpPr>
        <p:grpSpPr bwMode="auto">
          <a:xfrm>
            <a:off x="6911975" y="5359400"/>
            <a:ext cx="431800" cy="460375"/>
            <a:chOff x="4733" y="2082"/>
            <a:chExt cx="272" cy="282"/>
          </a:xfrm>
        </p:grpSpPr>
        <p:graphicFrame>
          <p:nvGraphicFramePr>
            <p:cNvPr id="400465" name="Object 81"/>
            <p:cNvGraphicFramePr>
              <a:graphicFrameLocks noChangeAspect="1"/>
            </p:cNvGraphicFramePr>
            <p:nvPr/>
          </p:nvGraphicFramePr>
          <p:xfrm>
            <a:off x="4733" y="2082"/>
            <a:ext cx="272" cy="282"/>
          </p:xfrm>
          <a:graphic>
            <a:graphicData uri="http://schemas.openxmlformats.org/presentationml/2006/ole">
              <p:oleObj spid="_x0000_s401118" name="Clip" r:id="rId19" imgW="826829" imgH="840406" progId="">
                <p:embed/>
              </p:oleObj>
            </a:graphicData>
          </a:graphic>
        </p:graphicFrame>
        <p:sp>
          <p:nvSpPr>
            <p:cNvPr id="400466" name="Rectangle 82"/>
            <p:cNvSpPr>
              <a:spLocks noChangeArrowheads="1"/>
            </p:cNvSpPr>
            <p:nvPr/>
          </p:nvSpPr>
          <p:spPr bwMode="auto">
            <a:xfrm>
              <a:off x="4812" y="2181"/>
              <a:ext cx="192" cy="183"/>
            </a:xfrm>
            <a:prstGeom prst="rect">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0467" name="Line 83"/>
          <p:cNvSpPr>
            <a:spLocks noChangeShapeType="1"/>
          </p:cNvSpPr>
          <p:nvPr/>
        </p:nvSpPr>
        <p:spPr bwMode="auto">
          <a:xfrm>
            <a:off x="7259638" y="5240338"/>
            <a:ext cx="0" cy="2794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468" name="Group 84"/>
          <p:cNvGrpSpPr>
            <a:grpSpLocks/>
          </p:cNvGrpSpPr>
          <p:nvPr/>
        </p:nvGrpSpPr>
        <p:grpSpPr bwMode="auto">
          <a:xfrm>
            <a:off x="8080375" y="4535488"/>
            <a:ext cx="236538" cy="501650"/>
            <a:chOff x="4180" y="783"/>
            <a:chExt cx="150" cy="307"/>
          </a:xfrm>
        </p:grpSpPr>
        <p:sp>
          <p:nvSpPr>
            <p:cNvPr id="400469" name="AutoShape 85"/>
            <p:cNvSpPr>
              <a:spLocks noChangeArrowheads="1"/>
            </p:cNvSpPr>
            <p:nvPr/>
          </p:nvSpPr>
          <p:spPr bwMode="auto">
            <a:xfrm>
              <a:off x="4180" y="1019"/>
              <a:ext cx="150" cy="71"/>
            </a:xfrm>
            <a:prstGeom prst="parallelogram">
              <a:avLst>
                <a:gd name="adj" fmla="val 81387"/>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70" name="Rectangle 86"/>
            <p:cNvSpPr>
              <a:spLocks noChangeArrowheads="1"/>
            </p:cNvSpPr>
            <p:nvPr/>
          </p:nvSpPr>
          <p:spPr bwMode="auto">
            <a:xfrm>
              <a:off x="4256" y="785"/>
              <a:ext cx="69" cy="236"/>
            </a:xfrm>
            <a:prstGeom prst="rect">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71" name="Rectangle 87"/>
            <p:cNvSpPr>
              <a:spLocks noChangeArrowheads="1"/>
            </p:cNvSpPr>
            <p:nvPr/>
          </p:nvSpPr>
          <p:spPr bwMode="auto">
            <a:xfrm>
              <a:off x="4181" y="852"/>
              <a:ext cx="95" cy="236"/>
            </a:xfrm>
            <a:prstGeom prst="rect">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72" name="AutoShape 88"/>
            <p:cNvSpPr>
              <a:spLocks noChangeArrowheads="1"/>
            </p:cNvSpPr>
            <p:nvPr/>
          </p:nvSpPr>
          <p:spPr bwMode="auto">
            <a:xfrm>
              <a:off x="4180" y="783"/>
              <a:ext cx="150" cy="71"/>
            </a:xfrm>
            <a:prstGeom prst="parallelogram">
              <a:avLst>
                <a:gd name="adj" fmla="val 81387"/>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73" name="Line 8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74" name="Line 9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75" name="Rectangle 91"/>
            <p:cNvSpPr>
              <a:spLocks noChangeArrowheads="1"/>
            </p:cNvSpPr>
            <p:nvPr/>
          </p:nvSpPr>
          <p:spPr bwMode="auto">
            <a:xfrm>
              <a:off x="4193" y="883"/>
              <a:ext cx="63" cy="136"/>
            </a:xfrm>
            <a:prstGeom prst="rect">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76" name="Rectangle 92"/>
            <p:cNvSpPr>
              <a:spLocks noChangeArrowheads="1"/>
            </p:cNvSpPr>
            <p:nvPr/>
          </p:nvSpPr>
          <p:spPr bwMode="auto">
            <a:xfrm>
              <a:off x="4202" y="924"/>
              <a:ext cx="48" cy="48"/>
            </a:xfrm>
            <a:prstGeom prst="rect">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477" name="Group 93"/>
          <p:cNvGrpSpPr>
            <a:grpSpLocks/>
          </p:cNvGrpSpPr>
          <p:nvPr/>
        </p:nvGrpSpPr>
        <p:grpSpPr bwMode="auto">
          <a:xfrm>
            <a:off x="8066088" y="5080000"/>
            <a:ext cx="236537" cy="500063"/>
            <a:chOff x="4180" y="783"/>
            <a:chExt cx="150" cy="307"/>
          </a:xfrm>
        </p:grpSpPr>
        <p:sp>
          <p:nvSpPr>
            <p:cNvPr id="400478" name="AutoShape 94"/>
            <p:cNvSpPr>
              <a:spLocks noChangeArrowheads="1"/>
            </p:cNvSpPr>
            <p:nvPr/>
          </p:nvSpPr>
          <p:spPr bwMode="auto">
            <a:xfrm>
              <a:off x="4180" y="1019"/>
              <a:ext cx="150" cy="71"/>
            </a:xfrm>
            <a:prstGeom prst="parallelogram">
              <a:avLst>
                <a:gd name="adj" fmla="val 81387"/>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79" name="Rectangle 95"/>
            <p:cNvSpPr>
              <a:spLocks noChangeArrowheads="1"/>
            </p:cNvSpPr>
            <p:nvPr/>
          </p:nvSpPr>
          <p:spPr bwMode="auto">
            <a:xfrm>
              <a:off x="4256" y="785"/>
              <a:ext cx="69" cy="236"/>
            </a:xfrm>
            <a:prstGeom prst="rect">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80" name="Rectangle 96"/>
            <p:cNvSpPr>
              <a:spLocks noChangeArrowheads="1"/>
            </p:cNvSpPr>
            <p:nvPr/>
          </p:nvSpPr>
          <p:spPr bwMode="auto">
            <a:xfrm>
              <a:off x="4181" y="852"/>
              <a:ext cx="95" cy="236"/>
            </a:xfrm>
            <a:prstGeom prst="rect">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81" name="AutoShape 97"/>
            <p:cNvSpPr>
              <a:spLocks noChangeArrowheads="1"/>
            </p:cNvSpPr>
            <p:nvPr/>
          </p:nvSpPr>
          <p:spPr bwMode="auto">
            <a:xfrm>
              <a:off x="4180" y="783"/>
              <a:ext cx="150" cy="71"/>
            </a:xfrm>
            <a:prstGeom prst="parallelogram">
              <a:avLst>
                <a:gd name="adj" fmla="val 81387"/>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82" name="Line 98"/>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83" name="Line 99"/>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84" name="Rectangle 100"/>
            <p:cNvSpPr>
              <a:spLocks noChangeArrowheads="1"/>
            </p:cNvSpPr>
            <p:nvPr/>
          </p:nvSpPr>
          <p:spPr bwMode="auto">
            <a:xfrm>
              <a:off x="4193" y="883"/>
              <a:ext cx="63" cy="136"/>
            </a:xfrm>
            <a:prstGeom prst="rect">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85" name="Rectangle 101"/>
            <p:cNvSpPr>
              <a:spLocks noChangeArrowheads="1"/>
            </p:cNvSpPr>
            <p:nvPr/>
          </p:nvSpPr>
          <p:spPr bwMode="auto">
            <a:xfrm>
              <a:off x="4202" y="924"/>
              <a:ext cx="48" cy="48"/>
            </a:xfrm>
            <a:prstGeom prst="rect">
              <a:avLst/>
            </a:prstGeom>
            <a:solidFill>
              <a:schemeClr val="bg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0486" name="Line 102"/>
          <p:cNvSpPr>
            <a:spLocks noChangeShapeType="1"/>
          </p:cNvSpPr>
          <p:nvPr/>
        </p:nvSpPr>
        <p:spPr bwMode="auto">
          <a:xfrm rot="5400000" flipH="1">
            <a:off x="7614443" y="4993482"/>
            <a:ext cx="747713" cy="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87" name="Line 103"/>
          <p:cNvSpPr>
            <a:spLocks noChangeShapeType="1"/>
          </p:cNvSpPr>
          <p:nvPr/>
        </p:nvSpPr>
        <p:spPr bwMode="auto">
          <a:xfrm rot="-5400000">
            <a:off x="8042276" y="5305425"/>
            <a:ext cx="0" cy="11747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88" name="Line 104"/>
          <p:cNvSpPr>
            <a:spLocks noChangeShapeType="1"/>
          </p:cNvSpPr>
          <p:nvPr/>
        </p:nvSpPr>
        <p:spPr bwMode="auto">
          <a:xfrm rot="-5400000">
            <a:off x="8031163" y="4730750"/>
            <a:ext cx="0" cy="1016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89" name="Line 105"/>
          <p:cNvSpPr>
            <a:spLocks noChangeShapeType="1"/>
          </p:cNvSpPr>
          <p:nvPr/>
        </p:nvSpPr>
        <p:spPr bwMode="auto">
          <a:xfrm flipV="1">
            <a:off x="6529388" y="2405063"/>
            <a:ext cx="520700" cy="2540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90" name="Line 106"/>
          <p:cNvSpPr>
            <a:spLocks noChangeShapeType="1"/>
          </p:cNvSpPr>
          <p:nvPr/>
        </p:nvSpPr>
        <p:spPr bwMode="auto">
          <a:xfrm>
            <a:off x="7593013" y="2435225"/>
            <a:ext cx="552450" cy="2540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91" name="Line 107"/>
          <p:cNvSpPr>
            <a:spLocks noChangeShapeType="1"/>
          </p:cNvSpPr>
          <p:nvPr/>
        </p:nvSpPr>
        <p:spPr bwMode="auto">
          <a:xfrm flipH="1">
            <a:off x="8183563" y="2846388"/>
            <a:ext cx="273050" cy="833437"/>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92" name="Line 108"/>
          <p:cNvSpPr>
            <a:spLocks noChangeShapeType="1"/>
          </p:cNvSpPr>
          <p:nvPr/>
        </p:nvSpPr>
        <p:spPr bwMode="auto">
          <a:xfrm>
            <a:off x="7307263" y="2571750"/>
            <a:ext cx="0" cy="528638"/>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93" name="Line 109"/>
          <p:cNvSpPr>
            <a:spLocks noChangeShapeType="1"/>
          </p:cNvSpPr>
          <p:nvPr/>
        </p:nvSpPr>
        <p:spPr bwMode="auto">
          <a:xfrm>
            <a:off x="7335838" y="3363913"/>
            <a:ext cx="608012" cy="45085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94" name="Line 110"/>
          <p:cNvSpPr>
            <a:spLocks noChangeShapeType="1"/>
          </p:cNvSpPr>
          <p:nvPr/>
        </p:nvSpPr>
        <p:spPr bwMode="auto">
          <a:xfrm flipH="1">
            <a:off x="7859713" y="3933825"/>
            <a:ext cx="303212" cy="44132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95" name="Line 111"/>
          <p:cNvSpPr>
            <a:spLocks noChangeShapeType="1"/>
          </p:cNvSpPr>
          <p:nvPr/>
        </p:nvSpPr>
        <p:spPr bwMode="auto">
          <a:xfrm flipH="1">
            <a:off x="7600950" y="2806700"/>
            <a:ext cx="638175" cy="4699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96" name="Line 112"/>
          <p:cNvSpPr>
            <a:spLocks noChangeShapeType="1"/>
          </p:cNvSpPr>
          <p:nvPr/>
        </p:nvSpPr>
        <p:spPr bwMode="auto">
          <a:xfrm flipH="1">
            <a:off x="7612063" y="2122488"/>
            <a:ext cx="398462" cy="312737"/>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97" name="Line 113"/>
          <p:cNvSpPr>
            <a:spLocks noChangeShapeType="1"/>
          </p:cNvSpPr>
          <p:nvPr/>
        </p:nvSpPr>
        <p:spPr bwMode="auto">
          <a:xfrm flipH="1">
            <a:off x="8428038" y="2336800"/>
            <a:ext cx="230187" cy="2159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498" name="Group 114"/>
          <p:cNvGrpSpPr>
            <a:grpSpLocks/>
          </p:cNvGrpSpPr>
          <p:nvPr/>
        </p:nvGrpSpPr>
        <p:grpSpPr bwMode="auto">
          <a:xfrm>
            <a:off x="5938838" y="2571750"/>
            <a:ext cx="569912" cy="285750"/>
            <a:chOff x="3600" y="219"/>
            <a:chExt cx="360" cy="175"/>
          </a:xfrm>
        </p:grpSpPr>
        <p:sp>
          <p:nvSpPr>
            <p:cNvPr id="400499" name="Oval 115"/>
            <p:cNvSpPr>
              <a:spLocks noChangeArrowheads="1"/>
            </p:cNvSpPr>
            <p:nvPr/>
          </p:nvSpPr>
          <p:spPr bwMode="auto">
            <a:xfrm>
              <a:off x="3603" y="297"/>
              <a:ext cx="357" cy="97"/>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00" name="Line 116"/>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01" name="Line 117"/>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02" name="Rectangle 118"/>
            <p:cNvSpPr>
              <a:spLocks noChangeArrowheads="1"/>
            </p:cNvSpPr>
            <p:nvPr/>
          </p:nvSpPr>
          <p:spPr bwMode="auto">
            <a:xfrm>
              <a:off x="3603" y="289"/>
              <a:ext cx="354" cy="59"/>
            </a:xfrm>
            <a:prstGeom prst="rect">
              <a:avLst/>
            </a:prstGeom>
            <a:solidFill>
              <a:schemeClr val="bg2"/>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pPr>
              <a:endParaRPr kumimoji="0" lang="zh-CN" altLang="en-US" sz="2400"/>
            </a:p>
          </p:txBody>
        </p:sp>
        <p:sp>
          <p:nvSpPr>
            <p:cNvPr id="400503" name="Oval 119"/>
            <p:cNvSpPr>
              <a:spLocks noChangeArrowheads="1"/>
            </p:cNvSpPr>
            <p:nvPr/>
          </p:nvSpPr>
          <p:spPr bwMode="auto">
            <a:xfrm>
              <a:off x="3600" y="219"/>
              <a:ext cx="357" cy="113"/>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504" name="Group 120"/>
            <p:cNvGrpSpPr>
              <a:grpSpLocks/>
            </p:cNvGrpSpPr>
            <p:nvPr/>
          </p:nvGrpSpPr>
          <p:grpSpPr bwMode="auto">
            <a:xfrm>
              <a:off x="3686" y="244"/>
              <a:ext cx="177" cy="66"/>
              <a:chOff x="2848" y="848"/>
              <a:chExt cx="140" cy="98"/>
            </a:xfrm>
          </p:grpSpPr>
          <p:sp>
            <p:nvSpPr>
              <p:cNvPr id="400505" name="Line 12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06" name="Line 12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07" name="Line 12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508" name="Group 124"/>
            <p:cNvGrpSpPr>
              <a:grpSpLocks/>
            </p:cNvGrpSpPr>
            <p:nvPr/>
          </p:nvGrpSpPr>
          <p:grpSpPr bwMode="auto">
            <a:xfrm flipV="1">
              <a:off x="3686" y="243"/>
              <a:ext cx="177" cy="66"/>
              <a:chOff x="2848" y="848"/>
              <a:chExt cx="140" cy="98"/>
            </a:xfrm>
          </p:grpSpPr>
          <p:sp>
            <p:nvSpPr>
              <p:cNvPr id="400509" name="Line 12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10" name="Line 12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11" name="Line 12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00512" name="Group 128"/>
          <p:cNvGrpSpPr>
            <a:grpSpLocks/>
          </p:cNvGrpSpPr>
          <p:nvPr/>
        </p:nvGrpSpPr>
        <p:grpSpPr bwMode="auto">
          <a:xfrm>
            <a:off x="7021513" y="2292350"/>
            <a:ext cx="571500" cy="285750"/>
            <a:chOff x="3600" y="219"/>
            <a:chExt cx="360" cy="175"/>
          </a:xfrm>
        </p:grpSpPr>
        <p:sp>
          <p:nvSpPr>
            <p:cNvPr id="400513" name="Oval 129"/>
            <p:cNvSpPr>
              <a:spLocks noChangeArrowheads="1"/>
            </p:cNvSpPr>
            <p:nvPr/>
          </p:nvSpPr>
          <p:spPr bwMode="auto">
            <a:xfrm>
              <a:off x="3603" y="297"/>
              <a:ext cx="357" cy="97"/>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14" name="Line 13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15" name="Line 13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16" name="Rectangle 132"/>
            <p:cNvSpPr>
              <a:spLocks noChangeArrowheads="1"/>
            </p:cNvSpPr>
            <p:nvPr/>
          </p:nvSpPr>
          <p:spPr bwMode="auto">
            <a:xfrm>
              <a:off x="3603" y="289"/>
              <a:ext cx="354" cy="59"/>
            </a:xfrm>
            <a:prstGeom prst="rect">
              <a:avLst/>
            </a:prstGeom>
            <a:solidFill>
              <a:schemeClr val="bg2"/>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pPr>
              <a:endParaRPr kumimoji="0" lang="zh-CN" altLang="en-US" sz="2400"/>
            </a:p>
          </p:txBody>
        </p:sp>
        <p:sp>
          <p:nvSpPr>
            <p:cNvPr id="400517" name="Oval 133"/>
            <p:cNvSpPr>
              <a:spLocks noChangeArrowheads="1"/>
            </p:cNvSpPr>
            <p:nvPr/>
          </p:nvSpPr>
          <p:spPr bwMode="auto">
            <a:xfrm>
              <a:off x="3600" y="219"/>
              <a:ext cx="357" cy="113"/>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518" name="Group 134"/>
            <p:cNvGrpSpPr>
              <a:grpSpLocks/>
            </p:cNvGrpSpPr>
            <p:nvPr/>
          </p:nvGrpSpPr>
          <p:grpSpPr bwMode="auto">
            <a:xfrm>
              <a:off x="3686" y="244"/>
              <a:ext cx="177" cy="66"/>
              <a:chOff x="2848" y="848"/>
              <a:chExt cx="140" cy="98"/>
            </a:xfrm>
          </p:grpSpPr>
          <p:sp>
            <p:nvSpPr>
              <p:cNvPr id="400519" name="Line 13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20" name="Line 13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21" name="Line 13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522" name="Group 138"/>
            <p:cNvGrpSpPr>
              <a:grpSpLocks/>
            </p:cNvGrpSpPr>
            <p:nvPr/>
          </p:nvGrpSpPr>
          <p:grpSpPr bwMode="auto">
            <a:xfrm flipV="1">
              <a:off x="3686" y="243"/>
              <a:ext cx="177" cy="66"/>
              <a:chOff x="2848" y="848"/>
              <a:chExt cx="140" cy="98"/>
            </a:xfrm>
          </p:grpSpPr>
          <p:sp>
            <p:nvSpPr>
              <p:cNvPr id="400523" name="Line 13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24" name="Line 14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25" name="Line 14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00526" name="Group 142"/>
          <p:cNvGrpSpPr>
            <a:grpSpLocks/>
          </p:cNvGrpSpPr>
          <p:nvPr/>
        </p:nvGrpSpPr>
        <p:grpSpPr bwMode="auto">
          <a:xfrm>
            <a:off x="7042150" y="3097213"/>
            <a:ext cx="569913" cy="285750"/>
            <a:chOff x="3600" y="219"/>
            <a:chExt cx="360" cy="175"/>
          </a:xfrm>
        </p:grpSpPr>
        <p:sp>
          <p:nvSpPr>
            <p:cNvPr id="400527" name="Oval 143"/>
            <p:cNvSpPr>
              <a:spLocks noChangeArrowheads="1"/>
            </p:cNvSpPr>
            <p:nvPr/>
          </p:nvSpPr>
          <p:spPr bwMode="auto">
            <a:xfrm>
              <a:off x="3603" y="297"/>
              <a:ext cx="357" cy="97"/>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28" name="Line 14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29" name="Line 14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30" name="Rectangle 146"/>
            <p:cNvSpPr>
              <a:spLocks noChangeArrowheads="1"/>
            </p:cNvSpPr>
            <p:nvPr/>
          </p:nvSpPr>
          <p:spPr bwMode="auto">
            <a:xfrm>
              <a:off x="3603" y="289"/>
              <a:ext cx="354" cy="59"/>
            </a:xfrm>
            <a:prstGeom prst="rect">
              <a:avLst/>
            </a:prstGeom>
            <a:solidFill>
              <a:schemeClr val="bg2"/>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pPr>
              <a:endParaRPr kumimoji="0" lang="zh-CN" altLang="en-US" sz="2400"/>
            </a:p>
          </p:txBody>
        </p:sp>
        <p:sp>
          <p:nvSpPr>
            <p:cNvPr id="400531" name="Oval 147"/>
            <p:cNvSpPr>
              <a:spLocks noChangeArrowheads="1"/>
            </p:cNvSpPr>
            <p:nvPr/>
          </p:nvSpPr>
          <p:spPr bwMode="auto">
            <a:xfrm>
              <a:off x="3600" y="219"/>
              <a:ext cx="357" cy="113"/>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532" name="Group 148"/>
            <p:cNvGrpSpPr>
              <a:grpSpLocks/>
            </p:cNvGrpSpPr>
            <p:nvPr/>
          </p:nvGrpSpPr>
          <p:grpSpPr bwMode="auto">
            <a:xfrm>
              <a:off x="3686" y="244"/>
              <a:ext cx="177" cy="66"/>
              <a:chOff x="2848" y="848"/>
              <a:chExt cx="140" cy="98"/>
            </a:xfrm>
          </p:grpSpPr>
          <p:sp>
            <p:nvSpPr>
              <p:cNvPr id="400533" name="Line 14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34" name="Line 15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35" name="Line 15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536" name="Group 152"/>
            <p:cNvGrpSpPr>
              <a:grpSpLocks/>
            </p:cNvGrpSpPr>
            <p:nvPr/>
          </p:nvGrpSpPr>
          <p:grpSpPr bwMode="auto">
            <a:xfrm flipV="1">
              <a:off x="3686" y="243"/>
              <a:ext cx="177" cy="66"/>
              <a:chOff x="2848" y="848"/>
              <a:chExt cx="140" cy="98"/>
            </a:xfrm>
          </p:grpSpPr>
          <p:sp>
            <p:nvSpPr>
              <p:cNvPr id="400537" name="Line 15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38" name="Line 15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39" name="Line 15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00540" name="Group 156"/>
          <p:cNvGrpSpPr>
            <a:grpSpLocks/>
          </p:cNvGrpSpPr>
          <p:nvPr/>
        </p:nvGrpSpPr>
        <p:grpSpPr bwMode="auto">
          <a:xfrm>
            <a:off x="8145463" y="2547938"/>
            <a:ext cx="568325" cy="284162"/>
            <a:chOff x="3600" y="219"/>
            <a:chExt cx="360" cy="175"/>
          </a:xfrm>
        </p:grpSpPr>
        <p:sp>
          <p:nvSpPr>
            <p:cNvPr id="400541" name="Oval 157"/>
            <p:cNvSpPr>
              <a:spLocks noChangeArrowheads="1"/>
            </p:cNvSpPr>
            <p:nvPr/>
          </p:nvSpPr>
          <p:spPr bwMode="auto">
            <a:xfrm>
              <a:off x="3603" y="297"/>
              <a:ext cx="357" cy="97"/>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42" name="Line 15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43" name="Line 15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44" name="Rectangle 160"/>
            <p:cNvSpPr>
              <a:spLocks noChangeArrowheads="1"/>
            </p:cNvSpPr>
            <p:nvPr/>
          </p:nvSpPr>
          <p:spPr bwMode="auto">
            <a:xfrm>
              <a:off x="3603" y="289"/>
              <a:ext cx="354" cy="59"/>
            </a:xfrm>
            <a:prstGeom prst="rect">
              <a:avLst/>
            </a:prstGeom>
            <a:solidFill>
              <a:schemeClr val="bg2"/>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pPr>
              <a:endParaRPr kumimoji="0" lang="zh-CN" altLang="en-US" sz="2400"/>
            </a:p>
          </p:txBody>
        </p:sp>
        <p:sp>
          <p:nvSpPr>
            <p:cNvPr id="400545" name="Oval 161"/>
            <p:cNvSpPr>
              <a:spLocks noChangeArrowheads="1"/>
            </p:cNvSpPr>
            <p:nvPr/>
          </p:nvSpPr>
          <p:spPr bwMode="auto">
            <a:xfrm>
              <a:off x="3600" y="219"/>
              <a:ext cx="357" cy="113"/>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546" name="Group 162"/>
            <p:cNvGrpSpPr>
              <a:grpSpLocks/>
            </p:cNvGrpSpPr>
            <p:nvPr/>
          </p:nvGrpSpPr>
          <p:grpSpPr bwMode="auto">
            <a:xfrm>
              <a:off x="3686" y="244"/>
              <a:ext cx="177" cy="66"/>
              <a:chOff x="2848" y="848"/>
              <a:chExt cx="140" cy="98"/>
            </a:xfrm>
          </p:grpSpPr>
          <p:sp>
            <p:nvSpPr>
              <p:cNvPr id="400547" name="Line 16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48" name="Line 16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49" name="Line 16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550" name="Group 166"/>
            <p:cNvGrpSpPr>
              <a:grpSpLocks/>
            </p:cNvGrpSpPr>
            <p:nvPr/>
          </p:nvGrpSpPr>
          <p:grpSpPr bwMode="auto">
            <a:xfrm flipV="1">
              <a:off x="3686" y="243"/>
              <a:ext cx="177" cy="66"/>
              <a:chOff x="2848" y="848"/>
              <a:chExt cx="140" cy="98"/>
            </a:xfrm>
          </p:grpSpPr>
          <p:sp>
            <p:nvSpPr>
              <p:cNvPr id="400551" name="Line 16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52" name="Line 16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53" name="Line 16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00554" name="Group 170"/>
          <p:cNvGrpSpPr>
            <a:grpSpLocks/>
          </p:cNvGrpSpPr>
          <p:nvPr/>
        </p:nvGrpSpPr>
        <p:grpSpPr bwMode="auto">
          <a:xfrm>
            <a:off x="7924800" y="3644900"/>
            <a:ext cx="569913" cy="284163"/>
            <a:chOff x="3600" y="219"/>
            <a:chExt cx="360" cy="175"/>
          </a:xfrm>
        </p:grpSpPr>
        <p:sp>
          <p:nvSpPr>
            <p:cNvPr id="400555" name="Oval 171"/>
            <p:cNvSpPr>
              <a:spLocks noChangeArrowheads="1"/>
            </p:cNvSpPr>
            <p:nvPr/>
          </p:nvSpPr>
          <p:spPr bwMode="auto">
            <a:xfrm>
              <a:off x="3603" y="297"/>
              <a:ext cx="357" cy="97"/>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56" name="Line 17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57" name="Line 17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58" name="Rectangle 174"/>
            <p:cNvSpPr>
              <a:spLocks noChangeArrowheads="1"/>
            </p:cNvSpPr>
            <p:nvPr/>
          </p:nvSpPr>
          <p:spPr bwMode="auto">
            <a:xfrm>
              <a:off x="3603" y="289"/>
              <a:ext cx="354" cy="59"/>
            </a:xfrm>
            <a:prstGeom prst="rect">
              <a:avLst/>
            </a:prstGeom>
            <a:solidFill>
              <a:schemeClr val="bg2"/>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pPr>
              <a:endParaRPr kumimoji="0" lang="zh-CN" altLang="en-US" sz="2400"/>
            </a:p>
          </p:txBody>
        </p:sp>
        <p:sp>
          <p:nvSpPr>
            <p:cNvPr id="400559" name="Oval 175"/>
            <p:cNvSpPr>
              <a:spLocks noChangeArrowheads="1"/>
            </p:cNvSpPr>
            <p:nvPr/>
          </p:nvSpPr>
          <p:spPr bwMode="auto">
            <a:xfrm>
              <a:off x="3600" y="219"/>
              <a:ext cx="357" cy="113"/>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560" name="Group 176"/>
            <p:cNvGrpSpPr>
              <a:grpSpLocks/>
            </p:cNvGrpSpPr>
            <p:nvPr/>
          </p:nvGrpSpPr>
          <p:grpSpPr bwMode="auto">
            <a:xfrm>
              <a:off x="3686" y="244"/>
              <a:ext cx="177" cy="66"/>
              <a:chOff x="2848" y="848"/>
              <a:chExt cx="140" cy="98"/>
            </a:xfrm>
          </p:grpSpPr>
          <p:sp>
            <p:nvSpPr>
              <p:cNvPr id="400561" name="Line 17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62" name="Line 17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63" name="Line 17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564" name="Group 180"/>
            <p:cNvGrpSpPr>
              <a:grpSpLocks/>
            </p:cNvGrpSpPr>
            <p:nvPr/>
          </p:nvGrpSpPr>
          <p:grpSpPr bwMode="auto">
            <a:xfrm flipV="1">
              <a:off x="3686" y="243"/>
              <a:ext cx="177" cy="66"/>
              <a:chOff x="2848" y="848"/>
              <a:chExt cx="140" cy="98"/>
            </a:xfrm>
          </p:grpSpPr>
          <p:sp>
            <p:nvSpPr>
              <p:cNvPr id="400565" name="Line 18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66" name="Line 18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67" name="Line 18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00568" name="Group 184"/>
          <p:cNvGrpSpPr>
            <a:grpSpLocks/>
          </p:cNvGrpSpPr>
          <p:nvPr/>
        </p:nvGrpSpPr>
        <p:grpSpPr bwMode="auto">
          <a:xfrm>
            <a:off x="7545388" y="4359275"/>
            <a:ext cx="569912" cy="287338"/>
            <a:chOff x="3600" y="219"/>
            <a:chExt cx="360" cy="175"/>
          </a:xfrm>
        </p:grpSpPr>
        <p:sp>
          <p:nvSpPr>
            <p:cNvPr id="400569" name="Oval 185"/>
            <p:cNvSpPr>
              <a:spLocks noChangeArrowheads="1"/>
            </p:cNvSpPr>
            <p:nvPr/>
          </p:nvSpPr>
          <p:spPr bwMode="auto">
            <a:xfrm>
              <a:off x="3603" y="297"/>
              <a:ext cx="357" cy="97"/>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70" name="Line 186"/>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71" name="Line 187"/>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72" name="Rectangle 188"/>
            <p:cNvSpPr>
              <a:spLocks noChangeArrowheads="1"/>
            </p:cNvSpPr>
            <p:nvPr/>
          </p:nvSpPr>
          <p:spPr bwMode="auto">
            <a:xfrm>
              <a:off x="3603" y="289"/>
              <a:ext cx="354" cy="59"/>
            </a:xfrm>
            <a:prstGeom prst="rect">
              <a:avLst/>
            </a:prstGeom>
            <a:solidFill>
              <a:schemeClr val="bg2"/>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pPr>
              <a:endParaRPr kumimoji="0" lang="zh-CN" altLang="en-US" sz="2400"/>
            </a:p>
          </p:txBody>
        </p:sp>
        <p:sp>
          <p:nvSpPr>
            <p:cNvPr id="400573" name="Oval 189"/>
            <p:cNvSpPr>
              <a:spLocks noChangeArrowheads="1"/>
            </p:cNvSpPr>
            <p:nvPr/>
          </p:nvSpPr>
          <p:spPr bwMode="auto">
            <a:xfrm>
              <a:off x="3600" y="219"/>
              <a:ext cx="357" cy="113"/>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574" name="Group 190"/>
            <p:cNvGrpSpPr>
              <a:grpSpLocks/>
            </p:cNvGrpSpPr>
            <p:nvPr/>
          </p:nvGrpSpPr>
          <p:grpSpPr bwMode="auto">
            <a:xfrm>
              <a:off x="3686" y="244"/>
              <a:ext cx="177" cy="66"/>
              <a:chOff x="2848" y="848"/>
              <a:chExt cx="140" cy="98"/>
            </a:xfrm>
          </p:grpSpPr>
          <p:sp>
            <p:nvSpPr>
              <p:cNvPr id="400575" name="Line 19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76" name="Line 19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77" name="Line 19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578" name="Group 194"/>
            <p:cNvGrpSpPr>
              <a:grpSpLocks/>
            </p:cNvGrpSpPr>
            <p:nvPr/>
          </p:nvGrpSpPr>
          <p:grpSpPr bwMode="auto">
            <a:xfrm flipV="1">
              <a:off x="3686" y="243"/>
              <a:ext cx="177" cy="66"/>
              <a:chOff x="2848" y="848"/>
              <a:chExt cx="140" cy="98"/>
            </a:xfrm>
          </p:grpSpPr>
          <p:sp>
            <p:nvSpPr>
              <p:cNvPr id="400579" name="Line 19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80" name="Line 19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81" name="Line 19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00582" name="Group 198"/>
          <p:cNvGrpSpPr>
            <a:grpSpLocks/>
          </p:cNvGrpSpPr>
          <p:nvPr/>
        </p:nvGrpSpPr>
        <p:grpSpPr bwMode="auto">
          <a:xfrm>
            <a:off x="6851650" y="4957763"/>
            <a:ext cx="569913" cy="284162"/>
            <a:chOff x="3600" y="219"/>
            <a:chExt cx="360" cy="175"/>
          </a:xfrm>
        </p:grpSpPr>
        <p:sp>
          <p:nvSpPr>
            <p:cNvPr id="400583" name="Oval 199"/>
            <p:cNvSpPr>
              <a:spLocks noChangeArrowheads="1"/>
            </p:cNvSpPr>
            <p:nvPr/>
          </p:nvSpPr>
          <p:spPr bwMode="auto">
            <a:xfrm>
              <a:off x="3603" y="297"/>
              <a:ext cx="357" cy="97"/>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84" name="Line 20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85" name="Line 20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86" name="Rectangle 202"/>
            <p:cNvSpPr>
              <a:spLocks noChangeArrowheads="1"/>
            </p:cNvSpPr>
            <p:nvPr/>
          </p:nvSpPr>
          <p:spPr bwMode="auto">
            <a:xfrm>
              <a:off x="3603" y="289"/>
              <a:ext cx="354" cy="59"/>
            </a:xfrm>
            <a:prstGeom prst="rect">
              <a:avLst/>
            </a:prstGeom>
            <a:solidFill>
              <a:schemeClr val="bg2"/>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pPr>
              <a:endParaRPr kumimoji="0" lang="zh-CN" altLang="en-US" sz="2400"/>
            </a:p>
          </p:txBody>
        </p:sp>
        <p:sp>
          <p:nvSpPr>
            <p:cNvPr id="400587" name="Oval 203"/>
            <p:cNvSpPr>
              <a:spLocks noChangeArrowheads="1"/>
            </p:cNvSpPr>
            <p:nvPr/>
          </p:nvSpPr>
          <p:spPr bwMode="auto">
            <a:xfrm>
              <a:off x="3600" y="219"/>
              <a:ext cx="357" cy="113"/>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588" name="Group 204"/>
            <p:cNvGrpSpPr>
              <a:grpSpLocks/>
            </p:cNvGrpSpPr>
            <p:nvPr/>
          </p:nvGrpSpPr>
          <p:grpSpPr bwMode="auto">
            <a:xfrm>
              <a:off x="3686" y="244"/>
              <a:ext cx="177" cy="66"/>
              <a:chOff x="2848" y="848"/>
              <a:chExt cx="140" cy="98"/>
            </a:xfrm>
          </p:grpSpPr>
          <p:sp>
            <p:nvSpPr>
              <p:cNvPr id="400589" name="Line 20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90" name="Line 20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91" name="Line 20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592" name="Group 208"/>
            <p:cNvGrpSpPr>
              <a:grpSpLocks/>
            </p:cNvGrpSpPr>
            <p:nvPr/>
          </p:nvGrpSpPr>
          <p:grpSpPr bwMode="auto">
            <a:xfrm flipV="1">
              <a:off x="3686" y="243"/>
              <a:ext cx="177" cy="66"/>
              <a:chOff x="2848" y="848"/>
              <a:chExt cx="140" cy="98"/>
            </a:xfrm>
          </p:grpSpPr>
          <p:sp>
            <p:nvSpPr>
              <p:cNvPr id="400593" name="Line 20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94" name="Line 21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95" name="Line 21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00596" name="Group 212"/>
          <p:cNvGrpSpPr>
            <a:grpSpLocks/>
          </p:cNvGrpSpPr>
          <p:nvPr/>
        </p:nvGrpSpPr>
        <p:grpSpPr bwMode="auto">
          <a:xfrm>
            <a:off x="5938838" y="4497388"/>
            <a:ext cx="569912" cy="284162"/>
            <a:chOff x="3600" y="219"/>
            <a:chExt cx="360" cy="175"/>
          </a:xfrm>
        </p:grpSpPr>
        <p:sp>
          <p:nvSpPr>
            <p:cNvPr id="400597" name="Oval 213"/>
            <p:cNvSpPr>
              <a:spLocks noChangeArrowheads="1"/>
            </p:cNvSpPr>
            <p:nvPr/>
          </p:nvSpPr>
          <p:spPr bwMode="auto">
            <a:xfrm>
              <a:off x="3603" y="297"/>
              <a:ext cx="357" cy="97"/>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98" name="Line 21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599" name="Line 21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00" name="Rectangle 216"/>
            <p:cNvSpPr>
              <a:spLocks noChangeArrowheads="1"/>
            </p:cNvSpPr>
            <p:nvPr/>
          </p:nvSpPr>
          <p:spPr bwMode="auto">
            <a:xfrm>
              <a:off x="3603" y="289"/>
              <a:ext cx="354" cy="59"/>
            </a:xfrm>
            <a:prstGeom prst="rect">
              <a:avLst/>
            </a:prstGeom>
            <a:solidFill>
              <a:schemeClr val="bg2"/>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pPr>
              <a:endParaRPr kumimoji="0" lang="zh-CN" altLang="en-US" sz="2400"/>
            </a:p>
          </p:txBody>
        </p:sp>
        <p:sp>
          <p:nvSpPr>
            <p:cNvPr id="400601" name="Oval 217"/>
            <p:cNvSpPr>
              <a:spLocks noChangeArrowheads="1"/>
            </p:cNvSpPr>
            <p:nvPr/>
          </p:nvSpPr>
          <p:spPr bwMode="auto">
            <a:xfrm>
              <a:off x="3600" y="219"/>
              <a:ext cx="357" cy="113"/>
            </a:xfrm>
            <a:prstGeom prst="ellipse">
              <a:avLst/>
            </a:prstGeom>
            <a:solidFill>
              <a:schemeClr val="bg2"/>
            </a:solid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602" name="Group 218"/>
            <p:cNvGrpSpPr>
              <a:grpSpLocks/>
            </p:cNvGrpSpPr>
            <p:nvPr/>
          </p:nvGrpSpPr>
          <p:grpSpPr bwMode="auto">
            <a:xfrm>
              <a:off x="3686" y="244"/>
              <a:ext cx="177" cy="66"/>
              <a:chOff x="2848" y="848"/>
              <a:chExt cx="140" cy="98"/>
            </a:xfrm>
          </p:grpSpPr>
          <p:sp>
            <p:nvSpPr>
              <p:cNvPr id="400603" name="Line 21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04" name="Line 22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05" name="Line 22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0606" name="Group 222"/>
            <p:cNvGrpSpPr>
              <a:grpSpLocks/>
            </p:cNvGrpSpPr>
            <p:nvPr/>
          </p:nvGrpSpPr>
          <p:grpSpPr bwMode="auto">
            <a:xfrm flipV="1">
              <a:off x="3686" y="243"/>
              <a:ext cx="177" cy="66"/>
              <a:chOff x="2848" y="848"/>
              <a:chExt cx="140" cy="98"/>
            </a:xfrm>
          </p:grpSpPr>
          <p:sp>
            <p:nvSpPr>
              <p:cNvPr id="400607" name="Line 22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08" name="Line 22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09" name="Line 22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400610" name="Line 226"/>
          <p:cNvSpPr>
            <a:spLocks noChangeShapeType="1"/>
          </p:cNvSpPr>
          <p:nvPr/>
        </p:nvSpPr>
        <p:spPr bwMode="auto">
          <a:xfrm>
            <a:off x="6221413" y="4789488"/>
            <a:ext cx="1587" cy="252412"/>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11" name="Line 227"/>
          <p:cNvSpPr>
            <a:spLocks noChangeShapeType="1"/>
          </p:cNvSpPr>
          <p:nvPr/>
        </p:nvSpPr>
        <p:spPr bwMode="auto">
          <a:xfrm flipV="1">
            <a:off x="6796088" y="5708650"/>
            <a:ext cx="330200" cy="171450"/>
          </a:xfrm>
          <a:prstGeom prst="line">
            <a:avLst/>
          </a:prstGeom>
          <a:noFill/>
          <a:ln w="38100">
            <a:solidFill>
              <a:srgbClr val="FF0000"/>
            </a:solidFill>
            <a:round/>
            <a:headEnd type="none" w="med" len="lg"/>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12" name="Line 228"/>
          <p:cNvSpPr>
            <a:spLocks noChangeShapeType="1"/>
          </p:cNvSpPr>
          <p:nvPr/>
        </p:nvSpPr>
        <p:spPr bwMode="auto">
          <a:xfrm flipV="1">
            <a:off x="7186613" y="5099050"/>
            <a:ext cx="0" cy="487363"/>
          </a:xfrm>
          <a:prstGeom prst="line">
            <a:avLst/>
          </a:prstGeom>
          <a:noFill/>
          <a:ln w="38100">
            <a:solidFill>
              <a:srgbClr val="FF0000"/>
            </a:solidFill>
            <a:round/>
            <a:headEnd type="none" w="med" len="lg"/>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13" name="Line 229"/>
          <p:cNvSpPr>
            <a:spLocks noChangeShapeType="1"/>
          </p:cNvSpPr>
          <p:nvPr/>
        </p:nvSpPr>
        <p:spPr bwMode="auto">
          <a:xfrm>
            <a:off x="6442075" y="4633913"/>
            <a:ext cx="561975" cy="3429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14" name="Line 230"/>
          <p:cNvSpPr>
            <a:spLocks noChangeShapeType="1"/>
          </p:cNvSpPr>
          <p:nvPr/>
        </p:nvSpPr>
        <p:spPr bwMode="auto">
          <a:xfrm>
            <a:off x="6356350" y="4719638"/>
            <a:ext cx="611188" cy="366712"/>
          </a:xfrm>
          <a:prstGeom prst="line">
            <a:avLst/>
          </a:prstGeom>
          <a:noFill/>
          <a:ln w="38100">
            <a:solidFill>
              <a:srgbClr val="FF0000"/>
            </a:solidFill>
            <a:round/>
            <a:headEnd type="stealth" w="med" len="lg"/>
            <a:tailEnd type="non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15" name="Line 231"/>
          <p:cNvSpPr>
            <a:spLocks noChangeShapeType="1"/>
          </p:cNvSpPr>
          <p:nvPr/>
        </p:nvSpPr>
        <p:spPr bwMode="auto">
          <a:xfrm flipV="1">
            <a:off x="6443663" y="4479925"/>
            <a:ext cx="1189037" cy="71438"/>
          </a:xfrm>
          <a:prstGeom prst="line">
            <a:avLst/>
          </a:prstGeom>
          <a:noFill/>
          <a:ln w="38100">
            <a:solidFill>
              <a:srgbClr val="FF0000"/>
            </a:solidFill>
            <a:round/>
            <a:headEnd type="none" w="med" len="lg"/>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16" name="Line 232"/>
          <p:cNvSpPr>
            <a:spLocks noChangeShapeType="1"/>
          </p:cNvSpPr>
          <p:nvPr/>
        </p:nvSpPr>
        <p:spPr bwMode="auto">
          <a:xfrm flipV="1">
            <a:off x="7993063" y="3829050"/>
            <a:ext cx="390525" cy="598488"/>
          </a:xfrm>
          <a:prstGeom prst="line">
            <a:avLst/>
          </a:prstGeom>
          <a:noFill/>
          <a:ln w="38100">
            <a:solidFill>
              <a:srgbClr val="FF0000"/>
            </a:solidFill>
            <a:round/>
            <a:headEnd type="none" w="med" len="lg"/>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17" name="Line 233"/>
          <p:cNvSpPr>
            <a:spLocks noChangeShapeType="1"/>
          </p:cNvSpPr>
          <p:nvPr/>
        </p:nvSpPr>
        <p:spPr bwMode="auto">
          <a:xfrm flipH="1" flipV="1">
            <a:off x="7443788" y="3327400"/>
            <a:ext cx="573087" cy="428625"/>
          </a:xfrm>
          <a:prstGeom prst="line">
            <a:avLst/>
          </a:prstGeom>
          <a:noFill/>
          <a:ln w="38100">
            <a:solidFill>
              <a:srgbClr val="FF0000"/>
            </a:solidFill>
            <a:round/>
            <a:headEnd type="none" w="med" len="lg"/>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18" name="Line 234"/>
          <p:cNvSpPr>
            <a:spLocks noChangeShapeType="1"/>
          </p:cNvSpPr>
          <p:nvPr/>
        </p:nvSpPr>
        <p:spPr bwMode="auto">
          <a:xfrm flipV="1">
            <a:off x="7431088" y="2509838"/>
            <a:ext cx="0" cy="598487"/>
          </a:xfrm>
          <a:prstGeom prst="line">
            <a:avLst/>
          </a:prstGeom>
          <a:noFill/>
          <a:ln w="38100">
            <a:solidFill>
              <a:srgbClr val="FF0000"/>
            </a:solidFill>
            <a:round/>
            <a:headEnd type="none" w="med" len="lg"/>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19" name="Line 235"/>
          <p:cNvSpPr>
            <a:spLocks noChangeShapeType="1"/>
          </p:cNvSpPr>
          <p:nvPr/>
        </p:nvSpPr>
        <p:spPr bwMode="auto">
          <a:xfrm flipH="1">
            <a:off x="6491288" y="2522538"/>
            <a:ext cx="598487" cy="280987"/>
          </a:xfrm>
          <a:prstGeom prst="line">
            <a:avLst/>
          </a:prstGeom>
          <a:noFill/>
          <a:ln w="38100">
            <a:solidFill>
              <a:srgbClr val="FF0000"/>
            </a:solidFill>
            <a:round/>
            <a:headEnd type="none" w="med" len="lg"/>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20" name="Line 236"/>
          <p:cNvSpPr>
            <a:spLocks noChangeShapeType="1"/>
          </p:cNvSpPr>
          <p:nvPr/>
        </p:nvSpPr>
        <p:spPr bwMode="auto">
          <a:xfrm>
            <a:off x="6223000" y="2803525"/>
            <a:ext cx="255588" cy="365125"/>
          </a:xfrm>
          <a:prstGeom prst="line">
            <a:avLst/>
          </a:prstGeom>
          <a:noFill/>
          <a:ln w="38100">
            <a:solidFill>
              <a:srgbClr val="FF0000"/>
            </a:solidFill>
            <a:round/>
            <a:headEnd type="none" w="med" len="lg"/>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0623" name="Group 239"/>
          <p:cNvGrpSpPr>
            <a:grpSpLocks/>
          </p:cNvGrpSpPr>
          <p:nvPr/>
        </p:nvGrpSpPr>
        <p:grpSpPr bwMode="auto">
          <a:xfrm>
            <a:off x="6654800" y="1743075"/>
            <a:ext cx="1017588" cy="889000"/>
            <a:chOff x="4192" y="1071"/>
            <a:chExt cx="641" cy="651"/>
          </a:xfrm>
        </p:grpSpPr>
        <p:sp>
          <p:nvSpPr>
            <p:cNvPr id="400621" name="Freeform 237"/>
            <p:cNvSpPr>
              <a:spLocks/>
            </p:cNvSpPr>
            <p:nvPr/>
          </p:nvSpPr>
          <p:spPr bwMode="auto">
            <a:xfrm>
              <a:off x="4192" y="1160"/>
              <a:ext cx="166" cy="562"/>
            </a:xfrm>
            <a:custGeom>
              <a:avLst/>
              <a:gdLst>
                <a:gd name="T0" fmla="*/ 166 w 166"/>
                <a:gd name="T1" fmla="*/ 0 h 562"/>
                <a:gd name="T2" fmla="*/ 43 w 166"/>
                <a:gd name="T3" fmla="*/ 123 h 562"/>
                <a:gd name="T4" fmla="*/ 5 w 166"/>
                <a:gd name="T5" fmla="*/ 323 h 562"/>
                <a:gd name="T6" fmla="*/ 74 w 166"/>
                <a:gd name="T7" fmla="*/ 562 h 562"/>
              </a:gdLst>
              <a:ahLst/>
              <a:cxnLst>
                <a:cxn ang="0">
                  <a:pos x="T0" y="T1"/>
                </a:cxn>
                <a:cxn ang="0">
                  <a:pos x="T2" y="T3"/>
                </a:cxn>
                <a:cxn ang="0">
                  <a:pos x="T4" y="T5"/>
                </a:cxn>
                <a:cxn ang="0">
                  <a:pos x="T6" y="T7"/>
                </a:cxn>
              </a:cxnLst>
              <a:rect l="0" t="0" r="r" b="b"/>
              <a:pathLst>
                <a:path w="166" h="562">
                  <a:moveTo>
                    <a:pt x="166" y="0"/>
                  </a:moveTo>
                  <a:cubicBezTo>
                    <a:pt x="118" y="34"/>
                    <a:pt x="70" y="69"/>
                    <a:pt x="43" y="123"/>
                  </a:cubicBezTo>
                  <a:cubicBezTo>
                    <a:pt x="16" y="177"/>
                    <a:pt x="0" y="250"/>
                    <a:pt x="5" y="323"/>
                  </a:cubicBezTo>
                  <a:cubicBezTo>
                    <a:pt x="10" y="396"/>
                    <a:pt x="63" y="522"/>
                    <a:pt x="74" y="562"/>
                  </a:cubicBezTo>
                </a:path>
              </a:pathLst>
            </a:custGeom>
            <a:noFill/>
            <a:ln w="19050" cap="flat" cmpd="sng">
              <a:solidFill>
                <a:srgbClr val="FF0000"/>
              </a:solidFill>
              <a:prstDash val="solid"/>
              <a:round/>
              <a:headEnd/>
              <a:tailEnd type="triangle" w="med" len="med"/>
            </a:ln>
            <a:effectLst/>
            <a:extLst>
              <a:ext uri="{909E8E84-426E-40DD-AFC4-6F175D3DCCD1}">
                <a14:hiddenFill xmlns="" xmlns:a14="http://schemas.microsoft.com/office/drawing/2010/main">
                  <a:solidFill>
                    <a:schemeClr val="bg2"/>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622" name="Text Box 238"/>
            <p:cNvSpPr txBox="1">
              <a:spLocks noChangeArrowheads="1"/>
            </p:cNvSpPr>
            <p:nvPr/>
          </p:nvSpPr>
          <p:spPr bwMode="auto">
            <a:xfrm>
              <a:off x="4332" y="1071"/>
              <a:ext cx="501" cy="291"/>
            </a:xfrm>
            <a:prstGeom prst="rect">
              <a:avLst/>
            </a:prstGeom>
            <a:noFill/>
            <a:ln>
              <a:noFill/>
            </a:ln>
            <a:effectLst/>
            <a:extLst>
              <a:ext uri="{909E8E84-426E-40DD-AFC4-6F175D3DCCD1}">
                <a14:hiddenFill xmlns="" xmlns:a14="http://schemas.microsoft.com/office/drawing/2010/main">
                  <a:solidFill>
                    <a:schemeClr val="bg2"/>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FontTx/>
                <a:buNone/>
              </a:pPr>
              <a:r>
                <a:rPr kumimoji="0" lang="zh-CN" altLang="en-US" sz="2000">
                  <a:solidFill>
                    <a:srgbClr val="FF0000"/>
                  </a:solidFill>
                  <a:latin typeface="Comic Sans MS" pitchFamily="66" charset="0"/>
                </a:rPr>
                <a:t>“</a:t>
              </a:r>
              <a:r>
                <a:rPr kumimoji="0" lang="en-US" altLang="zh-CN" sz="2000">
                  <a:solidFill>
                    <a:srgbClr val="FF0000"/>
                  </a:solidFill>
                  <a:latin typeface="Comic Sans MS" pitchFamily="66" charset="0"/>
                </a:rPr>
                <a:t>link”</a:t>
              </a:r>
              <a:endParaRPr kumimoji="0" lang="en-US" altLang="zh-CN" sz="1800">
                <a:latin typeface="Comic Sans MS" pitchFamily="66" charset="0"/>
              </a:endParaRPr>
            </a:p>
          </p:txBody>
        </p:sp>
      </p:gr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0611"/>
                                        </p:tgtEl>
                                        <p:attrNameLst>
                                          <p:attrName>style.visibility</p:attrName>
                                        </p:attrNameLst>
                                      </p:cBhvr>
                                      <p:to>
                                        <p:strVal val="visible"/>
                                      </p:to>
                                    </p:set>
                                    <p:animEffect transition="in" filter="wipe(left)">
                                      <p:cBhvr>
                                        <p:cTn id="7" dur="1000"/>
                                        <p:tgtEl>
                                          <p:spTgt spid="400611"/>
                                        </p:tgtEl>
                                      </p:cBhvr>
                                    </p:animEffect>
                                  </p:childTnLst>
                                </p:cTn>
                              </p:par>
                            </p:childTnLst>
                          </p:cTn>
                        </p:par>
                        <p:par>
                          <p:cTn id="8" fill="hold" nodeType="afterGroup">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400612"/>
                                        </p:tgtEl>
                                        <p:attrNameLst>
                                          <p:attrName>style.visibility</p:attrName>
                                        </p:attrNameLst>
                                      </p:cBhvr>
                                      <p:to>
                                        <p:strVal val="visible"/>
                                      </p:to>
                                    </p:set>
                                    <p:animEffect transition="in" filter="wipe(down)">
                                      <p:cBhvr>
                                        <p:cTn id="11" dur="1000"/>
                                        <p:tgtEl>
                                          <p:spTgt spid="400612"/>
                                        </p:tgtEl>
                                      </p:cBhvr>
                                    </p:animEffect>
                                  </p:childTnLst>
                                </p:cTn>
                              </p:par>
                            </p:childTnLst>
                          </p:cTn>
                        </p:par>
                        <p:par>
                          <p:cTn id="12" fill="hold" nodeType="afterGroup">
                            <p:stCondLst>
                              <p:cond delay="2000"/>
                            </p:stCondLst>
                            <p:childTnLst>
                              <p:par>
                                <p:cTn id="13" presetID="22" presetClass="entr" presetSubtype="2" fill="hold" grpId="0" nodeType="afterEffect">
                                  <p:stCondLst>
                                    <p:cond delay="0"/>
                                  </p:stCondLst>
                                  <p:childTnLst>
                                    <p:set>
                                      <p:cBhvr>
                                        <p:cTn id="14" dur="1" fill="hold">
                                          <p:stCondLst>
                                            <p:cond delay="0"/>
                                          </p:stCondLst>
                                        </p:cTn>
                                        <p:tgtEl>
                                          <p:spTgt spid="400614"/>
                                        </p:tgtEl>
                                        <p:attrNameLst>
                                          <p:attrName>style.visibility</p:attrName>
                                        </p:attrNameLst>
                                      </p:cBhvr>
                                      <p:to>
                                        <p:strVal val="visible"/>
                                      </p:to>
                                    </p:set>
                                    <p:animEffect transition="in" filter="wipe(right)">
                                      <p:cBhvr>
                                        <p:cTn id="15" dur="1000"/>
                                        <p:tgtEl>
                                          <p:spTgt spid="400614"/>
                                        </p:tgtEl>
                                      </p:cBhvr>
                                    </p:animEffect>
                                  </p:childTnLst>
                                </p:cTn>
                              </p:par>
                            </p:childTnLst>
                          </p:cTn>
                        </p:par>
                        <p:par>
                          <p:cTn id="16" fill="hold" nodeType="afterGroup">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400615"/>
                                        </p:tgtEl>
                                        <p:attrNameLst>
                                          <p:attrName>style.visibility</p:attrName>
                                        </p:attrNameLst>
                                      </p:cBhvr>
                                      <p:to>
                                        <p:strVal val="visible"/>
                                      </p:to>
                                    </p:set>
                                    <p:animEffect transition="in" filter="wipe(left)">
                                      <p:cBhvr>
                                        <p:cTn id="19" dur="1000"/>
                                        <p:tgtEl>
                                          <p:spTgt spid="400615"/>
                                        </p:tgtEl>
                                      </p:cBhvr>
                                    </p:animEffect>
                                  </p:childTnLst>
                                </p:cTn>
                              </p:par>
                            </p:childTnLst>
                          </p:cTn>
                        </p:par>
                        <p:par>
                          <p:cTn id="20" fill="hold" nodeType="afterGroup">
                            <p:stCondLst>
                              <p:cond delay="4000"/>
                            </p:stCondLst>
                            <p:childTnLst>
                              <p:par>
                                <p:cTn id="21" presetID="22" presetClass="entr" presetSubtype="4" fill="hold" grpId="0" nodeType="afterEffect">
                                  <p:stCondLst>
                                    <p:cond delay="0"/>
                                  </p:stCondLst>
                                  <p:childTnLst>
                                    <p:set>
                                      <p:cBhvr>
                                        <p:cTn id="22" dur="1" fill="hold">
                                          <p:stCondLst>
                                            <p:cond delay="0"/>
                                          </p:stCondLst>
                                        </p:cTn>
                                        <p:tgtEl>
                                          <p:spTgt spid="400616"/>
                                        </p:tgtEl>
                                        <p:attrNameLst>
                                          <p:attrName>style.visibility</p:attrName>
                                        </p:attrNameLst>
                                      </p:cBhvr>
                                      <p:to>
                                        <p:strVal val="visible"/>
                                      </p:to>
                                    </p:set>
                                    <p:animEffect transition="in" filter="wipe(down)">
                                      <p:cBhvr>
                                        <p:cTn id="23" dur="1000"/>
                                        <p:tgtEl>
                                          <p:spTgt spid="400616"/>
                                        </p:tgtEl>
                                      </p:cBhvr>
                                    </p:animEffect>
                                  </p:childTnLst>
                                </p:cTn>
                              </p:par>
                            </p:childTnLst>
                          </p:cTn>
                        </p:par>
                        <p:par>
                          <p:cTn id="24" fill="hold" nodeType="afterGroup">
                            <p:stCondLst>
                              <p:cond delay="5000"/>
                            </p:stCondLst>
                            <p:childTnLst>
                              <p:par>
                                <p:cTn id="25" presetID="22" presetClass="entr" presetSubtype="2" fill="hold" grpId="0" nodeType="afterEffect">
                                  <p:stCondLst>
                                    <p:cond delay="0"/>
                                  </p:stCondLst>
                                  <p:childTnLst>
                                    <p:set>
                                      <p:cBhvr>
                                        <p:cTn id="26" dur="1" fill="hold">
                                          <p:stCondLst>
                                            <p:cond delay="0"/>
                                          </p:stCondLst>
                                        </p:cTn>
                                        <p:tgtEl>
                                          <p:spTgt spid="400617"/>
                                        </p:tgtEl>
                                        <p:attrNameLst>
                                          <p:attrName>style.visibility</p:attrName>
                                        </p:attrNameLst>
                                      </p:cBhvr>
                                      <p:to>
                                        <p:strVal val="visible"/>
                                      </p:to>
                                    </p:set>
                                    <p:animEffect transition="in" filter="wipe(right)">
                                      <p:cBhvr>
                                        <p:cTn id="27" dur="1000"/>
                                        <p:tgtEl>
                                          <p:spTgt spid="400617"/>
                                        </p:tgtEl>
                                      </p:cBhvr>
                                    </p:animEffect>
                                  </p:childTnLst>
                                </p:cTn>
                              </p:par>
                            </p:childTnLst>
                          </p:cTn>
                        </p:par>
                        <p:par>
                          <p:cTn id="28" fill="hold" nodeType="afterGroup">
                            <p:stCondLst>
                              <p:cond delay="6000"/>
                            </p:stCondLst>
                            <p:childTnLst>
                              <p:par>
                                <p:cTn id="29" presetID="22" presetClass="entr" presetSubtype="4" fill="hold" grpId="0" nodeType="afterEffect">
                                  <p:stCondLst>
                                    <p:cond delay="0"/>
                                  </p:stCondLst>
                                  <p:childTnLst>
                                    <p:set>
                                      <p:cBhvr>
                                        <p:cTn id="30" dur="1" fill="hold">
                                          <p:stCondLst>
                                            <p:cond delay="0"/>
                                          </p:stCondLst>
                                        </p:cTn>
                                        <p:tgtEl>
                                          <p:spTgt spid="400618"/>
                                        </p:tgtEl>
                                        <p:attrNameLst>
                                          <p:attrName>style.visibility</p:attrName>
                                        </p:attrNameLst>
                                      </p:cBhvr>
                                      <p:to>
                                        <p:strVal val="visible"/>
                                      </p:to>
                                    </p:set>
                                    <p:animEffect transition="in" filter="wipe(down)">
                                      <p:cBhvr>
                                        <p:cTn id="31" dur="1000"/>
                                        <p:tgtEl>
                                          <p:spTgt spid="400618"/>
                                        </p:tgtEl>
                                      </p:cBhvr>
                                    </p:animEffect>
                                  </p:childTnLst>
                                </p:cTn>
                              </p:par>
                            </p:childTnLst>
                          </p:cTn>
                        </p:par>
                        <p:par>
                          <p:cTn id="32" fill="hold" nodeType="afterGroup">
                            <p:stCondLst>
                              <p:cond delay="7000"/>
                            </p:stCondLst>
                            <p:childTnLst>
                              <p:par>
                                <p:cTn id="33" presetID="22" presetClass="entr" presetSubtype="2" fill="hold" grpId="0" nodeType="afterEffect">
                                  <p:stCondLst>
                                    <p:cond delay="0"/>
                                  </p:stCondLst>
                                  <p:childTnLst>
                                    <p:set>
                                      <p:cBhvr>
                                        <p:cTn id="34" dur="1" fill="hold">
                                          <p:stCondLst>
                                            <p:cond delay="0"/>
                                          </p:stCondLst>
                                        </p:cTn>
                                        <p:tgtEl>
                                          <p:spTgt spid="400619"/>
                                        </p:tgtEl>
                                        <p:attrNameLst>
                                          <p:attrName>style.visibility</p:attrName>
                                        </p:attrNameLst>
                                      </p:cBhvr>
                                      <p:to>
                                        <p:strVal val="visible"/>
                                      </p:to>
                                    </p:set>
                                    <p:animEffect transition="in" filter="wipe(right)">
                                      <p:cBhvr>
                                        <p:cTn id="35" dur="1000"/>
                                        <p:tgtEl>
                                          <p:spTgt spid="400619"/>
                                        </p:tgtEl>
                                      </p:cBhvr>
                                    </p:animEffect>
                                  </p:childTnLst>
                                </p:cTn>
                              </p:par>
                            </p:childTnLst>
                          </p:cTn>
                        </p:par>
                        <p:par>
                          <p:cTn id="36" fill="hold" nodeType="afterGroup">
                            <p:stCondLst>
                              <p:cond delay="8000"/>
                            </p:stCondLst>
                            <p:childTnLst>
                              <p:par>
                                <p:cTn id="37" presetID="22" presetClass="entr" presetSubtype="1" fill="hold" grpId="0" nodeType="afterEffect">
                                  <p:stCondLst>
                                    <p:cond delay="0"/>
                                  </p:stCondLst>
                                  <p:childTnLst>
                                    <p:set>
                                      <p:cBhvr>
                                        <p:cTn id="38" dur="1" fill="hold">
                                          <p:stCondLst>
                                            <p:cond delay="0"/>
                                          </p:stCondLst>
                                        </p:cTn>
                                        <p:tgtEl>
                                          <p:spTgt spid="400620"/>
                                        </p:tgtEl>
                                        <p:attrNameLst>
                                          <p:attrName>style.visibility</p:attrName>
                                        </p:attrNameLst>
                                      </p:cBhvr>
                                      <p:to>
                                        <p:strVal val="visible"/>
                                      </p:to>
                                    </p:set>
                                    <p:animEffect transition="in" filter="wipe(up)">
                                      <p:cBhvr>
                                        <p:cTn id="39" dur="1000"/>
                                        <p:tgtEl>
                                          <p:spTgt spid="400620"/>
                                        </p:tgtEl>
                                      </p:cBhvr>
                                    </p:animEffect>
                                  </p:childTnLst>
                                </p:cTn>
                              </p:par>
                            </p:childTnLst>
                          </p:cTn>
                        </p:par>
                        <p:par>
                          <p:cTn id="40" fill="hold" nodeType="afterGroup">
                            <p:stCondLst>
                              <p:cond delay="9000"/>
                            </p:stCondLst>
                            <p:childTnLst>
                              <p:par>
                                <p:cTn id="41" presetID="9" presetClass="entr" presetSubtype="0" fill="hold" nodeType="afterEffect">
                                  <p:stCondLst>
                                    <p:cond delay="0"/>
                                  </p:stCondLst>
                                  <p:childTnLst>
                                    <p:set>
                                      <p:cBhvr>
                                        <p:cTn id="42" dur="1" fill="hold">
                                          <p:stCondLst>
                                            <p:cond delay="0"/>
                                          </p:stCondLst>
                                        </p:cTn>
                                        <p:tgtEl>
                                          <p:spTgt spid="400623"/>
                                        </p:tgtEl>
                                        <p:attrNameLst>
                                          <p:attrName>style.visibility</p:attrName>
                                        </p:attrNameLst>
                                      </p:cBhvr>
                                      <p:to>
                                        <p:strVal val="visible"/>
                                      </p:to>
                                    </p:set>
                                    <p:animEffect transition="in" filter="dissolve">
                                      <p:cBhvr>
                                        <p:cTn id="43" dur="500"/>
                                        <p:tgtEl>
                                          <p:spTgt spid="400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611" grpId="0" animBg="1"/>
      <p:bldP spid="400612" grpId="0" animBg="1"/>
      <p:bldP spid="400614" grpId="0" animBg="1"/>
      <p:bldP spid="400615" grpId="0" animBg="1"/>
      <p:bldP spid="400616" grpId="0" animBg="1"/>
      <p:bldP spid="400617" grpId="0" animBg="1"/>
      <p:bldP spid="400618" grpId="0" animBg="1"/>
      <p:bldP spid="400619" grpId="0" animBg="1"/>
      <p:bldP spid="4006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r>
              <a:rPr lang="zh-CN" altLang="en-US" dirty="0"/>
              <a:t>数据传输过程</a:t>
            </a:r>
          </a:p>
        </p:txBody>
      </p:sp>
      <p:sp>
        <p:nvSpPr>
          <p:cNvPr id="528392" name="Rectangle 8"/>
          <p:cNvSpPr>
            <a:spLocks noGrp="1" noChangeArrowheads="1"/>
          </p:cNvSpPr>
          <p:nvPr>
            <p:ph type="body" idx="1"/>
          </p:nvPr>
        </p:nvSpPr>
        <p:spPr>
          <a:xfrm>
            <a:off x="1572551" y="3151079"/>
            <a:ext cx="6278298" cy="707201"/>
          </a:xfrm>
        </p:spPr>
        <p:txBody>
          <a:bodyPr/>
          <a:lstStyle/>
          <a:p>
            <a:pPr marL="0" indent="0" algn="ctr">
              <a:lnSpc>
                <a:spcPct val="120000"/>
              </a:lnSpc>
              <a:buNone/>
            </a:pPr>
            <a:r>
              <a:rPr lang="en-US" altLang="zh-CN" sz="2400" dirty="0" smtClean="0">
                <a:solidFill>
                  <a:srgbClr val="0000FF"/>
                </a:solidFill>
              </a:rPr>
              <a:t>4</a:t>
            </a:r>
            <a:r>
              <a:rPr lang="zh-CN" altLang="en-US" sz="2400" dirty="0" smtClean="0">
                <a:solidFill>
                  <a:srgbClr val="0000FF"/>
                </a:solidFill>
              </a:rPr>
              <a:t>段</a:t>
            </a:r>
            <a:r>
              <a:rPr lang="zh-CN" altLang="en-US" sz="2400" dirty="0">
                <a:solidFill>
                  <a:srgbClr val="0000FF"/>
                </a:solidFill>
              </a:rPr>
              <a:t>链路</a:t>
            </a:r>
            <a:r>
              <a:rPr lang="zh-CN" altLang="en-US" sz="2400" dirty="0" smtClean="0">
                <a:solidFill>
                  <a:srgbClr val="0000FF"/>
                </a:solidFill>
              </a:rPr>
              <a:t>可采用</a:t>
            </a:r>
            <a:r>
              <a:rPr lang="zh-CN" altLang="en-US" sz="2400" dirty="0">
                <a:solidFill>
                  <a:srgbClr val="0000FF"/>
                </a:solidFill>
              </a:rPr>
              <a:t>不同的数据链路层</a:t>
            </a:r>
            <a:r>
              <a:rPr lang="zh-CN" altLang="en-US" sz="2400" dirty="0" smtClean="0">
                <a:solidFill>
                  <a:srgbClr val="0000FF"/>
                </a:solidFill>
              </a:rPr>
              <a:t>协议</a:t>
            </a:r>
            <a:endParaRPr lang="zh-CN" altLang="en-US" sz="2400" dirty="0">
              <a:solidFill>
                <a:srgbClr val="0000FF"/>
              </a:solidFill>
            </a:endParaRPr>
          </a:p>
        </p:txBody>
      </p:sp>
      <p:sp>
        <p:nvSpPr>
          <p:cNvPr id="528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52838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sp>
        <p:nvSpPr>
          <p:cNvPr id="7" name="Line 3"/>
          <p:cNvSpPr>
            <a:spLocks noChangeShapeType="1"/>
          </p:cNvSpPr>
          <p:nvPr/>
        </p:nvSpPr>
        <p:spPr bwMode="auto">
          <a:xfrm flipH="1" flipV="1">
            <a:off x="7835900" y="2649116"/>
            <a:ext cx="368300" cy="460554"/>
          </a:xfrm>
          <a:prstGeom prst="line">
            <a:avLst/>
          </a:prstGeom>
          <a:noFill/>
          <a:ln w="28575">
            <a:solidFill>
              <a:srgbClr val="3333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8" name="Line 4"/>
          <p:cNvSpPr>
            <a:spLocks noChangeShapeType="1"/>
          </p:cNvSpPr>
          <p:nvPr/>
        </p:nvSpPr>
        <p:spPr bwMode="auto">
          <a:xfrm flipH="1" flipV="1">
            <a:off x="6743700" y="2344316"/>
            <a:ext cx="635000" cy="215900"/>
          </a:xfrm>
          <a:prstGeom prst="line">
            <a:avLst/>
          </a:prstGeom>
          <a:noFill/>
          <a:ln w="28575">
            <a:solidFill>
              <a:srgbClr val="3333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9" name="Line 5"/>
          <p:cNvSpPr>
            <a:spLocks noChangeShapeType="1"/>
          </p:cNvSpPr>
          <p:nvPr/>
        </p:nvSpPr>
        <p:spPr bwMode="auto">
          <a:xfrm flipV="1">
            <a:off x="5854700" y="2331616"/>
            <a:ext cx="762000" cy="152400"/>
          </a:xfrm>
          <a:prstGeom prst="line">
            <a:avLst/>
          </a:prstGeom>
          <a:noFill/>
          <a:ln w="28575">
            <a:solidFill>
              <a:srgbClr val="3333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10" name="Line 6"/>
          <p:cNvSpPr>
            <a:spLocks noChangeShapeType="1"/>
          </p:cNvSpPr>
          <p:nvPr/>
        </p:nvSpPr>
        <p:spPr bwMode="auto">
          <a:xfrm flipV="1">
            <a:off x="4787900" y="2407816"/>
            <a:ext cx="914400" cy="76200"/>
          </a:xfrm>
          <a:prstGeom prst="line">
            <a:avLst/>
          </a:prstGeom>
          <a:noFill/>
          <a:ln w="28575">
            <a:solidFill>
              <a:srgbClr val="3333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11" name="Line 7"/>
          <p:cNvSpPr>
            <a:spLocks noChangeShapeType="1"/>
          </p:cNvSpPr>
          <p:nvPr/>
        </p:nvSpPr>
        <p:spPr bwMode="auto">
          <a:xfrm>
            <a:off x="3721100" y="2484016"/>
            <a:ext cx="914400" cy="0"/>
          </a:xfrm>
          <a:prstGeom prst="line">
            <a:avLst/>
          </a:prstGeom>
          <a:noFill/>
          <a:ln w="28575">
            <a:solidFill>
              <a:srgbClr val="3333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12" name="Line 8"/>
          <p:cNvSpPr>
            <a:spLocks noChangeShapeType="1"/>
          </p:cNvSpPr>
          <p:nvPr/>
        </p:nvSpPr>
        <p:spPr bwMode="auto">
          <a:xfrm>
            <a:off x="2578100" y="2255416"/>
            <a:ext cx="914400" cy="228600"/>
          </a:xfrm>
          <a:prstGeom prst="line">
            <a:avLst/>
          </a:prstGeom>
          <a:noFill/>
          <a:ln w="28575">
            <a:solidFill>
              <a:srgbClr val="3333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13" name="Freeform 9"/>
          <p:cNvSpPr>
            <a:spLocks/>
          </p:cNvSpPr>
          <p:nvPr/>
        </p:nvSpPr>
        <p:spPr bwMode="auto">
          <a:xfrm>
            <a:off x="1183614" y="2338299"/>
            <a:ext cx="1184727" cy="805786"/>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cmpd="sng">
            <a:solidFill>
              <a:srgbClr val="333399"/>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grpSp>
        <p:nvGrpSpPr>
          <p:cNvPr id="14" name="Group 10"/>
          <p:cNvGrpSpPr>
            <a:grpSpLocks/>
          </p:cNvGrpSpPr>
          <p:nvPr/>
        </p:nvGrpSpPr>
        <p:grpSpPr bwMode="auto">
          <a:xfrm>
            <a:off x="1225550" y="2360757"/>
            <a:ext cx="1128713" cy="781050"/>
            <a:chOff x="1680" y="240"/>
            <a:chExt cx="2529" cy="1270"/>
          </a:xfrm>
        </p:grpSpPr>
        <p:sp>
          <p:nvSpPr>
            <p:cNvPr id="15" name="Oval 11"/>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16" name="Oval 12"/>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17" name="Oval 13"/>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18" name="Oval 14"/>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19" name="Oval 15"/>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20" name="Oval 16"/>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21" name="Oval 17"/>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22" name="Oval 18"/>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23" name="Oval 19"/>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grpSp>
      <p:grpSp>
        <p:nvGrpSpPr>
          <p:cNvPr id="24" name="Group 20"/>
          <p:cNvGrpSpPr>
            <a:grpSpLocks/>
          </p:cNvGrpSpPr>
          <p:nvPr/>
        </p:nvGrpSpPr>
        <p:grpSpPr bwMode="auto">
          <a:xfrm>
            <a:off x="3035300" y="2103016"/>
            <a:ext cx="1128713" cy="781050"/>
            <a:chOff x="1680" y="240"/>
            <a:chExt cx="2529" cy="1270"/>
          </a:xfrm>
        </p:grpSpPr>
        <p:sp>
          <p:nvSpPr>
            <p:cNvPr id="25" name="Oval 21"/>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26" name="Oval 22"/>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27" name="Oval 23"/>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28" name="Oval 24"/>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29" name="Oval 25"/>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30" name="Oval 26"/>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31" name="Oval 27"/>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32" name="Oval 28"/>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33" name="Oval 29"/>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grpSp>
      <p:sp>
        <p:nvSpPr>
          <p:cNvPr id="34" name="Text Box 30"/>
          <p:cNvSpPr txBox="1">
            <a:spLocks noChangeArrowheads="1"/>
          </p:cNvSpPr>
          <p:nvPr/>
        </p:nvSpPr>
        <p:spPr bwMode="auto">
          <a:xfrm>
            <a:off x="3225800" y="2291928"/>
            <a:ext cx="8699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lt"/>
                <a:ea typeface="+mn-ea"/>
              </a:rPr>
              <a:t>局域网</a:t>
            </a:r>
          </a:p>
        </p:txBody>
      </p:sp>
      <p:pic>
        <p:nvPicPr>
          <p:cNvPr id="35" name="Picture 31"/>
          <p:cNvPicPr>
            <a:picLocks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378075" y="2134766"/>
            <a:ext cx="441325" cy="3016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699">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tx1"/>
                  </a:outerShdw>
                </a:effectLst>
              </a14:hiddenEffects>
            </a:ext>
          </a:extLst>
        </p:spPr>
      </p:pic>
      <p:pic>
        <p:nvPicPr>
          <p:cNvPr id="36" name="Picture 32"/>
          <p:cNvPicPr>
            <a:picLocks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494212" y="2353793"/>
            <a:ext cx="441325" cy="3016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699">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tx1"/>
                  </a:outerShdw>
                </a:effectLst>
              </a14:hiddenEffects>
            </a:ext>
          </a:extLst>
        </p:spPr>
      </p:pic>
      <p:pic>
        <p:nvPicPr>
          <p:cNvPr id="37" name="Picture 33"/>
          <p:cNvPicPr>
            <a:picLocks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8123897" y="2874720"/>
            <a:ext cx="533400" cy="469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8" name="Picture 34"/>
          <p:cNvPicPr>
            <a:picLocks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464300" y="2182391"/>
            <a:ext cx="441325" cy="3016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699">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tx1"/>
                  </a:outerShdw>
                </a:effectLst>
              </a14:hiddenEffects>
            </a:ext>
          </a:extLst>
        </p:spPr>
      </p:pic>
      <p:grpSp>
        <p:nvGrpSpPr>
          <p:cNvPr id="39" name="Group 35"/>
          <p:cNvGrpSpPr>
            <a:grpSpLocks/>
          </p:cNvGrpSpPr>
          <p:nvPr/>
        </p:nvGrpSpPr>
        <p:grpSpPr bwMode="auto">
          <a:xfrm>
            <a:off x="5168900" y="2103016"/>
            <a:ext cx="1128713" cy="781050"/>
            <a:chOff x="1680" y="240"/>
            <a:chExt cx="2529" cy="1270"/>
          </a:xfrm>
        </p:grpSpPr>
        <p:sp>
          <p:nvSpPr>
            <p:cNvPr id="40" name="Oval 36"/>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41" name="Oval 37"/>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42" name="Oval 38"/>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43" name="Oval 39"/>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44" name="Oval 40"/>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45" name="Oval 41"/>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46" name="Oval 42"/>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47" name="Oval 43"/>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48" name="Oval 44"/>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grpSp>
      <p:sp>
        <p:nvSpPr>
          <p:cNvPr id="49" name="Text Box 45"/>
          <p:cNvSpPr txBox="1">
            <a:spLocks noChangeArrowheads="1"/>
          </p:cNvSpPr>
          <p:nvPr/>
        </p:nvSpPr>
        <p:spPr bwMode="auto">
          <a:xfrm>
            <a:off x="5334000" y="2291928"/>
            <a:ext cx="8699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lt"/>
                <a:ea typeface="+mn-ea"/>
              </a:rPr>
              <a:t>广域网</a:t>
            </a:r>
          </a:p>
        </p:txBody>
      </p:sp>
      <p:sp>
        <p:nvSpPr>
          <p:cNvPr id="50" name="Text Box 46"/>
          <p:cNvSpPr txBox="1">
            <a:spLocks noChangeArrowheads="1"/>
          </p:cNvSpPr>
          <p:nvPr/>
        </p:nvSpPr>
        <p:spPr bwMode="auto">
          <a:xfrm>
            <a:off x="375850" y="2483921"/>
            <a:ext cx="93980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dirty="0">
                <a:latin typeface="+mn-lt"/>
                <a:ea typeface="+mn-ea"/>
              </a:rPr>
              <a:t>主机</a:t>
            </a:r>
            <a:r>
              <a:rPr lang="zh-CN" altLang="en-US" sz="1400" b="1" dirty="0">
                <a:latin typeface="+mn-lt"/>
                <a:ea typeface="+mn-ea"/>
              </a:rPr>
              <a:t> </a:t>
            </a:r>
            <a:r>
              <a:rPr lang="en-US" altLang="zh-CN" sz="1800" b="1" dirty="0">
                <a:latin typeface="+mn-lt"/>
                <a:ea typeface="+mn-ea"/>
              </a:rPr>
              <a:t>H</a:t>
            </a:r>
            <a:r>
              <a:rPr lang="en-US" altLang="zh-CN" sz="1800" b="1" baseline="-25000" dirty="0">
                <a:latin typeface="+mn-lt"/>
                <a:ea typeface="+mn-ea"/>
              </a:rPr>
              <a:t>1</a:t>
            </a:r>
          </a:p>
        </p:txBody>
      </p:sp>
      <p:sp>
        <p:nvSpPr>
          <p:cNvPr id="51" name="Text Box 47"/>
          <p:cNvSpPr txBox="1">
            <a:spLocks noChangeArrowheads="1"/>
          </p:cNvSpPr>
          <p:nvPr/>
        </p:nvSpPr>
        <p:spPr bwMode="auto">
          <a:xfrm>
            <a:off x="8024813" y="2499838"/>
            <a:ext cx="93980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dirty="0">
                <a:latin typeface="+mn-lt"/>
                <a:ea typeface="+mn-ea"/>
              </a:rPr>
              <a:t>主机</a:t>
            </a:r>
            <a:r>
              <a:rPr lang="zh-CN" altLang="en-US" sz="1400" b="1" dirty="0">
                <a:latin typeface="+mn-lt"/>
                <a:ea typeface="+mn-ea"/>
              </a:rPr>
              <a:t> </a:t>
            </a:r>
            <a:r>
              <a:rPr lang="en-US" altLang="zh-CN" sz="1800" b="1" dirty="0">
                <a:latin typeface="+mn-lt"/>
                <a:ea typeface="+mn-ea"/>
              </a:rPr>
              <a:t>H</a:t>
            </a:r>
            <a:r>
              <a:rPr lang="en-US" altLang="zh-CN" sz="1800" b="1" baseline="-25000" dirty="0">
                <a:latin typeface="+mn-lt"/>
                <a:ea typeface="+mn-ea"/>
              </a:rPr>
              <a:t>2</a:t>
            </a:r>
          </a:p>
        </p:txBody>
      </p:sp>
      <p:sp>
        <p:nvSpPr>
          <p:cNvPr id="52" name="Text Box 48"/>
          <p:cNvSpPr txBox="1">
            <a:spLocks noChangeArrowheads="1"/>
          </p:cNvSpPr>
          <p:nvPr/>
        </p:nvSpPr>
        <p:spPr bwMode="auto">
          <a:xfrm>
            <a:off x="2047875" y="1772816"/>
            <a:ext cx="1150938"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lt"/>
                <a:ea typeface="+mn-ea"/>
              </a:rPr>
              <a:t>路由器</a:t>
            </a:r>
            <a:r>
              <a:rPr lang="zh-CN" altLang="en-US" sz="900" b="1">
                <a:latin typeface="+mn-lt"/>
                <a:ea typeface="+mn-ea"/>
              </a:rPr>
              <a:t> </a:t>
            </a:r>
            <a:r>
              <a:rPr lang="en-US" altLang="zh-CN" sz="1800" b="1">
                <a:latin typeface="+mn-lt"/>
                <a:ea typeface="+mn-ea"/>
              </a:rPr>
              <a:t>R</a:t>
            </a:r>
            <a:r>
              <a:rPr lang="en-US" altLang="zh-CN" sz="1800" b="1" baseline="-25000">
                <a:latin typeface="+mn-lt"/>
                <a:ea typeface="+mn-ea"/>
              </a:rPr>
              <a:t>1</a:t>
            </a:r>
          </a:p>
        </p:txBody>
      </p:sp>
      <p:sp>
        <p:nvSpPr>
          <p:cNvPr id="53" name="Text Box 49"/>
          <p:cNvSpPr txBox="1">
            <a:spLocks noChangeArrowheads="1"/>
          </p:cNvSpPr>
          <p:nvPr/>
        </p:nvSpPr>
        <p:spPr bwMode="auto">
          <a:xfrm>
            <a:off x="4206875" y="1969666"/>
            <a:ext cx="1150938"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lt"/>
                <a:ea typeface="+mn-ea"/>
              </a:rPr>
              <a:t>路由器</a:t>
            </a:r>
            <a:r>
              <a:rPr lang="zh-CN" altLang="en-US" sz="900" b="1">
                <a:latin typeface="+mn-lt"/>
                <a:ea typeface="+mn-ea"/>
              </a:rPr>
              <a:t> </a:t>
            </a:r>
            <a:r>
              <a:rPr lang="en-US" altLang="zh-CN" sz="1800" b="1">
                <a:latin typeface="+mn-lt"/>
                <a:ea typeface="+mn-ea"/>
              </a:rPr>
              <a:t>R</a:t>
            </a:r>
            <a:r>
              <a:rPr lang="en-US" altLang="zh-CN" sz="1800" b="1" baseline="-25000">
                <a:latin typeface="+mn-lt"/>
                <a:ea typeface="+mn-ea"/>
              </a:rPr>
              <a:t>2</a:t>
            </a:r>
          </a:p>
        </p:txBody>
      </p:sp>
      <p:sp>
        <p:nvSpPr>
          <p:cNvPr id="54" name="Text Box 50"/>
          <p:cNvSpPr txBox="1">
            <a:spLocks noChangeArrowheads="1"/>
          </p:cNvSpPr>
          <p:nvPr/>
        </p:nvSpPr>
        <p:spPr bwMode="auto">
          <a:xfrm>
            <a:off x="6151563" y="1829966"/>
            <a:ext cx="1150937"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lt"/>
                <a:ea typeface="+mn-ea"/>
              </a:rPr>
              <a:t>路由器</a:t>
            </a:r>
            <a:r>
              <a:rPr lang="zh-CN" altLang="en-US" sz="900" b="1">
                <a:latin typeface="+mn-lt"/>
                <a:ea typeface="+mn-ea"/>
              </a:rPr>
              <a:t> </a:t>
            </a:r>
            <a:r>
              <a:rPr lang="en-US" altLang="zh-CN" sz="1800" b="1">
                <a:latin typeface="+mn-lt"/>
                <a:ea typeface="+mn-ea"/>
              </a:rPr>
              <a:t>R</a:t>
            </a:r>
            <a:r>
              <a:rPr lang="en-US" altLang="zh-CN" sz="1800" b="1" baseline="-25000">
                <a:latin typeface="+mn-lt"/>
                <a:ea typeface="+mn-ea"/>
              </a:rPr>
              <a:t>3</a:t>
            </a:r>
          </a:p>
        </p:txBody>
      </p:sp>
      <p:sp>
        <p:nvSpPr>
          <p:cNvPr id="55" name="Text Box 51"/>
          <p:cNvSpPr txBox="1">
            <a:spLocks noChangeArrowheads="1"/>
          </p:cNvSpPr>
          <p:nvPr/>
        </p:nvSpPr>
        <p:spPr bwMode="auto">
          <a:xfrm>
            <a:off x="1341002" y="2528155"/>
            <a:ext cx="8699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dirty="0">
                <a:latin typeface="+mn-lt"/>
                <a:ea typeface="+mn-ea"/>
              </a:rPr>
              <a:t>电话网</a:t>
            </a:r>
          </a:p>
        </p:txBody>
      </p:sp>
      <p:grpSp>
        <p:nvGrpSpPr>
          <p:cNvPr id="56" name="Group 53"/>
          <p:cNvGrpSpPr>
            <a:grpSpLocks/>
          </p:cNvGrpSpPr>
          <p:nvPr/>
        </p:nvGrpSpPr>
        <p:grpSpPr bwMode="auto">
          <a:xfrm>
            <a:off x="601873" y="2884559"/>
            <a:ext cx="665163" cy="546100"/>
            <a:chOff x="624" y="2968"/>
            <a:chExt cx="1331" cy="920"/>
          </a:xfrm>
        </p:grpSpPr>
        <p:sp>
          <p:nvSpPr>
            <p:cNvPr id="57" name="Freeform 54"/>
            <p:cNvSpPr>
              <a:spLocks/>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rgbClr val="1C1C1C"/>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8" name="Freeform 55"/>
            <p:cNvSpPr>
              <a:spLocks/>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9" name="Freeform 56"/>
            <p:cNvSpPr>
              <a:spLocks/>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0" name="Freeform 57"/>
            <p:cNvSpPr>
              <a:spLocks/>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1" name="Freeform 58"/>
            <p:cNvSpPr>
              <a:spLocks/>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2" name="Freeform 59"/>
            <p:cNvSpPr>
              <a:spLocks/>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3" name="Freeform 60"/>
            <p:cNvSpPr>
              <a:spLocks/>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4" name="Freeform 61"/>
            <p:cNvSpPr>
              <a:spLocks/>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rgbClr val="1C1C1C"/>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5" name="Freeform 62"/>
            <p:cNvSpPr>
              <a:spLocks/>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6" name="Freeform 63"/>
            <p:cNvSpPr>
              <a:spLocks/>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7" name="Freeform 64"/>
            <p:cNvSpPr>
              <a:spLocks/>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8" name="Freeform 65"/>
            <p:cNvSpPr>
              <a:spLocks/>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nvGrpSpPr>
            <p:cNvPr id="69" name="Group 66"/>
            <p:cNvGrpSpPr>
              <a:grpSpLocks/>
            </p:cNvGrpSpPr>
            <p:nvPr/>
          </p:nvGrpSpPr>
          <p:grpSpPr bwMode="auto">
            <a:xfrm>
              <a:off x="700" y="3526"/>
              <a:ext cx="515" cy="270"/>
              <a:chOff x="700" y="3526"/>
              <a:chExt cx="515" cy="270"/>
            </a:xfrm>
          </p:grpSpPr>
          <p:grpSp>
            <p:nvGrpSpPr>
              <p:cNvPr id="95" name="Group 67"/>
              <p:cNvGrpSpPr>
                <a:grpSpLocks/>
              </p:cNvGrpSpPr>
              <p:nvPr/>
            </p:nvGrpSpPr>
            <p:grpSpPr bwMode="auto">
              <a:xfrm>
                <a:off x="737" y="3534"/>
                <a:ext cx="49" cy="23"/>
                <a:chOff x="737" y="3534"/>
                <a:chExt cx="49" cy="23"/>
              </a:xfrm>
            </p:grpSpPr>
            <p:sp>
              <p:nvSpPr>
                <p:cNvPr id="506" name="Freeform 68"/>
                <p:cNvSpPr>
                  <a:spLocks/>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07" name="Freeform 69"/>
                <p:cNvSpPr>
                  <a:spLocks/>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08" name="Freeform 70"/>
                <p:cNvSpPr>
                  <a:spLocks/>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96" name="Group 71"/>
              <p:cNvGrpSpPr>
                <a:grpSpLocks/>
              </p:cNvGrpSpPr>
              <p:nvPr/>
            </p:nvGrpSpPr>
            <p:grpSpPr bwMode="auto">
              <a:xfrm>
                <a:off x="748" y="3547"/>
                <a:ext cx="50" cy="23"/>
                <a:chOff x="748" y="3547"/>
                <a:chExt cx="50" cy="23"/>
              </a:xfrm>
            </p:grpSpPr>
            <p:sp>
              <p:nvSpPr>
                <p:cNvPr id="503" name="Freeform 72"/>
                <p:cNvSpPr>
                  <a:spLocks/>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04" name="Freeform 73"/>
                <p:cNvSpPr>
                  <a:spLocks/>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05" name="Freeform 74"/>
                <p:cNvSpPr>
                  <a:spLocks/>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sp>
            <p:nvSpPr>
              <p:cNvPr id="97" name="Freeform 75"/>
              <p:cNvSpPr>
                <a:spLocks/>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98" name="Freeform 76"/>
              <p:cNvSpPr>
                <a:spLocks/>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99" name="Freeform 77"/>
              <p:cNvSpPr>
                <a:spLocks/>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00" name="Freeform 78"/>
              <p:cNvSpPr>
                <a:spLocks/>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nvGrpSpPr>
              <p:cNvPr id="101" name="Group 79"/>
              <p:cNvGrpSpPr>
                <a:grpSpLocks/>
              </p:cNvGrpSpPr>
              <p:nvPr/>
            </p:nvGrpSpPr>
            <p:grpSpPr bwMode="auto">
              <a:xfrm>
                <a:off x="872" y="3547"/>
                <a:ext cx="50" cy="23"/>
                <a:chOff x="872" y="3547"/>
                <a:chExt cx="50" cy="23"/>
              </a:xfrm>
            </p:grpSpPr>
            <p:sp>
              <p:nvSpPr>
                <p:cNvPr id="500" name="Freeform 80"/>
                <p:cNvSpPr>
                  <a:spLocks/>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01" name="Freeform 81"/>
                <p:cNvSpPr>
                  <a:spLocks/>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02" name="Freeform 82"/>
                <p:cNvSpPr>
                  <a:spLocks/>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02" name="Group 83"/>
              <p:cNvGrpSpPr>
                <a:grpSpLocks/>
              </p:cNvGrpSpPr>
              <p:nvPr/>
            </p:nvGrpSpPr>
            <p:grpSpPr bwMode="auto">
              <a:xfrm>
                <a:off x="885" y="3559"/>
                <a:ext cx="50" cy="23"/>
                <a:chOff x="885" y="3559"/>
                <a:chExt cx="50" cy="23"/>
              </a:xfrm>
            </p:grpSpPr>
            <p:sp>
              <p:nvSpPr>
                <p:cNvPr id="497" name="Freeform 84"/>
                <p:cNvSpPr>
                  <a:spLocks/>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98" name="Freeform 85"/>
                <p:cNvSpPr>
                  <a:spLocks/>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99" name="Freeform 86"/>
                <p:cNvSpPr>
                  <a:spLocks/>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03" name="Group 87"/>
              <p:cNvGrpSpPr>
                <a:grpSpLocks/>
              </p:cNvGrpSpPr>
              <p:nvPr/>
            </p:nvGrpSpPr>
            <p:grpSpPr bwMode="auto">
              <a:xfrm>
                <a:off x="898" y="3571"/>
                <a:ext cx="49" cy="23"/>
                <a:chOff x="898" y="3571"/>
                <a:chExt cx="49" cy="23"/>
              </a:xfrm>
            </p:grpSpPr>
            <p:sp>
              <p:nvSpPr>
                <p:cNvPr id="494" name="Freeform 88"/>
                <p:cNvSpPr>
                  <a:spLocks/>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95" name="Freeform 89"/>
                <p:cNvSpPr>
                  <a:spLocks/>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96" name="Freeform 90"/>
                <p:cNvSpPr>
                  <a:spLocks/>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04" name="Group 91"/>
              <p:cNvGrpSpPr>
                <a:grpSpLocks/>
              </p:cNvGrpSpPr>
              <p:nvPr/>
            </p:nvGrpSpPr>
            <p:grpSpPr bwMode="auto">
              <a:xfrm>
                <a:off x="911" y="3585"/>
                <a:ext cx="49" cy="23"/>
                <a:chOff x="911" y="3585"/>
                <a:chExt cx="49" cy="23"/>
              </a:xfrm>
            </p:grpSpPr>
            <p:sp>
              <p:nvSpPr>
                <p:cNvPr id="491" name="Freeform 92"/>
                <p:cNvSpPr>
                  <a:spLocks/>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92" name="Freeform 93"/>
                <p:cNvSpPr>
                  <a:spLocks/>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93" name="Freeform 94"/>
                <p:cNvSpPr>
                  <a:spLocks/>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05" name="Group 95"/>
              <p:cNvGrpSpPr>
                <a:grpSpLocks/>
              </p:cNvGrpSpPr>
              <p:nvPr/>
            </p:nvGrpSpPr>
            <p:grpSpPr bwMode="auto">
              <a:xfrm>
                <a:off x="923" y="3600"/>
                <a:ext cx="99" cy="73"/>
                <a:chOff x="923" y="3600"/>
                <a:chExt cx="99" cy="73"/>
              </a:xfrm>
            </p:grpSpPr>
            <p:grpSp>
              <p:nvGrpSpPr>
                <p:cNvPr id="471" name="Group 96"/>
                <p:cNvGrpSpPr>
                  <a:grpSpLocks/>
                </p:cNvGrpSpPr>
                <p:nvPr/>
              </p:nvGrpSpPr>
              <p:grpSpPr bwMode="auto">
                <a:xfrm>
                  <a:off x="923" y="3600"/>
                  <a:ext cx="49" cy="23"/>
                  <a:chOff x="923" y="3600"/>
                  <a:chExt cx="49" cy="23"/>
                </a:xfrm>
              </p:grpSpPr>
              <p:sp>
                <p:nvSpPr>
                  <p:cNvPr id="488" name="Freeform 97"/>
                  <p:cNvSpPr>
                    <a:spLocks/>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89" name="Freeform 98"/>
                  <p:cNvSpPr>
                    <a:spLocks/>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90" name="Freeform 99"/>
                  <p:cNvSpPr>
                    <a:spLocks/>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72" name="Group 100"/>
                <p:cNvGrpSpPr>
                  <a:grpSpLocks/>
                </p:cNvGrpSpPr>
                <p:nvPr/>
              </p:nvGrpSpPr>
              <p:grpSpPr bwMode="auto">
                <a:xfrm>
                  <a:off x="935" y="3612"/>
                  <a:ext cx="48" cy="23"/>
                  <a:chOff x="935" y="3612"/>
                  <a:chExt cx="48" cy="23"/>
                </a:xfrm>
              </p:grpSpPr>
              <p:sp>
                <p:nvSpPr>
                  <p:cNvPr id="485" name="Freeform 101"/>
                  <p:cNvSpPr>
                    <a:spLocks/>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86" name="Freeform 102"/>
                  <p:cNvSpPr>
                    <a:spLocks/>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87" name="Freeform 103"/>
                  <p:cNvSpPr>
                    <a:spLocks/>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73" name="Group 104"/>
                <p:cNvGrpSpPr>
                  <a:grpSpLocks/>
                </p:cNvGrpSpPr>
                <p:nvPr/>
              </p:nvGrpSpPr>
              <p:grpSpPr bwMode="auto">
                <a:xfrm>
                  <a:off x="947" y="3625"/>
                  <a:ext cx="50" cy="22"/>
                  <a:chOff x="947" y="3625"/>
                  <a:chExt cx="50" cy="22"/>
                </a:xfrm>
              </p:grpSpPr>
              <p:sp>
                <p:nvSpPr>
                  <p:cNvPr id="482" name="Freeform 105"/>
                  <p:cNvSpPr>
                    <a:spLocks/>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83" name="Freeform 106"/>
                  <p:cNvSpPr>
                    <a:spLocks/>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84" name="Freeform 107"/>
                  <p:cNvSpPr>
                    <a:spLocks/>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74" name="Group 108"/>
                <p:cNvGrpSpPr>
                  <a:grpSpLocks/>
                </p:cNvGrpSpPr>
                <p:nvPr/>
              </p:nvGrpSpPr>
              <p:grpSpPr bwMode="auto">
                <a:xfrm>
                  <a:off x="960" y="3637"/>
                  <a:ext cx="50" cy="23"/>
                  <a:chOff x="960" y="3637"/>
                  <a:chExt cx="50" cy="23"/>
                </a:xfrm>
              </p:grpSpPr>
              <p:sp>
                <p:nvSpPr>
                  <p:cNvPr id="479" name="Freeform 109"/>
                  <p:cNvSpPr>
                    <a:spLocks/>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80" name="Freeform 110"/>
                  <p:cNvSpPr>
                    <a:spLocks/>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81" name="Freeform 111"/>
                  <p:cNvSpPr>
                    <a:spLocks/>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75" name="Group 112"/>
                <p:cNvGrpSpPr>
                  <a:grpSpLocks/>
                </p:cNvGrpSpPr>
                <p:nvPr/>
              </p:nvGrpSpPr>
              <p:grpSpPr bwMode="auto">
                <a:xfrm>
                  <a:off x="973" y="3650"/>
                  <a:ext cx="49" cy="23"/>
                  <a:chOff x="973" y="3650"/>
                  <a:chExt cx="49" cy="23"/>
                </a:xfrm>
              </p:grpSpPr>
              <p:sp>
                <p:nvSpPr>
                  <p:cNvPr id="476" name="Freeform 113"/>
                  <p:cNvSpPr>
                    <a:spLocks/>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77" name="Freeform 114"/>
                  <p:cNvSpPr>
                    <a:spLocks/>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78" name="Freeform 115"/>
                  <p:cNvSpPr>
                    <a:spLocks/>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06" name="Group 116"/>
              <p:cNvGrpSpPr>
                <a:grpSpLocks/>
              </p:cNvGrpSpPr>
              <p:nvPr/>
            </p:nvGrpSpPr>
            <p:grpSpPr bwMode="auto">
              <a:xfrm>
                <a:off x="985" y="3665"/>
                <a:ext cx="100" cy="73"/>
                <a:chOff x="985" y="3665"/>
                <a:chExt cx="100" cy="73"/>
              </a:xfrm>
            </p:grpSpPr>
            <p:grpSp>
              <p:nvGrpSpPr>
                <p:cNvPr id="451" name="Group 117"/>
                <p:cNvGrpSpPr>
                  <a:grpSpLocks/>
                </p:cNvGrpSpPr>
                <p:nvPr/>
              </p:nvGrpSpPr>
              <p:grpSpPr bwMode="auto">
                <a:xfrm>
                  <a:off x="985" y="3665"/>
                  <a:ext cx="50" cy="23"/>
                  <a:chOff x="985" y="3665"/>
                  <a:chExt cx="50" cy="23"/>
                </a:xfrm>
              </p:grpSpPr>
              <p:sp>
                <p:nvSpPr>
                  <p:cNvPr id="468" name="Freeform 118"/>
                  <p:cNvSpPr>
                    <a:spLocks/>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69" name="Freeform 119"/>
                  <p:cNvSpPr>
                    <a:spLocks/>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70" name="Freeform 120"/>
                  <p:cNvSpPr>
                    <a:spLocks/>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52" name="Group 121"/>
                <p:cNvGrpSpPr>
                  <a:grpSpLocks/>
                </p:cNvGrpSpPr>
                <p:nvPr/>
              </p:nvGrpSpPr>
              <p:grpSpPr bwMode="auto">
                <a:xfrm>
                  <a:off x="997" y="3677"/>
                  <a:ext cx="49" cy="23"/>
                  <a:chOff x="997" y="3677"/>
                  <a:chExt cx="49" cy="23"/>
                </a:xfrm>
              </p:grpSpPr>
              <p:sp>
                <p:nvSpPr>
                  <p:cNvPr id="465" name="Freeform 122"/>
                  <p:cNvSpPr>
                    <a:spLocks/>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66" name="Freeform 123"/>
                  <p:cNvSpPr>
                    <a:spLocks/>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67" name="Freeform 124"/>
                  <p:cNvSpPr>
                    <a:spLocks/>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53" name="Group 125"/>
                <p:cNvGrpSpPr>
                  <a:grpSpLocks/>
                </p:cNvGrpSpPr>
                <p:nvPr/>
              </p:nvGrpSpPr>
              <p:grpSpPr bwMode="auto">
                <a:xfrm>
                  <a:off x="1010" y="3690"/>
                  <a:ext cx="48" cy="23"/>
                  <a:chOff x="1010" y="3690"/>
                  <a:chExt cx="48" cy="23"/>
                </a:xfrm>
              </p:grpSpPr>
              <p:sp>
                <p:nvSpPr>
                  <p:cNvPr id="462" name="Freeform 126"/>
                  <p:cNvSpPr>
                    <a:spLocks/>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63" name="Freeform 127"/>
                  <p:cNvSpPr>
                    <a:spLocks/>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64" name="Freeform 128"/>
                  <p:cNvSpPr>
                    <a:spLocks/>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54" name="Group 129"/>
                <p:cNvGrpSpPr>
                  <a:grpSpLocks/>
                </p:cNvGrpSpPr>
                <p:nvPr/>
              </p:nvGrpSpPr>
              <p:grpSpPr bwMode="auto">
                <a:xfrm>
                  <a:off x="1023" y="3703"/>
                  <a:ext cx="49" cy="22"/>
                  <a:chOff x="1023" y="3703"/>
                  <a:chExt cx="49" cy="22"/>
                </a:xfrm>
              </p:grpSpPr>
              <p:sp>
                <p:nvSpPr>
                  <p:cNvPr id="459" name="Freeform 130"/>
                  <p:cNvSpPr>
                    <a:spLocks/>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60" name="Freeform 131"/>
                  <p:cNvSpPr>
                    <a:spLocks/>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61" name="Freeform 132"/>
                  <p:cNvSpPr>
                    <a:spLocks/>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55" name="Group 133"/>
                <p:cNvGrpSpPr>
                  <a:grpSpLocks/>
                </p:cNvGrpSpPr>
                <p:nvPr/>
              </p:nvGrpSpPr>
              <p:grpSpPr bwMode="auto">
                <a:xfrm>
                  <a:off x="1036" y="3716"/>
                  <a:ext cx="49" cy="22"/>
                  <a:chOff x="1036" y="3716"/>
                  <a:chExt cx="49" cy="22"/>
                </a:xfrm>
              </p:grpSpPr>
              <p:sp>
                <p:nvSpPr>
                  <p:cNvPr id="456" name="Freeform 134"/>
                  <p:cNvSpPr>
                    <a:spLocks/>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57" name="Freeform 135"/>
                  <p:cNvSpPr>
                    <a:spLocks/>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58" name="Freeform 136"/>
                  <p:cNvSpPr>
                    <a:spLocks/>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07" name="Group 137"/>
              <p:cNvGrpSpPr>
                <a:grpSpLocks/>
              </p:cNvGrpSpPr>
              <p:nvPr/>
            </p:nvGrpSpPr>
            <p:grpSpPr bwMode="auto">
              <a:xfrm>
                <a:off x="1046" y="3727"/>
                <a:ext cx="49" cy="23"/>
                <a:chOff x="1046" y="3727"/>
                <a:chExt cx="49" cy="23"/>
              </a:xfrm>
            </p:grpSpPr>
            <p:sp>
              <p:nvSpPr>
                <p:cNvPr id="448" name="Freeform 138"/>
                <p:cNvSpPr>
                  <a:spLocks/>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49" name="Freeform 139"/>
                <p:cNvSpPr>
                  <a:spLocks/>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50" name="Freeform 140"/>
                <p:cNvSpPr>
                  <a:spLocks/>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08" name="Group 141"/>
              <p:cNvGrpSpPr>
                <a:grpSpLocks/>
              </p:cNvGrpSpPr>
              <p:nvPr/>
            </p:nvGrpSpPr>
            <p:grpSpPr bwMode="auto">
              <a:xfrm>
                <a:off x="1058" y="3739"/>
                <a:ext cx="50" cy="23"/>
                <a:chOff x="1058" y="3739"/>
                <a:chExt cx="50" cy="23"/>
              </a:xfrm>
            </p:grpSpPr>
            <p:sp>
              <p:nvSpPr>
                <p:cNvPr id="445" name="Freeform 142"/>
                <p:cNvSpPr>
                  <a:spLocks/>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46" name="Freeform 143"/>
                <p:cNvSpPr>
                  <a:spLocks/>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47" name="Freeform 144"/>
                <p:cNvSpPr>
                  <a:spLocks/>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09" name="Group 145"/>
              <p:cNvGrpSpPr>
                <a:grpSpLocks/>
              </p:cNvGrpSpPr>
              <p:nvPr/>
            </p:nvGrpSpPr>
            <p:grpSpPr bwMode="auto">
              <a:xfrm>
                <a:off x="1072" y="3753"/>
                <a:ext cx="48" cy="22"/>
                <a:chOff x="1072" y="3753"/>
                <a:chExt cx="48" cy="22"/>
              </a:xfrm>
            </p:grpSpPr>
            <p:sp>
              <p:nvSpPr>
                <p:cNvPr id="442" name="Freeform 146"/>
                <p:cNvSpPr>
                  <a:spLocks/>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43" name="Freeform 147"/>
                <p:cNvSpPr>
                  <a:spLocks/>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44" name="Freeform 148"/>
                <p:cNvSpPr>
                  <a:spLocks/>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sp>
            <p:nvSpPr>
              <p:cNvPr id="110" name="Freeform 149"/>
              <p:cNvSpPr>
                <a:spLocks/>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11" name="Freeform 150"/>
              <p:cNvSpPr>
                <a:spLocks/>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12" name="Freeform 151"/>
              <p:cNvSpPr>
                <a:spLocks/>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nvGrpSpPr>
              <p:cNvPr id="113" name="Group 152"/>
              <p:cNvGrpSpPr>
                <a:grpSpLocks/>
              </p:cNvGrpSpPr>
              <p:nvPr/>
            </p:nvGrpSpPr>
            <p:grpSpPr bwMode="auto">
              <a:xfrm>
                <a:off x="832" y="3547"/>
                <a:ext cx="49" cy="23"/>
                <a:chOff x="832" y="3547"/>
                <a:chExt cx="49" cy="23"/>
              </a:xfrm>
            </p:grpSpPr>
            <p:sp>
              <p:nvSpPr>
                <p:cNvPr id="439" name="Freeform 153"/>
                <p:cNvSpPr>
                  <a:spLocks/>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40" name="Freeform 154"/>
                <p:cNvSpPr>
                  <a:spLocks/>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41" name="Freeform 155"/>
                <p:cNvSpPr>
                  <a:spLocks/>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14" name="Group 156"/>
              <p:cNvGrpSpPr>
                <a:grpSpLocks/>
              </p:cNvGrpSpPr>
              <p:nvPr/>
            </p:nvGrpSpPr>
            <p:grpSpPr bwMode="auto">
              <a:xfrm>
                <a:off x="844" y="3560"/>
                <a:ext cx="49" cy="22"/>
                <a:chOff x="844" y="3560"/>
                <a:chExt cx="49" cy="22"/>
              </a:xfrm>
            </p:grpSpPr>
            <p:sp>
              <p:nvSpPr>
                <p:cNvPr id="436" name="Freeform 157"/>
                <p:cNvSpPr>
                  <a:spLocks/>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37" name="Freeform 158"/>
                <p:cNvSpPr>
                  <a:spLocks/>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38" name="Freeform 159"/>
                <p:cNvSpPr>
                  <a:spLocks/>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15" name="Group 160"/>
              <p:cNvGrpSpPr>
                <a:grpSpLocks/>
              </p:cNvGrpSpPr>
              <p:nvPr/>
            </p:nvGrpSpPr>
            <p:grpSpPr bwMode="auto">
              <a:xfrm>
                <a:off x="857" y="3572"/>
                <a:ext cx="50" cy="23"/>
                <a:chOff x="857" y="3572"/>
                <a:chExt cx="50" cy="23"/>
              </a:xfrm>
            </p:grpSpPr>
            <p:sp>
              <p:nvSpPr>
                <p:cNvPr id="433" name="Freeform 161"/>
                <p:cNvSpPr>
                  <a:spLocks/>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34" name="Freeform 162"/>
                <p:cNvSpPr>
                  <a:spLocks/>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35" name="Freeform 163"/>
                <p:cNvSpPr>
                  <a:spLocks/>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16" name="Group 164"/>
              <p:cNvGrpSpPr>
                <a:grpSpLocks/>
              </p:cNvGrpSpPr>
              <p:nvPr/>
            </p:nvGrpSpPr>
            <p:grpSpPr bwMode="auto">
              <a:xfrm>
                <a:off x="870" y="3585"/>
                <a:ext cx="48" cy="23"/>
                <a:chOff x="870" y="3585"/>
                <a:chExt cx="48" cy="23"/>
              </a:xfrm>
            </p:grpSpPr>
            <p:sp>
              <p:nvSpPr>
                <p:cNvPr id="430" name="Freeform 165"/>
                <p:cNvSpPr>
                  <a:spLocks/>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31" name="Freeform 166"/>
                <p:cNvSpPr>
                  <a:spLocks/>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32" name="Freeform 167"/>
                <p:cNvSpPr>
                  <a:spLocks/>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17" name="Group 168"/>
              <p:cNvGrpSpPr>
                <a:grpSpLocks/>
              </p:cNvGrpSpPr>
              <p:nvPr/>
            </p:nvGrpSpPr>
            <p:grpSpPr bwMode="auto">
              <a:xfrm>
                <a:off x="882" y="3600"/>
                <a:ext cx="100" cy="73"/>
                <a:chOff x="882" y="3600"/>
                <a:chExt cx="100" cy="73"/>
              </a:xfrm>
            </p:grpSpPr>
            <p:grpSp>
              <p:nvGrpSpPr>
                <p:cNvPr id="410" name="Group 169"/>
                <p:cNvGrpSpPr>
                  <a:grpSpLocks/>
                </p:cNvGrpSpPr>
                <p:nvPr/>
              </p:nvGrpSpPr>
              <p:grpSpPr bwMode="auto">
                <a:xfrm>
                  <a:off x="882" y="3600"/>
                  <a:ext cx="49" cy="23"/>
                  <a:chOff x="882" y="3600"/>
                  <a:chExt cx="49" cy="23"/>
                </a:xfrm>
              </p:grpSpPr>
              <p:sp>
                <p:nvSpPr>
                  <p:cNvPr id="427" name="Freeform 170"/>
                  <p:cNvSpPr>
                    <a:spLocks/>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28" name="Freeform 171"/>
                  <p:cNvSpPr>
                    <a:spLocks/>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29" name="Freeform 172"/>
                  <p:cNvSpPr>
                    <a:spLocks/>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11" name="Group 173"/>
                <p:cNvGrpSpPr>
                  <a:grpSpLocks/>
                </p:cNvGrpSpPr>
                <p:nvPr/>
              </p:nvGrpSpPr>
              <p:grpSpPr bwMode="auto">
                <a:xfrm>
                  <a:off x="894" y="3612"/>
                  <a:ext cx="49" cy="23"/>
                  <a:chOff x="894" y="3612"/>
                  <a:chExt cx="49" cy="23"/>
                </a:xfrm>
              </p:grpSpPr>
              <p:sp>
                <p:nvSpPr>
                  <p:cNvPr id="424" name="Freeform 174"/>
                  <p:cNvSpPr>
                    <a:spLocks/>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25" name="Freeform 175"/>
                  <p:cNvSpPr>
                    <a:spLocks/>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26" name="Freeform 176"/>
                  <p:cNvSpPr>
                    <a:spLocks/>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12" name="Group 177"/>
                <p:cNvGrpSpPr>
                  <a:grpSpLocks/>
                </p:cNvGrpSpPr>
                <p:nvPr/>
              </p:nvGrpSpPr>
              <p:grpSpPr bwMode="auto">
                <a:xfrm>
                  <a:off x="907" y="3625"/>
                  <a:ext cx="49" cy="23"/>
                  <a:chOff x="907" y="3625"/>
                  <a:chExt cx="49" cy="23"/>
                </a:xfrm>
              </p:grpSpPr>
              <p:sp>
                <p:nvSpPr>
                  <p:cNvPr id="421" name="Freeform 178"/>
                  <p:cNvSpPr>
                    <a:spLocks/>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22" name="Freeform 179"/>
                  <p:cNvSpPr>
                    <a:spLocks/>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23" name="Freeform 180"/>
                  <p:cNvSpPr>
                    <a:spLocks/>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13" name="Group 181"/>
                <p:cNvGrpSpPr>
                  <a:grpSpLocks/>
                </p:cNvGrpSpPr>
                <p:nvPr/>
              </p:nvGrpSpPr>
              <p:grpSpPr bwMode="auto">
                <a:xfrm>
                  <a:off x="919" y="3638"/>
                  <a:ext cx="49" cy="22"/>
                  <a:chOff x="919" y="3638"/>
                  <a:chExt cx="49" cy="22"/>
                </a:xfrm>
              </p:grpSpPr>
              <p:sp>
                <p:nvSpPr>
                  <p:cNvPr id="418" name="Freeform 182"/>
                  <p:cNvSpPr>
                    <a:spLocks/>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19" name="Freeform 183"/>
                  <p:cNvSpPr>
                    <a:spLocks/>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20" name="Freeform 184"/>
                  <p:cNvSpPr>
                    <a:spLocks/>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14" name="Group 185"/>
                <p:cNvGrpSpPr>
                  <a:grpSpLocks/>
                </p:cNvGrpSpPr>
                <p:nvPr/>
              </p:nvGrpSpPr>
              <p:grpSpPr bwMode="auto">
                <a:xfrm>
                  <a:off x="932" y="3651"/>
                  <a:ext cx="50" cy="22"/>
                  <a:chOff x="932" y="3651"/>
                  <a:chExt cx="50" cy="22"/>
                </a:xfrm>
              </p:grpSpPr>
              <p:sp>
                <p:nvSpPr>
                  <p:cNvPr id="415" name="Freeform 186"/>
                  <p:cNvSpPr>
                    <a:spLocks/>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16" name="Freeform 187"/>
                  <p:cNvSpPr>
                    <a:spLocks/>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17" name="Freeform 188"/>
                  <p:cNvSpPr>
                    <a:spLocks/>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18" name="Group 189"/>
              <p:cNvGrpSpPr>
                <a:grpSpLocks/>
              </p:cNvGrpSpPr>
              <p:nvPr/>
            </p:nvGrpSpPr>
            <p:grpSpPr bwMode="auto">
              <a:xfrm>
                <a:off x="944" y="3665"/>
                <a:ext cx="99" cy="74"/>
                <a:chOff x="944" y="3665"/>
                <a:chExt cx="99" cy="74"/>
              </a:xfrm>
            </p:grpSpPr>
            <p:grpSp>
              <p:nvGrpSpPr>
                <p:cNvPr id="390" name="Group 190"/>
                <p:cNvGrpSpPr>
                  <a:grpSpLocks/>
                </p:cNvGrpSpPr>
                <p:nvPr/>
              </p:nvGrpSpPr>
              <p:grpSpPr bwMode="auto">
                <a:xfrm>
                  <a:off x="944" y="3665"/>
                  <a:ext cx="49" cy="23"/>
                  <a:chOff x="944" y="3665"/>
                  <a:chExt cx="49" cy="23"/>
                </a:xfrm>
              </p:grpSpPr>
              <p:sp>
                <p:nvSpPr>
                  <p:cNvPr id="407" name="Freeform 191"/>
                  <p:cNvSpPr>
                    <a:spLocks/>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08" name="Freeform 192"/>
                  <p:cNvSpPr>
                    <a:spLocks/>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09" name="Freeform 193"/>
                  <p:cNvSpPr>
                    <a:spLocks/>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91" name="Group 194"/>
                <p:cNvGrpSpPr>
                  <a:grpSpLocks/>
                </p:cNvGrpSpPr>
                <p:nvPr/>
              </p:nvGrpSpPr>
              <p:grpSpPr bwMode="auto">
                <a:xfrm>
                  <a:off x="957" y="3678"/>
                  <a:ext cx="48" cy="23"/>
                  <a:chOff x="957" y="3678"/>
                  <a:chExt cx="48" cy="23"/>
                </a:xfrm>
              </p:grpSpPr>
              <p:sp>
                <p:nvSpPr>
                  <p:cNvPr id="404" name="Freeform 195"/>
                  <p:cNvSpPr>
                    <a:spLocks/>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05" name="Freeform 196"/>
                  <p:cNvSpPr>
                    <a:spLocks/>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06" name="Freeform 197"/>
                  <p:cNvSpPr>
                    <a:spLocks/>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92" name="Group 198"/>
                <p:cNvGrpSpPr>
                  <a:grpSpLocks/>
                </p:cNvGrpSpPr>
                <p:nvPr/>
              </p:nvGrpSpPr>
              <p:grpSpPr bwMode="auto">
                <a:xfrm>
                  <a:off x="969" y="3690"/>
                  <a:ext cx="49" cy="23"/>
                  <a:chOff x="969" y="3690"/>
                  <a:chExt cx="49" cy="23"/>
                </a:xfrm>
              </p:grpSpPr>
              <p:sp>
                <p:nvSpPr>
                  <p:cNvPr id="401" name="Freeform 199"/>
                  <p:cNvSpPr>
                    <a:spLocks/>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02" name="Freeform 200"/>
                  <p:cNvSpPr>
                    <a:spLocks/>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03" name="Freeform 201"/>
                  <p:cNvSpPr>
                    <a:spLocks/>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93" name="Group 202"/>
                <p:cNvGrpSpPr>
                  <a:grpSpLocks/>
                </p:cNvGrpSpPr>
                <p:nvPr/>
              </p:nvGrpSpPr>
              <p:grpSpPr bwMode="auto">
                <a:xfrm>
                  <a:off x="982" y="3703"/>
                  <a:ext cx="49" cy="23"/>
                  <a:chOff x="982" y="3703"/>
                  <a:chExt cx="49" cy="23"/>
                </a:xfrm>
              </p:grpSpPr>
              <p:sp>
                <p:nvSpPr>
                  <p:cNvPr id="398" name="Freeform 203"/>
                  <p:cNvSpPr>
                    <a:spLocks/>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99" name="Freeform 204"/>
                  <p:cNvSpPr>
                    <a:spLocks/>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00" name="Freeform 205"/>
                  <p:cNvSpPr>
                    <a:spLocks/>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94" name="Group 206"/>
                <p:cNvGrpSpPr>
                  <a:grpSpLocks/>
                </p:cNvGrpSpPr>
                <p:nvPr/>
              </p:nvGrpSpPr>
              <p:grpSpPr bwMode="auto">
                <a:xfrm>
                  <a:off x="995" y="3716"/>
                  <a:ext cx="48" cy="23"/>
                  <a:chOff x="995" y="3716"/>
                  <a:chExt cx="48" cy="23"/>
                </a:xfrm>
              </p:grpSpPr>
              <p:sp>
                <p:nvSpPr>
                  <p:cNvPr id="395" name="Freeform 207"/>
                  <p:cNvSpPr>
                    <a:spLocks/>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96" name="Freeform 208"/>
                  <p:cNvSpPr>
                    <a:spLocks/>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97" name="Freeform 209"/>
                  <p:cNvSpPr>
                    <a:spLocks/>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19" name="Group 210"/>
              <p:cNvGrpSpPr>
                <a:grpSpLocks/>
              </p:cNvGrpSpPr>
              <p:nvPr/>
            </p:nvGrpSpPr>
            <p:grpSpPr bwMode="auto">
              <a:xfrm>
                <a:off x="1005" y="3727"/>
                <a:ext cx="49" cy="23"/>
                <a:chOff x="1005" y="3727"/>
                <a:chExt cx="49" cy="23"/>
              </a:xfrm>
            </p:grpSpPr>
            <p:sp>
              <p:nvSpPr>
                <p:cNvPr id="387" name="Freeform 211"/>
                <p:cNvSpPr>
                  <a:spLocks/>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88" name="Freeform 212"/>
                <p:cNvSpPr>
                  <a:spLocks/>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89" name="Freeform 213"/>
                <p:cNvSpPr>
                  <a:spLocks/>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20" name="Group 214"/>
              <p:cNvGrpSpPr>
                <a:grpSpLocks/>
              </p:cNvGrpSpPr>
              <p:nvPr/>
            </p:nvGrpSpPr>
            <p:grpSpPr bwMode="auto">
              <a:xfrm>
                <a:off x="1018" y="3740"/>
                <a:ext cx="49" cy="22"/>
                <a:chOff x="1018" y="3740"/>
                <a:chExt cx="49" cy="22"/>
              </a:xfrm>
            </p:grpSpPr>
            <p:sp>
              <p:nvSpPr>
                <p:cNvPr id="384" name="Freeform 215"/>
                <p:cNvSpPr>
                  <a:spLocks/>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85" name="Freeform 216"/>
                <p:cNvSpPr>
                  <a:spLocks/>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86" name="Freeform 217"/>
                <p:cNvSpPr>
                  <a:spLocks/>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21" name="Group 218"/>
              <p:cNvGrpSpPr>
                <a:grpSpLocks/>
              </p:cNvGrpSpPr>
              <p:nvPr/>
            </p:nvGrpSpPr>
            <p:grpSpPr bwMode="auto">
              <a:xfrm>
                <a:off x="1030" y="3753"/>
                <a:ext cx="49" cy="23"/>
                <a:chOff x="1030" y="3753"/>
                <a:chExt cx="49" cy="23"/>
              </a:xfrm>
            </p:grpSpPr>
            <p:sp>
              <p:nvSpPr>
                <p:cNvPr id="381" name="Freeform 219"/>
                <p:cNvSpPr>
                  <a:spLocks/>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82" name="Freeform 220"/>
                <p:cNvSpPr>
                  <a:spLocks/>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83" name="Freeform 221"/>
                <p:cNvSpPr>
                  <a:spLocks/>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sp>
            <p:nvSpPr>
              <p:cNvPr id="122" name="Freeform 222"/>
              <p:cNvSpPr>
                <a:spLocks/>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23" name="Freeform 223"/>
              <p:cNvSpPr>
                <a:spLocks/>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24" name="Freeform 224"/>
              <p:cNvSpPr>
                <a:spLocks/>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nvGrpSpPr>
              <p:cNvPr id="125" name="Group 225"/>
              <p:cNvGrpSpPr>
                <a:grpSpLocks/>
              </p:cNvGrpSpPr>
              <p:nvPr/>
            </p:nvGrpSpPr>
            <p:grpSpPr bwMode="auto">
              <a:xfrm>
                <a:off x="790" y="3547"/>
                <a:ext cx="49" cy="23"/>
                <a:chOff x="790" y="3547"/>
                <a:chExt cx="49" cy="23"/>
              </a:xfrm>
            </p:grpSpPr>
            <p:sp>
              <p:nvSpPr>
                <p:cNvPr id="378" name="Freeform 226"/>
                <p:cNvSpPr>
                  <a:spLocks/>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79" name="Freeform 227"/>
                <p:cNvSpPr>
                  <a:spLocks/>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80" name="Freeform 228"/>
                <p:cNvSpPr>
                  <a:spLocks/>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26" name="Group 229"/>
              <p:cNvGrpSpPr>
                <a:grpSpLocks/>
              </p:cNvGrpSpPr>
              <p:nvPr/>
            </p:nvGrpSpPr>
            <p:grpSpPr bwMode="auto">
              <a:xfrm>
                <a:off x="803" y="3560"/>
                <a:ext cx="49" cy="22"/>
                <a:chOff x="803" y="3560"/>
                <a:chExt cx="49" cy="22"/>
              </a:xfrm>
            </p:grpSpPr>
            <p:sp>
              <p:nvSpPr>
                <p:cNvPr id="375" name="Freeform 230"/>
                <p:cNvSpPr>
                  <a:spLocks/>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76" name="Freeform 231"/>
                <p:cNvSpPr>
                  <a:spLocks/>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77" name="Freeform 232"/>
                <p:cNvSpPr>
                  <a:spLocks/>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27" name="Group 233"/>
              <p:cNvGrpSpPr>
                <a:grpSpLocks/>
              </p:cNvGrpSpPr>
              <p:nvPr/>
            </p:nvGrpSpPr>
            <p:grpSpPr bwMode="auto">
              <a:xfrm>
                <a:off x="815" y="3572"/>
                <a:ext cx="50" cy="23"/>
                <a:chOff x="815" y="3572"/>
                <a:chExt cx="50" cy="23"/>
              </a:xfrm>
            </p:grpSpPr>
            <p:sp>
              <p:nvSpPr>
                <p:cNvPr id="372" name="Freeform 234"/>
                <p:cNvSpPr>
                  <a:spLocks/>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73" name="Freeform 235"/>
                <p:cNvSpPr>
                  <a:spLocks/>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74" name="Freeform 236"/>
                <p:cNvSpPr>
                  <a:spLocks/>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28" name="Group 237"/>
              <p:cNvGrpSpPr>
                <a:grpSpLocks/>
              </p:cNvGrpSpPr>
              <p:nvPr/>
            </p:nvGrpSpPr>
            <p:grpSpPr bwMode="auto">
              <a:xfrm>
                <a:off x="828" y="3585"/>
                <a:ext cx="49" cy="23"/>
                <a:chOff x="828" y="3585"/>
                <a:chExt cx="49" cy="23"/>
              </a:xfrm>
            </p:grpSpPr>
            <p:sp>
              <p:nvSpPr>
                <p:cNvPr id="369" name="Freeform 238"/>
                <p:cNvSpPr>
                  <a:spLocks/>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70" name="Freeform 239"/>
                <p:cNvSpPr>
                  <a:spLocks/>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71" name="Freeform 240"/>
                <p:cNvSpPr>
                  <a:spLocks/>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29" name="Group 241"/>
              <p:cNvGrpSpPr>
                <a:grpSpLocks/>
              </p:cNvGrpSpPr>
              <p:nvPr/>
            </p:nvGrpSpPr>
            <p:grpSpPr bwMode="auto">
              <a:xfrm>
                <a:off x="840" y="3600"/>
                <a:ext cx="100" cy="73"/>
                <a:chOff x="840" y="3600"/>
                <a:chExt cx="100" cy="73"/>
              </a:xfrm>
            </p:grpSpPr>
            <p:grpSp>
              <p:nvGrpSpPr>
                <p:cNvPr id="349" name="Group 242"/>
                <p:cNvGrpSpPr>
                  <a:grpSpLocks/>
                </p:cNvGrpSpPr>
                <p:nvPr/>
              </p:nvGrpSpPr>
              <p:grpSpPr bwMode="auto">
                <a:xfrm>
                  <a:off x="840" y="3600"/>
                  <a:ext cx="49" cy="23"/>
                  <a:chOff x="840" y="3600"/>
                  <a:chExt cx="49" cy="23"/>
                </a:xfrm>
              </p:grpSpPr>
              <p:sp>
                <p:nvSpPr>
                  <p:cNvPr id="366" name="Freeform 243"/>
                  <p:cNvSpPr>
                    <a:spLocks/>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67" name="Freeform 244"/>
                  <p:cNvSpPr>
                    <a:spLocks/>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68" name="Freeform 245"/>
                  <p:cNvSpPr>
                    <a:spLocks/>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50" name="Group 246"/>
                <p:cNvGrpSpPr>
                  <a:grpSpLocks/>
                </p:cNvGrpSpPr>
                <p:nvPr/>
              </p:nvGrpSpPr>
              <p:grpSpPr bwMode="auto">
                <a:xfrm>
                  <a:off x="853" y="3612"/>
                  <a:ext cx="48" cy="23"/>
                  <a:chOff x="853" y="3612"/>
                  <a:chExt cx="48" cy="23"/>
                </a:xfrm>
              </p:grpSpPr>
              <p:sp>
                <p:nvSpPr>
                  <p:cNvPr id="363" name="Freeform 247"/>
                  <p:cNvSpPr>
                    <a:spLocks/>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64" name="Freeform 248"/>
                  <p:cNvSpPr>
                    <a:spLocks/>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65" name="Freeform 249"/>
                  <p:cNvSpPr>
                    <a:spLocks/>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51" name="Group 250"/>
                <p:cNvGrpSpPr>
                  <a:grpSpLocks/>
                </p:cNvGrpSpPr>
                <p:nvPr/>
              </p:nvGrpSpPr>
              <p:grpSpPr bwMode="auto">
                <a:xfrm>
                  <a:off x="865" y="3625"/>
                  <a:ext cx="49" cy="23"/>
                  <a:chOff x="865" y="3625"/>
                  <a:chExt cx="49" cy="23"/>
                </a:xfrm>
              </p:grpSpPr>
              <p:sp>
                <p:nvSpPr>
                  <p:cNvPr id="360" name="Freeform 251"/>
                  <p:cNvSpPr>
                    <a:spLocks/>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61" name="Freeform 252"/>
                  <p:cNvSpPr>
                    <a:spLocks/>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62" name="Freeform 253"/>
                  <p:cNvSpPr>
                    <a:spLocks/>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52" name="Group 254"/>
                <p:cNvGrpSpPr>
                  <a:grpSpLocks/>
                </p:cNvGrpSpPr>
                <p:nvPr/>
              </p:nvGrpSpPr>
              <p:grpSpPr bwMode="auto">
                <a:xfrm>
                  <a:off x="878" y="3638"/>
                  <a:ext cx="49" cy="22"/>
                  <a:chOff x="878" y="3638"/>
                  <a:chExt cx="49" cy="22"/>
                </a:xfrm>
              </p:grpSpPr>
              <p:sp>
                <p:nvSpPr>
                  <p:cNvPr id="357" name="Freeform 255"/>
                  <p:cNvSpPr>
                    <a:spLocks/>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58" name="Freeform 256"/>
                  <p:cNvSpPr>
                    <a:spLocks/>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59" name="Freeform 257"/>
                  <p:cNvSpPr>
                    <a:spLocks/>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53" name="Group 258"/>
                <p:cNvGrpSpPr>
                  <a:grpSpLocks/>
                </p:cNvGrpSpPr>
                <p:nvPr/>
              </p:nvGrpSpPr>
              <p:grpSpPr bwMode="auto">
                <a:xfrm>
                  <a:off x="890" y="3651"/>
                  <a:ext cx="50" cy="22"/>
                  <a:chOff x="890" y="3651"/>
                  <a:chExt cx="50" cy="22"/>
                </a:xfrm>
              </p:grpSpPr>
              <p:sp>
                <p:nvSpPr>
                  <p:cNvPr id="354" name="Freeform 259"/>
                  <p:cNvSpPr>
                    <a:spLocks/>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55" name="Freeform 260"/>
                  <p:cNvSpPr>
                    <a:spLocks/>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56" name="Freeform 261"/>
                  <p:cNvSpPr>
                    <a:spLocks/>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30" name="Group 262"/>
              <p:cNvGrpSpPr>
                <a:grpSpLocks/>
              </p:cNvGrpSpPr>
              <p:nvPr/>
            </p:nvGrpSpPr>
            <p:grpSpPr bwMode="auto">
              <a:xfrm>
                <a:off x="903" y="3665"/>
                <a:ext cx="99" cy="74"/>
                <a:chOff x="903" y="3665"/>
                <a:chExt cx="99" cy="74"/>
              </a:xfrm>
            </p:grpSpPr>
            <p:grpSp>
              <p:nvGrpSpPr>
                <p:cNvPr id="329" name="Group 263"/>
                <p:cNvGrpSpPr>
                  <a:grpSpLocks/>
                </p:cNvGrpSpPr>
                <p:nvPr/>
              </p:nvGrpSpPr>
              <p:grpSpPr bwMode="auto">
                <a:xfrm>
                  <a:off x="903" y="3665"/>
                  <a:ext cx="49" cy="23"/>
                  <a:chOff x="903" y="3665"/>
                  <a:chExt cx="49" cy="23"/>
                </a:xfrm>
              </p:grpSpPr>
              <p:sp>
                <p:nvSpPr>
                  <p:cNvPr id="346" name="Freeform 264"/>
                  <p:cNvSpPr>
                    <a:spLocks/>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47" name="Freeform 265"/>
                  <p:cNvSpPr>
                    <a:spLocks/>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48" name="Freeform 266"/>
                  <p:cNvSpPr>
                    <a:spLocks/>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30" name="Group 267"/>
                <p:cNvGrpSpPr>
                  <a:grpSpLocks/>
                </p:cNvGrpSpPr>
                <p:nvPr/>
              </p:nvGrpSpPr>
              <p:grpSpPr bwMode="auto">
                <a:xfrm>
                  <a:off x="914" y="3678"/>
                  <a:ext cx="49" cy="23"/>
                  <a:chOff x="914" y="3678"/>
                  <a:chExt cx="49" cy="23"/>
                </a:xfrm>
              </p:grpSpPr>
              <p:sp>
                <p:nvSpPr>
                  <p:cNvPr id="343" name="Freeform 268"/>
                  <p:cNvSpPr>
                    <a:spLocks/>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44" name="Freeform 269"/>
                  <p:cNvSpPr>
                    <a:spLocks/>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45" name="Freeform 270"/>
                  <p:cNvSpPr>
                    <a:spLocks/>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31" name="Group 271"/>
                <p:cNvGrpSpPr>
                  <a:grpSpLocks/>
                </p:cNvGrpSpPr>
                <p:nvPr/>
              </p:nvGrpSpPr>
              <p:grpSpPr bwMode="auto">
                <a:xfrm>
                  <a:off x="928" y="3690"/>
                  <a:ext cx="48" cy="23"/>
                  <a:chOff x="928" y="3690"/>
                  <a:chExt cx="48" cy="23"/>
                </a:xfrm>
              </p:grpSpPr>
              <p:sp>
                <p:nvSpPr>
                  <p:cNvPr id="340" name="Freeform 272"/>
                  <p:cNvSpPr>
                    <a:spLocks/>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41" name="Freeform 273"/>
                  <p:cNvSpPr>
                    <a:spLocks/>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42" name="Freeform 274"/>
                  <p:cNvSpPr>
                    <a:spLocks/>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32" name="Group 275"/>
                <p:cNvGrpSpPr>
                  <a:grpSpLocks/>
                </p:cNvGrpSpPr>
                <p:nvPr/>
              </p:nvGrpSpPr>
              <p:grpSpPr bwMode="auto">
                <a:xfrm>
                  <a:off x="940" y="3703"/>
                  <a:ext cx="49" cy="23"/>
                  <a:chOff x="940" y="3703"/>
                  <a:chExt cx="49" cy="23"/>
                </a:xfrm>
              </p:grpSpPr>
              <p:sp>
                <p:nvSpPr>
                  <p:cNvPr id="337" name="Freeform 276"/>
                  <p:cNvSpPr>
                    <a:spLocks/>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38" name="Freeform 277"/>
                  <p:cNvSpPr>
                    <a:spLocks/>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39" name="Freeform 278"/>
                  <p:cNvSpPr>
                    <a:spLocks/>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333" name="Group 279"/>
                <p:cNvGrpSpPr>
                  <a:grpSpLocks/>
                </p:cNvGrpSpPr>
                <p:nvPr/>
              </p:nvGrpSpPr>
              <p:grpSpPr bwMode="auto">
                <a:xfrm>
                  <a:off x="953" y="3716"/>
                  <a:ext cx="49" cy="23"/>
                  <a:chOff x="953" y="3716"/>
                  <a:chExt cx="49" cy="23"/>
                </a:xfrm>
              </p:grpSpPr>
              <p:sp>
                <p:nvSpPr>
                  <p:cNvPr id="334" name="Freeform 280"/>
                  <p:cNvSpPr>
                    <a:spLocks/>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35" name="Freeform 281"/>
                  <p:cNvSpPr>
                    <a:spLocks/>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36" name="Freeform 282"/>
                  <p:cNvSpPr>
                    <a:spLocks/>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31" name="Group 283"/>
              <p:cNvGrpSpPr>
                <a:grpSpLocks/>
              </p:cNvGrpSpPr>
              <p:nvPr/>
            </p:nvGrpSpPr>
            <p:grpSpPr bwMode="auto">
              <a:xfrm>
                <a:off x="963" y="3727"/>
                <a:ext cx="49" cy="23"/>
                <a:chOff x="963" y="3727"/>
                <a:chExt cx="49" cy="23"/>
              </a:xfrm>
            </p:grpSpPr>
            <p:sp>
              <p:nvSpPr>
                <p:cNvPr id="326" name="Freeform 284"/>
                <p:cNvSpPr>
                  <a:spLocks/>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27" name="Freeform 285"/>
                <p:cNvSpPr>
                  <a:spLocks/>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28" name="Freeform 286"/>
                <p:cNvSpPr>
                  <a:spLocks/>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32" name="Group 287"/>
              <p:cNvGrpSpPr>
                <a:grpSpLocks/>
              </p:cNvGrpSpPr>
              <p:nvPr/>
            </p:nvGrpSpPr>
            <p:grpSpPr bwMode="auto">
              <a:xfrm>
                <a:off x="976" y="3740"/>
                <a:ext cx="50" cy="22"/>
                <a:chOff x="976" y="3740"/>
                <a:chExt cx="50" cy="22"/>
              </a:xfrm>
            </p:grpSpPr>
            <p:sp>
              <p:nvSpPr>
                <p:cNvPr id="323" name="Freeform 288"/>
                <p:cNvSpPr>
                  <a:spLocks/>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24" name="Freeform 289"/>
                <p:cNvSpPr>
                  <a:spLocks/>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25" name="Freeform 290"/>
                <p:cNvSpPr>
                  <a:spLocks/>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33" name="Group 291"/>
              <p:cNvGrpSpPr>
                <a:grpSpLocks/>
              </p:cNvGrpSpPr>
              <p:nvPr/>
            </p:nvGrpSpPr>
            <p:grpSpPr bwMode="auto">
              <a:xfrm>
                <a:off x="761" y="3560"/>
                <a:ext cx="50" cy="22"/>
                <a:chOff x="761" y="3560"/>
                <a:chExt cx="50" cy="22"/>
              </a:xfrm>
            </p:grpSpPr>
            <p:sp>
              <p:nvSpPr>
                <p:cNvPr id="320" name="Freeform 292"/>
                <p:cNvSpPr>
                  <a:spLocks/>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21" name="Freeform 293"/>
                <p:cNvSpPr>
                  <a:spLocks/>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22" name="Freeform 294"/>
                <p:cNvSpPr>
                  <a:spLocks/>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34" name="Group 295"/>
              <p:cNvGrpSpPr>
                <a:grpSpLocks/>
              </p:cNvGrpSpPr>
              <p:nvPr/>
            </p:nvGrpSpPr>
            <p:grpSpPr bwMode="auto">
              <a:xfrm>
                <a:off x="774" y="3572"/>
                <a:ext cx="49" cy="23"/>
                <a:chOff x="774" y="3572"/>
                <a:chExt cx="49" cy="23"/>
              </a:xfrm>
            </p:grpSpPr>
            <p:sp>
              <p:nvSpPr>
                <p:cNvPr id="317" name="Freeform 296"/>
                <p:cNvSpPr>
                  <a:spLocks/>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18" name="Freeform 297"/>
                <p:cNvSpPr>
                  <a:spLocks/>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19" name="Freeform 298"/>
                <p:cNvSpPr>
                  <a:spLocks/>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35" name="Group 299"/>
              <p:cNvGrpSpPr>
                <a:grpSpLocks/>
              </p:cNvGrpSpPr>
              <p:nvPr/>
            </p:nvGrpSpPr>
            <p:grpSpPr bwMode="auto">
              <a:xfrm>
                <a:off x="787" y="3585"/>
                <a:ext cx="49" cy="23"/>
                <a:chOff x="787" y="3585"/>
                <a:chExt cx="49" cy="23"/>
              </a:xfrm>
            </p:grpSpPr>
            <p:sp>
              <p:nvSpPr>
                <p:cNvPr id="314" name="Freeform 300"/>
                <p:cNvSpPr>
                  <a:spLocks/>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15" name="Freeform 301"/>
                <p:cNvSpPr>
                  <a:spLocks/>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16" name="Freeform 302"/>
                <p:cNvSpPr>
                  <a:spLocks/>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36" name="Group 303"/>
              <p:cNvGrpSpPr>
                <a:grpSpLocks/>
              </p:cNvGrpSpPr>
              <p:nvPr/>
            </p:nvGrpSpPr>
            <p:grpSpPr bwMode="auto">
              <a:xfrm>
                <a:off x="799" y="3600"/>
                <a:ext cx="99" cy="73"/>
                <a:chOff x="799" y="3600"/>
                <a:chExt cx="99" cy="73"/>
              </a:xfrm>
            </p:grpSpPr>
            <p:grpSp>
              <p:nvGrpSpPr>
                <p:cNvPr id="294" name="Group 304"/>
                <p:cNvGrpSpPr>
                  <a:grpSpLocks/>
                </p:cNvGrpSpPr>
                <p:nvPr/>
              </p:nvGrpSpPr>
              <p:grpSpPr bwMode="auto">
                <a:xfrm>
                  <a:off x="799" y="3600"/>
                  <a:ext cx="48" cy="23"/>
                  <a:chOff x="799" y="3600"/>
                  <a:chExt cx="48" cy="23"/>
                </a:xfrm>
              </p:grpSpPr>
              <p:sp>
                <p:nvSpPr>
                  <p:cNvPr id="311" name="Freeform 305"/>
                  <p:cNvSpPr>
                    <a:spLocks/>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12" name="Freeform 306"/>
                  <p:cNvSpPr>
                    <a:spLocks/>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13" name="Freeform 307"/>
                  <p:cNvSpPr>
                    <a:spLocks/>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95" name="Group 308"/>
                <p:cNvGrpSpPr>
                  <a:grpSpLocks/>
                </p:cNvGrpSpPr>
                <p:nvPr/>
              </p:nvGrpSpPr>
              <p:grpSpPr bwMode="auto">
                <a:xfrm>
                  <a:off x="811" y="3612"/>
                  <a:ext cx="48" cy="23"/>
                  <a:chOff x="811" y="3612"/>
                  <a:chExt cx="48" cy="23"/>
                </a:xfrm>
              </p:grpSpPr>
              <p:sp>
                <p:nvSpPr>
                  <p:cNvPr id="308" name="Freeform 309"/>
                  <p:cNvSpPr>
                    <a:spLocks/>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09" name="Freeform 310"/>
                  <p:cNvSpPr>
                    <a:spLocks/>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10" name="Freeform 311"/>
                  <p:cNvSpPr>
                    <a:spLocks/>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96" name="Group 312"/>
                <p:cNvGrpSpPr>
                  <a:grpSpLocks/>
                </p:cNvGrpSpPr>
                <p:nvPr/>
              </p:nvGrpSpPr>
              <p:grpSpPr bwMode="auto">
                <a:xfrm>
                  <a:off x="823" y="3625"/>
                  <a:ext cx="49" cy="23"/>
                  <a:chOff x="823" y="3625"/>
                  <a:chExt cx="49" cy="23"/>
                </a:xfrm>
              </p:grpSpPr>
              <p:sp>
                <p:nvSpPr>
                  <p:cNvPr id="305" name="Freeform 313"/>
                  <p:cNvSpPr>
                    <a:spLocks/>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06" name="Freeform 314"/>
                  <p:cNvSpPr>
                    <a:spLocks/>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07" name="Freeform 315"/>
                  <p:cNvSpPr>
                    <a:spLocks/>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97" name="Group 316"/>
                <p:cNvGrpSpPr>
                  <a:grpSpLocks/>
                </p:cNvGrpSpPr>
                <p:nvPr/>
              </p:nvGrpSpPr>
              <p:grpSpPr bwMode="auto">
                <a:xfrm>
                  <a:off x="836" y="3638"/>
                  <a:ext cx="50" cy="22"/>
                  <a:chOff x="836" y="3638"/>
                  <a:chExt cx="50" cy="22"/>
                </a:xfrm>
              </p:grpSpPr>
              <p:sp>
                <p:nvSpPr>
                  <p:cNvPr id="302" name="Freeform 317"/>
                  <p:cNvSpPr>
                    <a:spLocks/>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03" name="Freeform 318"/>
                  <p:cNvSpPr>
                    <a:spLocks/>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04" name="Freeform 319"/>
                  <p:cNvSpPr>
                    <a:spLocks/>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98" name="Group 320"/>
                <p:cNvGrpSpPr>
                  <a:grpSpLocks/>
                </p:cNvGrpSpPr>
                <p:nvPr/>
              </p:nvGrpSpPr>
              <p:grpSpPr bwMode="auto">
                <a:xfrm>
                  <a:off x="849" y="3651"/>
                  <a:ext cx="49" cy="22"/>
                  <a:chOff x="849" y="3651"/>
                  <a:chExt cx="49" cy="22"/>
                </a:xfrm>
              </p:grpSpPr>
              <p:sp>
                <p:nvSpPr>
                  <p:cNvPr id="299" name="Freeform 321"/>
                  <p:cNvSpPr>
                    <a:spLocks/>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00" name="Freeform 322"/>
                  <p:cNvSpPr>
                    <a:spLocks/>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301" name="Freeform 323"/>
                  <p:cNvSpPr>
                    <a:spLocks/>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37" name="Group 324"/>
              <p:cNvGrpSpPr>
                <a:grpSpLocks/>
              </p:cNvGrpSpPr>
              <p:nvPr/>
            </p:nvGrpSpPr>
            <p:grpSpPr bwMode="auto">
              <a:xfrm>
                <a:off x="861" y="3665"/>
                <a:ext cx="99" cy="74"/>
                <a:chOff x="861" y="3665"/>
                <a:chExt cx="99" cy="74"/>
              </a:xfrm>
            </p:grpSpPr>
            <p:grpSp>
              <p:nvGrpSpPr>
                <p:cNvPr id="274" name="Group 325"/>
                <p:cNvGrpSpPr>
                  <a:grpSpLocks/>
                </p:cNvGrpSpPr>
                <p:nvPr/>
              </p:nvGrpSpPr>
              <p:grpSpPr bwMode="auto">
                <a:xfrm>
                  <a:off x="861" y="3665"/>
                  <a:ext cx="50" cy="23"/>
                  <a:chOff x="861" y="3665"/>
                  <a:chExt cx="50" cy="23"/>
                </a:xfrm>
              </p:grpSpPr>
              <p:sp>
                <p:nvSpPr>
                  <p:cNvPr id="291" name="Freeform 326"/>
                  <p:cNvSpPr>
                    <a:spLocks/>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92" name="Freeform 327"/>
                  <p:cNvSpPr>
                    <a:spLocks/>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93" name="Freeform 328"/>
                  <p:cNvSpPr>
                    <a:spLocks/>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75" name="Group 329"/>
                <p:cNvGrpSpPr>
                  <a:grpSpLocks/>
                </p:cNvGrpSpPr>
                <p:nvPr/>
              </p:nvGrpSpPr>
              <p:grpSpPr bwMode="auto">
                <a:xfrm>
                  <a:off x="873" y="3678"/>
                  <a:ext cx="49" cy="23"/>
                  <a:chOff x="873" y="3678"/>
                  <a:chExt cx="49" cy="23"/>
                </a:xfrm>
              </p:grpSpPr>
              <p:sp>
                <p:nvSpPr>
                  <p:cNvPr id="288" name="Freeform 330"/>
                  <p:cNvSpPr>
                    <a:spLocks/>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89" name="Freeform 331"/>
                  <p:cNvSpPr>
                    <a:spLocks/>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90" name="Freeform 332"/>
                  <p:cNvSpPr>
                    <a:spLocks/>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76" name="Group 333"/>
                <p:cNvGrpSpPr>
                  <a:grpSpLocks/>
                </p:cNvGrpSpPr>
                <p:nvPr/>
              </p:nvGrpSpPr>
              <p:grpSpPr bwMode="auto">
                <a:xfrm>
                  <a:off x="886" y="3690"/>
                  <a:ext cx="49" cy="23"/>
                  <a:chOff x="886" y="3690"/>
                  <a:chExt cx="49" cy="23"/>
                </a:xfrm>
              </p:grpSpPr>
              <p:sp>
                <p:nvSpPr>
                  <p:cNvPr id="285" name="Freeform 334"/>
                  <p:cNvSpPr>
                    <a:spLocks/>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86" name="Freeform 335"/>
                  <p:cNvSpPr>
                    <a:spLocks/>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87" name="Freeform 336"/>
                  <p:cNvSpPr>
                    <a:spLocks/>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77" name="Group 337"/>
                <p:cNvGrpSpPr>
                  <a:grpSpLocks/>
                </p:cNvGrpSpPr>
                <p:nvPr/>
              </p:nvGrpSpPr>
              <p:grpSpPr bwMode="auto">
                <a:xfrm>
                  <a:off x="899" y="3703"/>
                  <a:ext cx="48" cy="23"/>
                  <a:chOff x="899" y="3703"/>
                  <a:chExt cx="48" cy="23"/>
                </a:xfrm>
              </p:grpSpPr>
              <p:sp>
                <p:nvSpPr>
                  <p:cNvPr id="282" name="Freeform 338"/>
                  <p:cNvSpPr>
                    <a:spLocks/>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83" name="Freeform 339"/>
                  <p:cNvSpPr>
                    <a:spLocks/>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84" name="Freeform 340"/>
                  <p:cNvSpPr>
                    <a:spLocks/>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78" name="Group 341"/>
                <p:cNvGrpSpPr>
                  <a:grpSpLocks/>
                </p:cNvGrpSpPr>
                <p:nvPr/>
              </p:nvGrpSpPr>
              <p:grpSpPr bwMode="auto">
                <a:xfrm>
                  <a:off x="912" y="3716"/>
                  <a:ext cx="48" cy="23"/>
                  <a:chOff x="912" y="3716"/>
                  <a:chExt cx="48" cy="23"/>
                </a:xfrm>
              </p:grpSpPr>
              <p:sp>
                <p:nvSpPr>
                  <p:cNvPr id="279" name="Freeform 342"/>
                  <p:cNvSpPr>
                    <a:spLocks/>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80" name="Freeform 343"/>
                  <p:cNvSpPr>
                    <a:spLocks/>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81" name="Freeform 344"/>
                  <p:cNvSpPr>
                    <a:spLocks/>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38" name="Group 345"/>
              <p:cNvGrpSpPr>
                <a:grpSpLocks/>
              </p:cNvGrpSpPr>
              <p:nvPr/>
            </p:nvGrpSpPr>
            <p:grpSpPr bwMode="auto">
              <a:xfrm>
                <a:off x="922" y="3727"/>
                <a:ext cx="49" cy="23"/>
                <a:chOff x="922" y="3727"/>
                <a:chExt cx="49" cy="23"/>
              </a:xfrm>
            </p:grpSpPr>
            <p:sp>
              <p:nvSpPr>
                <p:cNvPr id="271" name="Freeform 346"/>
                <p:cNvSpPr>
                  <a:spLocks/>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72" name="Freeform 347"/>
                <p:cNvSpPr>
                  <a:spLocks/>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73" name="Freeform 348"/>
                <p:cNvSpPr>
                  <a:spLocks/>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39" name="Group 349"/>
              <p:cNvGrpSpPr>
                <a:grpSpLocks/>
              </p:cNvGrpSpPr>
              <p:nvPr/>
            </p:nvGrpSpPr>
            <p:grpSpPr bwMode="auto">
              <a:xfrm>
                <a:off x="895" y="3526"/>
                <a:ext cx="44" cy="23"/>
                <a:chOff x="895" y="3526"/>
                <a:chExt cx="44" cy="23"/>
              </a:xfrm>
            </p:grpSpPr>
            <p:sp>
              <p:nvSpPr>
                <p:cNvPr id="268" name="Freeform 350"/>
                <p:cNvSpPr>
                  <a:spLocks/>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69" name="Freeform 351"/>
                <p:cNvSpPr>
                  <a:spLocks/>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70" name="Freeform 352"/>
                <p:cNvSpPr>
                  <a:spLocks/>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40" name="Group 353"/>
              <p:cNvGrpSpPr>
                <a:grpSpLocks/>
              </p:cNvGrpSpPr>
              <p:nvPr/>
            </p:nvGrpSpPr>
            <p:grpSpPr bwMode="auto">
              <a:xfrm>
                <a:off x="907" y="3540"/>
                <a:ext cx="45" cy="22"/>
                <a:chOff x="907" y="3540"/>
                <a:chExt cx="45" cy="22"/>
              </a:xfrm>
            </p:grpSpPr>
            <p:sp>
              <p:nvSpPr>
                <p:cNvPr id="265" name="Freeform 354"/>
                <p:cNvSpPr>
                  <a:spLocks/>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66" name="Freeform 355"/>
                <p:cNvSpPr>
                  <a:spLocks/>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67" name="Freeform 356"/>
                <p:cNvSpPr>
                  <a:spLocks/>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41" name="Group 357"/>
              <p:cNvGrpSpPr>
                <a:grpSpLocks/>
              </p:cNvGrpSpPr>
              <p:nvPr/>
            </p:nvGrpSpPr>
            <p:grpSpPr bwMode="auto">
              <a:xfrm>
                <a:off x="920" y="3553"/>
                <a:ext cx="45" cy="23"/>
                <a:chOff x="920" y="3553"/>
                <a:chExt cx="45" cy="23"/>
              </a:xfrm>
            </p:grpSpPr>
            <p:sp>
              <p:nvSpPr>
                <p:cNvPr id="262" name="Freeform 358"/>
                <p:cNvSpPr>
                  <a:spLocks/>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63" name="Freeform 359"/>
                <p:cNvSpPr>
                  <a:spLocks/>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64" name="Freeform 360"/>
                <p:cNvSpPr>
                  <a:spLocks/>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42" name="Group 361"/>
              <p:cNvGrpSpPr>
                <a:grpSpLocks/>
              </p:cNvGrpSpPr>
              <p:nvPr/>
            </p:nvGrpSpPr>
            <p:grpSpPr bwMode="auto">
              <a:xfrm>
                <a:off x="934" y="3566"/>
                <a:ext cx="44" cy="23"/>
                <a:chOff x="934" y="3566"/>
                <a:chExt cx="44" cy="23"/>
              </a:xfrm>
            </p:grpSpPr>
            <p:sp>
              <p:nvSpPr>
                <p:cNvPr id="259" name="Freeform 362"/>
                <p:cNvSpPr>
                  <a:spLocks/>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60" name="Freeform 363"/>
                <p:cNvSpPr>
                  <a:spLocks/>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61" name="Freeform 364"/>
                <p:cNvSpPr>
                  <a:spLocks/>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43" name="Group 365"/>
              <p:cNvGrpSpPr>
                <a:grpSpLocks/>
              </p:cNvGrpSpPr>
              <p:nvPr/>
            </p:nvGrpSpPr>
            <p:grpSpPr bwMode="auto">
              <a:xfrm>
                <a:off x="949" y="3579"/>
                <a:ext cx="83" cy="63"/>
                <a:chOff x="949" y="3579"/>
                <a:chExt cx="83" cy="63"/>
              </a:xfrm>
            </p:grpSpPr>
            <p:grpSp>
              <p:nvGrpSpPr>
                <p:cNvPr id="243" name="Group 366"/>
                <p:cNvGrpSpPr>
                  <a:grpSpLocks/>
                </p:cNvGrpSpPr>
                <p:nvPr/>
              </p:nvGrpSpPr>
              <p:grpSpPr bwMode="auto">
                <a:xfrm>
                  <a:off x="949" y="3579"/>
                  <a:ext cx="44" cy="23"/>
                  <a:chOff x="949" y="3579"/>
                  <a:chExt cx="44" cy="23"/>
                </a:xfrm>
              </p:grpSpPr>
              <p:sp>
                <p:nvSpPr>
                  <p:cNvPr id="256" name="Freeform 367"/>
                  <p:cNvSpPr>
                    <a:spLocks/>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57" name="Freeform 368"/>
                  <p:cNvSpPr>
                    <a:spLocks/>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58" name="Freeform 369"/>
                  <p:cNvSpPr>
                    <a:spLocks/>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44" name="Group 370"/>
                <p:cNvGrpSpPr>
                  <a:grpSpLocks/>
                </p:cNvGrpSpPr>
                <p:nvPr/>
              </p:nvGrpSpPr>
              <p:grpSpPr bwMode="auto">
                <a:xfrm>
                  <a:off x="961" y="3592"/>
                  <a:ext cx="45" cy="23"/>
                  <a:chOff x="961" y="3592"/>
                  <a:chExt cx="45" cy="23"/>
                </a:xfrm>
              </p:grpSpPr>
              <p:sp>
                <p:nvSpPr>
                  <p:cNvPr id="253" name="Freeform 371"/>
                  <p:cNvSpPr>
                    <a:spLocks/>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54" name="Freeform 372"/>
                  <p:cNvSpPr>
                    <a:spLocks/>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55" name="Freeform 373"/>
                  <p:cNvSpPr>
                    <a:spLocks/>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45" name="Group 374"/>
                <p:cNvGrpSpPr>
                  <a:grpSpLocks/>
                </p:cNvGrpSpPr>
                <p:nvPr/>
              </p:nvGrpSpPr>
              <p:grpSpPr bwMode="auto">
                <a:xfrm>
                  <a:off x="974" y="3606"/>
                  <a:ext cx="44" cy="23"/>
                  <a:chOff x="974" y="3606"/>
                  <a:chExt cx="44" cy="23"/>
                </a:xfrm>
              </p:grpSpPr>
              <p:sp>
                <p:nvSpPr>
                  <p:cNvPr id="250" name="Freeform 375"/>
                  <p:cNvSpPr>
                    <a:spLocks/>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51" name="Freeform 376"/>
                  <p:cNvSpPr>
                    <a:spLocks/>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52" name="Freeform 377"/>
                  <p:cNvSpPr>
                    <a:spLocks/>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46" name="Group 378"/>
                <p:cNvGrpSpPr>
                  <a:grpSpLocks/>
                </p:cNvGrpSpPr>
                <p:nvPr/>
              </p:nvGrpSpPr>
              <p:grpSpPr bwMode="auto">
                <a:xfrm>
                  <a:off x="987" y="3619"/>
                  <a:ext cx="45" cy="23"/>
                  <a:chOff x="987" y="3619"/>
                  <a:chExt cx="45" cy="23"/>
                </a:xfrm>
              </p:grpSpPr>
              <p:sp>
                <p:nvSpPr>
                  <p:cNvPr id="247" name="Freeform 379"/>
                  <p:cNvSpPr>
                    <a:spLocks/>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48" name="Freeform 380"/>
                  <p:cNvSpPr>
                    <a:spLocks/>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49" name="Freeform 381"/>
                  <p:cNvSpPr>
                    <a:spLocks/>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44" name="Group 382"/>
              <p:cNvGrpSpPr>
                <a:grpSpLocks/>
              </p:cNvGrpSpPr>
              <p:nvPr/>
            </p:nvGrpSpPr>
            <p:grpSpPr bwMode="auto">
              <a:xfrm>
                <a:off x="1002" y="3632"/>
                <a:ext cx="83" cy="63"/>
                <a:chOff x="1002" y="3632"/>
                <a:chExt cx="83" cy="63"/>
              </a:xfrm>
            </p:grpSpPr>
            <p:grpSp>
              <p:nvGrpSpPr>
                <p:cNvPr id="227" name="Group 383"/>
                <p:cNvGrpSpPr>
                  <a:grpSpLocks/>
                </p:cNvGrpSpPr>
                <p:nvPr/>
              </p:nvGrpSpPr>
              <p:grpSpPr bwMode="auto">
                <a:xfrm>
                  <a:off x="1002" y="3632"/>
                  <a:ext cx="44" cy="22"/>
                  <a:chOff x="1002" y="3632"/>
                  <a:chExt cx="44" cy="22"/>
                </a:xfrm>
              </p:grpSpPr>
              <p:sp>
                <p:nvSpPr>
                  <p:cNvPr id="240" name="Freeform 384"/>
                  <p:cNvSpPr>
                    <a:spLocks/>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41" name="Freeform 385"/>
                  <p:cNvSpPr>
                    <a:spLocks/>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42" name="Freeform 386"/>
                  <p:cNvSpPr>
                    <a:spLocks/>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28" name="Group 387"/>
                <p:cNvGrpSpPr>
                  <a:grpSpLocks/>
                </p:cNvGrpSpPr>
                <p:nvPr/>
              </p:nvGrpSpPr>
              <p:grpSpPr bwMode="auto">
                <a:xfrm>
                  <a:off x="1014" y="3645"/>
                  <a:ext cx="44" cy="23"/>
                  <a:chOff x="1014" y="3645"/>
                  <a:chExt cx="44" cy="23"/>
                </a:xfrm>
              </p:grpSpPr>
              <p:sp>
                <p:nvSpPr>
                  <p:cNvPr id="237" name="Freeform 388"/>
                  <p:cNvSpPr>
                    <a:spLocks/>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38" name="Freeform 389"/>
                  <p:cNvSpPr>
                    <a:spLocks/>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39" name="Freeform 390"/>
                  <p:cNvSpPr>
                    <a:spLocks/>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29" name="Group 391"/>
                <p:cNvGrpSpPr>
                  <a:grpSpLocks/>
                </p:cNvGrpSpPr>
                <p:nvPr/>
              </p:nvGrpSpPr>
              <p:grpSpPr bwMode="auto">
                <a:xfrm>
                  <a:off x="1027" y="3659"/>
                  <a:ext cx="45" cy="23"/>
                  <a:chOff x="1027" y="3659"/>
                  <a:chExt cx="45" cy="23"/>
                </a:xfrm>
              </p:grpSpPr>
              <p:sp>
                <p:nvSpPr>
                  <p:cNvPr id="234" name="Freeform 392"/>
                  <p:cNvSpPr>
                    <a:spLocks/>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35" name="Freeform 393"/>
                  <p:cNvSpPr>
                    <a:spLocks/>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36" name="Freeform 394"/>
                  <p:cNvSpPr>
                    <a:spLocks/>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230" name="Group 395"/>
                <p:cNvGrpSpPr>
                  <a:grpSpLocks/>
                </p:cNvGrpSpPr>
                <p:nvPr/>
              </p:nvGrpSpPr>
              <p:grpSpPr bwMode="auto">
                <a:xfrm>
                  <a:off x="1040" y="3672"/>
                  <a:ext cx="45" cy="23"/>
                  <a:chOff x="1040" y="3672"/>
                  <a:chExt cx="45" cy="23"/>
                </a:xfrm>
              </p:grpSpPr>
              <p:sp>
                <p:nvSpPr>
                  <p:cNvPr id="231" name="Freeform 396"/>
                  <p:cNvSpPr>
                    <a:spLocks/>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32" name="Freeform 397"/>
                  <p:cNvSpPr>
                    <a:spLocks/>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33" name="Freeform 398"/>
                  <p:cNvSpPr>
                    <a:spLocks/>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145" name="Group 399"/>
              <p:cNvGrpSpPr>
                <a:grpSpLocks/>
              </p:cNvGrpSpPr>
              <p:nvPr/>
            </p:nvGrpSpPr>
            <p:grpSpPr bwMode="auto">
              <a:xfrm>
                <a:off x="1054" y="3685"/>
                <a:ext cx="45" cy="23"/>
                <a:chOff x="1054" y="3685"/>
                <a:chExt cx="45" cy="23"/>
              </a:xfrm>
            </p:grpSpPr>
            <p:sp>
              <p:nvSpPr>
                <p:cNvPr id="224" name="Freeform 400"/>
                <p:cNvSpPr>
                  <a:spLocks/>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25" name="Freeform 401"/>
                <p:cNvSpPr>
                  <a:spLocks/>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26" name="Freeform 402"/>
                <p:cNvSpPr>
                  <a:spLocks/>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46" name="Group 403"/>
              <p:cNvGrpSpPr>
                <a:grpSpLocks/>
              </p:cNvGrpSpPr>
              <p:nvPr/>
            </p:nvGrpSpPr>
            <p:grpSpPr bwMode="auto">
              <a:xfrm>
                <a:off x="1067" y="3698"/>
                <a:ext cx="45" cy="23"/>
                <a:chOff x="1067" y="3698"/>
                <a:chExt cx="45" cy="23"/>
              </a:xfrm>
            </p:grpSpPr>
            <p:sp>
              <p:nvSpPr>
                <p:cNvPr id="221" name="Freeform 404"/>
                <p:cNvSpPr>
                  <a:spLocks/>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22" name="Freeform 405"/>
                <p:cNvSpPr>
                  <a:spLocks/>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23" name="Freeform 406"/>
                <p:cNvSpPr>
                  <a:spLocks/>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47" name="Group 407"/>
              <p:cNvGrpSpPr>
                <a:grpSpLocks/>
              </p:cNvGrpSpPr>
              <p:nvPr/>
            </p:nvGrpSpPr>
            <p:grpSpPr bwMode="auto">
              <a:xfrm>
                <a:off x="1079" y="3712"/>
                <a:ext cx="44" cy="23"/>
                <a:chOff x="1079" y="3712"/>
                <a:chExt cx="44" cy="23"/>
              </a:xfrm>
            </p:grpSpPr>
            <p:sp>
              <p:nvSpPr>
                <p:cNvPr id="218" name="Freeform 408"/>
                <p:cNvSpPr>
                  <a:spLocks/>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19" name="Freeform 409"/>
                <p:cNvSpPr>
                  <a:spLocks/>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20" name="Freeform 410"/>
                <p:cNvSpPr>
                  <a:spLocks/>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48" name="Group 411"/>
              <p:cNvGrpSpPr>
                <a:grpSpLocks/>
              </p:cNvGrpSpPr>
              <p:nvPr/>
            </p:nvGrpSpPr>
            <p:grpSpPr bwMode="auto">
              <a:xfrm>
                <a:off x="1093" y="3725"/>
                <a:ext cx="45" cy="23"/>
                <a:chOff x="1093" y="3725"/>
                <a:chExt cx="45" cy="23"/>
              </a:xfrm>
            </p:grpSpPr>
            <p:sp>
              <p:nvSpPr>
                <p:cNvPr id="215" name="Freeform 412"/>
                <p:cNvSpPr>
                  <a:spLocks/>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16" name="Freeform 413"/>
                <p:cNvSpPr>
                  <a:spLocks/>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17" name="Freeform 414"/>
                <p:cNvSpPr>
                  <a:spLocks/>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49" name="Group 415"/>
              <p:cNvGrpSpPr>
                <a:grpSpLocks/>
              </p:cNvGrpSpPr>
              <p:nvPr/>
            </p:nvGrpSpPr>
            <p:grpSpPr bwMode="auto">
              <a:xfrm>
                <a:off x="1108" y="3739"/>
                <a:ext cx="44" cy="23"/>
                <a:chOff x="1108" y="3739"/>
                <a:chExt cx="44" cy="23"/>
              </a:xfrm>
            </p:grpSpPr>
            <p:sp>
              <p:nvSpPr>
                <p:cNvPr id="212" name="Freeform 416"/>
                <p:cNvSpPr>
                  <a:spLocks/>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13" name="Freeform 417"/>
                <p:cNvSpPr>
                  <a:spLocks/>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14" name="Freeform 418"/>
                <p:cNvSpPr>
                  <a:spLocks/>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50" name="Group 419"/>
              <p:cNvGrpSpPr>
                <a:grpSpLocks/>
              </p:cNvGrpSpPr>
              <p:nvPr/>
            </p:nvGrpSpPr>
            <p:grpSpPr bwMode="auto">
              <a:xfrm>
                <a:off x="1121" y="3753"/>
                <a:ext cx="45" cy="23"/>
                <a:chOff x="1121" y="3753"/>
                <a:chExt cx="45" cy="23"/>
              </a:xfrm>
            </p:grpSpPr>
            <p:sp>
              <p:nvSpPr>
                <p:cNvPr id="209" name="Freeform 420"/>
                <p:cNvSpPr>
                  <a:spLocks/>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10" name="Freeform 421"/>
                <p:cNvSpPr>
                  <a:spLocks/>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11" name="Freeform 422"/>
                <p:cNvSpPr>
                  <a:spLocks/>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51" name="Group 423"/>
              <p:cNvGrpSpPr>
                <a:grpSpLocks/>
              </p:cNvGrpSpPr>
              <p:nvPr/>
            </p:nvGrpSpPr>
            <p:grpSpPr bwMode="auto">
              <a:xfrm>
                <a:off x="1133" y="3767"/>
                <a:ext cx="44" cy="23"/>
                <a:chOff x="1133" y="3767"/>
                <a:chExt cx="44" cy="23"/>
              </a:xfrm>
            </p:grpSpPr>
            <p:sp>
              <p:nvSpPr>
                <p:cNvPr id="206" name="Freeform 424"/>
                <p:cNvSpPr>
                  <a:spLocks/>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07" name="Freeform 425"/>
                <p:cNvSpPr>
                  <a:spLocks/>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08" name="Freeform 426"/>
                <p:cNvSpPr>
                  <a:spLocks/>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sp>
            <p:nvSpPr>
              <p:cNvPr id="152" name="Freeform 427"/>
              <p:cNvSpPr>
                <a:spLocks/>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53" name="Freeform 428"/>
              <p:cNvSpPr>
                <a:spLocks/>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54" name="Freeform 429"/>
              <p:cNvSpPr>
                <a:spLocks/>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55" name="Freeform 430"/>
              <p:cNvSpPr>
                <a:spLocks/>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56" name="Freeform 431"/>
              <p:cNvSpPr>
                <a:spLocks/>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57" name="Freeform 432"/>
              <p:cNvSpPr>
                <a:spLocks/>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58" name="Freeform 433"/>
              <p:cNvSpPr>
                <a:spLocks/>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59" name="Freeform 434"/>
              <p:cNvSpPr>
                <a:spLocks/>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60" name="Freeform 435"/>
              <p:cNvSpPr>
                <a:spLocks/>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61" name="Freeform 436"/>
              <p:cNvSpPr>
                <a:spLocks/>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62" name="Freeform 437"/>
              <p:cNvSpPr>
                <a:spLocks/>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nvGrpSpPr>
              <p:cNvPr id="163" name="Group 438"/>
              <p:cNvGrpSpPr>
                <a:grpSpLocks/>
              </p:cNvGrpSpPr>
              <p:nvPr/>
            </p:nvGrpSpPr>
            <p:grpSpPr bwMode="auto">
              <a:xfrm>
                <a:off x="700" y="3535"/>
                <a:ext cx="49" cy="24"/>
                <a:chOff x="700" y="3535"/>
                <a:chExt cx="49" cy="24"/>
              </a:xfrm>
            </p:grpSpPr>
            <p:sp>
              <p:nvSpPr>
                <p:cNvPr id="203" name="Freeform 439"/>
                <p:cNvSpPr>
                  <a:spLocks/>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04" name="Freeform 440"/>
                <p:cNvSpPr>
                  <a:spLocks/>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05" name="Freeform 441"/>
                <p:cNvSpPr>
                  <a:spLocks/>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64" name="Group 442"/>
              <p:cNvGrpSpPr>
                <a:grpSpLocks/>
              </p:cNvGrpSpPr>
              <p:nvPr/>
            </p:nvGrpSpPr>
            <p:grpSpPr bwMode="auto">
              <a:xfrm>
                <a:off x="714" y="3551"/>
                <a:ext cx="49" cy="22"/>
                <a:chOff x="714" y="3551"/>
                <a:chExt cx="49" cy="22"/>
              </a:xfrm>
            </p:grpSpPr>
            <p:sp>
              <p:nvSpPr>
                <p:cNvPr id="200" name="Freeform 443"/>
                <p:cNvSpPr>
                  <a:spLocks/>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01" name="Freeform 444"/>
                <p:cNvSpPr>
                  <a:spLocks/>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02" name="Freeform 445"/>
                <p:cNvSpPr>
                  <a:spLocks/>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65" name="Group 446"/>
              <p:cNvGrpSpPr>
                <a:grpSpLocks/>
              </p:cNvGrpSpPr>
              <p:nvPr/>
            </p:nvGrpSpPr>
            <p:grpSpPr bwMode="auto">
              <a:xfrm>
                <a:off x="728" y="3564"/>
                <a:ext cx="48" cy="23"/>
                <a:chOff x="728" y="3564"/>
                <a:chExt cx="48" cy="23"/>
              </a:xfrm>
            </p:grpSpPr>
            <p:sp>
              <p:nvSpPr>
                <p:cNvPr id="197" name="Freeform 447"/>
                <p:cNvSpPr>
                  <a:spLocks/>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98" name="Freeform 448"/>
                <p:cNvSpPr>
                  <a:spLocks/>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99" name="Freeform 449"/>
                <p:cNvSpPr>
                  <a:spLocks/>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66" name="Group 450"/>
              <p:cNvGrpSpPr>
                <a:grpSpLocks/>
              </p:cNvGrpSpPr>
              <p:nvPr/>
            </p:nvGrpSpPr>
            <p:grpSpPr bwMode="auto">
              <a:xfrm>
                <a:off x="742" y="3582"/>
                <a:ext cx="49" cy="23"/>
                <a:chOff x="742" y="3582"/>
                <a:chExt cx="49" cy="23"/>
              </a:xfrm>
            </p:grpSpPr>
            <p:sp>
              <p:nvSpPr>
                <p:cNvPr id="194" name="Freeform 451"/>
                <p:cNvSpPr>
                  <a:spLocks/>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95" name="Freeform 452"/>
                <p:cNvSpPr>
                  <a:spLocks/>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96" name="Freeform 453"/>
                <p:cNvSpPr>
                  <a:spLocks/>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67" name="Group 454"/>
              <p:cNvGrpSpPr>
                <a:grpSpLocks/>
              </p:cNvGrpSpPr>
              <p:nvPr/>
            </p:nvGrpSpPr>
            <p:grpSpPr bwMode="auto">
              <a:xfrm>
                <a:off x="752" y="3597"/>
                <a:ext cx="133" cy="106"/>
                <a:chOff x="752" y="3597"/>
                <a:chExt cx="133" cy="106"/>
              </a:xfrm>
            </p:grpSpPr>
            <p:sp>
              <p:nvSpPr>
                <p:cNvPr id="191" name="Freeform 455"/>
                <p:cNvSpPr>
                  <a:spLocks/>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92" name="Freeform 456"/>
                <p:cNvSpPr>
                  <a:spLocks/>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93" name="Freeform 457"/>
                <p:cNvSpPr>
                  <a:spLocks/>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68" name="Group 458"/>
              <p:cNvGrpSpPr>
                <a:grpSpLocks/>
              </p:cNvGrpSpPr>
              <p:nvPr/>
            </p:nvGrpSpPr>
            <p:grpSpPr bwMode="auto">
              <a:xfrm>
                <a:off x="844" y="3694"/>
                <a:ext cx="48" cy="23"/>
                <a:chOff x="844" y="3694"/>
                <a:chExt cx="48" cy="23"/>
              </a:xfrm>
            </p:grpSpPr>
            <p:sp>
              <p:nvSpPr>
                <p:cNvPr id="188" name="Freeform 459"/>
                <p:cNvSpPr>
                  <a:spLocks/>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89" name="Freeform 460"/>
                <p:cNvSpPr>
                  <a:spLocks/>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90" name="Freeform 461"/>
                <p:cNvSpPr>
                  <a:spLocks/>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69" name="Group 462"/>
              <p:cNvGrpSpPr>
                <a:grpSpLocks/>
              </p:cNvGrpSpPr>
              <p:nvPr/>
            </p:nvGrpSpPr>
            <p:grpSpPr bwMode="auto">
              <a:xfrm>
                <a:off x="857" y="3710"/>
                <a:ext cx="49" cy="22"/>
                <a:chOff x="857" y="3710"/>
                <a:chExt cx="49" cy="22"/>
              </a:xfrm>
            </p:grpSpPr>
            <p:sp>
              <p:nvSpPr>
                <p:cNvPr id="185" name="Freeform 463"/>
                <p:cNvSpPr>
                  <a:spLocks/>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86" name="Freeform 464"/>
                <p:cNvSpPr>
                  <a:spLocks/>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87" name="Freeform 465"/>
                <p:cNvSpPr>
                  <a:spLocks/>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70" name="Group 466"/>
              <p:cNvGrpSpPr>
                <a:grpSpLocks/>
              </p:cNvGrpSpPr>
              <p:nvPr/>
            </p:nvGrpSpPr>
            <p:grpSpPr bwMode="auto">
              <a:xfrm>
                <a:off x="1086" y="3766"/>
                <a:ext cx="49" cy="23"/>
                <a:chOff x="1086" y="3766"/>
                <a:chExt cx="49" cy="23"/>
              </a:xfrm>
            </p:grpSpPr>
            <p:sp>
              <p:nvSpPr>
                <p:cNvPr id="182" name="Freeform 467"/>
                <p:cNvSpPr>
                  <a:spLocks/>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83" name="Freeform 468"/>
                <p:cNvSpPr>
                  <a:spLocks/>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84" name="Freeform 469"/>
                <p:cNvSpPr>
                  <a:spLocks/>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71" name="Group 470"/>
              <p:cNvGrpSpPr>
                <a:grpSpLocks/>
              </p:cNvGrpSpPr>
              <p:nvPr/>
            </p:nvGrpSpPr>
            <p:grpSpPr bwMode="auto">
              <a:xfrm>
                <a:off x="934" y="3740"/>
                <a:ext cx="48" cy="23"/>
                <a:chOff x="934" y="3740"/>
                <a:chExt cx="48" cy="23"/>
              </a:xfrm>
            </p:grpSpPr>
            <p:sp>
              <p:nvSpPr>
                <p:cNvPr id="179" name="Freeform 471"/>
                <p:cNvSpPr>
                  <a:spLocks/>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80" name="Freeform 472"/>
                <p:cNvSpPr>
                  <a:spLocks/>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81" name="Freeform 473"/>
                <p:cNvSpPr>
                  <a:spLocks/>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172" name="Group 474"/>
              <p:cNvGrpSpPr>
                <a:grpSpLocks/>
              </p:cNvGrpSpPr>
              <p:nvPr/>
            </p:nvGrpSpPr>
            <p:grpSpPr bwMode="auto">
              <a:xfrm>
                <a:off x="943" y="3754"/>
                <a:ext cx="49" cy="23"/>
                <a:chOff x="943" y="3754"/>
                <a:chExt cx="49" cy="23"/>
              </a:xfrm>
            </p:grpSpPr>
            <p:sp>
              <p:nvSpPr>
                <p:cNvPr id="176" name="Freeform 475"/>
                <p:cNvSpPr>
                  <a:spLocks/>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77" name="Freeform 476"/>
                <p:cNvSpPr>
                  <a:spLocks/>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78" name="Freeform 477"/>
                <p:cNvSpPr>
                  <a:spLocks/>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sp>
            <p:nvSpPr>
              <p:cNvPr id="173" name="Freeform 478"/>
              <p:cNvSpPr>
                <a:spLocks/>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74" name="Freeform 479"/>
              <p:cNvSpPr>
                <a:spLocks/>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75" name="Freeform 480"/>
              <p:cNvSpPr>
                <a:spLocks/>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70" name="Group 481"/>
            <p:cNvGrpSpPr>
              <a:grpSpLocks/>
            </p:cNvGrpSpPr>
            <p:nvPr/>
          </p:nvGrpSpPr>
          <p:grpSpPr bwMode="auto">
            <a:xfrm>
              <a:off x="920" y="3821"/>
              <a:ext cx="413" cy="50"/>
              <a:chOff x="920" y="3821"/>
              <a:chExt cx="413" cy="50"/>
            </a:xfrm>
          </p:grpSpPr>
          <p:sp>
            <p:nvSpPr>
              <p:cNvPr id="91" name="Freeform 482"/>
              <p:cNvSpPr>
                <a:spLocks/>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92" name="Freeform 483"/>
              <p:cNvSpPr>
                <a:spLocks/>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93" name="Rectangle 48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94" name="Rectangle 48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71" name="Group 486"/>
            <p:cNvGrpSpPr>
              <a:grpSpLocks/>
            </p:cNvGrpSpPr>
            <p:nvPr/>
          </p:nvGrpSpPr>
          <p:grpSpPr bwMode="auto">
            <a:xfrm>
              <a:off x="1227" y="3477"/>
              <a:ext cx="508" cy="321"/>
              <a:chOff x="1227" y="3477"/>
              <a:chExt cx="508" cy="321"/>
            </a:xfrm>
          </p:grpSpPr>
          <p:sp>
            <p:nvSpPr>
              <p:cNvPr id="72" name="Freeform 487"/>
              <p:cNvSpPr>
                <a:spLocks/>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rgbClr val="1C1C1C"/>
              </a:solidFill>
              <a:ln w="7938">
                <a:solidFill>
                  <a:srgbClr val="40404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3" name="Freeform 488"/>
              <p:cNvSpPr>
                <a:spLocks/>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rgbClr val="1C1C1C"/>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4" name="Freeform 489"/>
              <p:cNvSpPr>
                <a:spLocks/>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5" name="Line 49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6" name="Freeform 491"/>
              <p:cNvSpPr>
                <a:spLocks/>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7" name="Freeform 492"/>
              <p:cNvSpPr>
                <a:spLocks/>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8" name="Freeform 493"/>
              <p:cNvSpPr>
                <a:spLocks/>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9" name="Freeform 494"/>
              <p:cNvSpPr>
                <a:spLocks/>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0" name="Freeform 495"/>
              <p:cNvSpPr>
                <a:spLocks/>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1" name="Freeform 496"/>
              <p:cNvSpPr>
                <a:spLocks/>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2" name="Freeform 497"/>
              <p:cNvSpPr>
                <a:spLocks/>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3" name="Freeform 498"/>
              <p:cNvSpPr>
                <a:spLocks/>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4" name="Freeform 499"/>
              <p:cNvSpPr>
                <a:spLocks/>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5" name="Freeform 500"/>
              <p:cNvSpPr>
                <a:spLocks/>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6" name="Oval 501"/>
              <p:cNvSpPr>
                <a:spLocks noChangeArrowheads="1"/>
              </p:cNvSpPr>
              <p:nvPr/>
            </p:nvSpPr>
            <p:spPr bwMode="auto">
              <a:xfrm>
                <a:off x="1339" y="3772"/>
                <a:ext cx="78" cy="26"/>
              </a:xfrm>
              <a:prstGeom prst="ellipse">
                <a:avLst/>
              </a:prstGeom>
              <a:solidFill>
                <a:srgbClr val="1C1C1C"/>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7" name="Oval 502"/>
              <p:cNvSpPr>
                <a:spLocks noChangeArrowheads="1"/>
              </p:cNvSpPr>
              <p:nvPr/>
            </p:nvSpPr>
            <p:spPr bwMode="auto">
              <a:xfrm>
                <a:off x="1432" y="3771"/>
                <a:ext cx="78" cy="25"/>
              </a:xfrm>
              <a:prstGeom prst="ellipse">
                <a:avLst/>
              </a:prstGeom>
              <a:solidFill>
                <a:srgbClr val="1C1C1C"/>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8" name="Freeform 503"/>
              <p:cNvSpPr>
                <a:spLocks/>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rgbClr val="1C1C1C"/>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9" name="Oval 504"/>
              <p:cNvSpPr>
                <a:spLocks noChangeArrowheads="1"/>
              </p:cNvSpPr>
              <p:nvPr/>
            </p:nvSpPr>
            <p:spPr bwMode="auto">
              <a:xfrm>
                <a:off x="1338" y="3767"/>
                <a:ext cx="78" cy="27"/>
              </a:xfrm>
              <a:prstGeom prst="ellipse">
                <a:avLst/>
              </a:prstGeom>
              <a:solidFill>
                <a:srgbClr val="1C1C1C"/>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90" name="Oval 505"/>
              <p:cNvSpPr>
                <a:spLocks noChangeArrowheads="1"/>
              </p:cNvSpPr>
              <p:nvPr/>
            </p:nvSpPr>
            <p:spPr bwMode="auto">
              <a:xfrm>
                <a:off x="1431" y="3766"/>
                <a:ext cx="77" cy="25"/>
              </a:xfrm>
              <a:prstGeom prst="ellipse">
                <a:avLst/>
              </a:prstGeom>
              <a:solidFill>
                <a:srgbClr val="1C1C1C"/>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grpSp>
        <p:nvGrpSpPr>
          <p:cNvPr id="509" name="Group 506"/>
          <p:cNvGrpSpPr>
            <a:grpSpLocks/>
          </p:cNvGrpSpPr>
          <p:nvPr/>
        </p:nvGrpSpPr>
        <p:grpSpPr bwMode="auto">
          <a:xfrm>
            <a:off x="6997700" y="2179216"/>
            <a:ext cx="1128713" cy="781050"/>
            <a:chOff x="1680" y="240"/>
            <a:chExt cx="2529" cy="1270"/>
          </a:xfrm>
        </p:grpSpPr>
        <p:sp>
          <p:nvSpPr>
            <p:cNvPr id="510" name="Oval 507"/>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511" name="Oval 508"/>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512" name="Oval 509"/>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513" name="Oval 510"/>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514" name="Oval 511"/>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515" name="Oval 512"/>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516" name="Oval 513"/>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517" name="Oval 514"/>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518" name="Oval 515"/>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pPr>
                <a:spcBef>
                  <a:spcPct val="0"/>
                </a:spcBef>
                <a:buClrTx/>
                <a:buFontTx/>
                <a:buNone/>
              </a:pPr>
              <a:endParaRPr kumimoji="0" lang="zh-CN" altLang="en-US" sz="2000" b="1">
                <a:latin typeface="+mn-lt"/>
                <a:ea typeface="+mn-ea"/>
              </a:endParaRPr>
            </a:p>
          </p:txBody>
        </p:sp>
      </p:grpSp>
      <p:sp>
        <p:nvSpPr>
          <p:cNvPr id="519" name="Text Box 516"/>
          <p:cNvSpPr txBox="1">
            <a:spLocks noChangeArrowheads="1"/>
          </p:cNvSpPr>
          <p:nvPr/>
        </p:nvSpPr>
        <p:spPr bwMode="auto">
          <a:xfrm>
            <a:off x="7226300" y="2368128"/>
            <a:ext cx="8699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lt"/>
                <a:ea typeface="+mn-ea"/>
              </a:rPr>
              <a:t>局域网</a:t>
            </a:r>
          </a:p>
        </p:txBody>
      </p:sp>
      <p:sp>
        <p:nvSpPr>
          <p:cNvPr id="520" name="Line 517"/>
          <p:cNvSpPr>
            <a:spLocks noChangeShapeType="1"/>
          </p:cNvSpPr>
          <p:nvPr/>
        </p:nvSpPr>
        <p:spPr bwMode="auto">
          <a:xfrm flipV="1">
            <a:off x="1265037" y="2245890"/>
            <a:ext cx="998738" cy="639855"/>
          </a:xfrm>
          <a:prstGeom prst="line">
            <a:avLst/>
          </a:prstGeom>
          <a:noFill/>
          <a:ln w="57150">
            <a:solidFill>
              <a:srgbClr val="FF0000"/>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21" name="Line 518"/>
          <p:cNvSpPr>
            <a:spLocks noChangeShapeType="1"/>
          </p:cNvSpPr>
          <p:nvPr/>
        </p:nvSpPr>
        <p:spPr bwMode="auto">
          <a:xfrm flipV="1">
            <a:off x="4970463" y="2258591"/>
            <a:ext cx="1406525" cy="115887"/>
          </a:xfrm>
          <a:prstGeom prst="line">
            <a:avLst/>
          </a:prstGeom>
          <a:noFill/>
          <a:ln w="57150">
            <a:solidFill>
              <a:srgbClr val="FF0000"/>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22" name="Line 519"/>
          <p:cNvSpPr>
            <a:spLocks noChangeShapeType="1"/>
          </p:cNvSpPr>
          <p:nvPr/>
        </p:nvSpPr>
        <p:spPr bwMode="auto">
          <a:xfrm>
            <a:off x="6977063" y="2304628"/>
            <a:ext cx="1227137" cy="805042"/>
          </a:xfrm>
          <a:prstGeom prst="line">
            <a:avLst/>
          </a:prstGeom>
          <a:noFill/>
          <a:ln w="57150">
            <a:solidFill>
              <a:srgbClr val="FF0000"/>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23" name="Line 520"/>
          <p:cNvSpPr>
            <a:spLocks noChangeShapeType="1"/>
          </p:cNvSpPr>
          <p:nvPr/>
        </p:nvSpPr>
        <p:spPr bwMode="auto">
          <a:xfrm>
            <a:off x="2906713" y="2215728"/>
            <a:ext cx="1543050" cy="142875"/>
          </a:xfrm>
          <a:prstGeom prst="line">
            <a:avLst/>
          </a:prstGeom>
          <a:noFill/>
          <a:ln w="57150">
            <a:solidFill>
              <a:srgbClr val="FF0000"/>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nvGrpSpPr>
          <p:cNvPr id="525" name="Group 587"/>
          <p:cNvGrpSpPr>
            <a:grpSpLocks/>
          </p:cNvGrpSpPr>
          <p:nvPr/>
        </p:nvGrpSpPr>
        <p:grpSpPr bwMode="auto">
          <a:xfrm>
            <a:off x="724811" y="3444454"/>
            <a:ext cx="8239801" cy="2419350"/>
            <a:chOff x="158" y="2405"/>
            <a:chExt cx="5498" cy="1524"/>
          </a:xfrm>
        </p:grpSpPr>
        <p:sp>
          <p:nvSpPr>
            <p:cNvPr id="526" name="AutoShape 524"/>
            <p:cNvSpPr>
              <a:spLocks noChangeArrowheads="1"/>
            </p:cNvSpPr>
            <p:nvPr/>
          </p:nvSpPr>
          <p:spPr bwMode="auto">
            <a:xfrm>
              <a:off x="158" y="2633"/>
              <a:ext cx="564" cy="1144"/>
            </a:xfrm>
            <a:prstGeom prst="cube">
              <a:avLst>
                <a:gd name="adj" fmla="val 9250"/>
              </a:avLst>
            </a:prstGeom>
            <a:solidFill>
              <a:srgbClr val="FFFF66"/>
            </a:solidFill>
            <a:ln w="19050">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27" name="Freeform 525"/>
            <p:cNvSpPr>
              <a:spLocks/>
            </p:cNvSpPr>
            <p:nvPr/>
          </p:nvSpPr>
          <p:spPr bwMode="auto">
            <a:xfrm>
              <a:off x="158"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rgbClr val="FFFF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28" name="Freeform 528"/>
            <p:cNvSpPr>
              <a:spLocks/>
            </p:cNvSpPr>
            <p:nvPr/>
          </p:nvSpPr>
          <p:spPr bwMode="auto">
            <a:xfrm>
              <a:off x="158"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rgbClr val="FFFF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29" name="Freeform 526"/>
            <p:cNvSpPr>
              <a:spLocks/>
            </p:cNvSpPr>
            <p:nvPr/>
          </p:nvSpPr>
          <p:spPr bwMode="auto">
            <a:xfrm>
              <a:off x="158"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rgbClr val="FFFF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30" name="Freeform 527"/>
            <p:cNvSpPr>
              <a:spLocks/>
            </p:cNvSpPr>
            <p:nvPr/>
          </p:nvSpPr>
          <p:spPr bwMode="auto">
            <a:xfrm>
              <a:off x="158"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rgbClr val="FFFF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31" name="Rectangle 529"/>
            <p:cNvSpPr>
              <a:spLocks noChangeArrowheads="1"/>
            </p:cNvSpPr>
            <p:nvPr/>
          </p:nvSpPr>
          <p:spPr bwMode="auto">
            <a:xfrm>
              <a:off x="170" y="3363"/>
              <a:ext cx="486" cy="194"/>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32" name="Text Box 530"/>
            <p:cNvSpPr txBox="1">
              <a:spLocks noChangeArrowheads="1"/>
            </p:cNvSpPr>
            <p:nvPr/>
          </p:nvSpPr>
          <p:spPr bwMode="auto">
            <a:xfrm>
              <a:off x="158" y="3330"/>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链路层</a:t>
              </a:r>
            </a:p>
          </p:txBody>
        </p:sp>
        <p:sp>
          <p:nvSpPr>
            <p:cNvPr id="533" name="Text Box 531"/>
            <p:cNvSpPr txBox="1">
              <a:spLocks noChangeArrowheads="1"/>
            </p:cNvSpPr>
            <p:nvPr/>
          </p:nvSpPr>
          <p:spPr bwMode="auto">
            <a:xfrm>
              <a:off x="160" y="2677"/>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应用层</a:t>
              </a:r>
            </a:p>
          </p:txBody>
        </p:sp>
        <p:sp>
          <p:nvSpPr>
            <p:cNvPr id="534" name="Text Box 532"/>
            <p:cNvSpPr txBox="1">
              <a:spLocks noChangeArrowheads="1"/>
            </p:cNvSpPr>
            <p:nvPr/>
          </p:nvSpPr>
          <p:spPr bwMode="auto">
            <a:xfrm>
              <a:off x="158" y="2894"/>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kern="0" dirty="0">
                  <a:latin typeface="+mn-lt"/>
                  <a:ea typeface="+mn-ea"/>
                </a:rPr>
                <a:t>传</a:t>
              </a:r>
              <a:r>
                <a:rPr kumimoji="0" lang="zh-CN" altLang="en-US" sz="1600" b="1" i="0" u="none" strike="noStrike" kern="0" cap="none" spc="0" normalizeH="0" baseline="0" noProof="0" dirty="0" smtClean="0">
                  <a:ln>
                    <a:noFill/>
                  </a:ln>
                  <a:effectLst/>
                  <a:uLnTx/>
                  <a:uFillTx/>
                  <a:latin typeface="+mn-lt"/>
                  <a:ea typeface="+mn-ea"/>
                </a:rPr>
                <a:t>输层</a:t>
              </a:r>
            </a:p>
          </p:txBody>
        </p:sp>
        <p:sp>
          <p:nvSpPr>
            <p:cNvPr id="535" name="Text Box 533"/>
            <p:cNvSpPr txBox="1">
              <a:spLocks noChangeArrowheads="1"/>
            </p:cNvSpPr>
            <p:nvPr/>
          </p:nvSpPr>
          <p:spPr bwMode="auto">
            <a:xfrm>
              <a:off x="158" y="3112"/>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网络层</a:t>
              </a:r>
            </a:p>
          </p:txBody>
        </p:sp>
        <p:sp>
          <p:nvSpPr>
            <p:cNvPr id="536" name="Text Box 534"/>
            <p:cNvSpPr txBox="1">
              <a:spLocks noChangeArrowheads="1"/>
            </p:cNvSpPr>
            <p:nvPr/>
          </p:nvSpPr>
          <p:spPr bwMode="auto">
            <a:xfrm>
              <a:off x="158" y="3548"/>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effectLst/>
                  <a:uLnTx/>
                  <a:uFillTx/>
                  <a:latin typeface="+mn-lt"/>
                  <a:ea typeface="+mn-ea"/>
                </a:rPr>
                <a:t>物理层</a:t>
              </a:r>
            </a:p>
          </p:txBody>
        </p:sp>
        <p:sp>
          <p:nvSpPr>
            <p:cNvPr id="537" name="AutoShape 536"/>
            <p:cNvSpPr>
              <a:spLocks noChangeArrowheads="1"/>
            </p:cNvSpPr>
            <p:nvPr/>
          </p:nvSpPr>
          <p:spPr bwMode="auto">
            <a:xfrm>
              <a:off x="5092" y="2633"/>
              <a:ext cx="564" cy="1144"/>
            </a:xfrm>
            <a:prstGeom prst="cube">
              <a:avLst>
                <a:gd name="adj" fmla="val 9250"/>
              </a:avLst>
            </a:prstGeom>
            <a:solidFill>
              <a:srgbClr val="FFFF66"/>
            </a:solidFill>
            <a:ln w="19050">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38" name="Freeform 537"/>
            <p:cNvSpPr>
              <a:spLocks/>
            </p:cNvSpPr>
            <p:nvPr/>
          </p:nvSpPr>
          <p:spPr bwMode="auto">
            <a:xfrm>
              <a:off x="5092"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rgbClr val="FFFF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39" name="Freeform 538"/>
            <p:cNvSpPr>
              <a:spLocks/>
            </p:cNvSpPr>
            <p:nvPr/>
          </p:nvSpPr>
          <p:spPr bwMode="auto">
            <a:xfrm>
              <a:off x="5092"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rgbClr val="FFFF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40" name="Freeform 539"/>
            <p:cNvSpPr>
              <a:spLocks/>
            </p:cNvSpPr>
            <p:nvPr/>
          </p:nvSpPr>
          <p:spPr bwMode="auto">
            <a:xfrm>
              <a:off x="5092"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rgbClr val="FFFF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41" name="Freeform 540"/>
            <p:cNvSpPr>
              <a:spLocks/>
            </p:cNvSpPr>
            <p:nvPr/>
          </p:nvSpPr>
          <p:spPr bwMode="auto">
            <a:xfrm>
              <a:off x="5092"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rgbClr val="FFFF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42" name="Rectangle 541"/>
            <p:cNvSpPr>
              <a:spLocks noChangeArrowheads="1"/>
            </p:cNvSpPr>
            <p:nvPr/>
          </p:nvSpPr>
          <p:spPr bwMode="auto">
            <a:xfrm>
              <a:off x="5104" y="3362"/>
              <a:ext cx="486" cy="195"/>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43" name="Text Box 542"/>
            <p:cNvSpPr txBox="1">
              <a:spLocks noChangeArrowheads="1"/>
            </p:cNvSpPr>
            <p:nvPr/>
          </p:nvSpPr>
          <p:spPr bwMode="auto">
            <a:xfrm>
              <a:off x="5057" y="3339"/>
              <a:ext cx="548"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链路层</a:t>
              </a:r>
            </a:p>
          </p:txBody>
        </p:sp>
        <p:sp>
          <p:nvSpPr>
            <p:cNvPr id="544" name="Text Box 543"/>
            <p:cNvSpPr txBox="1">
              <a:spLocks noChangeArrowheads="1"/>
            </p:cNvSpPr>
            <p:nvPr/>
          </p:nvSpPr>
          <p:spPr bwMode="auto">
            <a:xfrm>
              <a:off x="5059" y="2677"/>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应用层</a:t>
              </a:r>
            </a:p>
          </p:txBody>
        </p:sp>
        <p:sp>
          <p:nvSpPr>
            <p:cNvPr id="545" name="Text Box 544"/>
            <p:cNvSpPr txBox="1">
              <a:spLocks noChangeArrowheads="1"/>
            </p:cNvSpPr>
            <p:nvPr/>
          </p:nvSpPr>
          <p:spPr bwMode="auto">
            <a:xfrm>
              <a:off x="5057" y="2894"/>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effectLst/>
                  <a:uLnTx/>
                  <a:uFillTx/>
                  <a:latin typeface="+mn-lt"/>
                  <a:ea typeface="+mn-ea"/>
                </a:rPr>
                <a:t>传输层</a:t>
              </a:r>
            </a:p>
          </p:txBody>
        </p:sp>
        <p:sp>
          <p:nvSpPr>
            <p:cNvPr id="546" name="Text Box 545"/>
            <p:cNvSpPr txBox="1">
              <a:spLocks noChangeArrowheads="1"/>
            </p:cNvSpPr>
            <p:nvPr/>
          </p:nvSpPr>
          <p:spPr bwMode="auto">
            <a:xfrm>
              <a:off x="5057" y="3112"/>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网络层</a:t>
              </a:r>
            </a:p>
          </p:txBody>
        </p:sp>
        <p:sp>
          <p:nvSpPr>
            <p:cNvPr id="547" name="Text Box 546"/>
            <p:cNvSpPr txBox="1">
              <a:spLocks noChangeArrowheads="1"/>
            </p:cNvSpPr>
            <p:nvPr/>
          </p:nvSpPr>
          <p:spPr bwMode="auto">
            <a:xfrm>
              <a:off x="5057" y="3548"/>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effectLst/>
                  <a:uLnTx/>
                  <a:uFillTx/>
                  <a:latin typeface="+mn-lt"/>
                  <a:ea typeface="+mn-ea"/>
                </a:rPr>
                <a:t>物理层</a:t>
              </a:r>
            </a:p>
          </p:txBody>
        </p:sp>
        <p:sp>
          <p:nvSpPr>
            <p:cNvPr id="548" name="AutoShape 547"/>
            <p:cNvSpPr>
              <a:spLocks noChangeArrowheads="1"/>
            </p:cNvSpPr>
            <p:nvPr/>
          </p:nvSpPr>
          <p:spPr bwMode="auto">
            <a:xfrm>
              <a:off x="1383" y="3081"/>
              <a:ext cx="564" cy="696"/>
            </a:xfrm>
            <a:prstGeom prst="cube">
              <a:avLst>
                <a:gd name="adj" fmla="val 9250"/>
              </a:avLst>
            </a:prstGeom>
            <a:solidFill>
              <a:srgbClr val="CCECFF"/>
            </a:solidFill>
            <a:ln w="19050">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49" name="Freeform 548"/>
            <p:cNvSpPr>
              <a:spLocks/>
            </p:cNvSpPr>
            <p:nvPr/>
          </p:nvSpPr>
          <p:spPr bwMode="auto">
            <a:xfrm>
              <a:off x="1383"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50" name="Rectangle 549"/>
            <p:cNvSpPr>
              <a:spLocks noChangeArrowheads="1"/>
            </p:cNvSpPr>
            <p:nvPr/>
          </p:nvSpPr>
          <p:spPr bwMode="auto">
            <a:xfrm>
              <a:off x="1408" y="3353"/>
              <a:ext cx="476" cy="204"/>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51" name="Freeform 550"/>
            <p:cNvSpPr>
              <a:spLocks/>
            </p:cNvSpPr>
            <p:nvPr/>
          </p:nvSpPr>
          <p:spPr bwMode="auto">
            <a:xfrm>
              <a:off x="1383"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52" name="Text Box 551"/>
            <p:cNvSpPr txBox="1">
              <a:spLocks noChangeArrowheads="1"/>
            </p:cNvSpPr>
            <p:nvPr/>
          </p:nvSpPr>
          <p:spPr bwMode="auto">
            <a:xfrm>
              <a:off x="1379" y="3330"/>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链路层</a:t>
              </a:r>
            </a:p>
          </p:txBody>
        </p:sp>
        <p:sp>
          <p:nvSpPr>
            <p:cNvPr id="553" name="Text Box 552"/>
            <p:cNvSpPr txBox="1">
              <a:spLocks noChangeArrowheads="1"/>
            </p:cNvSpPr>
            <p:nvPr/>
          </p:nvSpPr>
          <p:spPr bwMode="auto">
            <a:xfrm>
              <a:off x="1379" y="3112"/>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网络层</a:t>
              </a:r>
            </a:p>
          </p:txBody>
        </p:sp>
        <p:sp>
          <p:nvSpPr>
            <p:cNvPr id="554" name="Text Box 553"/>
            <p:cNvSpPr txBox="1">
              <a:spLocks noChangeArrowheads="1"/>
            </p:cNvSpPr>
            <p:nvPr/>
          </p:nvSpPr>
          <p:spPr bwMode="auto">
            <a:xfrm>
              <a:off x="1379" y="3548"/>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物理层</a:t>
              </a:r>
            </a:p>
          </p:txBody>
        </p:sp>
        <p:sp>
          <p:nvSpPr>
            <p:cNvPr id="555" name="AutoShape 554"/>
            <p:cNvSpPr>
              <a:spLocks noChangeArrowheads="1"/>
            </p:cNvSpPr>
            <p:nvPr/>
          </p:nvSpPr>
          <p:spPr bwMode="auto">
            <a:xfrm>
              <a:off x="2710" y="3081"/>
              <a:ext cx="564" cy="696"/>
            </a:xfrm>
            <a:prstGeom prst="cube">
              <a:avLst>
                <a:gd name="adj" fmla="val 9250"/>
              </a:avLst>
            </a:prstGeom>
            <a:solidFill>
              <a:srgbClr val="CCECFF"/>
            </a:solidFill>
            <a:ln w="19050">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56" name="Freeform 555"/>
            <p:cNvSpPr>
              <a:spLocks/>
            </p:cNvSpPr>
            <p:nvPr/>
          </p:nvSpPr>
          <p:spPr bwMode="auto">
            <a:xfrm>
              <a:off x="2710"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57" name="Rectangle 556"/>
            <p:cNvSpPr>
              <a:spLocks noChangeArrowheads="1"/>
            </p:cNvSpPr>
            <p:nvPr/>
          </p:nvSpPr>
          <p:spPr bwMode="auto">
            <a:xfrm>
              <a:off x="2722" y="3353"/>
              <a:ext cx="492" cy="204"/>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58" name="Freeform 557"/>
            <p:cNvSpPr>
              <a:spLocks/>
            </p:cNvSpPr>
            <p:nvPr/>
          </p:nvSpPr>
          <p:spPr bwMode="auto">
            <a:xfrm>
              <a:off x="2710"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59" name="Text Box 558"/>
            <p:cNvSpPr txBox="1">
              <a:spLocks noChangeArrowheads="1"/>
            </p:cNvSpPr>
            <p:nvPr/>
          </p:nvSpPr>
          <p:spPr bwMode="auto">
            <a:xfrm>
              <a:off x="2699" y="3330"/>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链路层</a:t>
              </a:r>
            </a:p>
          </p:txBody>
        </p:sp>
        <p:sp>
          <p:nvSpPr>
            <p:cNvPr id="560" name="Text Box 559"/>
            <p:cNvSpPr txBox="1">
              <a:spLocks noChangeArrowheads="1"/>
            </p:cNvSpPr>
            <p:nvPr/>
          </p:nvSpPr>
          <p:spPr bwMode="auto">
            <a:xfrm>
              <a:off x="2699" y="3112"/>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网络层</a:t>
              </a:r>
            </a:p>
          </p:txBody>
        </p:sp>
        <p:sp>
          <p:nvSpPr>
            <p:cNvPr id="561" name="Text Box 560"/>
            <p:cNvSpPr txBox="1">
              <a:spLocks noChangeArrowheads="1"/>
            </p:cNvSpPr>
            <p:nvPr/>
          </p:nvSpPr>
          <p:spPr bwMode="auto">
            <a:xfrm>
              <a:off x="2699" y="3548"/>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物理层</a:t>
              </a:r>
            </a:p>
          </p:txBody>
        </p:sp>
        <p:sp>
          <p:nvSpPr>
            <p:cNvPr id="562" name="AutoShape 561"/>
            <p:cNvSpPr>
              <a:spLocks noChangeArrowheads="1"/>
            </p:cNvSpPr>
            <p:nvPr/>
          </p:nvSpPr>
          <p:spPr bwMode="auto">
            <a:xfrm>
              <a:off x="3901" y="3081"/>
              <a:ext cx="564" cy="696"/>
            </a:xfrm>
            <a:prstGeom prst="cube">
              <a:avLst>
                <a:gd name="adj" fmla="val 9250"/>
              </a:avLst>
            </a:prstGeom>
            <a:solidFill>
              <a:srgbClr val="CCECFF"/>
            </a:solidFill>
            <a:ln w="19050">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63" name="Freeform 562"/>
            <p:cNvSpPr>
              <a:spLocks/>
            </p:cNvSpPr>
            <p:nvPr/>
          </p:nvSpPr>
          <p:spPr bwMode="auto">
            <a:xfrm>
              <a:off x="3901"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64" name="Rectangle 563"/>
            <p:cNvSpPr>
              <a:spLocks noChangeArrowheads="1"/>
            </p:cNvSpPr>
            <p:nvPr/>
          </p:nvSpPr>
          <p:spPr bwMode="auto">
            <a:xfrm>
              <a:off x="3910" y="3353"/>
              <a:ext cx="498" cy="204"/>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65" name="Freeform 564"/>
            <p:cNvSpPr>
              <a:spLocks/>
            </p:cNvSpPr>
            <p:nvPr/>
          </p:nvSpPr>
          <p:spPr bwMode="auto">
            <a:xfrm>
              <a:off x="3901"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66" name="Text Box 565"/>
            <p:cNvSpPr txBox="1">
              <a:spLocks noChangeArrowheads="1"/>
            </p:cNvSpPr>
            <p:nvPr/>
          </p:nvSpPr>
          <p:spPr bwMode="auto">
            <a:xfrm>
              <a:off x="3878" y="3330"/>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链路层</a:t>
              </a:r>
            </a:p>
          </p:txBody>
        </p:sp>
        <p:sp>
          <p:nvSpPr>
            <p:cNvPr id="567" name="Text Box 566"/>
            <p:cNvSpPr txBox="1">
              <a:spLocks noChangeArrowheads="1"/>
            </p:cNvSpPr>
            <p:nvPr/>
          </p:nvSpPr>
          <p:spPr bwMode="auto">
            <a:xfrm>
              <a:off x="3878" y="3112"/>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网络层</a:t>
              </a:r>
            </a:p>
          </p:txBody>
        </p:sp>
        <p:sp>
          <p:nvSpPr>
            <p:cNvPr id="568" name="Text Box 567"/>
            <p:cNvSpPr txBox="1">
              <a:spLocks noChangeArrowheads="1"/>
            </p:cNvSpPr>
            <p:nvPr/>
          </p:nvSpPr>
          <p:spPr bwMode="auto">
            <a:xfrm>
              <a:off x="3878" y="3548"/>
              <a:ext cx="5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effectLst/>
                  <a:uLnTx/>
                  <a:uFillTx/>
                  <a:latin typeface="+mn-lt"/>
                  <a:ea typeface="+mn-ea"/>
                </a:rPr>
                <a:t>物理层</a:t>
              </a:r>
            </a:p>
          </p:txBody>
        </p:sp>
        <p:sp>
          <p:nvSpPr>
            <p:cNvPr id="569" name="Freeform 572"/>
            <p:cNvSpPr>
              <a:spLocks/>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70" name="Freeform 573"/>
            <p:cNvSpPr>
              <a:spLocks/>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71" name="Freeform 574"/>
            <p:cNvSpPr>
              <a:spLocks/>
            </p:cNvSpPr>
            <p:nvPr/>
          </p:nvSpPr>
          <p:spPr bwMode="auto">
            <a:xfrm>
              <a:off x="1896" y="3769"/>
              <a:ext cx="920" cy="160"/>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72" name="Freeform 575"/>
            <p:cNvSpPr>
              <a:spLocks/>
            </p:cNvSpPr>
            <p:nvPr/>
          </p:nvSpPr>
          <p:spPr bwMode="auto">
            <a:xfrm>
              <a:off x="3112" y="3777"/>
              <a:ext cx="928"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effectLst/>
                <a:uLnTx/>
                <a:uFillTx/>
                <a:latin typeface="+mn-lt"/>
                <a:ea typeface="+mn-ea"/>
              </a:endParaRPr>
            </a:p>
          </p:txBody>
        </p:sp>
        <p:sp>
          <p:nvSpPr>
            <p:cNvPr id="573" name="Text Box 576"/>
            <p:cNvSpPr txBox="1">
              <a:spLocks noChangeArrowheads="1"/>
            </p:cNvSpPr>
            <p:nvPr/>
          </p:nvSpPr>
          <p:spPr bwMode="auto">
            <a:xfrm>
              <a:off x="1531" y="2837"/>
              <a:ext cx="27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effectLst/>
                  <a:uLnTx/>
                  <a:uFillTx/>
                  <a:latin typeface="+mn-lt"/>
                  <a:ea typeface="+mn-ea"/>
                </a:rPr>
                <a:t>R</a:t>
              </a:r>
              <a:r>
                <a:rPr kumimoji="0" lang="en-US" altLang="zh-CN" sz="1600" b="1" i="0" u="none" strike="noStrike" kern="0" cap="none" spc="0" normalizeH="0" baseline="-25000" noProof="0" smtClean="0">
                  <a:ln>
                    <a:noFill/>
                  </a:ln>
                  <a:effectLst/>
                  <a:uLnTx/>
                  <a:uFillTx/>
                  <a:latin typeface="+mn-lt"/>
                  <a:ea typeface="+mn-ea"/>
                </a:rPr>
                <a:t>1</a:t>
              </a:r>
            </a:p>
          </p:txBody>
        </p:sp>
        <p:sp>
          <p:nvSpPr>
            <p:cNvPr id="574" name="Text Box 577"/>
            <p:cNvSpPr txBox="1">
              <a:spLocks noChangeArrowheads="1"/>
            </p:cNvSpPr>
            <p:nvPr/>
          </p:nvSpPr>
          <p:spPr bwMode="auto">
            <a:xfrm>
              <a:off x="2872" y="2837"/>
              <a:ext cx="27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effectLst/>
                  <a:uLnTx/>
                  <a:uFillTx/>
                  <a:latin typeface="+mn-lt"/>
                  <a:ea typeface="+mn-ea"/>
                </a:rPr>
                <a:t>R</a:t>
              </a:r>
              <a:r>
                <a:rPr kumimoji="0" lang="en-US" altLang="zh-CN" sz="1600" b="1" i="0" u="none" strike="noStrike" kern="0" cap="none" spc="0" normalizeH="0" baseline="-25000" noProof="0" smtClean="0">
                  <a:ln>
                    <a:noFill/>
                  </a:ln>
                  <a:effectLst/>
                  <a:uLnTx/>
                  <a:uFillTx/>
                  <a:latin typeface="+mn-lt"/>
                  <a:ea typeface="+mn-ea"/>
                </a:rPr>
                <a:t>2</a:t>
              </a:r>
            </a:p>
          </p:txBody>
        </p:sp>
        <p:sp>
          <p:nvSpPr>
            <p:cNvPr id="575" name="Text Box 578"/>
            <p:cNvSpPr txBox="1">
              <a:spLocks noChangeArrowheads="1"/>
            </p:cNvSpPr>
            <p:nvPr/>
          </p:nvSpPr>
          <p:spPr bwMode="auto">
            <a:xfrm>
              <a:off x="4067" y="2837"/>
              <a:ext cx="27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effectLst/>
                  <a:uLnTx/>
                  <a:uFillTx/>
                  <a:latin typeface="+mn-lt"/>
                  <a:ea typeface="+mn-ea"/>
                </a:rPr>
                <a:t>R</a:t>
              </a:r>
              <a:r>
                <a:rPr kumimoji="0" lang="en-US" altLang="zh-CN" sz="1600" b="1" i="0" u="none" strike="noStrike" kern="0" cap="none" spc="0" normalizeH="0" baseline="-25000" noProof="0" smtClean="0">
                  <a:ln>
                    <a:noFill/>
                  </a:ln>
                  <a:effectLst/>
                  <a:uLnTx/>
                  <a:uFillTx/>
                  <a:latin typeface="+mn-lt"/>
                  <a:ea typeface="+mn-ea"/>
                </a:rPr>
                <a:t>3</a:t>
              </a:r>
            </a:p>
          </p:txBody>
        </p:sp>
        <p:sp>
          <p:nvSpPr>
            <p:cNvPr id="576" name="Text Box 579"/>
            <p:cNvSpPr txBox="1">
              <a:spLocks noChangeArrowheads="1"/>
            </p:cNvSpPr>
            <p:nvPr/>
          </p:nvSpPr>
          <p:spPr bwMode="auto">
            <a:xfrm>
              <a:off x="326" y="2405"/>
              <a:ext cx="27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dirty="0" smtClean="0">
                  <a:ln>
                    <a:noFill/>
                  </a:ln>
                  <a:effectLst/>
                  <a:uLnTx/>
                  <a:uFillTx/>
                  <a:latin typeface="+mn-lt"/>
                  <a:ea typeface="+mn-ea"/>
                </a:rPr>
                <a:t>H</a:t>
              </a:r>
              <a:r>
                <a:rPr kumimoji="0" lang="en-US" altLang="zh-CN" sz="1600" b="1" i="0" u="none" strike="noStrike" kern="0" cap="none" spc="0" normalizeH="0" baseline="-25000" noProof="0" dirty="0" smtClean="0">
                  <a:ln>
                    <a:noFill/>
                  </a:ln>
                  <a:effectLst/>
                  <a:uLnTx/>
                  <a:uFillTx/>
                  <a:latin typeface="+mn-lt"/>
                  <a:ea typeface="+mn-ea"/>
                </a:rPr>
                <a:t>1</a:t>
              </a:r>
            </a:p>
          </p:txBody>
        </p:sp>
        <p:sp>
          <p:nvSpPr>
            <p:cNvPr id="577" name="Text Box 580"/>
            <p:cNvSpPr txBox="1">
              <a:spLocks noChangeArrowheads="1"/>
            </p:cNvSpPr>
            <p:nvPr/>
          </p:nvSpPr>
          <p:spPr bwMode="auto">
            <a:xfrm>
              <a:off x="5272" y="2405"/>
              <a:ext cx="27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effectLst/>
                  <a:uLnTx/>
                  <a:uFillTx/>
                  <a:latin typeface="+mn-lt"/>
                  <a:ea typeface="+mn-ea"/>
                </a:rPr>
                <a:t>H</a:t>
              </a:r>
              <a:r>
                <a:rPr kumimoji="0" lang="en-US" altLang="zh-CN" sz="1600" b="1" i="0" u="none" strike="noStrike" kern="0" cap="none" spc="0" normalizeH="0" baseline="-25000" noProof="0" smtClean="0">
                  <a:ln>
                    <a:noFill/>
                  </a:ln>
                  <a:effectLst/>
                  <a:uLnTx/>
                  <a:uFillTx/>
                  <a:latin typeface="+mn-lt"/>
                  <a:ea typeface="+mn-ea"/>
                </a:rPr>
                <a:t>2</a:t>
              </a:r>
            </a:p>
          </p:txBody>
        </p:sp>
      </p:grpSp>
      <p:sp>
        <p:nvSpPr>
          <p:cNvPr id="579" name="Freeform 583"/>
          <p:cNvSpPr>
            <a:spLocks/>
          </p:cNvSpPr>
          <p:nvPr/>
        </p:nvSpPr>
        <p:spPr bwMode="auto">
          <a:xfrm>
            <a:off x="1225550" y="3955629"/>
            <a:ext cx="6978650" cy="18716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0"/>
              </a:spcBef>
              <a:buClrTx/>
              <a:buFontTx/>
              <a:buNone/>
            </a:pPr>
            <a:endParaRPr kumimoji="0" lang="zh-CN" altLang="en-US" sz="2000" b="1">
              <a:latin typeface="+mn-lt"/>
              <a:ea typeface="+mn-ea"/>
            </a:endParaRPr>
          </a:p>
        </p:txBody>
      </p:sp>
      <p:sp>
        <p:nvSpPr>
          <p:cNvPr id="580" name="Rectangle 644"/>
          <p:cNvSpPr>
            <a:spLocks noChangeArrowheads="1"/>
          </p:cNvSpPr>
          <p:nvPr/>
        </p:nvSpPr>
        <p:spPr bwMode="auto">
          <a:xfrm>
            <a:off x="707820" y="4941168"/>
            <a:ext cx="8256793" cy="323850"/>
          </a:xfrm>
          <a:prstGeom prst="rect">
            <a:avLst/>
          </a:prstGeom>
          <a:solidFill>
            <a:srgbClr val="7030A0">
              <a:alpha val="39999"/>
            </a:srgbClr>
          </a:solidFill>
          <a:ln w="9525">
            <a:solidFill>
              <a:srgbClr val="5F5F5F"/>
            </a:solidFill>
            <a:prstDash val="dash"/>
            <a:miter lim="800000"/>
            <a:headEnd/>
            <a:tailEnd/>
          </a:ln>
          <a:effectLst/>
        </p:spPr>
        <p:txBody>
          <a:bodyPr wrap="none" anchor="ctr"/>
          <a:lstStyle/>
          <a:p>
            <a:endParaRPr lang="zh-CN" altLang="en-US"/>
          </a:p>
        </p:txBody>
      </p:sp>
      <p:sp>
        <p:nvSpPr>
          <p:cNvPr id="581" name="Line 630"/>
          <p:cNvSpPr>
            <a:spLocks noChangeShapeType="1"/>
          </p:cNvSpPr>
          <p:nvPr/>
        </p:nvSpPr>
        <p:spPr bwMode="auto">
          <a:xfrm>
            <a:off x="1244600" y="5126641"/>
            <a:ext cx="1219200" cy="0"/>
          </a:xfrm>
          <a:prstGeom prst="line">
            <a:avLst/>
          </a:prstGeom>
          <a:noFill/>
          <a:ln w="76200">
            <a:solidFill>
              <a:srgbClr val="00CC99"/>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2" name="Line 631"/>
          <p:cNvSpPr>
            <a:spLocks noChangeShapeType="1"/>
          </p:cNvSpPr>
          <p:nvPr/>
        </p:nvSpPr>
        <p:spPr bwMode="auto">
          <a:xfrm>
            <a:off x="3187700" y="5126641"/>
            <a:ext cx="1219200" cy="0"/>
          </a:xfrm>
          <a:prstGeom prst="line">
            <a:avLst/>
          </a:prstGeom>
          <a:noFill/>
          <a:ln w="76200">
            <a:solidFill>
              <a:srgbClr val="00CC99"/>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 name="Line 632"/>
          <p:cNvSpPr>
            <a:spLocks noChangeShapeType="1"/>
          </p:cNvSpPr>
          <p:nvPr/>
        </p:nvSpPr>
        <p:spPr bwMode="auto">
          <a:xfrm>
            <a:off x="5092700" y="5126641"/>
            <a:ext cx="1219200" cy="0"/>
          </a:xfrm>
          <a:prstGeom prst="line">
            <a:avLst/>
          </a:prstGeom>
          <a:noFill/>
          <a:ln w="76200">
            <a:solidFill>
              <a:srgbClr val="00CC99"/>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 name="Line 633"/>
          <p:cNvSpPr>
            <a:spLocks noChangeShapeType="1"/>
          </p:cNvSpPr>
          <p:nvPr/>
        </p:nvSpPr>
        <p:spPr bwMode="auto">
          <a:xfrm>
            <a:off x="6997700" y="5126641"/>
            <a:ext cx="1219200" cy="0"/>
          </a:xfrm>
          <a:prstGeom prst="line">
            <a:avLst/>
          </a:prstGeom>
          <a:noFill/>
          <a:ln w="76200">
            <a:solidFill>
              <a:srgbClr val="00CC99"/>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 name="Text Box 645"/>
          <p:cNvSpPr txBox="1">
            <a:spLocks noChangeArrowheads="1"/>
          </p:cNvSpPr>
          <p:nvPr/>
        </p:nvSpPr>
        <p:spPr bwMode="auto">
          <a:xfrm>
            <a:off x="2723805" y="5949280"/>
            <a:ext cx="4185761"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400" b="1" dirty="0">
                <a:solidFill>
                  <a:srgbClr val="0000FF"/>
                </a:solidFill>
                <a:latin typeface="+mn-lt"/>
                <a:ea typeface="+mn-ea"/>
              </a:rPr>
              <a:t>仅从数据链路层观察帧的流动</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520"/>
                                        </p:tgtEl>
                                        <p:attrNameLst>
                                          <p:attrName>style.visibility</p:attrName>
                                        </p:attrNameLst>
                                      </p:cBhvr>
                                      <p:to>
                                        <p:strVal val="visible"/>
                                      </p:to>
                                    </p:set>
                                    <p:animEffect transition="in" filter="wipe(left)">
                                      <p:cBhvr>
                                        <p:cTn id="7" dur="500"/>
                                        <p:tgtEl>
                                          <p:spTgt spid="520"/>
                                        </p:tgtEl>
                                      </p:cBhvr>
                                    </p:animEffect>
                                  </p:childTnLst>
                                </p:cTn>
                              </p:par>
                            </p:childTnLst>
                          </p:cTn>
                        </p:par>
                        <p:par>
                          <p:cTn id="8" fill="hold">
                            <p:stCondLst>
                              <p:cond delay="1000"/>
                            </p:stCondLst>
                            <p:childTnLst>
                              <p:par>
                                <p:cTn id="9" presetID="22" presetClass="entr" presetSubtype="8" fill="hold" grpId="0" nodeType="afterEffect">
                                  <p:stCondLst>
                                    <p:cond delay="500"/>
                                  </p:stCondLst>
                                  <p:childTnLst>
                                    <p:set>
                                      <p:cBhvr>
                                        <p:cTn id="10" dur="1" fill="hold">
                                          <p:stCondLst>
                                            <p:cond delay="0"/>
                                          </p:stCondLst>
                                        </p:cTn>
                                        <p:tgtEl>
                                          <p:spTgt spid="523"/>
                                        </p:tgtEl>
                                        <p:attrNameLst>
                                          <p:attrName>style.visibility</p:attrName>
                                        </p:attrNameLst>
                                      </p:cBhvr>
                                      <p:to>
                                        <p:strVal val="visible"/>
                                      </p:to>
                                    </p:set>
                                    <p:animEffect transition="in" filter="wipe(left)">
                                      <p:cBhvr>
                                        <p:cTn id="11" dur="500"/>
                                        <p:tgtEl>
                                          <p:spTgt spid="523"/>
                                        </p:tgtEl>
                                      </p:cBhvr>
                                    </p:animEffect>
                                  </p:childTnLst>
                                </p:cTn>
                              </p:par>
                            </p:childTnLst>
                          </p:cTn>
                        </p:par>
                        <p:par>
                          <p:cTn id="12" fill="hold">
                            <p:stCondLst>
                              <p:cond delay="2000"/>
                            </p:stCondLst>
                            <p:childTnLst>
                              <p:par>
                                <p:cTn id="13" presetID="22" presetClass="entr" presetSubtype="8" fill="hold" grpId="0" nodeType="afterEffect">
                                  <p:stCondLst>
                                    <p:cond delay="500"/>
                                  </p:stCondLst>
                                  <p:childTnLst>
                                    <p:set>
                                      <p:cBhvr>
                                        <p:cTn id="14" dur="1" fill="hold">
                                          <p:stCondLst>
                                            <p:cond delay="0"/>
                                          </p:stCondLst>
                                        </p:cTn>
                                        <p:tgtEl>
                                          <p:spTgt spid="521"/>
                                        </p:tgtEl>
                                        <p:attrNameLst>
                                          <p:attrName>style.visibility</p:attrName>
                                        </p:attrNameLst>
                                      </p:cBhvr>
                                      <p:to>
                                        <p:strVal val="visible"/>
                                      </p:to>
                                    </p:set>
                                    <p:animEffect transition="in" filter="wipe(left)">
                                      <p:cBhvr>
                                        <p:cTn id="15" dur="500"/>
                                        <p:tgtEl>
                                          <p:spTgt spid="521"/>
                                        </p:tgtEl>
                                      </p:cBhvr>
                                    </p:animEffect>
                                  </p:childTnLst>
                                </p:cTn>
                              </p:par>
                            </p:childTnLst>
                          </p:cTn>
                        </p:par>
                        <p:par>
                          <p:cTn id="16" fill="hold">
                            <p:stCondLst>
                              <p:cond delay="3000"/>
                            </p:stCondLst>
                            <p:childTnLst>
                              <p:par>
                                <p:cTn id="17" presetID="22" presetClass="entr" presetSubtype="8" fill="hold" grpId="0" nodeType="afterEffect">
                                  <p:stCondLst>
                                    <p:cond delay="500"/>
                                  </p:stCondLst>
                                  <p:childTnLst>
                                    <p:set>
                                      <p:cBhvr>
                                        <p:cTn id="18" dur="1" fill="hold">
                                          <p:stCondLst>
                                            <p:cond delay="0"/>
                                          </p:stCondLst>
                                        </p:cTn>
                                        <p:tgtEl>
                                          <p:spTgt spid="522"/>
                                        </p:tgtEl>
                                        <p:attrNameLst>
                                          <p:attrName>style.visibility</p:attrName>
                                        </p:attrNameLst>
                                      </p:cBhvr>
                                      <p:to>
                                        <p:strVal val="visible"/>
                                      </p:to>
                                    </p:set>
                                    <p:animEffect transition="in" filter="wipe(left)">
                                      <p:cBhvr>
                                        <p:cTn id="19" dur="500"/>
                                        <p:tgtEl>
                                          <p:spTgt spid="522"/>
                                        </p:tgtEl>
                                      </p:cBhvr>
                                    </p:animEffect>
                                  </p:childTnLst>
                                </p:cTn>
                              </p:par>
                            </p:childTnLst>
                          </p:cTn>
                        </p:par>
                        <p:par>
                          <p:cTn id="20" fill="hold">
                            <p:stCondLst>
                              <p:cond delay="4000"/>
                            </p:stCondLst>
                            <p:childTnLst>
                              <p:par>
                                <p:cTn id="21" presetID="1" presetClass="entr" presetSubtype="0" fill="hold" nodeType="afterEffect">
                                  <p:stCondLst>
                                    <p:cond delay="0"/>
                                  </p:stCondLst>
                                  <p:childTnLst>
                                    <p:set>
                                      <p:cBhvr>
                                        <p:cTn id="22" dur="1" fill="hold">
                                          <p:stCondLst>
                                            <p:cond delay="0"/>
                                          </p:stCondLst>
                                        </p:cTn>
                                        <p:tgtEl>
                                          <p:spTgt spid="525"/>
                                        </p:tgtEl>
                                        <p:attrNameLst>
                                          <p:attrName>style.visibility</p:attrName>
                                        </p:attrNameLst>
                                      </p:cBhvr>
                                      <p:to>
                                        <p:strVal val="visible"/>
                                      </p:to>
                                    </p:set>
                                  </p:childTnLst>
                                </p:cTn>
                              </p:par>
                            </p:childTnLst>
                          </p:cTn>
                        </p:par>
                        <p:par>
                          <p:cTn id="23" fill="hold">
                            <p:stCondLst>
                              <p:cond delay="4000"/>
                            </p:stCondLst>
                            <p:childTnLst>
                              <p:par>
                                <p:cTn id="24" presetID="22" presetClass="entr" presetSubtype="8" fill="hold" grpId="0" nodeType="afterEffect">
                                  <p:stCondLst>
                                    <p:cond delay="500"/>
                                  </p:stCondLst>
                                  <p:childTnLst>
                                    <p:set>
                                      <p:cBhvr>
                                        <p:cTn id="25" dur="1" fill="hold">
                                          <p:stCondLst>
                                            <p:cond delay="0"/>
                                          </p:stCondLst>
                                        </p:cTn>
                                        <p:tgtEl>
                                          <p:spTgt spid="579"/>
                                        </p:tgtEl>
                                        <p:attrNameLst>
                                          <p:attrName>style.visibility</p:attrName>
                                        </p:attrNameLst>
                                      </p:cBhvr>
                                      <p:to>
                                        <p:strVal val="visible"/>
                                      </p:to>
                                    </p:set>
                                    <p:animEffect transition="in" filter="wipe(left)">
                                      <p:cBhvr>
                                        <p:cTn id="26" dur="2000"/>
                                        <p:tgtEl>
                                          <p:spTgt spid="579"/>
                                        </p:tgtEl>
                                      </p:cBhvr>
                                    </p:animEffect>
                                  </p:childTnLst>
                                </p:cTn>
                              </p:par>
                            </p:childTnLst>
                          </p:cTn>
                        </p:par>
                        <p:par>
                          <p:cTn id="27" fill="hold">
                            <p:stCondLst>
                              <p:cond delay="6500"/>
                            </p:stCondLst>
                            <p:childTnLst>
                              <p:par>
                                <p:cTn id="28" presetID="1" presetClass="entr" presetSubtype="0" fill="hold" grpId="0" nodeType="afterEffect">
                                  <p:stCondLst>
                                    <p:cond delay="500"/>
                                  </p:stCondLst>
                                  <p:childTnLst>
                                    <p:set>
                                      <p:cBhvr>
                                        <p:cTn id="29" dur="1" fill="hold">
                                          <p:stCondLst>
                                            <p:cond delay="0"/>
                                          </p:stCondLst>
                                        </p:cTn>
                                        <p:tgtEl>
                                          <p:spTgt spid="580"/>
                                        </p:tgtEl>
                                        <p:attrNameLst>
                                          <p:attrName>style.visibility</p:attrName>
                                        </p:attrNameLst>
                                      </p:cBhvr>
                                      <p:to>
                                        <p:strVal val="visible"/>
                                      </p:to>
                                    </p:set>
                                  </p:childTnLst>
                                </p:cTn>
                              </p:par>
                            </p:childTnLst>
                          </p:cTn>
                        </p:par>
                        <p:par>
                          <p:cTn id="30" fill="hold">
                            <p:stCondLst>
                              <p:cond delay="7000"/>
                            </p:stCondLst>
                            <p:childTnLst>
                              <p:par>
                                <p:cTn id="31" presetID="22" presetClass="entr" presetSubtype="8" fill="hold" grpId="0" nodeType="afterEffect">
                                  <p:stCondLst>
                                    <p:cond delay="500"/>
                                  </p:stCondLst>
                                  <p:childTnLst>
                                    <p:set>
                                      <p:cBhvr>
                                        <p:cTn id="32" dur="1" fill="hold">
                                          <p:stCondLst>
                                            <p:cond delay="0"/>
                                          </p:stCondLst>
                                        </p:cTn>
                                        <p:tgtEl>
                                          <p:spTgt spid="581"/>
                                        </p:tgtEl>
                                        <p:attrNameLst>
                                          <p:attrName>style.visibility</p:attrName>
                                        </p:attrNameLst>
                                      </p:cBhvr>
                                      <p:to>
                                        <p:strVal val="visible"/>
                                      </p:to>
                                    </p:set>
                                    <p:animEffect transition="in" filter="wipe(left)">
                                      <p:cBhvr>
                                        <p:cTn id="33" dur="500"/>
                                        <p:tgtEl>
                                          <p:spTgt spid="581"/>
                                        </p:tgtEl>
                                      </p:cBhvr>
                                    </p:animEffect>
                                  </p:childTnLst>
                                </p:cTn>
                              </p:par>
                            </p:childTnLst>
                          </p:cTn>
                        </p:par>
                        <p:par>
                          <p:cTn id="34" fill="hold">
                            <p:stCondLst>
                              <p:cond delay="8000"/>
                            </p:stCondLst>
                            <p:childTnLst>
                              <p:par>
                                <p:cTn id="35" presetID="22" presetClass="entr" presetSubtype="8" fill="hold" grpId="0" nodeType="afterEffect">
                                  <p:stCondLst>
                                    <p:cond delay="500"/>
                                  </p:stCondLst>
                                  <p:childTnLst>
                                    <p:set>
                                      <p:cBhvr>
                                        <p:cTn id="36" dur="1" fill="hold">
                                          <p:stCondLst>
                                            <p:cond delay="0"/>
                                          </p:stCondLst>
                                        </p:cTn>
                                        <p:tgtEl>
                                          <p:spTgt spid="582"/>
                                        </p:tgtEl>
                                        <p:attrNameLst>
                                          <p:attrName>style.visibility</p:attrName>
                                        </p:attrNameLst>
                                      </p:cBhvr>
                                      <p:to>
                                        <p:strVal val="visible"/>
                                      </p:to>
                                    </p:set>
                                    <p:animEffect transition="in" filter="wipe(left)">
                                      <p:cBhvr>
                                        <p:cTn id="37" dur="500"/>
                                        <p:tgtEl>
                                          <p:spTgt spid="582"/>
                                        </p:tgtEl>
                                      </p:cBhvr>
                                    </p:animEffect>
                                  </p:childTnLst>
                                </p:cTn>
                              </p:par>
                            </p:childTnLst>
                          </p:cTn>
                        </p:par>
                        <p:par>
                          <p:cTn id="38" fill="hold">
                            <p:stCondLst>
                              <p:cond delay="9000"/>
                            </p:stCondLst>
                            <p:childTnLst>
                              <p:par>
                                <p:cTn id="39" presetID="22" presetClass="entr" presetSubtype="8" fill="hold" grpId="0" nodeType="afterEffect">
                                  <p:stCondLst>
                                    <p:cond delay="500"/>
                                  </p:stCondLst>
                                  <p:childTnLst>
                                    <p:set>
                                      <p:cBhvr>
                                        <p:cTn id="40" dur="1" fill="hold">
                                          <p:stCondLst>
                                            <p:cond delay="0"/>
                                          </p:stCondLst>
                                        </p:cTn>
                                        <p:tgtEl>
                                          <p:spTgt spid="583"/>
                                        </p:tgtEl>
                                        <p:attrNameLst>
                                          <p:attrName>style.visibility</p:attrName>
                                        </p:attrNameLst>
                                      </p:cBhvr>
                                      <p:to>
                                        <p:strVal val="visible"/>
                                      </p:to>
                                    </p:set>
                                    <p:animEffect transition="in" filter="wipe(left)">
                                      <p:cBhvr>
                                        <p:cTn id="41" dur="500"/>
                                        <p:tgtEl>
                                          <p:spTgt spid="583"/>
                                        </p:tgtEl>
                                      </p:cBhvr>
                                    </p:animEffect>
                                  </p:childTnLst>
                                </p:cTn>
                              </p:par>
                            </p:childTnLst>
                          </p:cTn>
                        </p:par>
                        <p:par>
                          <p:cTn id="42" fill="hold">
                            <p:stCondLst>
                              <p:cond delay="10000"/>
                            </p:stCondLst>
                            <p:childTnLst>
                              <p:par>
                                <p:cTn id="43" presetID="22" presetClass="entr" presetSubtype="8" fill="hold" grpId="0" nodeType="afterEffect">
                                  <p:stCondLst>
                                    <p:cond delay="500"/>
                                  </p:stCondLst>
                                  <p:childTnLst>
                                    <p:set>
                                      <p:cBhvr>
                                        <p:cTn id="44" dur="1" fill="hold">
                                          <p:stCondLst>
                                            <p:cond delay="0"/>
                                          </p:stCondLst>
                                        </p:cTn>
                                        <p:tgtEl>
                                          <p:spTgt spid="584"/>
                                        </p:tgtEl>
                                        <p:attrNameLst>
                                          <p:attrName>style.visibility</p:attrName>
                                        </p:attrNameLst>
                                      </p:cBhvr>
                                      <p:to>
                                        <p:strVal val="visible"/>
                                      </p:to>
                                    </p:set>
                                    <p:animEffect transition="in" filter="wipe(left)">
                                      <p:cBhvr>
                                        <p:cTn id="45" dur="500"/>
                                        <p:tgtEl>
                                          <p:spTgt spid="584"/>
                                        </p:tgtEl>
                                      </p:cBhvr>
                                    </p:animEffect>
                                  </p:childTnLst>
                                </p:cTn>
                              </p:par>
                            </p:childTnLst>
                          </p:cTn>
                        </p:par>
                        <p:par>
                          <p:cTn id="46" fill="hold">
                            <p:stCondLst>
                              <p:cond delay="11000"/>
                            </p:stCondLst>
                            <p:childTnLst>
                              <p:par>
                                <p:cTn id="47" presetID="1" presetClass="entr" presetSubtype="0" fill="hold" grpId="0" nodeType="afterEffect">
                                  <p:stCondLst>
                                    <p:cond delay="0"/>
                                  </p:stCondLst>
                                  <p:childTnLst>
                                    <p:set>
                                      <p:cBhvr>
                                        <p:cTn id="48" dur="1" fill="hold">
                                          <p:stCondLst>
                                            <p:cond delay="0"/>
                                          </p:stCondLst>
                                        </p:cTn>
                                        <p:tgtEl>
                                          <p:spTgt spid="5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 grpId="0" animBg="1"/>
      <p:bldP spid="521" grpId="0" animBg="1"/>
      <p:bldP spid="522" grpId="0" animBg="1"/>
      <p:bldP spid="523" grpId="0" animBg="1"/>
      <p:bldP spid="579" grpId="0" animBg="1"/>
      <p:bldP spid="580" grpId="0" animBg="1"/>
      <p:bldP spid="581" grpId="0" animBg="1"/>
      <p:bldP spid="582" grpId="0" animBg="1"/>
      <p:bldP spid="583" grpId="0" animBg="1"/>
      <p:bldP spid="584" grpId="0" animBg="1"/>
      <p:bldP spid="58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r>
              <a:rPr lang="zh-CN" altLang="en-US" dirty="0" smtClean="0"/>
              <a:t>数据链路层中的帧</a:t>
            </a:r>
            <a:endParaRPr lang="zh-CN" altLang="en-US" dirty="0"/>
          </a:p>
        </p:txBody>
      </p:sp>
      <p:sp>
        <p:nvSpPr>
          <p:cNvPr id="527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52736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
        <p:nvSpPr>
          <p:cNvPr id="7" name="Rectangle 4"/>
          <p:cNvSpPr>
            <a:spLocks noChangeArrowheads="1"/>
          </p:cNvSpPr>
          <p:nvPr/>
        </p:nvSpPr>
        <p:spPr bwMode="auto">
          <a:xfrm>
            <a:off x="6692380" y="1950963"/>
            <a:ext cx="2011362" cy="1828800"/>
          </a:xfrm>
          <a:prstGeom prst="rect">
            <a:avLst/>
          </a:prstGeom>
          <a:solidFill>
            <a:srgbClr val="CCFFFF"/>
          </a:solidFill>
          <a:ln w="12700">
            <a:solidFill>
              <a:srgbClr val="000000"/>
            </a:solidFill>
            <a:miter lim="800000"/>
            <a:headEnd/>
            <a:tailEnd/>
          </a:ln>
          <a:effectLst>
            <a:outerShdw dist="53882" dir="2700000" algn="ctr" rotWithShape="0">
              <a:srgbClr val="1C1C1C"/>
            </a:outerShdw>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 name="Rectangle 5"/>
          <p:cNvSpPr>
            <a:spLocks noChangeArrowheads="1"/>
          </p:cNvSpPr>
          <p:nvPr/>
        </p:nvSpPr>
        <p:spPr bwMode="auto">
          <a:xfrm>
            <a:off x="6711430" y="2560563"/>
            <a:ext cx="1981200" cy="609600"/>
          </a:xfrm>
          <a:prstGeom prst="rect">
            <a:avLst/>
          </a:prstGeom>
          <a:solidFill>
            <a:srgbClr val="FFCCFF"/>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9" name="Line 6"/>
          <p:cNvSpPr>
            <a:spLocks noChangeShapeType="1"/>
          </p:cNvSpPr>
          <p:nvPr/>
        </p:nvSpPr>
        <p:spPr bwMode="auto">
          <a:xfrm>
            <a:off x="6692380" y="2558975"/>
            <a:ext cx="2008187" cy="1588"/>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0" name="Rectangle 7"/>
          <p:cNvSpPr>
            <a:spLocks noChangeArrowheads="1"/>
          </p:cNvSpPr>
          <p:nvPr/>
        </p:nvSpPr>
        <p:spPr bwMode="auto">
          <a:xfrm>
            <a:off x="6998767" y="2712963"/>
            <a:ext cx="13906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algn="ctr" defTabSz="762000" eaLnBrk="0" fontAlgn="auto" latinLnBrk="0" hangingPunct="0">
              <a:lnSpc>
                <a:spcPct val="100000"/>
              </a:lnSpc>
              <a:spcBef>
                <a:spcPct val="0"/>
              </a:spcBef>
              <a:spcAft>
                <a:spcPts val="0"/>
              </a:spcAft>
              <a:buClrTx/>
              <a:buSzTx/>
              <a:buFontTx/>
              <a:buNone/>
              <a:tabLst/>
              <a:defRPr/>
            </a:pPr>
            <a:endParaRPr kumimoji="0" lang="zh-CN" altLang="zh-CN" sz="1800" b="1" i="0" u="none" strike="noStrike" kern="0" cap="none" spc="0" normalizeH="0" baseline="0" noProof="0" smtClean="0">
              <a:ln>
                <a:noFill/>
              </a:ln>
              <a:effectLst/>
              <a:uLnTx/>
              <a:uFillTx/>
              <a:latin typeface="+mn-lt"/>
              <a:ea typeface="+mn-ea"/>
            </a:endParaRPr>
          </a:p>
        </p:txBody>
      </p:sp>
      <p:sp>
        <p:nvSpPr>
          <p:cNvPr id="11" name="Line 8"/>
          <p:cNvSpPr>
            <a:spLocks noChangeShapeType="1"/>
          </p:cNvSpPr>
          <p:nvPr/>
        </p:nvSpPr>
        <p:spPr bwMode="auto">
          <a:xfrm>
            <a:off x="6692380" y="3168575"/>
            <a:ext cx="2008187" cy="1588"/>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2" name="Rectangle 9"/>
          <p:cNvSpPr>
            <a:spLocks noChangeArrowheads="1"/>
          </p:cNvSpPr>
          <p:nvPr/>
        </p:nvSpPr>
        <p:spPr bwMode="auto">
          <a:xfrm>
            <a:off x="7203555" y="2103363"/>
            <a:ext cx="990600" cy="304800"/>
          </a:xfrm>
          <a:prstGeom prst="rect">
            <a:avLst/>
          </a:prstGeom>
          <a:solidFill>
            <a:srgbClr val="DDDDDD"/>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algn="ctr" defTabSz="762000" eaLnBrk="0" fontAlgn="auto" latinLnBrk="0" hangingPunct="0">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effectLst/>
                <a:uLnTx/>
                <a:uFillTx/>
                <a:latin typeface="+mn-lt"/>
                <a:ea typeface="+mn-ea"/>
              </a:rPr>
              <a:t>IP</a:t>
            </a:r>
            <a:r>
              <a:rPr kumimoji="0" lang="zh-CN" altLang="en-US" sz="1800" b="1" i="0" u="none" strike="noStrike" kern="0" cap="none" spc="0" normalizeH="0" baseline="0" noProof="0" dirty="0" smtClean="0">
                <a:ln>
                  <a:noFill/>
                </a:ln>
                <a:effectLst/>
                <a:uLnTx/>
                <a:uFillTx/>
                <a:latin typeface="+mn-lt"/>
                <a:ea typeface="+mn-ea"/>
              </a:rPr>
              <a:t>数据报</a:t>
            </a:r>
          </a:p>
        </p:txBody>
      </p:sp>
      <p:sp>
        <p:nvSpPr>
          <p:cNvPr id="13" name="Rectangle 10"/>
          <p:cNvSpPr>
            <a:spLocks noChangeArrowheads="1"/>
          </p:cNvSpPr>
          <p:nvPr/>
        </p:nvSpPr>
        <p:spPr bwMode="auto">
          <a:xfrm>
            <a:off x="6992417" y="3322563"/>
            <a:ext cx="14033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algn="ctr" defTabSz="762000" eaLnBrk="0" fontAlgn="auto" latinLnBrk="0" hangingPunct="0">
              <a:lnSpc>
                <a:spcPct val="100000"/>
              </a:lnSpc>
              <a:spcBef>
                <a:spcPct val="0"/>
              </a:spcBef>
              <a:spcAft>
                <a:spcPts val="0"/>
              </a:spcAft>
              <a:buClrTx/>
              <a:buSzTx/>
              <a:buFontTx/>
              <a:buNone/>
              <a:tabLst/>
              <a:defRPr/>
            </a:pPr>
            <a:endParaRPr kumimoji="0" lang="zh-CN" altLang="zh-CN" sz="1800" b="1" i="0" u="none" strike="noStrike" kern="0" cap="none" spc="0" normalizeH="0" baseline="0" noProof="0" smtClean="0">
              <a:ln>
                <a:noFill/>
              </a:ln>
              <a:effectLst/>
              <a:uLnTx/>
              <a:uFillTx/>
              <a:latin typeface="+mn-lt"/>
              <a:ea typeface="+mn-ea"/>
            </a:endParaRPr>
          </a:p>
        </p:txBody>
      </p:sp>
      <p:sp>
        <p:nvSpPr>
          <p:cNvPr id="14" name="Rectangle 11"/>
          <p:cNvSpPr>
            <a:spLocks noChangeArrowheads="1"/>
          </p:cNvSpPr>
          <p:nvPr/>
        </p:nvSpPr>
        <p:spPr bwMode="auto">
          <a:xfrm>
            <a:off x="6928917" y="3335263"/>
            <a:ext cx="1505221" cy="299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lnSpc>
                <a:spcPct val="85000"/>
              </a:lnSpc>
              <a:spcBef>
                <a:spcPct val="0"/>
              </a:spcBef>
              <a:buClrTx/>
              <a:buFontTx/>
              <a:buNone/>
            </a:pPr>
            <a:r>
              <a:rPr lang="en-US" altLang="zh-CN" sz="1600" b="1" dirty="0">
                <a:latin typeface="+mn-lt"/>
                <a:ea typeface="+mn-ea"/>
              </a:rPr>
              <a:t>1010…  …</a:t>
            </a:r>
            <a:r>
              <a:rPr lang="en-US" altLang="zh-CN" sz="1600" b="1" dirty="0" smtClean="0">
                <a:latin typeface="+mn-lt"/>
                <a:ea typeface="+mn-ea"/>
              </a:rPr>
              <a:t>010</a:t>
            </a:r>
            <a:endParaRPr lang="en-US" altLang="zh-CN" sz="1600" b="1" dirty="0">
              <a:latin typeface="+mn-lt"/>
              <a:ea typeface="+mn-ea"/>
            </a:endParaRPr>
          </a:p>
        </p:txBody>
      </p:sp>
      <p:sp>
        <p:nvSpPr>
          <p:cNvPr id="15" name="AutoShape 12"/>
          <p:cNvSpPr>
            <a:spLocks noChangeArrowheads="1"/>
          </p:cNvSpPr>
          <p:nvPr/>
        </p:nvSpPr>
        <p:spPr bwMode="auto">
          <a:xfrm flipV="1">
            <a:off x="7563917" y="3065388"/>
            <a:ext cx="304800" cy="334962"/>
          </a:xfrm>
          <a:prstGeom prst="downArrow">
            <a:avLst>
              <a:gd name="adj1" fmla="val 50000"/>
              <a:gd name="adj2" fmla="val 43231"/>
            </a:avLst>
          </a:prstGeom>
          <a:solidFill>
            <a:srgbClr val="FFFFFF"/>
          </a:solidFill>
          <a:ln w="12700">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6" name="Rectangle 13"/>
          <p:cNvSpPr>
            <a:spLocks noChangeArrowheads="1"/>
          </p:cNvSpPr>
          <p:nvPr/>
        </p:nvSpPr>
        <p:spPr bwMode="auto">
          <a:xfrm>
            <a:off x="7197205" y="2722488"/>
            <a:ext cx="990600" cy="280987"/>
          </a:xfrm>
          <a:prstGeom prst="rect">
            <a:avLst/>
          </a:prstGeom>
          <a:solidFill>
            <a:srgbClr val="DDDDDD"/>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17" name="AutoShape 14"/>
          <p:cNvSpPr>
            <a:spLocks noChangeArrowheads="1"/>
          </p:cNvSpPr>
          <p:nvPr/>
        </p:nvSpPr>
        <p:spPr bwMode="auto">
          <a:xfrm flipV="1">
            <a:off x="7194030" y="2354188"/>
            <a:ext cx="990600" cy="369887"/>
          </a:xfrm>
          <a:prstGeom prst="downArrow">
            <a:avLst>
              <a:gd name="adj1" fmla="val 65389"/>
              <a:gd name="adj2" fmla="val 39394"/>
            </a:avLst>
          </a:prstGeom>
          <a:solidFill>
            <a:srgbClr val="FFCF01"/>
          </a:solidFill>
          <a:ln w="12700">
            <a:solidFill>
              <a:srgbClr val="000000"/>
            </a:solidFill>
            <a:miter lim="800000"/>
            <a:headEnd/>
            <a:tailEnd/>
          </a:ln>
          <a:effectLst>
            <a:outerShdw dist="35921" dir="2700000" algn="ctr" rotWithShape="0">
              <a:srgbClr val="1C1C1C"/>
            </a:outerShdw>
          </a:effectLst>
        </p:spPr>
        <p:txBody>
          <a:bodyPr vert="eaVert"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18" name="Text Box 15"/>
          <p:cNvSpPr txBox="1">
            <a:spLocks noChangeArrowheads="1"/>
          </p:cNvSpPr>
          <p:nvPr/>
        </p:nvSpPr>
        <p:spPr bwMode="auto">
          <a:xfrm>
            <a:off x="6660630" y="2666925"/>
            <a:ext cx="4127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a:latin typeface="+mn-lt"/>
                <a:ea typeface="+mn-ea"/>
              </a:rPr>
              <a:t>帧</a:t>
            </a:r>
          </a:p>
        </p:txBody>
      </p:sp>
      <p:sp>
        <p:nvSpPr>
          <p:cNvPr id="19" name="Rectangle 16"/>
          <p:cNvSpPr>
            <a:spLocks noChangeArrowheads="1"/>
          </p:cNvSpPr>
          <p:nvPr/>
        </p:nvSpPr>
        <p:spPr bwMode="auto">
          <a:xfrm>
            <a:off x="7403580" y="2381175"/>
            <a:ext cx="644408"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a:latin typeface="+mn-lt"/>
                <a:ea typeface="+mn-ea"/>
              </a:rPr>
              <a:t>取出</a:t>
            </a:r>
          </a:p>
        </p:txBody>
      </p:sp>
      <p:sp>
        <p:nvSpPr>
          <p:cNvPr id="20" name="Line 17"/>
          <p:cNvSpPr>
            <a:spLocks noChangeShapeType="1"/>
          </p:cNvSpPr>
          <p:nvPr/>
        </p:nvSpPr>
        <p:spPr bwMode="auto">
          <a:xfrm>
            <a:off x="7192442" y="2717725"/>
            <a:ext cx="0" cy="28575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1" name="Line 18"/>
          <p:cNvSpPr>
            <a:spLocks noChangeShapeType="1"/>
          </p:cNvSpPr>
          <p:nvPr/>
        </p:nvSpPr>
        <p:spPr bwMode="auto">
          <a:xfrm>
            <a:off x="8183042" y="2719313"/>
            <a:ext cx="0" cy="28575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2" name="Freeform 19"/>
          <p:cNvSpPr>
            <a:spLocks/>
          </p:cNvSpPr>
          <p:nvPr/>
        </p:nvSpPr>
        <p:spPr bwMode="auto">
          <a:xfrm>
            <a:off x="2884538" y="5798537"/>
            <a:ext cx="4765675" cy="4763"/>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28575" cap="flat" cmpd="sng">
            <a:solidFill>
              <a:srgbClr val="000000"/>
            </a:solidFill>
            <a:prstDash val="solid"/>
            <a:round/>
            <a:headEnd type="none" w="med" len="med"/>
            <a:tailEnd type="triangle" w="sm"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3" name="Rectangle 20"/>
          <p:cNvSpPr>
            <a:spLocks noChangeArrowheads="1"/>
          </p:cNvSpPr>
          <p:nvPr/>
        </p:nvSpPr>
        <p:spPr bwMode="auto">
          <a:xfrm>
            <a:off x="6705650" y="5184175"/>
            <a:ext cx="2011363" cy="758825"/>
          </a:xfrm>
          <a:prstGeom prst="rect">
            <a:avLst/>
          </a:prstGeom>
          <a:solidFill>
            <a:srgbClr val="CCFFFF"/>
          </a:solidFill>
          <a:ln w="12700">
            <a:solidFill>
              <a:srgbClr val="000000"/>
            </a:solidFill>
            <a:miter lim="800000"/>
            <a:headEnd/>
            <a:tailEnd/>
          </a:ln>
          <a:effectLst>
            <a:outerShdw dist="53882" dir="2700000" algn="ctr" rotWithShape="0">
              <a:srgbClr val="1C1C1C"/>
            </a:outerShdw>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4" name="Freeform 21"/>
          <p:cNvSpPr>
            <a:spLocks/>
          </p:cNvSpPr>
          <p:nvPr/>
        </p:nvSpPr>
        <p:spPr bwMode="auto">
          <a:xfrm>
            <a:off x="1921942" y="3611488"/>
            <a:ext cx="5791200" cy="609600"/>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28575" cap="flat" cmpd="sng">
            <a:solidFill>
              <a:srgbClr val="000000"/>
            </a:solidFill>
            <a:prstDash val="solid"/>
            <a:round/>
            <a:headEnd type="none" w="med" len="med"/>
            <a:tailEnd type="triangle" w="sm"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25" name="Rectangle 22"/>
          <p:cNvSpPr>
            <a:spLocks noChangeArrowheads="1"/>
          </p:cNvSpPr>
          <p:nvPr/>
        </p:nvSpPr>
        <p:spPr bwMode="auto">
          <a:xfrm>
            <a:off x="3054234" y="2467738"/>
            <a:ext cx="875241" cy="643766"/>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0"/>
              </a:spcBef>
              <a:buClrTx/>
              <a:buFontTx/>
              <a:buNone/>
            </a:pPr>
            <a:r>
              <a:rPr lang="zh-CN" altLang="en-US" sz="1800" b="1">
                <a:latin typeface="+mn-lt"/>
                <a:ea typeface="+mn-ea"/>
              </a:rPr>
              <a:t>数据</a:t>
            </a:r>
          </a:p>
          <a:p>
            <a:pPr algn="ctr" eaLnBrk="0" hangingPunct="0">
              <a:spcBef>
                <a:spcPct val="0"/>
              </a:spcBef>
              <a:buClrTx/>
              <a:buFontTx/>
              <a:buNone/>
            </a:pPr>
            <a:r>
              <a:rPr lang="zh-CN" altLang="en-US" sz="1800" b="1">
                <a:latin typeface="+mn-lt"/>
                <a:ea typeface="+mn-ea"/>
              </a:rPr>
              <a:t>链路层</a:t>
            </a:r>
          </a:p>
        </p:txBody>
      </p:sp>
      <p:sp>
        <p:nvSpPr>
          <p:cNvPr id="26" name="Rectangle 23"/>
          <p:cNvSpPr>
            <a:spLocks noChangeArrowheads="1"/>
          </p:cNvSpPr>
          <p:nvPr/>
        </p:nvSpPr>
        <p:spPr bwMode="auto">
          <a:xfrm>
            <a:off x="3045767" y="2072451"/>
            <a:ext cx="875241" cy="32521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lnSpc>
                <a:spcPct val="85000"/>
              </a:lnSpc>
              <a:spcBef>
                <a:spcPct val="0"/>
              </a:spcBef>
              <a:buClrTx/>
              <a:buFontTx/>
              <a:buNone/>
            </a:pPr>
            <a:r>
              <a:rPr lang="zh-CN" altLang="en-US" sz="1800" b="1">
                <a:latin typeface="+mn-lt"/>
                <a:ea typeface="+mn-ea"/>
              </a:rPr>
              <a:t>网络层</a:t>
            </a:r>
          </a:p>
        </p:txBody>
      </p:sp>
      <p:sp>
        <p:nvSpPr>
          <p:cNvPr id="27" name="Rectangle 24"/>
          <p:cNvSpPr>
            <a:spLocks noChangeArrowheads="1"/>
          </p:cNvSpPr>
          <p:nvPr/>
        </p:nvSpPr>
        <p:spPr bwMode="auto">
          <a:xfrm>
            <a:off x="4436542" y="4214361"/>
            <a:ext cx="1106073"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dirty="0" smtClean="0">
                <a:latin typeface="+mn-lt"/>
                <a:ea typeface="+mn-ea"/>
              </a:rPr>
              <a:t>传输介质</a:t>
            </a:r>
            <a:endParaRPr lang="zh-CN" altLang="en-US" sz="1800" b="1" dirty="0">
              <a:latin typeface="+mn-lt"/>
              <a:ea typeface="+mn-ea"/>
            </a:endParaRPr>
          </a:p>
        </p:txBody>
      </p:sp>
      <p:sp>
        <p:nvSpPr>
          <p:cNvPr id="28" name="Rectangle 25"/>
          <p:cNvSpPr>
            <a:spLocks noChangeArrowheads="1"/>
          </p:cNvSpPr>
          <p:nvPr/>
        </p:nvSpPr>
        <p:spPr bwMode="auto">
          <a:xfrm>
            <a:off x="1540942" y="1601713"/>
            <a:ext cx="866649"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dirty="0" smtClean="0">
                <a:latin typeface="+mn-lt"/>
                <a:ea typeface="+mn-ea"/>
              </a:rPr>
              <a:t>节点 </a:t>
            </a:r>
            <a:r>
              <a:rPr lang="en-US" altLang="zh-CN" sz="1800" b="1" dirty="0">
                <a:latin typeface="+mn-lt"/>
                <a:ea typeface="+mn-ea"/>
              </a:rPr>
              <a:t>A</a:t>
            </a:r>
          </a:p>
        </p:txBody>
      </p:sp>
      <p:sp>
        <p:nvSpPr>
          <p:cNvPr id="29" name="Rectangle 26"/>
          <p:cNvSpPr>
            <a:spLocks noChangeArrowheads="1"/>
          </p:cNvSpPr>
          <p:nvPr/>
        </p:nvSpPr>
        <p:spPr bwMode="auto">
          <a:xfrm>
            <a:off x="7319442" y="1601713"/>
            <a:ext cx="875241"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dirty="0" smtClean="0">
                <a:latin typeface="+mn-lt"/>
                <a:ea typeface="+mn-ea"/>
              </a:rPr>
              <a:t>节点 </a:t>
            </a:r>
            <a:r>
              <a:rPr lang="en-US" altLang="zh-CN" sz="1800" b="1" dirty="0">
                <a:latin typeface="+mn-lt"/>
                <a:ea typeface="+mn-ea"/>
              </a:rPr>
              <a:t>B</a:t>
            </a:r>
          </a:p>
        </p:txBody>
      </p:sp>
      <p:sp>
        <p:nvSpPr>
          <p:cNvPr id="30" name="Rectangle 27"/>
          <p:cNvSpPr>
            <a:spLocks noChangeArrowheads="1"/>
          </p:cNvSpPr>
          <p:nvPr/>
        </p:nvSpPr>
        <p:spPr bwMode="auto">
          <a:xfrm>
            <a:off x="3045767" y="3291651"/>
            <a:ext cx="875241" cy="32521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lnSpc>
                <a:spcPct val="85000"/>
              </a:lnSpc>
              <a:spcBef>
                <a:spcPct val="0"/>
              </a:spcBef>
              <a:buClrTx/>
              <a:buFontTx/>
              <a:buNone/>
            </a:pPr>
            <a:r>
              <a:rPr lang="zh-CN" altLang="en-US" sz="1800" b="1">
                <a:latin typeface="+mn-lt"/>
                <a:ea typeface="+mn-ea"/>
              </a:rPr>
              <a:t>物理层</a:t>
            </a:r>
          </a:p>
        </p:txBody>
      </p:sp>
      <p:sp>
        <p:nvSpPr>
          <p:cNvPr id="31" name="Rectangle 28"/>
          <p:cNvSpPr>
            <a:spLocks noChangeArrowheads="1"/>
          </p:cNvSpPr>
          <p:nvPr/>
        </p:nvSpPr>
        <p:spPr bwMode="auto">
          <a:xfrm>
            <a:off x="19981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32" name="Rectangle 29"/>
          <p:cNvSpPr>
            <a:spLocks noChangeArrowheads="1"/>
          </p:cNvSpPr>
          <p:nvPr/>
        </p:nvSpPr>
        <p:spPr bwMode="auto">
          <a:xfrm>
            <a:off x="21505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33" name="Rectangle 30"/>
          <p:cNvSpPr>
            <a:spLocks noChangeArrowheads="1"/>
          </p:cNvSpPr>
          <p:nvPr/>
        </p:nvSpPr>
        <p:spPr bwMode="auto">
          <a:xfrm>
            <a:off x="35221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34" name="Rectangle 31"/>
          <p:cNvSpPr>
            <a:spLocks noChangeArrowheads="1"/>
          </p:cNvSpPr>
          <p:nvPr/>
        </p:nvSpPr>
        <p:spPr bwMode="auto">
          <a:xfrm>
            <a:off x="36745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35" name="Rectangle 32"/>
          <p:cNvSpPr>
            <a:spLocks noChangeArrowheads="1"/>
          </p:cNvSpPr>
          <p:nvPr/>
        </p:nvSpPr>
        <p:spPr bwMode="auto">
          <a:xfrm>
            <a:off x="54271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36" name="Rectangle 33"/>
          <p:cNvSpPr>
            <a:spLocks noChangeArrowheads="1"/>
          </p:cNvSpPr>
          <p:nvPr/>
        </p:nvSpPr>
        <p:spPr bwMode="auto">
          <a:xfrm>
            <a:off x="55795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37" name="Rectangle 34"/>
          <p:cNvSpPr>
            <a:spLocks noChangeArrowheads="1"/>
          </p:cNvSpPr>
          <p:nvPr/>
        </p:nvSpPr>
        <p:spPr bwMode="auto">
          <a:xfrm>
            <a:off x="71035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38" name="Rectangle 35"/>
          <p:cNvSpPr>
            <a:spLocks noChangeArrowheads="1"/>
          </p:cNvSpPr>
          <p:nvPr/>
        </p:nvSpPr>
        <p:spPr bwMode="auto">
          <a:xfrm>
            <a:off x="72559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39" name="Rectangle 36"/>
          <p:cNvSpPr>
            <a:spLocks noChangeArrowheads="1"/>
          </p:cNvSpPr>
          <p:nvPr/>
        </p:nvSpPr>
        <p:spPr bwMode="auto">
          <a:xfrm>
            <a:off x="74083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40" name="Rectangle 37"/>
          <p:cNvSpPr>
            <a:spLocks noChangeArrowheads="1"/>
          </p:cNvSpPr>
          <p:nvPr/>
        </p:nvSpPr>
        <p:spPr bwMode="auto">
          <a:xfrm>
            <a:off x="7560742" y="3992488"/>
            <a:ext cx="76200" cy="152400"/>
          </a:xfrm>
          <a:prstGeom prst="rect">
            <a:avLst/>
          </a:prstGeom>
          <a:solidFill>
            <a:srgbClr val="777777"/>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41" name="Line 38"/>
          <p:cNvSpPr>
            <a:spLocks noChangeShapeType="1"/>
          </p:cNvSpPr>
          <p:nvPr/>
        </p:nvSpPr>
        <p:spPr bwMode="auto">
          <a:xfrm>
            <a:off x="3826942" y="4068688"/>
            <a:ext cx="304800" cy="0"/>
          </a:xfrm>
          <a:prstGeom prst="line">
            <a:avLst/>
          </a:prstGeom>
          <a:noFill/>
          <a:ln w="12700">
            <a:solidFill>
              <a:srgbClr val="000000"/>
            </a:solidFill>
            <a:round/>
            <a:headEn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2" name="Line 39"/>
          <p:cNvSpPr>
            <a:spLocks noChangeShapeType="1"/>
          </p:cNvSpPr>
          <p:nvPr/>
        </p:nvSpPr>
        <p:spPr bwMode="auto">
          <a:xfrm rot="5400000">
            <a:off x="1883842" y="3801988"/>
            <a:ext cx="304800" cy="0"/>
          </a:xfrm>
          <a:prstGeom prst="line">
            <a:avLst/>
          </a:prstGeom>
          <a:noFill/>
          <a:ln w="12700">
            <a:solidFill>
              <a:srgbClr val="000000"/>
            </a:solidFill>
            <a:round/>
            <a:headEn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3" name="Line 40"/>
          <p:cNvSpPr>
            <a:spLocks noChangeShapeType="1"/>
          </p:cNvSpPr>
          <p:nvPr/>
        </p:nvSpPr>
        <p:spPr bwMode="auto">
          <a:xfrm rot="16200000" flipV="1">
            <a:off x="7446442" y="3840088"/>
            <a:ext cx="304800" cy="0"/>
          </a:xfrm>
          <a:prstGeom prst="line">
            <a:avLst/>
          </a:prstGeom>
          <a:noFill/>
          <a:ln w="12700">
            <a:solidFill>
              <a:srgbClr val="000000"/>
            </a:solidFill>
            <a:round/>
            <a:headEn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nvGrpSpPr>
          <p:cNvPr id="44" name="Group 41"/>
          <p:cNvGrpSpPr>
            <a:grpSpLocks/>
          </p:cNvGrpSpPr>
          <p:nvPr/>
        </p:nvGrpSpPr>
        <p:grpSpPr bwMode="auto">
          <a:xfrm>
            <a:off x="2302942" y="3992488"/>
            <a:ext cx="1066800" cy="152400"/>
            <a:chOff x="1344" y="912"/>
            <a:chExt cx="672" cy="96"/>
          </a:xfrm>
        </p:grpSpPr>
        <p:sp>
          <p:nvSpPr>
            <p:cNvPr id="45" name="Line 42"/>
            <p:cNvSpPr>
              <a:spLocks noChangeShapeType="1"/>
            </p:cNvSpPr>
            <p:nvPr/>
          </p:nvSpPr>
          <p:spPr bwMode="auto">
            <a:xfrm>
              <a:off x="1344" y="960"/>
              <a:ext cx="672" cy="0"/>
            </a:xfrm>
            <a:prstGeom prst="line">
              <a:avLst/>
            </a:prstGeom>
            <a:noFill/>
            <a:ln w="12700">
              <a:solidFill>
                <a:srgbClr val="000000"/>
              </a:solidFill>
              <a:round/>
              <a:headEnd type="none" w="sm" len="lg"/>
              <a:tailEnd type="non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6" name="Freeform 43"/>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808080"/>
            </a:solidFill>
            <a:ln w="12700" cap="flat" cmpd="sng">
              <a:solidFill>
                <a:srgbClr val="000000"/>
              </a:solidFill>
              <a:prstDash val="solid"/>
              <a:round/>
              <a:headEnd type="none" w="sm" len="lg"/>
              <a:tailEnd type="none" w="sm" len="lg"/>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grpSp>
        <p:nvGrpSpPr>
          <p:cNvPr id="47" name="Group 44"/>
          <p:cNvGrpSpPr>
            <a:grpSpLocks/>
          </p:cNvGrpSpPr>
          <p:nvPr/>
        </p:nvGrpSpPr>
        <p:grpSpPr bwMode="auto">
          <a:xfrm>
            <a:off x="5808142" y="3992488"/>
            <a:ext cx="1066800" cy="157162"/>
            <a:chOff x="4080" y="3676"/>
            <a:chExt cx="672" cy="99"/>
          </a:xfrm>
        </p:grpSpPr>
        <p:sp>
          <p:nvSpPr>
            <p:cNvPr id="48" name="Line 45"/>
            <p:cNvSpPr>
              <a:spLocks noChangeShapeType="1"/>
            </p:cNvSpPr>
            <p:nvPr/>
          </p:nvSpPr>
          <p:spPr bwMode="auto">
            <a:xfrm>
              <a:off x="4080" y="3727"/>
              <a:ext cx="672" cy="0"/>
            </a:xfrm>
            <a:prstGeom prst="line">
              <a:avLst/>
            </a:prstGeom>
            <a:noFill/>
            <a:ln w="12700">
              <a:solidFill>
                <a:srgbClr val="000000"/>
              </a:solidFill>
              <a:round/>
              <a:headEnd type="none" w="sm" len="lg"/>
              <a:tailEnd type="non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49"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808080"/>
            </a:solidFill>
            <a:ln w="12700" cap="flat" cmpd="sng">
              <a:solidFill>
                <a:srgbClr val="000000"/>
              </a:solidFill>
              <a:prstDash val="solid"/>
              <a:round/>
              <a:headEnd type="none" w="sm" len="lg"/>
              <a:tailEnd type="none" w="sm" len="lg"/>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grpSp>
      <p:sp>
        <p:nvSpPr>
          <p:cNvPr id="51" name="Rectangle 48"/>
          <p:cNvSpPr>
            <a:spLocks noChangeArrowheads="1"/>
          </p:cNvSpPr>
          <p:nvPr/>
        </p:nvSpPr>
        <p:spPr bwMode="auto">
          <a:xfrm>
            <a:off x="971600" y="5184175"/>
            <a:ext cx="2011363" cy="758825"/>
          </a:xfrm>
          <a:prstGeom prst="rect">
            <a:avLst/>
          </a:prstGeom>
          <a:solidFill>
            <a:srgbClr val="CCFFFF"/>
          </a:solidFill>
          <a:ln w="12700">
            <a:solidFill>
              <a:srgbClr val="000000"/>
            </a:solidFill>
            <a:miter lim="800000"/>
            <a:headEnd/>
            <a:tailEnd/>
          </a:ln>
          <a:effectLst>
            <a:outerShdw dist="53882" dir="2700000" algn="ctr" rotWithShape="0">
              <a:srgbClr val="1C1C1C"/>
            </a:outerShdw>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2" name="Rectangle 49"/>
          <p:cNvSpPr>
            <a:spLocks noChangeArrowheads="1"/>
          </p:cNvSpPr>
          <p:nvPr/>
        </p:nvSpPr>
        <p:spPr bwMode="auto">
          <a:xfrm>
            <a:off x="1581200" y="4817462"/>
            <a:ext cx="866649"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dirty="0" smtClean="0">
                <a:latin typeface="+mn-lt"/>
                <a:ea typeface="+mn-ea"/>
              </a:rPr>
              <a:t>节点 </a:t>
            </a:r>
            <a:r>
              <a:rPr lang="en-US" altLang="zh-CN" sz="1800" b="1" dirty="0">
                <a:latin typeface="+mn-lt"/>
                <a:ea typeface="+mn-ea"/>
              </a:rPr>
              <a:t>A</a:t>
            </a:r>
          </a:p>
        </p:txBody>
      </p:sp>
      <p:sp>
        <p:nvSpPr>
          <p:cNvPr id="53" name="Rectangle 50"/>
          <p:cNvSpPr>
            <a:spLocks noChangeArrowheads="1"/>
          </p:cNvSpPr>
          <p:nvPr/>
        </p:nvSpPr>
        <p:spPr bwMode="auto">
          <a:xfrm>
            <a:off x="7359700" y="4817462"/>
            <a:ext cx="875241"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dirty="0" smtClean="0">
                <a:latin typeface="+mn-lt"/>
                <a:ea typeface="+mn-ea"/>
              </a:rPr>
              <a:t>节点 </a:t>
            </a:r>
            <a:r>
              <a:rPr lang="en-US" altLang="zh-CN" sz="1800" b="1" dirty="0">
                <a:latin typeface="+mn-lt"/>
                <a:ea typeface="+mn-ea"/>
              </a:rPr>
              <a:t>B</a:t>
            </a:r>
          </a:p>
        </p:txBody>
      </p:sp>
      <p:grpSp>
        <p:nvGrpSpPr>
          <p:cNvPr id="54" name="Group 51"/>
          <p:cNvGrpSpPr>
            <a:grpSpLocks/>
          </p:cNvGrpSpPr>
          <p:nvPr/>
        </p:nvGrpSpPr>
        <p:grpSpPr bwMode="auto">
          <a:xfrm>
            <a:off x="2452738" y="5377850"/>
            <a:ext cx="977900" cy="366712"/>
            <a:chOff x="1701" y="2666"/>
            <a:chExt cx="616" cy="231"/>
          </a:xfrm>
        </p:grpSpPr>
        <p:grpSp>
          <p:nvGrpSpPr>
            <p:cNvPr id="55" name="Group 52"/>
            <p:cNvGrpSpPr>
              <a:grpSpLocks/>
            </p:cNvGrpSpPr>
            <p:nvPr/>
          </p:nvGrpSpPr>
          <p:grpSpPr bwMode="auto">
            <a:xfrm>
              <a:off x="1701" y="2694"/>
              <a:ext cx="616" cy="192"/>
              <a:chOff x="1701" y="2694"/>
              <a:chExt cx="616" cy="192"/>
            </a:xfrm>
          </p:grpSpPr>
          <p:sp>
            <p:nvSpPr>
              <p:cNvPr id="57" name="AutoShape 53"/>
              <p:cNvSpPr>
                <a:spLocks noChangeArrowheads="1"/>
              </p:cNvSpPr>
              <p:nvPr/>
            </p:nvSpPr>
            <p:spPr bwMode="auto">
              <a:xfrm>
                <a:off x="2045" y="2731"/>
                <a:ext cx="272" cy="136"/>
              </a:xfrm>
              <a:prstGeom prst="rightArrow">
                <a:avLst>
                  <a:gd name="adj1" fmla="val 50000"/>
                  <a:gd name="adj2" fmla="val 50000"/>
                </a:avLst>
              </a:prstGeom>
              <a:solidFill>
                <a:srgbClr val="FFFFFF"/>
              </a:solidFill>
              <a:ln w="12700">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8" name="Rectangle 54"/>
              <p:cNvSpPr>
                <a:spLocks noChangeArrowheads="1"/>
              </p:cNvSpPr>
              <p:nvPr/>
            </p:nvSpPr>
            <p:spPr bwMode="auto">
              <a:xfrm>
                <a:off x="1701" y="2694"/>
                <a:ext cx="408" cy="192"/>
              </a:xfrm>
              <a:prstGeom prst="rect">
                <a:avLst/>
              </a:prstGeom>
              <a:solidFill>
                <a:srgbClr val="DDDDDD"/>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algn="ctr" defTabSz="762000" eaLnBrk="0" fontAlgn="auto" latinLnBrk="0" hangingPunct="0">
                  <a:lnSpc>
                    <a:spcPct val="100000"/>
                  </a:lnSpc>
                  <a:spcBef>
                    <a:spcPct val="0"/>
                  </a:spcBef>
                  <a:spcAft>
                    <a:spcPts val="0"/>
                  </a:spcAft>
                  <a:buClrTx/>
                  <a:buSzTx/>
                  <a:buFontTx/>
                  <a:buNone/>
                  <a:tabLst/>
                  <a:defRPr/>
                </a:pPr>
                <a:endParaRPr kumimoji="0" lang="zh-CN" altLang="zh-CN" sz="1800" b="1" i="0" u="none" strike="noStrike" kern="0" cap="none" spc="0" normalizeH="0" baseline="0" noProof="0" smtClean="0">
                  <a:ln>
                    <a:noFill/>
                  </a:ln>
                  <a:effectLst/>
                  <a:uLnTx/>
                  <a:uFillTx/>
                  <a:latin typeface="+mn-lt"/>
                  <a:ea typeface="+mn-ea"/>
                </a:endParaRPr>
              </a:p>
            </p:txBody>
          </p:sp>
        </p:grpSp>
        <p:sp>
          <p:nvSpPr>
            <p:cNvPr id="56" name="Text Box 55"/>
            <p:cNvSpPr txBox="1">
              <a:spLocks noChangeArrowheads="1"/>
            </p:cNvSpPr>
            <p:nvPr/>
          </p:nvSpPr>
          <p:spPr bwMode="auto">
            <a:xfrm>
              <a:off x="1784" y="2666"/>
              <a:ext cx="26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defTabSz="762000" eaLnBrk="0" fontAlgn="auto" latinLnBrk="0" hangingPunct="0">
                <a:lnSpc>
                  <a:spcPct val="100000"/>
                </a:lnSpc>
                <a:spcBef>
                  <a:spcPct val="0"/>
                </a:spcBef>
                <a:spcAft>
                  <a:spcPts val="0"/>
                </a:spcAft>
                <a:buClrTx/>
                <a:buSzTx/>
                <a:buFontTx/>
                <a:buNone/>
                <a:tabLst/>
                <a:defRPr/>
              </a:pPr>
              <a:r>
                <a:rPr kumimoji="0" lang="zh-CN" altLang="en-US" sz="1800" b="1" i="0" u="none" strike="noStrike" kern="0" cap="none" spc="0" normalizeH="0" baseline="0" noProof="0" smtClean="0">
                  <a:ln>
                    <a:noFill/>
                  </a:ln>
                  <a:effectLst/>
                  <a:uLnTx/>
                  <a:uFillTx/>
                  <a:latin typeface="+mn-lt"/>
                  <a:ea typeface="+mn-ea"/>
                </a:rPr>
                <a:t>帧</a:t>
              </a:r>
            </a:p>
          </p:txBody>
        </p:sp>
      </p:grpSp>
      <p:sp>
        <p:nvSpPr>
          <p:cNvPr id="59" name="Rectangle 56"/>
          <p:cNvSpPr>
            <a:spLocks noChangeArrowheads="1"/>
          </p:cNvSpPr>
          <p:nvPr/>
        </p:nvSpPr>
        <p:spPr bwMode="auto">
          <a:xfrm>
            <a:off x="4211960" y="4581128"/>
            <a:ext cx="1466727"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en-US" altLang="zh-CN" sz="1800" b="1" dirty="0">
                <a:latin typeface="+mn-lt"/>
                <a:ea typeface="+mn-ea"/>
              </a:rPr>
              <a:t>(a</a:t>
            </a:r>
            <a:r>
              <a:rPr lang="en-US" altLang="zh-CN" sz="1800" b="1" dirty="0" smtClean="0">
                <a:latin typeface="+mn-lt"/>
                <a:ea typeface="+mn-ea"/>
              </a:rPr>
              <a:t>) </a:t>
            </a:r>
            <a:r>
              <a:rPr lang="zh-CN" altLang="en-US" sz="1800" b="1" dirty="0" smtClean="0">
                <a:latin typeface="+mn-lt"/>
                <a:ea typeface="+mn-ea"/>
              </a:rPr>
              <a:t>实际过程</a:t>
            </a:r>
            <a:endParaRPr lang="en-US" altLang="zh-CN" sz="1800" b="1" dirty="0">
              <a:latin typeface="+mn-lt"/>
              <a:ea typeface="+mn-ea"/>
            </a:endParaRPr>
          </a:p>
        </p:txBody>
      </p:sp>
      <p:sp>
        <p:nvSpPr>
          <p:cNvPr id="60" name="Rectangle 57"/>
          <p:cNvSpPr>
            <a:spLocks noChangeArrowheads="1"/>
          </p:cNvSpPr>
          <p:nvPr/>
        </p:nvSpPr>
        <p:spPr bwMode="auto">
          <a:xfrm>
            <a:off x="4211960" y="6147466"/>
            <a:ext cx="1465146"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en-US" altLang="zh-CN" sz="1800" b="1" dirty="0">
                <a:latin typeface="+mn-lt"/>
                <a:ea typeface="+mn-ea"/>
              </a:rPr>
              <a:t>(b</a:t>
            </a:r>
            <a:r>
              <a:rPr lang="en-US" altLang="zh-CN" sz="1800" b="1" dirty="0" smtClean="0">
                <a:latin typeface="+mn-lt"/>
                <a:ea typeface="+mn-ea"/>
              </a:rPr>
              <a:t>) </a:t>
            </a:r>
            <a:r>
              <a:rPr lang="zh-CN" altLang="en-US" sz="1800" b="1" dirty="0" smtClean="0">
                <a:latin typeface="+mn-lt"/>
                <a:ea typeface="+mn-ea"/>
              </a:rPr>
              <a:t>简化模型</a:t>
            </a:r>
            <a:endParaRPr lang="en-US" altLang="zh-CN" sz="1800" b="1" dirty="0">
              <a:latin typeface="+mn-lt"/>
              <a:ea typeface="+mn-ea"/>
            </a:endParaRPr>
          </a:p>
        </p:txBody>
      </p:sp>
      <p:sp>
        <p:nvSpPr>
          <p:cNvPr id="61" name="Rectangle 58"/>
          <p:cNvSpPr>
            <a:spLocks noChangeArrowheads="1"/>
          </p:cNvSpPr>
          <p:nvPr/>
        </p:nvSpPr>
        <p:spPr bwMode="auto">
          <a:xfrm>
            <a:off x="3029000" y="5079400"/>
            <a:ext cx="644408"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a:latin typeface="+mn-lt"/>
                <a:ea typeface="+mn-ea"/>
              </a:rPr>
              <a:t>发送</a:t>
            </a:r>
          </a:p>
        </p:txBody>
      </p:sp>
      <p:grpSp>
        <p:nvGrpSpPr>
          <p:cNvPr id="62" name="Group 59"/>
          <p:cNvGrpSpPr>
            <a:grpSpLocks/>
          </p:cNvGrpSpPr>
          <p:nvPr/>
        </p:nvGrpSpPr>
        <p:grpSpPr bwMode="auto">
          <a:xfrm>
            <a:off x="6299250" y="5377850"/>
            <a:ext cx="977900" cy="366712"/>
            <a:chOff x="1701" y="2666"/>
            <a:chExt cx="616" cy="231"/>
          </a:xfrm>
        </p:grpSpPr>
        <p:grpSp>
          <p:nvGrpSpPr>
            <p:cNvPr id="63" name="Group 60"/>
            <p:cNvGrpSpPr>
              <a:grpSpLocks/>
            </p:cNvGrpSpPr>
            <p:nvPr/>
          </p:nvGrpSpPr>
          <p:grpSpPr bwMode="auto">
            <a:xfrm>
              <a:off x="1701" y="2694"/>
              <a:ext cx="616" cy="192"/>
              <a:chOff x="1701" y="2694"/>
              <a:chExt cx="616" cy="192"/>
            </a:xfrm>
          </p:grpSpPr>
          <p:sp>
            <p:nvSpPr>
              <p:cNvPr id="65" name="AutoShape 61"/>
              <p:cNvSpPr>
                <a:spLocks noChangeArrowheads="1"/>
              </p:cNvSpPr>
              <p:nvPr/>
            </p:nvSpPr>
            <p:spPr bwMode="auto">
              <a:xfrm>
                <a:off x="2045" y="2731"/>
                <a:ext cx="272" cy="136"/>
              </a:xfrm>
              <a:prstGeom prst="rightArrow">
                <a:avLst>
                  <a:gd name="adj1" fmla="val 50000"/>
                  <a:gd name="adj2" fmla="val 50000"/>
                </a:avLst>
              </a:prstGeom>
              <a:solidFill>
                <a:srgbClr val="FFFFFF"/>
              </a:solidFill>
              <a:ln w="12700">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66" name="Rectangle 62"/>
              <p:cNvSpPr>
                <a:spLocks noChangeArrowheads="1"/>
              </p:cNvSpPr>
              <p:nvPr/>
            </p:nvSpPr>
            <p:spPr bwMode="auto">
              <a:xfrm>
                <a:off x="1701" y="2694"/>
                <a:ext cx="408" cy="192"/>
              </a:xfrm>
              <a:prstGeom prst="rect">
                <a:avLst/>
              </a:prstGeom>
              <a:solidFill>
                <a:srgbClr val="DDDDDD"/>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algn="ctr" defTabSz="762000" eaLnBrk="0" fontAlgn="auto" latinLnBrk="0" hangingPunct="0">
                  <a:lnSpc>
                    <a:spcPct val="100000"/>
                  </a:lnSpc>
                  <a:spcBef>
                    <a:spcPct val="0"/>
                  </a:spcBef>
                  <a:spcAft>
                    <a:spcPts val="0"/>
                  </a:spcAft>
                  <a:buClrTx/>
                  <a:buSzTx/>
                  <a:buFontTx/>
                  <a:buNone/>
                  <a:tabLst/>
                  <a:defRPr/>
                </a:pPr>
                <a:endParaRPr kumimoji="0" lang="zh-CN" altLang="zh-CN" sz="1800" b="1" i="0" u="none" strike="noStrike" kern="0" cap="none" spc="0" normalizeH="0" baseline="0" noProof="0" smtClean="0">
                  <a:ln>
                    <a:noFill/>
                  </a:ln>
                  <a:effectLst/>
                  <a:uLnTx/>
                  <a:uFillTx/>
                  <a:latin typeface="+mn-lt"/>
                  <a:ea typeface="+mn-ea"/>
                </a:endParaRPr>
              </a:p>
            </p:txBody>
          </p:sp>
        </p:grpSp>
        <p:sp>
          <p:nvSpPr>
            <p:cNvPr id="64" name="Text Box 63"/>
            <p:cNvSpPr txBox="1">
              <a:spLocks noChangeArrowheads="1"/>
            </p:cNvSpPr>
            <p:nvPr/>
          </p:nvSpPr>
          <p:spPr bwMode="auto">
            <a:xfrm>
              <a:off x="1784" y="2666"/>
              <a:ext cx="26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defTabSz="762000" eaLnBrk="0" fontAlgn="auto" latinLnBrk="0" hangingPunct="0">
                <a:lnSpc>
                  <a:spcPct val="100000"/>
                </a:lnSpc>
                <a:spcBef>
                  <a:spcPct val="0"/>
                </a:spcBef>
                <a:spcAft>
                  <a:spcPts val="0"/>
                </a:spcAft>
                <a:buClrTx/>
                <a:buSzTx/>
                <a:buFontTx/>
                <a:buNone/>
                <a:tabLst/>
                <a:defRPr/>
              </a:pPr>
              <a:r>
                <a:rPr kumimoji="0" lang="zh-CN" altLang="en-US" sz="1800" b="1" i="0" u="none" strike="noStrike" kern="0" cap="none" spc="0" normalizeH="0" baseline="0" noProof="0" smtClean="0">
                  <a:ln>
                    <a:noFill/>
                  </a:ln>
                  <a:effectLst/>
                  <a:uLnTx/>
                  <a:uFillTx/>
                  <a:latin typeface="+mn-lt"/>
                  <a:ea typeface="+mn-ea"/>
                </a:rPr>
                <a:t>帧</a:t>
              </a:r>
            </a:p>
          </p:txBody>
        </p:sp>
      </p:grpSp>
      <p:sp>
        <p:nvSpPr>
          <p:cNvPr id="67" name="Rectangle 64"/>
          <p:cNvSpPr>
            <a:spLocks noChangeArrowheads="1"/>
          </p:cNvSpPr>
          <p:nvPr/>
        </p:nvSpPr>
        <p:spPr bwMode="auto">
          <a:xfrm>
            <a:off x="6042075" y="5079400"/>
            <a:ext cx="644408"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a:latin typeface="+mn-lt"/>
                <a:ea typeface="+mn-ea"/>
              </a:rPr>
              <a:t>接收</a:t>
            </a:r>
          </a:p>
        </p:txBody>
      </p:sp>
      <p:sp>
        <p:nvSpPr>
          <p:cNvPr id="68" name="Rectangle 65"/>
          <p:cNvSpPr>
            <a:spLocks noChangeArrowheads="1"/>
          </p:cNvSpPr>
          <p:nvPr/>
        </p:nvSpPr>
        <p:spPr bwMode="auto">
          <a:xfrm>
            <a:off x="4540300" y="5798537"/>
            <a:ext cx="644408"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a:latin typeface="+mn-lt"/>
                <a:ea typeface="+mn-ea"/>
              </a:rPr>
              <a:t>链路</a:t>
            </a:r>
          </a:p>
        </p:txBody>
      </p:sp>
      <p:sp>
        <p:nvSpPr>
          <p:cNvPr id="69" name="Rectangle 67"/>
          <p:cNvSpPr>
            <a:spLocks noChangeArrowheads="1"/>
          </p:cNvSpPr>
          <p:nvPr/>
        </p:nvSpPr>
        <p:spPr bwMode="auto">
          <a:xfrm>
            <a:off x="931342" y="1935088"/>
            <a:ext cx="2011363" cy="1828800"/>
          </a:xfrm>
          <a:prstGeom prst="rect">
            <a:avLst/>
          </a:prstGeom>
          <a:solidFill>
            <a:srgbClr val="CCFFFF"/>
          </a:solidFill>
          <a:ln w="12700">
            <a:solidFill>
              <a:srgbClr val="000000"/>
            </a:solidFill>
            <a:miter lim="800000"/>
            <a:headEnd/>
            <a:tailEnd/>
          </a:ln>
          <a:effectLst>
            <a:outerShdw dist="53882" dir="2700000" algn="ctr" rotWithShape="0">
              <a:srgbClr val="1C1C1C"/>
            </a:outerShdw>
          </a:effec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0" name="Rectangle 68"/>
          <p:cNvSpPr>
            <a:spLocks noChangeArrowheads="1"/>
          </p:cNvSpPr>
          <p:nvPr/>
        </p:nvSpPr>
        <p:spPr bwMode="auto">
          <a:xfrm>
            <a:off x="950392" y="2544688"/>
            <a:ext cx="1981200" cy="609600"/>
          </a:xfrm>
          <a:prstGeom prst="rect">
            <a:avLst/>
          </a:prstGeom>
          <a:solidFill>
            <a:srgbClr val="FFCCFF"/>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71" name="Line 69"/>
          <p:cNvSpPr>
            <a:spLocks noChangeShapeType="1"/>
          </p:cNvSpPr>
          <p:nvPr/>
        </p:nvSpPr>
        <p:spPr bwMode="auto">
          <a:xfrm>
            <a:off x="931342" y="2543100"/>
            <a:ext cx="2008188" cy="1588"/>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2" name="Rectangle 70"/>
          <p:cNvSpPr>
            <a:spLocks noChangeArrowheads="1"/>
          </p:cNvSpPr>
          <p:nvPr/>
        </p:nvSpPr>
        <p:spPr bwMode="auto">
          <a:xfrm>
            <a:off x="1237730" y="2697088"/>
            <a:ext cx="13906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algn="ctr" defTabSz="762000" eaLnBrk="0" fontAlgn="auto" latinLnBrk="0" hangingPunct="0">
              <a:lnSpc>
                <a:spcPct val="100000"/>
              </a:lnSpc>
              <a:spcBef>
                <a:spcPct val="0"/>
              </a:spcBef>
              <a:spcAft>
                <a:spcPts val="0"/>
              </a:spcAft>
              <a:buClrTx/>
              <a:buSzTx/>
              <a:buFontTx/>
              <a:buNone/>
              <a:tabLst/>
              <a:defRPr/>
            </a:pPr>
            <a:endParaRPr kumimoji="0" lang="zh-CN" altLang="zh-CN" sz="1800" b="1" i="0" u="none" strike="noStrike" kern="0" cap="none" spc="0" normalizeH="0" baseline="0" noProof="0" smtClean="0">
              <a:ln>
                <a:noFill/>
              </a:ln>
              <a:effectLst/>
              <a:uLnTx/>
              <a:uFillTx/>
              <a:latin typeface="+mn-lt"/>
              <a:ea typeface="+mn-ea"/>
            </a:endParaRPr>
          </a:p>
        </p:txBody>
      </p:sp>
      <p:sp>
        <p:nvSpPr>
          <p:cNvPr id="73" name="Line 71"/>
          <p:cNvSpPr>
            <a:spLocks noChangeShapeType="1"/>
          </p:cNvSpPr>
          <p:nvPr/>
        </p:nvSpPr>
        <p:spPr bwMode="auto">
          <a:xfrm>
            <a:off x="931342" y="3152700"/>
            <a:ext cx="2008188" cy="1588"/>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4" name="Rectangle 72"/>
          <p:cNvSpPr>
            <a:spLocks noChangeArrowheads="1"/>
          </p:cNvSpPr>
          <p:nvPr/>
        </p:nvSpPr>
        <p:spPr bwMode="auto">
          <a:xfrm>
            <a:off x="1442517" y="2087488"/>
            <a:ext cx="990600" cy="304800"/>
          </a:xfrm>
          <a:prstGeom prst="rect">
            <a:avLst/>
          </a:prstGeom>
          <a:solidFill>
            <a:srgbClr val="DDDDDD"/>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algn="ctr" defTabSz="762000" eaLnBrk="0" fontAlgn="auto" latinLnBrk="0" hangingPunct="0">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effectLst/>
                <a:uLnTx/>
                <a:uFillTx/>
                <a:latin typeface="+mn-lt"/>
                <a:ea typeface="+mn-ea"/>
              </a:rPr>
              <a:t>IP</a:t>
            </a:r>
            <a:r>
              <a:rPr kumimoji="0" lang="zh-CN" altLang="en-US" sz="1800" b="1" i="0" u="none" strike="noStrike" kern="0" cap="none" spc="0" normalizeH="0" baseline="0" noProof="0" dirty="0" smtClean="0">
                <a:ln>
                  <a:noFill/>
                </a:ln>
                <a:effectLst/>
                <a:uLnTx/>
                <a:uFillTx/>
                <a:latin typeface="+mn-lt"/>
                <a:ea typeface="+mn-ea"/>
              </a:rPr>
              <a:t>数据报</a:t>
            </a:r>
          </a:p>
        </p:txBody>
      </p:sp>
      <p:sp>
        <p:nvSpPr>
          <p:cNvPr id="75" name="Rectangle 73"/>
          <p:cNvSpPr>
            <a:spLocks noChangeArrowheads="1"/>
          </p:cNvSpPr>
          <p:nvPr/>
        </p:nvSpPr>
        <p:spPr bwMode="auto">
          <a:xfrm>
            <a:off x="1231380" y="3306688"/>
            <a:ext cx="14033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algn="ctr" defTabSz="762000" eaLnBrk="0" fontAlgn="auto" latinLnBrk="0" hangingPunct="0">
              <a:lnSpc>
                <a:spcPct val="100000"/>
              </a:lnSpc>
              <a:spcBef>
                <a:spcPct val="0"/>
              </a:spcBef>
              <a:spcAft>
                <a:spcPts val="0"/>
              </a:spcAft>
              <a:buClrTx/>
              <a:buSzTx/>
              <a:buFontTx/>
              <a:buNone/>
              <a:tabLst/>
              <a:defRPr/>
            </a:pPr>
            <a:endParaRPr kumimoji="0" lang="zh-CN" altLang="zh-CN" sz="1800" b="1" i="0" u="none" strike="noStrike" kern="0" cap="none" spc="0" normalizeH="0" baseline="0" noProof="0" smtClean="0">
              <a:ln>
                <a:noFill/>
              </a:ln>
              <a:effectLst/>
              <a:uLnTx/>
              <a:uFillTx/>
              <a:latin typeface="+mn-lt"/>
              <a:ea typeface="+mn-ea"/>
            </a:endParaRPr>
          </a:p>
        </p:txBody>
      </p:sp>
      <p:sp>
        <p:nvSpPr>
          <p:cNvPr id="76" name="Rectangle 74"/>
          <p:cNvSpPr>
            <a:spLocks noChangeArrowheads="1"/>
          </p:cNvSpPr>
          <p:nvPr/>
        </p:nvSpPr>
        <p:spPr bwMode="auto">
          <a:xfrm>
            <a:off x="1167880" y="3319388"/>
            <a:ext cx="1505221" cy="299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lnSpc>
                <a:spcPct val="85000"/>
              </a:lnSpc>
              <a:spcBef>
                <a:spcPct val="0"/>
              </a:spcBef>
              <a:buClrTx/>
              <a:buFontTx/>
              <a:buNone/>
            </a:pPr>
            <a:r>
              <a:rPr lang="en-US" altLang="zh-CN" sz="1600" b="1" dirty="0">
                <a:latin typeface="+mn-lt"/>
                <a:ea typeface="+mn-ea"/>
              </a:rPr>
              <a:t>1010…  …</a:t>
            </a:r>
            <a:r>
              <a:rPr lang="en-US" altLang="zh-CN" sz="1600" b="1" dirty="0" smtClean="0">
                <a:latin typeface="+mn-lt"/>
                <a:ea typeface="+mn-ea"/>
              </a:rPr>
              <a:t>010</a:t>
            </a:r>
            <a:endParaRPr lang="en-US" altLang="zh-CN" sz="1600" b="1" dirty="0">
              <a:latin typeface="+mn-lt"/>
              <a:ea typeface="+mn-ea"/>
            </a:endParaRPr>
          </a:p>
        </p:txBody>
      </p:sp>
      <p:sp>
        <p:nvSpPr>
          <p:cNvPr id="77" name="AutoShape 75"/>
          <p:cNvSpPr>
            <a:spLocks noChangeArrowheads="1"/>
          </p:cNvSpPr>
          <p:nvPr/>
        </p:nvSpPr>
        <p:spPr bwMode="auto">
          <a:xfrm>
            <a:off x="1783830" y="3154288"/>
            <a:ext cx="304800" cy="334962"/>
          </a:xfrm>
          <a:prstGeom prst="downArrow">
            <a:avLst>
              <a:gd name="adj1" fmla="val 50000"/>
              <a:gd name="adj2" fmla="val 43231"/>
            </a:avLst>
          </a:prstGeom>
          <a:solidFill>
            <a:srgbClr val="FFFFFF"/>
          </a:solidFill>
          <a:ln w="12700">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78" name="Rectangle 76"/>
          <p:cNvSpPr>
            <a:spLocks noChangeArrowheads="1"/>
          </p:cNvSpPr>
          <p:nvPr/>
        </p:nvSpPr>
        <p:spPr bwMode="auto">
          <a:xfrm>
            <a:off x="1436167" y="2706613"/>
            <a:ext cx="990600" cy="280987"/>
          </a:xfrm>
          <a:prstGeom prst="rect">
            <a:avLst/>
          </a:prstGeom>
          <a:solidFill>
            <a:srgbClr val="DDDDDD"/>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a:latin typeface="+mn-lt"/>
              <a:ea typeface="+mn-ea"/>
            </a:endParaRPr>
          </a:p>
        </p:txBody>
      </p:sp>
      <p:sp>
        <p:nvSpPr>
          <p:cNvPr id="79" name="AutoShape 77"/>
          <p:cNvSpPr>
            <a:spLocks noChangeArrowheads="1"/>
          </p:cNvSpPr>
          <p:nvPr/>
        </p:nvSpPr>
        <p:spPr bwMode="auto">
          <a:xfrm>
            <a:off x="1442517" y="2401813"/>
            <a:ext cx="990600" cy="369887"/>
          </a:xfrm>
          <a:prstGeom prst="downArrow">
            <a:avLst>
              <a:gd name="adj1" fmla="val 65389"/>
              <a:gd name="adj2" fmla="val 39394"/>
            </a:avLst>
          </a:prstGeom>
          <a:solidFill>
            <a:srgbClr val="FFCF01"/>
          </a:solidFill>
          <a:ln w="12700">
            <a:solidFill>
              <a:srgbClr val="000000"/>
            </a:solidFill>
            <a:miter lim="800000"/>
            <a:headEnd/>
            <a:tailEnd/>
          </a:ln>
          <a:effectLst>
            <a:outerShdw dist="35921" dir="2700000" algn="ctr" rotWithShape="0">
              <a:srgbClr val="1C1C1C"/>
            </a:outerShdw>
          </a:effectLst>
        </p:spPr>
        <p:txBody>
          <a:bodyPr vert="eaVert"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0" name="Text Box 78"/>
          <p:cNvSpPr txBox="1">
            <a:spLocks noChangeArrowheads="1"/>
          </p:cNvSpPr>
          <p:nvPr/>
        </p:nvSpPr>
        <p:spPr bwMode="auto">
          <a:xfrm>
            <a:off x="899592" y="2651050"/>
            <a:ext cx="4127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a:latin typeface="+mn-lt"/>
                <a:ea typeface="+mn-ea"/>
              </a:rPr>
              <a:t>帧</a:t>
            </a:r>
          </a:p>
        </p:txBody>
      </p:sp>
      <p:sp>
        <p:nvSpPr>
          <p:cNvPr id="81" name="Rectangle 79"/>
          <p:cNvSpPr>
            <a:spLocks noChangeArrowheads="1"/>
          </p:cNvSpPr>
          <p:nvPr/>
        </p:nvSpPr>
        <p:spPr bwMode="auto">
          <a:xfrm>
            <a:off x="1642542" y="2365300"/>
            <a:ext cx="644408"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spcBef>
                <a:spcPct val="0"/>
              </a:spcBef>
              <a:buClrTx/>
              <a:buFontTx/>
              <a:buNone/>
            </a:pPr>
            <a:r>
              <a:rPr lang="zh-CN" altLang="en-US" sz="1800" b="1">
                <a:latin typeface="+mn-lt"/>
                <a:ea typeface="+mn-ea"/>
              </a:rPr>
              <a:t>装入</a:t>
            </a:r>
          </a:p>
        </p:txBody>
      </p:sp>
      <p:sp>
        <p:nvSpPr>
          <p:cNvPr id="82" name="Line 80"/>
          <p:cNvSpPr>
            <a:spLocks noChangeShapeType="1"/>
          </p:cNvSpPr>
          <p:nvPr/>
        </p:nvSpPr>
        <p:spPr bwMode="auto">
          <a:xfrm>
            <a:off x="1431405" y="2701850"/>
            <a:ext cx="0" cy="28575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83" name="Line 81"/>
          <p:cNvSpPr>
            <a:spLocks noChangeShapeType="1"/>
          </p:cNvSpPr>
          <p:nvPr/>
        </p:nvSpPr>
        <p:spPr bwMode="auto">
          <a:xfrm>
            <a:off x="2422005" y="2703438"/>
            <a:ext cx="0" cy="28575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000" b="1" i="0" u="none" strike="noStrike" kern="0" cap="none" spc="0" normalizeH="0" baseline="0" noProof="0" smtClean="0">
              <a:ln>
                <a:noFill/>
              </a:ln>
              <a:effectLst/>
              <a:uLnTx/>
              <a:uFillTx/>
              <a:latin typeface="+mn-lt"/>
              <a:ea typeface="+mn-ea"/>
            </a:endParaRPr>
          </a:p>
        </p:txBody>
      </p:sp>
      <p:sp>
        <p:nvSpPr>
          <p:cNvPr id="50" name="Rectangle 47"/>
          <p:cNvSpPr>
            <a:spLocks noChangeArrowheads="1"/>
          </p:cNvSpPr>
          <p:nvPr/>
        </p:nvSpPr>
        <p:spPr bwMode="auto">
          <a:xfrm>
            <a:off x="1312342" y="5252817"/>
            <a:ext cx="875241" cy="643766"/>
          </a:xfrm>
          <a:prstGeom prst="rect">
            <a:avLst/>
          </a:prstGeom>
          <a:noFill/>
          <a:ln>
            <a:noFill/>
          </a:ln>
          <a:effectLst/>
        </p:spPr>
        <p:txBody>
          <a:bodyPr wrap="none" lIns="90488" tIns="44450" rIns="90488" bIns="44450">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marL="0" marR="0" lvl="0" indent="0" algn="ctr" defTabSz="762000" eaLnBrk="0" fontAlgn="auto" latinLnBrk="0" hangingPunct="0">
              <a:lnSpc>
                <a:spcPct val="100000"/>
              </a:lnSpc>
              <a:spcBef>
                <a:spcPct val="0"/>
              </a:spcBef>
              <a:spcAft>
                <a:spcPts val="0"/>
              </a:spcAft>
              <a:buClrTx/>
              <a:buSzTx/>
              <a:buFontTx/>
              <a:buNone/>
              <a:tabLst/>
              <a:defRPr/>
            </a:pPr>
            <a:r>
              <a:rPr kumimoji="0" lang="zh-CN" altLang="en-US" sz="1800" b="1" i="0" u="none" strike="noStrike" kern="0" cap="none" spc="0" normalizeH="0" baseline="0" noProof="0" smtClean="0">
                <a:ln>
                  <a:noFill/>
                </a:ln>
                <a:effectLst/>
                <a:uLnTx/>
                <a:uFillTx/>
                <a:latin typeface="+mn-lt"/>
                <a:ea typeface="+mn-ea"/>
              </a:rPr>
              <a:t>数据</a:t>
            </a:r>
          </a:p>
          <a:p>
            <a:pPr marL="0" marR="0" lvl="0" indent="0" algn="ctr" defTabSz="762000" eaLnBrk="0" fontAlgn="auto" latinLnBrk="0" hangingPunct="0">
              <a:lnSpc>
                <a:spcPct val="100000"/>
              </a:lnSpc>
              <a:spcBef>
                <a:spcPct val="0"/>
              </a:spcBef>
              <a:spcAft>
                <a:spcPts val="0"/>
              </a:spcAft>
              <a:buClrTx/>
              <a:buSzTx/>
              <a:buFontTx/>
              <a:buNone/>
              <a:tabLst/>
              <a:defRPr/>
            </a:pPr>
            <a:r>
              <a:rPr kumimoji="0" lang="zh-CN" altLang="en-US" sz="1800" b="1" i="0" u="none" strike="noStrike" kern="0" cap="none" spc="0" normalizeH="0" baseline="0" noProof="0" smtClean="0">
                <a:ln>
                  <a:noFill/>
                </a:ln>
                <a:effectLst/>
                <a:uLnTx/>
                <a:uFillTx/>
                <a:latin typeface="+mn-lt"/>
                <a:ea typeface="+mn-ea"/>
              </a:rPr>
              <a:t>链路层</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r>
              <a:rPr lang="zh-CN" altLang="en-US"/>
              <a:t>数据链路层目的和功能</a:t>
            </a:r>
          </a:p>
        </p:txBody>
      </p:sp>
      <p:sp>
        <p:nvSpPr>
          <p:cNvPr id="529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529412" name="Rectangle 4"/>
          <p:cNvSpPr>
            <a:spLocks noGrp="1" noChangeArrowheads="1"/>
          </p:cNvSpPr>
          <p:nvPr>
            <p:ph type="body" idx="1"/>
          </p:nvPr>
        </p:nvSpPr>
        <p:spPr>
          <a:xfrm>
            <a:off x="809625" y="1773238"/>
            <a:ext cx="7958138" cy="4679950"/>
          </a:xfrm>
        </p:spPr>
        <p:txBody>
          <a:bodyPr/>
          <a:lstStyle/>
          <a:p>
            <a:pPr>
              <a:lnSpc>
                <a:spcPct val="130000"/>
              </a:lnSpc>
            </a:pPr>
            <a:r>
              <a:rPr lang="zh-CN" altLang="en-US" sz="2800" dirty="0">
                <a:solidFill>
                  <a:srgbClr val="FC0404"/>
                </a:solidFill>
              </a:rPr>
              <a:t>目的</a:t>
            </a:r>
          </a:p>
          <a:p>
            <a:pPr lvl="1">
              <a:lnSpc>
                <a:spcPct val="130000"/>
              </a:lnSpc>
            </a:pPr>
            <a:r>
              <a:rPr lang="zh-CN" altLang="en-US" sz="2400" dirty="0"/>
              <a:t>数据链路层主要研究的是两个直接相连的机器（点到点）进行</a:t>
            </a:r>
            <a:r>
              <a:rPr lang="zh-CN" altLang="en-US" sz="2400" dirty="0">
                <a:solidFill>
                  <a:srgbClr val="0000FF"/>
                </a:solidFill>
              </a:rPr>
              <a:t>可靠</a:t>
            </a:r>
            <a:r>
              <a:rPr lang="zh-CN" altLang="en-US" sz="2400" dirty="0"/>
              <a:t>、</a:t>
            </a:r>
            <a:r>
              <a:rPr lang="zh-CN" altLang="en-US" sz="2400" dirty="0">
                <a:solidFill>
                  <a:srgbClr val="0000FF"/>
                </a:solidFill>
              </a:rPr>
              <a:t>有效通信</a:t>
            </a:r>
            <a:r>
              <a:rPr lang="zh-CN" altLang="en-US" sz="2400" dirty="0"/>
              <a:t>的算法。</a:t>
            </a:r>
          </a:p>
          <a:p>
            <a:pPr>
              <a:lnSpc>
                <a:spcPct val="130000"/>
              </a:lnSpc>
            </a:pPr>
            <a:r>
              <a:rPr lang="zh-CN" altLang="en-US" sz="2800" dirty="0">
                <a:solidFill>
                  <a:srgbClr val="FC0404"/>
                </a:solidFill>
              </a:rPr>
              <a:t>功能</a:t>
            </a:r>
          </a:p>
          <a:p>
            <a:pPr lvl="1">
              <a:lnSpc>
                <a:spcPct val="130000"/>
              </a:lnSpc>
            </a:pPr>
            <a:r>
              <a:rPr lang="zh-CN" altLang="en-US" sz="2400" dirty="0"/>
              <a:t>为网络层提供服务</a:t>
            </a:r>
          </a:p>
          <a:p>
            <a:pPr lvl="1">
              <a:lnSpc>
                <a:spcPct val="130000"/>
              </a:lnSpc>
            </a:pPr>
            <a:r>
              <a:rPr lang="zh-CN" altLang="en-US" sz="2400" dirty="0"/>
              <a:t>数据成帧</a:t>
            </a:r>
          </a:p>
          <a:p>
            <a:pPr lvl="1">
              <a:lnSpc>
                <a:spcPct val="130000"/>
              </a:lnSpc>
            </a:pPr>
            <a:r>
              <a:rPr lang="zh-CN" altLang="en-US" sz="2400" dirty="0"/>
              <a:t>差错控制</a:t>
            </a:r>
          </a:p>
          <a:p>
            <a:pPr lvl="1">
              <a:lnSpc>
                <a:spcPct val="130000"/>
              </a:lnSpc>
            </a:pPr>
            <a:r>
              <a:rPr lang="zh-CN" altLang="en-US" sz="2400" dirty="0"/>
              <a:t>流量控制</a:t>
            </a:r>
          </a:p>
        </p:txBody>
      </p:sp>
      <p:sp>
        <p:nvSpPr>
          <p:cNvPr id="5294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p:txBody>
          <a:bodyPr/>
          <a:lstStyle/>
          <a:p>
            <a:r>
              <a:rPr lang="zh-CN" altLang="en-US"/>
              <a:t>数据链路层功能</a:t>
            </a:r>
          </a:p>
        </p:txBody>
      </p:sp>
      <p:sp>
        <p:nvSpPr>
          <p:cNvPr id="530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530436" name="Rectangle 4"/>
          <p:cNvSpPr>
            <a:spLocks noGrp="1" noChangeArrowheads="1"/>
          </p:cNvSpPr>
          <p:nvPr>
            <p:ph type="body" idx="1"/>
          </p:nvPr>
        </p:nvSpPr>
        <p:spPr>
          <a:xfrm>
            <a:off x="2339975" y="1916113"/>
            <a:ext cx="4049713" cy="4032250"/>
          </a:xfrm>
        </p:spPr>
        <p:txBody>
          <a:bodyPr/>
          <a:lstStyle/>
          <a:p>
            <a:pPr>
              <a:lnSpc>
                <a:spcPct val="180000"/>
              </a:lnSpc>
            </a:pPr>
            <a:r>
              <a:rPr lang="zh-CN" altLang="en-US">
                <a:hlinkClick r:id="rId4" action="ppaction://hlinksldjump"/>
              </a:rPr>
              <a:t>为网络层提供服务</a:t>
            </a:r>
            <a:endParaRPr lang="zh-CN" altLang="en-US"/>
          </a:p>
          <a:p>
            <a:pPr>
              <a:lnSpc>
                <a:spcPct val="180000"/>
              </a:lnSpc>
            </a:pPr>
            <a:r>
              <a:rPr lang="zh-CN" altLang="en-US">
                <a:hlinkClick r:id="rId5" action="ppaction://hlinksldjump"/>
              </a:rPr>
              <a:t>数据成帧</a:t>
            </a:r>
            <a:endParaRPr lang="zh-CN" altLang="en-US"/>
          </a:p>
          <a:p>
            <a:pPr>
              <a:lnSpc>
                <a:spcPct val="180000"/>
              </a:lnSpc>
            </a:pPr>
            <a:r>
              <a:rPr lang="zh-CN" altLang="en-US">
                <a:hlinkClick r:id="rId6" action="ppaction://hlinksldjump"/>
              </a:rPr>
              <a:t>差错控制</a:t>
            </a:r>
            <a:endParaRPr lang="zh-CN" altLang="en-US"/>
          </a:p>
          <a:p>
            <a:pPr>
              <a:lnSpc>
                <a:spcPct val="180000"/>
              </a:lnSpc>
            </a:pPr>
            <a:r>
              <a:rPr lang="zh-CN" altLang="en-US">
                <a:hlinkClick r:id="rId7" action="ppaction://hlinksldjump"/>
              </a:rPr>
              <a:t>流量控制</a:t>
            </a:r>
            <a:endParaRPr lang="zh-CN" altLang="en-US"/>
          </a:p>
        </p:txBody>
      </p:sp>
      <p:sp>
        <p:nvSpPr>
          <p:cNvPr id="5304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p:txBody>
          <a:bodyPr/>
          <a:lstStyle/>
          <a:p>
            <a:r>
              <a:rPr lang="zh-CN" altLang="en-US"/>
              <a:t>服务类型一</a:t>
            </a:r>
            <a:r>
              <a:rPr lang="zh-CN" altLang="en-US" sz="4000"/>
              <a:t/>
            </a:r>
            <a:br>
              <a:rPr lang="zh-CN" altLang="en-US" sz="4000"/>
            </a:br>
            <a:r>
              <a:rPr lang="zh-CN" altLang="en-US" sz="2800"/>
              <a:t>（无确认的无连接服务）</a:t>
            </a:r>
          </a:p>
        </p:txBody>
      </p:sp>
      <p:sp>
        <p:nvSpPr>
          <p:cNvPr id="537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endParaRPr lang="en-US" altLang="zh-CN" sz="1200">
              <a:ea typeface="幼圆" pitchFamily="49" charset="-122"/>
            </a:endParaRPr>
          </a:p>
        </p:txBody>
      </p:sp>
      <p:sp>
        <p:nvSpPr>
          <p:cNvPr id="53760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1</a:t>
            </a:r>
            <a:endParaRPr lang="en-US" altLang="zh-CN" sz="1200" dirty="0">
              <a:latin typeface="幼圆" pitchFamily="49" charset="-122"/>
              <a:ea typeface="幼圆" pitchFamily="49" charset="-122"/>
            </a:endParaRPr>
          </a:p>
        </p:txBody>
      </p:sp>
      <p:sp>
        <p:nvSpPr>
          <p:cNvPr id="537605" name="Rectangle 5"/>
          <p:cNvSpPr>
            <a:spLocks noGrp="1" noChangeArrowheads="1"/>
          </p:cNvSpPr>
          <p:nvPr>
            <p:ph type="body" idx="1"/>
          </p:nvPr>
        </p:nvSpPr>
        <p:spPr/>
        <p:txBody>
          <a:bodyPr/>
          <a:lstStyle/>
          <a:p>
            <a:pPr>
              <a:lnSpc>
                <a:spcPct val="105000"/>
              </a:lnSpc>
            </a:pPr>
            <a:r>
              <a:rPr lang="zh-CN" altLang="en-US" dirty="0">
                <a:solidFill>
                  <a:srgbClr val="FC0404"/>
                </a:solidFill>
              </a:rPr>
              <a:t>工作原理</a:t>
            </a:r>
          </a:p>
          <a:p>
            <a:pPr lvl="1">
              <a:lnSpc>
                <a:spcPct val="105000"/>
              </a:lnSpc>
            </a:pPr>
            <a:r>
              <a:rPr lang="zh-CN" altLang="en-US" dirty="0"/>
              <a:t>无需建立和释放连接；</a:t>
            </a:r>
          </a:p>
          <a:p>
            <a:pPr lvl="1">
              <a:lnSpc>
                <a:spcPct val="105000"/>
              </a:lnSpc>
            </a:pPr>
            <a:r>
              <a:rPr lang="zh-CN" altLang="en-US" dirty="0"/>
              <a:t>目的节点正确收到帧后不确认；</a:t>
            </a:r>
          </a:p>
          <a:p>
            <a:pPr lvl="1">
              <a:lnSpc>
                <a:spcPct val="105000"/>
              </a:lnSpc>
            </a:pPr>
            <a:r>
              <a:rPr lang="zh-CN" altLang="en-US" dirty="0"/>
              <a:t>丢失帧由上层恢复。</a:t>
            </a:r>
          </a:p>
          <a:p>
            <a:pPr>
              <a:lnSpc>
                <a:spcPct val="105000"/>
              </a:lnSpc>
            </a:pPr>
            <a:r>
              <a:rPr lang="zh-CN" altLang="en-US" dirty="0">
                <a:solidFill>
                  <a:srgbClr val="FC0404"/>
                </a:solidFill>
              </a:rPr>
              <a:t>应用场合</a:t>
            </a:r>
          </a:p>
          <a:p>
            <a:pPr lvl="1">
              <a:lnSpc>
                <a:spcPct val="105000"/>
              </a:lnSpc>
            </a:pPr>
            <a:r>
              <a:rPr lang="zh-CN" altLang="en-US" dirty="0"/>
              <a:t>低误码率场合；</a:t>
            </a:r>
          </a:p>
          <a:p>
            <a:pPr lvl="1">
              <a:lnSpc>
                <a:spcPct val="105000"/>
              </a:lnSpc>
            </a:pPr>
            <a:r>
              <a:rPr lang="zh-CN" altLang="en-US" dirty="0"/>
              <a:t>实时系统，例如，声音传输；</a:t>
            </a:r>
          </a:p>
          <a:p>
            <a:pPr lvl="1">
              <a:lnSpc>
                <a:spcPct val="105000"/>
              </a:lnSpc>
            </a:pPr>
            <a:r>
              <a:rPr lang="zh-CN" altLang="en-US" dirty="0"/>
              <a:t>大多数</a:t>
            </a:r>
            <a:r>
              <a:rPr lang="en-US" altLang="zh-CN" dirty="0" smtClean="0"/>
              <a:t>LAN</a:t>
            </a:r>
            <a:r>
              <a:rPr lang="zh-CN" altLang="en-US" dirty="0" smtClean="0"/>
              <a:t>，例如：以太网。</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p:cNvSpPr>
            <a:spLocks noGrp="1" noChangeArrowheads="1"/>
          </p:cNvSpPr>
          <p:nvPr>
            <p:ph type="title"/>
          </p:nvPr>
        </p:nvSpPr>
        <p:spPr/>
        <p:txBody>
          <a:bodyPr/>
          <a:lstStyle/>
          <a:p>
            <a:r>
              <a:rPr lang="zh-CN" altLang="en-US"/>
              <a:t>服务类型二</a:t>
            </a:r>
            <a:r>
              <a:rPr lang="zh-CN" altLang="en-US" sz="4000"/>
              <a:t/>
            </a:r>
            <a:br>
              <a:rPr lang="zh-CN" altLang="en-US" sz="4000"/>
            </a:br>
            <a:r>
              <a:rPr lang="zh-CN" altLang="en-US" sz="2800"/>
              <a:t>（有确认的无连接服务）</a:t>
            </a:r>
          </a:p>
        </p:txBody>
      </p:sp>
      <p:sp>
        <p:nvSpPr>
          <p:cNvPr id="5386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endParaRPr lang="en-US" altLang="zh-CN" sz="1200">
              <a:ea typeface="幼圆" pitchFamily="49" charset="-122"/>
            </a:endParaRPr>
          </a:p>
        </p:txBody>
      </p:sp>
      <p:sp>
        <p:nvSpPr>
          <p:cNvPr id="5386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sp>
        <p:nvSpPr>
          <p:cNvPr id="538629" name="Rectangle 5"/>
          <p:cNvSpPr>
            <a:spLocks noGrp="1" noChangeArrowheads="1"/>
          </p:cNvSpPr>
          <p:nvPr>
            <p:ph type="body" idx="1"/>
          </p:nvPr>
        </p:nvSpPr>
        <p:spPr/>
        <p:txBody>
          <a:bodyPr/>
          <a:lstStyle/>
          <a:p>
            <a:pPr>
              <a:lnSpc>
                <a:spcPct val="105000"/>
              </a:lnSpc>
            </a:pPr>
            <a:r>
              <a:rPr lang="zh-CN" altLang="en-US" dirty="0">
                <a:solidFill>
                  <a:srgbClr val="FC0404"/>
                </a:solidFill>
              </a:rPr>
              <a:t>工作原理</a:t>
            </a:r>
          </a:p>
          <a:p>
            <a:pPr lvl="1">
              <a:lnSpc>
                <a:spcPct val="105000"/>
              </a:lnSpc>
            </a:pPr>
            <a:r>
              <a:rPr lang="zh-CN" altLang="en-US" dirty="0"/>
              <a:t>无需建立和释放连接；</a:t>
            </a:r>
          </a:p>
          <a:p>
            <a:pPr lvl="1">
              <a:lnSpc>
                <a:spcPct val="105000"/>
              </a:lnSpc>
            </a:pPr>
            <a:r>
              <a:rPr lang="zh-CN" altLang="en-US" dirty="0"/>
              <a:t>目的节点正确收到帧后发送确认帧；</a:t>
            </a:r>
          </a:p>
          <a:p>
            <a:pPr lvl="1">
              <a:lnSpc>
                <a:spcPct val="105000"/>
              </a:lnSpc>
            </a:pPr>
            <a:r>
              <a:rPr lang="zh-CN" altLang="en-US" dirty="0"/>
              <a:t>源节点需配置存放待确认帧的缓冲区和计时器；</a:t>
            </a:r>
          </a:p>
          <a:p>
            <a:pPr lvl="1">
              <a:lnSpc>
                <a:spcPct val="105000"/>
              </a:lnSpc>
            </a:pPr>
            <a:r>
              <a:rPr lang="zh-CN" altLang="en-US" dirty="0"/>
              <a:t>引入帧序号。</a:t>
            </a:r>
          </a:p>
          <a:p>
            <a:pPr>
              <a:lnSpc>
                <a:spcPct val="105000"/>
              </a:lnSpc>
            </a:pPr>
            <a:r>
              <a:rPr lang="zh-CN" altLang="en-US" dirty="0">
                <a:solidFill>
                  <a:srgbClr val="FC0404"/>
                </a:solidFill>
              </a:rPr>
              <a:t>应用场合</a:t>
            </a:r>
          </a:p>
          <a:p>
            <a:pPr lvl="1">
              <a:lnSpc>
                <a:spcPct val="105000"/>
              </a:lnSpc>
            </a:pPr>
            <a:r>
              <a:rPr lang="zh-CN" altLang="en-US" dirty="0"/>
              <a:t>不可靠信道，例如：无线</a:t>
            </a:r>
            <a:r>
              <a:rPr lang="zh-CN" altLang="en-US" dirty="0" smtClean="0"/>
              <a:t>系统（</a:t>
            </a:r>
            <a:r>
              <a:rPr lang="en-US" altLang="zh-CN" dirty="0" err="1" smtClean="0"/>
              <a:t>WiFi</a:t>
            </a:r>
            <a:r>
              <a:rPr lang="zh-CN" altLang="en-US" dirty="0" smtClean="0"/>
              <a:t>）。</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ChangeArrowheads="1"/>
          </p:cNvSpPr>
          <p:nvPr>
            <p:ph type="title"/>
          </p:nvPr>
        </p:nvSpPr>
        <p:spPr/>
        <p:txBody>
          <a:bodyPr/>
          <a:lstStyle/>
          <a:p>
            <a:r>
              <a:rPr lang="zh-CN" altLang="en-US"/>
              <a:t>服务类型三</a:t>
            </a:r>
            <a:r>
              <a:rPr lang="zh-CN" altLang="en-US" sz="4000"/>
              <a:t/>
            </a:r>
            <a:br>
              <a:rPr lang="zh-CN" altLang="en-US" sz="4000"/>
            </a:br>
            <a:r>
              <a:rPr lang="zh-CN" altLang="en-US" sz="2800"/>
              <a:t>（有确认的面向连接服务）</a:t>
            </a:r>
          </a:p>
        </p:txBody>
      </p:sp>
      <p:sp>
        <p:nvSpPr>
          <p:cNvPr id="539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endParaRPr lang="en-US" altLang="zh-CN" sz="1200">
              <a:ea typeface="幼圆" pitchFamily="49" charset="-122"/>
            </a:endParaRPr>
          </a:p>
        </p:txBody>
      </p:sp>
      <p:sp>
        <p:nvSpPr>
          <p:cNvPr id="53965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
        <p:nvSpPr>
          <p:cNvPr id="539653" name="Rectangle 5"/>
          <p:cNvSpPr>
            <a:spLocks noGrp="1" noChangeArrowheads="1"/>
          </p:cNvSpPr>
          <p:nvPr>
            <p:ph type="body" idx="1"/>
          </p:nvPr>
        </p:nvSpPr>
        <p:spPr/>
        <p:txBody>
          <a:bodyPr/>
          <a:lstStyle/>
          <a:p>
            <a:pPr>
              <a:lnSpc>
                <a:spcPct val="120000"/>
              </a:lnSpc>
            </a:pPr>
            <a:r>
              <a:rPr lang="zh-CN" altLang="en-US" sz="2800" dirty="0">
                <a:solidFill>
                  <a:srgbClr val="FC0404"/>
                </a:solidFill>
              </a:rPr>
              <a:t>工作原理</a:t>
            </a:r>
          </a:p>
          <a:p>
            <a:pPr lvl="1">
              <a:lnSpc>
                <a:spcPct val="120000"/>
              </a:lnSpc>
            </a:pPr>
            <a:r>
              <a:rPr lang="zh-CN" altLang="en-US" dirty="0"/>
              <a:t>步骤</a:t>
            </a:r>
            <a:r>
              <a:rPr lang="en-US" altLang="zh-CN" dirty="0"/>
              <a:t>1</a:t>
            </a:r>
            <a:r>
              <a:rPr lang="zh-CN" altLang="en-US" dirty="0"/>
              <a:t>：建立连接，初始化计时器和所需变量；</a:t>
            </a:r>
          </a:p>
          <a:p>
            <a:pPr lvl="1">
              <a:lnSpc>
                <a:spcPct val="120000"/>
              </a:lnSpc>
            </a:pPr>
            <a:r>
              <a:rPr lang="zh-CN" altLang="en-US" dirty="0"/>
              <a:t>步骤</a:t>
            </a:r>
            <a:r>
              <a:rPr lang="en-US" altLang="zh-CN" dirty="0"/>
              <a:t>2</a:t>
            </a:r>
            <a:r>
              <a:rPr lang="zh-CN" altLang="en-US" dirty="0"/>
              <a:t>：帧传输；</a:t>
            </a:r>
          </a:p>
          <a:p>
            <a:pPr lvl="1">
              <a:lnSpc>
                <a:spcPct val="120000"/>
              </a:lnSpc>
            </a:pPr>
            <a:r>
              <a:rPr lang="zh-CN" altLang="en-US" dirty="0"/>
              <a:t>步骤</a:t>
            </a:r>
            <a:r>
              <a:rPr lang="en-US" altLang="zh-CN" dirty="0"/>
              <a:t>3</a:t>
            </a:r>
            <a:r>
              <a:rPr lang="zh-CN" altLang="en-US" dirty="0"/>
              <a:t>：断开连接，释放资源。</a:t>
            </a:r>
          </a:p>
          <a:p>
            <a:pPr>
              <a:lnSpc>
                <a:spcPct val="120000"/>
              </a:lnSpc>
            </a:pPr>
            <a:r>
              <a:rPr lang="zh-CN" altLang="en-US" sz="2800" dirty="0">
                <a:solidFill>
                  <a:srgbClr val="FC0404"/>
                </a:solidFill>
              </a:rPr>
              <a:t>应用场合</a:t>
            </a:r>
          </a:p>
          <a:p>
            <a:pPr lvl="1">
              <a:lnSpc>
                <a:spcPct val="120000"/>
              </a:lnSpc>
            </a:pPr>
            <a:r>
              <a:rPr lang="zh-CN" altLang="en-US" dirty="0" smtClean="0"/>
              <a:t>长距离且不可靠的链路，例如：卫星信道或者长途电话电路。</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p:txBody>
          <a:bodyPr/>
          <a:lstStyle/>
          <a:p>
            <a:r>
              <a:rPr lang="zh-CN" altLang="en-US"/>
              <a:t>数据成帧</a:t>
            </a:r>
          </a:p>
        </p:txBody>
      </p:sp>
      <p:sp>
        <p:nvSpPr>
          <p:cNvPr id="534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endParaRPr lang="en-US" altLang="zh-CN" sz="1200">
              <a:ea typeface="幼圆" pitchFamily="49" charset="-122"/>
            </a:endParaRPr>
          </a:p>
        </p:txBody>
      </p:sp>
      <p:sp>
        <p:nvSpPr>
          <p:cNvPr id="534533" name="Rectangle 5"/>
          <p:cNvSpPr>
            <a:spLocks noGrp="1" noChangeArrowheads="1"/>
          </p:cNvSpPr>
          <p:nvPr>
            <p:ph type="body" idx="1"/>
          </p:nvPr>
        </p:nvSpPr>
        <p:spPr/>
        <p:txBody>
          <a:bodyPr/>
          <a:lstStyle/>
          <a:p>
            <a:pPr>
              <a:lnSpc>
                <a:spcPct val="105000"/>
              </a:lnSpc>
            </a:pPr>
            <a:r>
              <a:rPr lang="zh-CN" altLang="en-US">
                <a:solidFill>
                  <a:srgbClr val="FC0404"/>
                </a:solidFill>
              </a:rPr>
              <a:t>目的</a:t>
            </a:r>
          </a:p>
          <a:p>
            <a:pPr lvl="1">
              <a:lnSpc>
                <a:spcPct val="105000"/>
              </a:lnSpc>
            </a:pPr>
            <a:r>
              <a:rPr lang="zh-CN" altLang="en-US"/>
              <a:t>将物理层来的比特流组合成数据链路层的数据帧。</a:t>
            </a:r>
          </a:p>
          <a:p>
            <a:pPr>
              <a:lnSpc>
                <a:spcPct val="105000"/>
              </a:lnSpc>
            </a:pPr>
            <a:r>
              <a:rPr lang="zh-CN" altLang="en-US">
                <a:solidFill>
                  <a:srgbClr val="FC0404"/>
                </a:solidFill>
              </a:rPr>
              <a:t>方法</a:t>
            </a:r>
          </a:p>
          <a:p>
            <a:pPr lvl="1">
              <a:lnSpc>
                <a:spcPct val="105000"/>
              </a:lnSpc>
            </a:pPr>
            <a:r>
              <a:rPr lang="zh-CN" altLang="en-US">
                <a:hlinkClick r:id="rId5" action="ppaction://hlinksldjump"/>
              </a:rPr>
              <a:t>字节计数法</a:t>
            </a:r>
            <a:endParaRPr lang="zh-CN" altLang="en-US"/>
          </a:p>
          <a:p>
            <a:pPr lvl="1">
              <a:lnSpc>
                <a:spcPct val="105000"/>
              </a:lnSpc>
            </a:pPr>
            <a:r>
              <a:rPr lang="zh-CN" altLang="en-US">
                <a:hlinkClick r:id="rId6" action="ppaction://hlinksldjump"/>
              </a:rPr>
              <a:t>使用字符填充的首尾定界符法</a:t>
            </a:r>
            <a:endParaRPr lang="zh-CN" altLang="en-US"/>
          </a:p>
          <a:p>
            <a:pPr lvl="1">
              <a:lnSpc>
                <a:spcPct val="105000"/>
              </a:lnSpc>
            </a:pPr>
            <a:r>
              <a:rPr lang="zh-CN" altLang="en-US">
                <a:hlinkClick r:id="rId7" action="ppaction://hlinksldjump"/>
              </a:rPr>
              <a:t>使用比特填充的首尾定界符法</a:t>
            </a:r>
            <a:endParaRPr lang="zh-CN" altLang="en-US"/>
          </a:p>
          <a:p>
            <a:pPr lvl="1">
              <a:lnSpc>
                <a:spcPct val="105000"/>
              </a:lnSpc>
            </a:pPr>
            <a:r>
              <a:rPr lang="zh-CN" altLang="en-US">
                <a:hlinkClick r:id="rId8" action="ppaction://hlinksldjump"/>
              </a:rPr>
              <a:t>违法编码法</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zh-CN" altLang="en-US" dirty="0"/>
              <a:t>字节计数法</a:t>
            </a:r>
          </a:p>
        </p:txBody>
      </p:sp>
      <p:sp>
        <p:nvSpPr>
          <p:cNvPr id="542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数据成帧</a:t>
            </a:r>
            <a:endParaRPr lang="en-US" altLang="zh-CN" sz="1200">
              <a:ea typeface="幼圆" pitchFamily="49" charset="-122"/>
            </a:endParaRPr>
          </a:p>
        </p:txBody>
      </p:sp>
      <p:sp>
        <p:nvSpPr>
          <p:cNvPr id="542725" name="Rectangle 5"/>
          <p:cNvSpPr>
            <a:spLocks noGrp="1" noChangeArrowheads="1"/>
          </p:cNvSpPr>
          <p:nvPr>
            <p:ph type="body" idx="1"/>
          </p:nvPr>
        </p:nvSpPr>
        <p:spPr/>
        <p:txBody>
          <a:bodyPr/>
          <a:lstStyle/>
          <a:p>
            <a:r>
              <a:rPr lang="zh-CN" altLang="en-US" sz="2400" dirty="0" smtClean="0">
                <a:solidFill>
                  <a:srgbClr val="FC0404"/>
                </a:solidFill>
              </a:rPr>
              <a:t>思想：</a:t>
            </a:r>
            <a:r>
              <a:rPr lang="zh-CN" altLang="en-US" sz="2400" dirty="0" smtClean="0"/>
              <a:t>采用</a:t>
            </a:r>
            <a:r>
              <a:rPr lang="zh-CN" altLang="en-US" sz="2400" dirty="0"/>
              <a:t>一个特定的字符（例如：</a:t>
            </a:r>
            <a:r>
              <a:rPr lang="en-US" altLang="zh-CN" sz="2400" dirty="0">
                <a:solidFill>
                  <a:srgbClr val="0000FF"/>
                </a:solidFill>
              </a:rPr>
              <a:t>SOH</a:t>
            </a:r>
            <a:r>
              <a:rPr lang="zh-CN" altLang="en-US" sz="2400" dirty="0"/>
              <a:t>）来表示一帧的开始，并以一个专门的字段（</a:t>
            </a:r>
            <a:r>
              <a:rPr lang="en-US" altLang="zh-CN" sz="2400" dirty="0">
                <a:solidFill>
                  <a:srgbClr val="0000FF"/>
                </a:solidFill>
              </a:rPr>
              <a:t>count</a:t>
            </a:r>
            <a:r>
              <a:rPr lang="zh-CN" altLang="en-US" sz="2400" dirty="0"/>
              <a:t>）来表示帧内的字节数。</a:t>
            </a:r>
          </a:p>
          <a:p>
            <a:r>
              <a:rPr lang="zh-CN" altLang="en-US" sz="2400" dirty="0" smtClean="0">
                <a:solidFill>
                  <a:srgbClr val="FC0404"/>
                </a:solidFill>
              </a:rPr>
              <a:t>例子：</a:t>
            </a:r>
            <a:r>
              <a:rPr lang="en-US" altLang="zh-CN" sz="2400" dirty="0" smtClean="0">
                <a:solidFill>
                  <a:schemeClr val="tx1"/>
                </a:solidFill>
              </a:rPr>
              <a:t>DEC</a:t>
            </a:r>
            <a:r>
              <a:rPr lang="zh-CN" altLang="en-US" sz="2400" dirty="0" smtClean="0">
                <a:solidFill>
                  <a:schemeClr val="tx1"/>
                </a:solidFill>
              </a:rPr>
              <a:t>公司的</a:t>
            </a:r>
            <a:r>
              <a:rPr lang="en-US" altLang="zh-CN" sz="2400" dirty="0" smtClean="0">
                <a:solidFill>
                  <a:schemeClr val="tx1"/>
                </a:solidFill>
              </a:rPr>
              <a:t>DDCMP</a:t>
            </a:r>
            <a:r>
              <a:rPr lang="zh-CN" altLang="en-US" sz="2400" dirty="0" smtClean="0">
                <a:solidFill>
                  <a:schemeClr val="tx1"/>
                </a:solidFill>
              </a:rPr>
              <a:t>（数字数据通信报文协议）</a:t>
            </a:r>
            <a:endParaRPr lang="en-US" altLang="zh-CN" sz="2400" dirty="0" smtClean="0">
              <a:solidFill>
                <a:schemeClr val="tx1"/>
              </a:solidFill>
            </a:endParaRPr>
          </a:p>
          <a:p>
            <a:endParaRPr lang="en-US" altLang="zh-CN" sz="2400" dirty="0">
              <a:solidFill>
                <a:schemeClr val="tx1"/>
              </a:solidFill>
            </a:endParaRPr>
          </a:p>
          <a:p>
            <a:endParaRPr lang="en-US" altLang="zh-CN" sz="2400" dirty="0" smtClean="0">
              <a:solidFill>
                <a:schemeClr val="tx1"/>
              </a:solidFill>
            </a:endParaRPr>
          </a:p>
          <a:p>
            <a:r>
              <a:rPr lang="zh-CN" altLang="en-US" sz="2400" dirty="0" smtClean="0">
                <a:solidFill>
                  <a:srgbClr val="FC0404"/>
                </a:solidFill>
              </a:rPr>
              <a:t>缺点</a:t>
            </a:r>
            <a:endParaRPr lang="zh-CN" altLang="en-US" sz="2400" dirty="0">
              <a:solidFill>
                <a:srgbClr val="FC0404"/>
              </a:solidFill>
            </a:endParaRPr>
          </a:p>
          <a:p>
            <a:pPr lvl="1"/>
            <a:r>
              <a:rPr lang="en-US" altLang="zh-CN" sz="2400" dirty="0"/>
              <a:t>count</a:t>
            </a:r>
            <a:r>
              <a:rPr lang="zh-CN" altLang="en-US" sz="2400" dirty="0"/>
              <a:t>字段发生差错，将失去帧边界划分的</a:t>
            </a:r>
            <a:r>
              <a:rPr lang="zh-CN" altLang="en-US" sz="2400" dirty="0" smtClean="0"/>
              <a:t>依据；</a:t>
            </a:r>
            <a:endParaRPr lang="zh-CN" altLang="en-US" sz="2400" dirty="0"/>
          </a:p>
          <a:p>
            <a:pPr lvl="1"/>
            <a:r>
              <a:rPr lang="zh-CN" altLang="en-US" sz="2400" dirty="0"/>
              <a:t>所用的特定字符依赖于所采用的字符编码集，不利于兼容性。</a:t>
            </a:r>
          </a:p>
        </p:txBody>
      </p:sp>
      <p:graphicFrame>
        <p:nvGraphicFramePr>
          <p:cNvPr id="2" name="表格 1"/>
          <p:cNvGraphicFramePr>
            <a:graphicFrameLocks noGrp="1"/>
          </p:cNvGraphicFramePr>
          <p:nvPr>
            <p:extLst>
              <p:ext uri="{D42A27DB-BD31-4B8C-83A1-F6EECF244321}">
                <p14:modId xmlns="" xmlns:p14="http://schemas.microsoft.com/office/powerpoint/2010/main" val="3784825204"/>
              </p:ext>
            </p:extLst>
          </p:nvPr>
        </p:nvGraphicFramePr>
        <p:xfrm>
          <a:off x="1331647" y="3772405"/>
          <a:ext cx="7272801" cy="370840"/>
        </p:xfrm>
        <a:graphic>
          <a:graphicData uri="http://schemas.openxmlformats.org/drawingml/2006/table">
            <a:tbl>
              <a:tblPr firstRow="1" bandRow="1">
                <a:tableStyleId>{5C22544A-7EE6-4342-B048-85BDC9FD1C3A}</a:tableStyleId>
              </a:tblPr>
              <a:tblGrid>
                <a:gridCol w="808089"/>
                <a:gridCol w="808089"/>
                <a:gridCol w="808089"/>
                <a:gridCol w="808089"/>
                <a:gridCol w="808089"/>
                <a:gridCol w="808089"/>
                <a:gridCol w="808089"/>
                <a:gridCol w="808089"/>
                <a:gridCol w="808089"/>
              </a:tblGrid>
              <a:tr h="370840">
                <a:tc>
                  <a:txBody>
                    <a:bodyPr/>
                    <a:lstStyle/>
                    <a:p>
                      <a:pPr algn="ctr"/>
                      <a:r>
                        <a:rPr lang="en-US" altLang="zh-CN" sz="1400" dirty="0" smtClean="0">
                          <a:solidFill>
                            <a:schemeClr val="tx1"/>
                          </a:solidFill>
                        </a:rPr>
                        <a:t>SOH</a:t>
                      </a:r>
                      <a:endParaRPr lang="zh-CN" altLang="en-US" sz="140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sz="1400" dirty="0" smtClean="0">
                          <a:solidFill>
                            <a:schemeClr val="tx1"/>
                          </a:solidFill>
                        </a:rPr>
                        <a:t>Count</a:t>
                      </a:r>
                      <a:endParaRPr lang="zh-CN" altLang="en-US" sz="140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400" dirty="0" smtClean="0">
                          <a:solidFill>
                            <a:schemeClr val="tx1"/>
                          </a:solidFill>
                        </a:rPr>
                        <a:t>Flag</a:t>
                      </a:r>
                      <a:endParaRPr lang="zh-CN" altLang="en-US" sz="140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400" dirty="0" err="1" smtClean="0">
                          <a:solidFill>
                            <a:schemeClr val="tx1"/>
                          </a:solidFill>
                        </a:rPr>
                        <a:t>Ack</a:t>
                      </a:r>
                      <a:endParaRPr lang="zh-CN" altLang="en-US" sz="140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400" dirty="0" err="1" smtClean="0">
                          <a:solidFill>
                            <a:schemeClr val="tx1"/>
                          </a:solidFill>
                        </a:rPr>
                        <a:t>Seg</a:t>
                      </a:r>
                      <a:endParaRPr lang="zh-CN" altLang="en-US" sz="140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400" dirty="0" err="1" smtClean="0">
                          <a:solidFill>
                            <a:schemeClr val="tx1"/>
                          </a:solidFill>
                        </a:rPr>
                        <a:t>Addr</a:t>
                      </a:r>
                      <a:endParaRPr lang="zh-CN" altLang="en-US" sz="140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400" dirty="0" smtClean="0">
                          <a:solidFill>
                            <a:schemeClr val="tx1"/>
                          </a:solidFill>
                        </a:rPr>
                        <a:t>CRC1</a:t>
                      </a:r>
                      <a:endParaRPr lang="zh-CN" altLang="en-US" sz="140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400" dirty="0" smtClean="0">
                          <a:solidFill>
                            <a:schemeClr val="tx1"/>
                          </a:solidFill>
                        </a:rPr>
                        <a:t>Data</a:t>
                      </a:r>
                      <a:endParaRPr lang="zh-CN" altLang="en-US" sz="140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400" dirty="0" smtClean="0">
                          <a:solidFill>
                            <a:schemeClr val="tx1"/>
                          </a:solidFill>
                        </a:rPr>
                        <a:t>CRC2</a:t>
                      </a:r>
                      <a:endParaRPr lang="zh-CN" altLang="en-US" sz="140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sp>
        <p:nvSpPr>
          <p:cNvPr id="3" name="TextBox 2"/>
          <p:cNvSpPr txBox="1"/>
          <p:nvPr/>
        </p:nvSpPr>
        <p:spPr>
          <a:xfrm>
            <a:off x="1619676" y="3433851"/>
            <a:ext cx="324036" cy="338554"/>
          </a:xfrm>
          <a:prstGeom prst="rect">
            <a:avLst/>
          </a:prstGeom>
          <a:noFill/>
        </p:spPr>
        <p:txBody>
          <a:bodyPr wrap="square" rtlCol="0">
            <a:spAutoFit/>
          </a:bodyPr>
          <a:lstStyle/>
          <a:p>
            <a:r>
              <a:rPr lang="en-US" altLang="zh-CN" sz="1600" b="1" dirty="0" smtClean="0">
                <a:latin typeface="+mn-lt"/>
              </a:rPr>
              <a:t>8</a:t>
            </a:r>
            <a:endParaRPr lang="zh-CN" altLang="en-US" sz="1600" b="1" dirty="0">
              <a:latin typeface="+mn-lt"/>
            </a:endParaRPr>
          </a:p>
        </p:txBody>
      </p:sp>
      <p:sp>
        <p:nvSpPr>
          <p:cNvPr id="9" name="TextBox 8"/>
          <p:cNvSpPr txBox="1"/>
          <p:nvPr/>
        </p:nvSpPr>
        <p:spPr>
          <a:xfrm>
            <a:off x="2339756" y="3429000"/>
            <a:ext cx="432048" cy="338554"/>
          </a:xfrm>
          <a:prstGeom prst="rect">
            <a:avLst/>
          </a:prstGeom>
          <a:noFill/>
        </p:spPr>
        <p:txBody>
          <a:bodyPr wrap="square" rtlCol="0">
            <a:spAutoFit/>
          </a:bodyPr>
          <a:lstStyle/>
          <a:p>
            <a:r>
              <a:rPr lang="en-US" altLang="zh-CN" sz="1600" b="1" dirty="0" smtClean="0">
                <a:latin typeface="+mn-lt"/>
              </a:rPr>
              <a:t>14</a:t>
            </a:r>
            <a:endParaRPr lang="zh-CN" altLang="en-US" sz="1600" b="1" dirty="0">
              <a:latin typeface="+mn-lt"/>
            </a:endParaRPr>
          </a:p>
        </p:txBody>
      </p:sp>
      <p:sp>
        <p:nvSpPr>
          <p:cNvPr id="10" name="TextBox 9"/>
          <p:cNvSpPr txBox="1"/>
          <p:nvPr/>
        </p:nvSpPr>
        <p:spPr>
          <a:xfrm>
            <a:off x="3203852" y="3445635"/>
            <a:ext cx="288032" cy="338554"/>
          </a:xfrm>
          <a:prstGeom prst="rect">
            <a:avLst/>
          </a:prstGeom>
          <a:noFill/>
        </p:spPr>
        <p:txBody>
          <a:bodyPr wrap="square" rtlCol="0">
            <a:spAutoFit/>
          </a:bodyPr>
          <a:lstStyle/>
          <a:p>
            <a:r>
              <a:rPr lang="en-US" altLang="zh-CN" sz="1600" b="1" dirty="0" smtClean="0">
                <a:latin typeface="+mn-lt"/>
              </a:rPr>
              <a:t>2</a:t>
            </a:r>
            <a:endParaRPr lang="zh-CN" altLang="en-US" sz="1600" b="1" dirty="0">
              <a:latin typeface="+mn-lt"/>
            </a:endParaRPr>
          </a:p>
        </p:txBody>
      </p:sp>
      <p:sp>
        <p:nvSpPr>
          <p:cNvPr id="11" name="TextBox 10"/>
          <p:cNvSpPr txBox="1"/>
          <p:nvPr/>
        </p:nvSpPr>
        <p:spPr>
          <a:xfrm>
            <a:off x="3995940" y="3445635"/>
            <a:ext cx="288032" cy="338554"/>
          </a:xfrm>
          <a:prstGeom prst="rect">
            <a:avLst/>
          </a:prstGeom>
          <a:noFill/>
        </p:spPr>
        <p:txBody>
          <a:bodyPr wrap="square" rtlCol="0">
            <a:spAutoFit/>
          </a:bodyPr>
          <a:lstStyle/>
          <a:p>
            <a:r>
              <a:rPr lang="en-US" altLang="zh-CN" sz="1600" b="1" dirty="0" smtClean="0">
                <a:latin typeface="+mn-lt"/>
              </a:rPr>
              <a:t>8</a:t>
            </a:r>
            <a:endParaRPr lang="zh-CN" altLang="en-US" sz="1600" b="1" dirty="0">
              <a:latin typeface="+mn-lt"/>
            </a:endParaRPr>
          </a:p>
        </p:txBody>
      </p:sp>
      <p:sp>
        <p:nvSpPr>
          <p:cNvPr id="12" name="TextBox 11"/>
          <p:cNvSpPr txBox="1"/>
          <p:nvPr/>
        </p:nvSpPr>
        <p:spPr>
          <a:xfrm>
            <a:off x="4788028" y="3445635"/>
            <a:ext cx="288032" cy="338554"/>
          </a:xfrm>
          <a:prstGeom prst="rect">
            <a:avLst/>
          </a:prstGeom>
          <a:noFill/>
        </p:spPr>
        <p:txBody>
          <a:bodyPr wrap="square" rtlCol="0">
            <a:spAutoFit/>
          </a:bodyPr>
          <a:lstStyle/>
          <a:p>
            <a:r>
              <a:rPr lang="en-US" altLang="zh-CN" sz="1600" b="1" dirty="0" smtClean="0">
                <a:latin typeface="+mn-lt"/>
              </a:rPr>
              <a:t>8</a:t>
            </a:r>
            <a:endParaRPr lang="zh-CN" altLang="en-US" sz="1600" b="1" dirty="0">
              <a:latin typeface="+mn-lt"/>
            </a:endParaRPr>
          </a:p>
        </p:txBody>
      </p:sp>
      <p:sp>
        <p:nvSpPr>
          <p:cNvPr id="13" name="TextBox 12"/>
          <p:cNvSpPr txBox="1"/>
          <p:nvPr/>
        </p:nvSpPr>
        <p:spPr>
          <a:xfrm>
            <a:off x="5580116" y="3449408"/>
            <a:ext cx="288032" cy="338554"/>
          </a:xfrm>
          <a:prstGeom prst="rect">
            <a:avLst/>
          </a:prstGeom>
          <a:noFill/>
        </p:spPr>
        <p:txBody>
          <a:bodyPr wrap="square" rtlCol="0">
            <a:spAutoFit/>
          </a:bodyPr>
          <a:lstStyle/>
          <a:p>
            <a:r>
              <a:rPr lang="en-US" altLang="zh-CN" sz="1600" b="1" dirty="0" smtClean="0">
                <a:latin typeface="+mn-lt"/>
              </a:rPr>
              <a:t>8</a:t>
            </a:r>
            <a:endParaRPr lang="zh-CN" altLang="en-US" sz="1600" b="1" dirty="0">
              <a:latin typeface="+mn-lt"/>
            </a:endParaRPr>
          </a:p>
        </p:txBody>
      </p:sp>
      <p:sp>
        <p:nvSpPr>
          <p:cNvPr id="14" name="TextBox 13"/>
          <p:cNvSpPr txBox="1"/>
          <p:nvPr/>
        </p:nvSpPr>
        <p:spPr>
          <a:xfrm>
            <a:off x="6372204" y="3449408"/>
            <a:ext cx="504056" cy="338554"/>
          </a:xfrm>
          <a:prstGeom prst="rect">
            <a:avLst/>
          </a:prstGeom>
          <a:noFill/>
        </p:spPr>
        <p:txBody>
          <a:bodyPr wrap="square" rtlCol="0">
            <a:spAutoFit/>
          </a:bodyPr>
          <a:lstStyle/>
          <a:p>
            <a:r>
              <a:rPr lang="en-US" altLang="zh-CN" sz="1600" b="1" dirty="0" smtClean="0">
                <a:latin typeface="+mn-lt"/>
              </a:rPr>
              <a:t>16</a:t>
            </a:r>
            <a:endParaRPr lang="zh-CN" altLang="en-US" sz="1600" b="1" dirty="0">
              <a:latin typeface="+mn-lt"/>
            </a:endParaRPr>
          </a:p>
        </p:txBody>
      </p:sp>
      <p:sp>
        <p:nvSpPr>
          <p:cNvPr id="15" name="TextBox 14"/>
          <p:cNvSpPr txBox="1"/>
          <p:nvPr/>
        </p:nvSpPr>
        <p:spPr>
          <a:xfrm>
            <a:off x="8028388" y="3449408"/>
            <a:ext cx="288032" cy="338554"/>
          </a:xfrm>
          <a:prstGeom prst="rect">
            <a:avLst/>
          </a:prstGeom>
          <a:noFill/>
        </p:spPr>
        <p:txBody>
          <a:bodyPr wrap="square" rtlCol="0">
            <a:spAutoFit/>
          </a:bodyPr>
          <a:lstStyle/>
          <a:p>
            <a:r>
              <a:rPr lang="en-US" altLang="zh-CN" sz="1600" b="1" dirty="0" smtClean="0">
                <a:latin typeface="+mn-lt"/>
              </a:rPr>
              <a:t>8</a:t>
            </a:r>
            <a:endParaRPr lang="zh-CN" altLang="en-US" sz="1600" b="1" dirty="0">
              <a:latin typeface="+mn-lt"/>
            </a:endParaRPr>
          </a:p>
        </p:txBody>
      </p:sp>
      <p:sp>
        <p:nvSpPr>
          <p:cNvPr id="16" name="TextBox 15"/>
          <p:cNvSpPr txBox="1"/>
          <p:nvPr/>
        </p:nvSpPr>
        <p:spPr>
          <a:xfrm>
            <a:off x="6804252" y="3449408"/>
            <a:ext cx="1152128" cy="338554"/>
          </a:xfrm>
          <a:prstGeom prst="rect">
            <a:avLst/>
          </a:prstGeom>
          <a:noFill/>
        </p:spPr>
        <p:txBody>
          <a:bodyPr wrap="square" rtlCol="0">
            <a:spAutoFit/>
          </a:bodyPr>
          <a:lstStyle/>
          <a:p>
            <a:r>
              <a:rPr lang="en-US" altLang="zh-CN" sz="1600" b="1" dirty="0" smtClean="0">
                <a:latin typeface="+mn-lt"/>
              </a:rPr>
              <a:t>8~131064</a:t>
            </a:r>
            <a:endParaRPr lang="zh-CN" altLang="en-US" sz="1600" b="1" dirty="0">
              <a:latin typeface="+mn-lt"/>
            </a:endParaRPr>
          </a:p>
        </p:txBody>
      </p:sp>
      <p:sp>
        <p:nvSpPr>
          <p:cNvPr id="17" name="TextBox 16"/>
          <p:cNvSpPr txBox="1"/>
          <p:nvPr/>
        </p:nvSpPr>
        <p:spPr>
          <a:xfrm>
            <a:off x="971604" y="3433851"/>
            <a:ext cx="576064" cy="338554"/>
          </a:xfrm>
          <a:prstGeom prst="rect">
            <a:avLst/>
          </a:prstGeom>
          <a:noFill/>
        </p:spPr>
        <p:txBody>
          <a:bodyPr wrap="square" rtlCol="0">
            <a:spAutoFit/>
          </a:bodyPr>
          <a:lstStyle/>
          <a:p>
            <a:r>
              <a:rPr lang="en-US" altLang="zh-CN" sz="1600" b="1" dirty="0" smtClean="0">
                <a:latin typeface="+mn-lt"/>
              </a:rPr>
              <a:t>bit</a:t>
            </a:r>
            <a:endParaRPr lang="zh-CN" altLang="en-US" sz="1600" b="1" dirty="0">
              <a:latin typeface="+mn-lt"/>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r>
              <a:rPr lang="zh-CN" altLang="en-US" sz="4000"/>
              <a:t>使用字符填充的首尾定界符法</a:t>
            </a:r>
          </a:p>
        </p:txBody>
      </p:sp>
      <p:sp>
        <p:nvSpPr>
          <p:cNvPr id="543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数据成帧</a:t>
            </a:r>
            <a:endParaRPr lang="en-US" altLang="zh-CN" sz="1200">
              <a:ea typeface="幼圆" pitchFamily="49" charset="-122"/>
            </a:endParaRPr>
          </a:p>
        </p:txBody>
      </p:sp>
      <p:sp>
        <p:nvSpPr>
          <p:cNvPr id="543748" name="Rectangle 4"/>
          <p:cNvSpPr>
            <a:spLocks noGrp="1" noChangeArrowheads="1"/>
          </p:cNvSpPr>
          <p:nvPr>
            <p:ph type="body" idx="1"/>
          </p:nvPr>
        </p:nvSpPr>
        <p:spPr>
          <a:xfrm>
            <a:off x="809625" y="1773238"/>
            <a:ext cx="7958138" cy="4679950"/>
          </a:xfrm>
        </p:spPr>
        <p:txBody>
          <a:bodyPr/>
          <a:lstStyle/>
          <a:p>
            <a:pPr>
              <a:lnSpc>
                <a:spcPct val="150000"/>
              </a:lnSpc>
              <a:spcBef>
                <a:spcPts val="0"/>
              </a:spcBef>
            </a:pPr>
            <a:r>
              <a:rPr lang="zh-CN" altLang="en-US" sz="2400" dirty="0" smtClean="0">
                <a:solidFill>
                  <a:srgbClr val="FC0404"/>
                </a:solidFill>
              </a:rPr>
              <a:t>思想：</a:t>
            </a:r>
            <a:r>
              <a:rPr lang="zh-CN" altLang="en-US" sz="2400" dirty="0" smtClean="0"/>
              <a:t>采用</a:t>
            </a:r>
            <a:r>
              <a:rPr lang="zh-CN" altLang="en-US" sz="2400" dirty="0"/>
              <a:t>一些特定字符来表示一帧的开始和结束</a:t>
            </a:r>
            <a:r>
              <a:rPr lang="zh-CN" altLang="en-US" sz="2400" dirty="0" smtClean="0"/>
              <a:t>。</a:t>
            </a:r>
            <a:endParaRPr lang="en-US" altLang="zh-CN" sz="2400" dirty="0" smtClean="0"/>
          </a:p>
          <a:p>
            <a:pPr>
              <a:lnSpc>
                <a:spcPct val="150000"/>
              </a:lnSpc>
              <a:spcBef>
                <a:spcPts val="0"/>
              </a:spcBef>
            </a:pPr>
            <a:r>
              <a:rPr lang="zh-CN" altLang="en-US" sz="2400" dirty="0" smtClean="0">
                <a:solidFill>
                  <a:srgbClr val="FF0000"/>
                </a:solidFill>
              </a:rPr>
              <a:t>例子：</a:t>
            </a:r>
            <a:r>
              <a:rPr lang="en-US" altLang="zh-CN" sz="2400" dirty="0" smtClean="0"/>
              <a:t>PPP</a:t>
            </a:r>
            <a:r>
              <a:rPr lang="zh-CN" altLang="en-US" sz="2400" dirty="0" smtClean="0"/>
              <a:t>协议（点对点协议）</a:t>
            </a:r>
            <a:endParaRPr lang="zh-CN" altLang="en-US" sz="2400" dirty="0"/>
          </a:p>
          <a:p>
            <a:pPr>
              <a:lnSpc>
                <a:spcPct val="150000"/>
              </a:lnSpc>
              <a:spcBef>
                <a:spcPts val="0"/>
              </a:spcBef>
            </a:pPr>
            <a:r>
              <a:rPr lang="zh-CN" altLang="en-US" sz="2400" dirty="0" smtClean="0">
                <a:solidFill>
                  <a:srgbClr val="FC0404"/>
                </a:solidFill>
              </a:rPr>
              <a:t>问题：</a:t>
            </a:r>
            <a:r>
              <a:rPr lang="zh-CN" altLang="en-US" sz="2400" dirty="0" smtClean="0"/>
              <a:t>如果</a:t>
            </a:r>
            <a:r>
              <a:rPr lang="zh-CN" altLang="en-US" sz="2400" dirty="0"/>
              <a:t>传输的数据是字符串，则</a:t>
            </a:r>
            <a:r>
              <a:rPr lang="zh-CN" altLang="en-US" sz="2400" dirty="0" smtClean="0"/>
              <a:t>可实现</a:t>
            </a:r>
            <a:r>
              <a:rPr lang="zh-CN" altLang="en-US" sz="2400" dirty="0"/>
              <a:t>透明传输；如果传输的数据是二进制数据（</a:t>
            </a:r>
            <a:r>
              <a:rPr lang="zh-CN" altLang="en-US" sz="2400" dirty="0" smtClean="0"/>
              <a:t>例：</a:t>
            </a:r>
            <a:r>
              <a:rPr lang="zh-CN" altLang="en-US" sz="2400" dirty="0"/>
              <a:t>多媒体数据），则数据中可能会</a:t>
            </a:r>
            <a:r>
              <a:rPr lang="zh-CN" altLang="en-US" sz="2400" dirty="0" smtClean="0"/>
              <a:t>出现用于</a:t>
            </a:r>
            <a:r>
              <a:rPr lang="zh-CN" altLang="en-US" sz="2400" dirty="0"/>
              <a:t>定界的特定字符，干扰传输。</a:t>
            </a:r>
          </a:p>
          <a:p>
            <a:pPr>
              <a:lnSpc>
                <a:spcPct val="150000"/>
              </a:lnSpc>
              <a:spcBef>
                <a:spcPts val="0"/>
              </a:spcBef>
            </a:pPr>
            <a:r>
              <a:rPr lang="zh-CN" altLang="en-US" sz="2400" dirty="0" smtClean="0">
                <a:solidFill>
                  <a:srgbClr val="FC0404"/>
                </a:solidFill>
              </a:rPr>
              <a:t>解决：</a:t>
            </a:r>
            <a:r>
              <a:rPr lang="zh-CN" altLang="en-US" sz="2400" dirty="0" smtClean="0"/>
              <a:t>“</a:t>
            </a:r>
            <a:r>
              <a:rPr lang="zh-CN" altLang="en-US" sz="2400" dirty="0" smtClean="0">
                <a:solidFill>
                  <a:srgbClr val="0000FF"/>
                </a:solidFill>
              </a:rPr>
              <a:t>字符</a:t>
            </a:r>
            <a:r>
              <a:rPr lang="zh-CN" altLang="en-US" sz="2400" dirty="0">
                <a:solidFill>
                  <a:srgbClr val="0000FF"/>
                </a:solidFill>
              </a:rPr>
              <a:t>插入</a:t>
            </a:r>
            <a:r>
              <a:rPr lang="en-US" altLang="zh-CN" sz="2400" dirty="0">
                <a:solidFill>
                  <a:srgbClr val="0000FF"/>
                </a:solidFill>
              </a:rPr>
              <a:t>/</a:t>
            </a:r>
            <a:r>
              <a:rPr lang="zh-CN" altLang="en-US" sz="2400" dirty="0">
                <a:solidFill>
                  <a:srgbClr val="0000FF"/>
                </a:solidFill>
              </a:rPr>
              <a:t>删除法</a:t>
            </a:r>
            <a:r>
              <a:rPr lang="zh-CN" altLang="en-US" sz="2400" dirty="0" smtClean="0"/>
              <a:t>”</a:t>
            </a:r>
            <a:endParaRPr lang="zh-CN" altLang="en-US" sz="2400" dirty="0"/>
          </a:p>
          <a:p>
            <a:pPr>
              <a:lnSpc>
                <a:spcPct val="150000"/>
              </a:lnSpc>
              <a:spcBef>
                <a:spcPts val="0"/>
              </a:spcBef>
            </a:pPr>
            <a:r>
              <a:rPr lang="zh-CN" altLang="en-US" sz="2400" dirty="0" smtClean="0">
                <a:solidFill>
                  <a:srgbClr val="FC0404"/>
                </a:solidFill>
              </a:rPr>
              <a:t>缺点：</a:t>
            </a:r>
            <a:r>
              <a:rPr lang="zh-CN" altLang="en-US" sz="2400" dirty="0" smtClean="0"/>
              <a:t>所</a:t>
            </a:r>
            <a:r>
              <a:rPr lang="zh-CN" altLang="en-US" sz="2400" dirty="0"/>
              <a:t>用的特定字符依赖于所采用的字符编码集，不利于兼容性。</a:t>
            </a:r>
          </a:p>
        </p:txBody>
      </p:sp>
      <p:sp>
        <p:nvSpPr>
          <p:cNvPr id="54374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r>
              <a:rPr lang="zh-CN" altLang="en-US"/>
              <a:t>举  例</a:t>
            </a:r>
          </a:p>
        </p:txBody>
      </p:sp>
      <p:sp>
        <p:nvSpPr>
          <p:cNvPr id="547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数据成帧</a:t>
            </a:r>
            <a:endParaRPr lang="en-US" altLang="zh-CN" sz="1200">
              <a:ea typeface="幼圆" pitchFamily="49" charset="-122"/>
            </a:endParaRPr>
          </a:p>
        </p:txBody>
      </p:sp>
      <p:pic>
        <p:nvPicPr>
          <p:cNvPr id="547847" name="Picture 7" descr="3-05"/>
          <p:cNvPicPr>
            <a:picLocks noChangeAspect="1" noChangeArrowheads="1"/>
          </p:cNvPicPr>
          <p:nvPr/>
        </p:nvPicPr>
        <p:blipFill>
          <a:blip r:embed="rId6" cstate="print">
            <a:clrChange>
              <a:clrFrom>
                <a:srgbClr val="FFFFFF"/>
              </a:clrFrom>
              <a:clrTo>
                <a:srgbClr val="FFFFFF">
                  <a:alpha val="0"/>
                </a:srgbClr>
              </a:clrTo>
            </a:clrChange>
            <a:lum bright="-60000"/>
            <a:extLst>
              <a:ext uri="{28A0092B-C50C-407E-A947-70E740481C1C}">
                <a14:useLocalDpi xmlns="" xmlns:a14="http://schemas.microsoft.com/office/drawing/2010/main" val="0"/>
              </a:ext>
            </a:extLst>
          </a:blip>
          <a:srcRect/>
          <a:stretch>
            <a:fillRect/>
          </a:stretch>
        </p:blipFill>
        <p:spPr bwMode="auto">
          <a:xfrm>
            <a:off x="1116013" y="1773238"/>
            <a:ext cx="7129462" cy="4700587"/>
          </a:xfrm>
          <a:prstGeom prst="rect">
            <a:avLst/>
          </a:prstGeom>
          <a:noFill/>
          <a:extLst>
            <a:ext uri="{909E8E84-426E-40DD-AFC4-6F175D3DCCD1}">
              <a14:hiddenFill xmlns="" xmlns:a14="http://schemas.microsoft.com/office/drawing/2010/main">
                <a:solidFill>
                  <a:srgbClr val="FFFFFF"/>
                </a:solidFill>
              </a14:hiddenFill>
            </a:ext>
          </a:extLst>
        </p:spPr>
      </p:pic>
      <p:sp>
        <p:nvSpPr>
          <p:cNvPr id="547848"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sz="4000"/>
              <a:t>使用比特填充的首尾定界符法</a:t>
            </a:r>
          </a:p>
        </p:txBody>
      </p:sp>
      <p:sp>
        <p:nvSpPr>
          <p:cNvPr id="5447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数据成帧</a:t>
            </a:r>
            <a:endParaRPr lang="en-US" altLang="zh-CN" sz="1200">
              <a:ea typeface="幼圆" pitchFamily="49" charset="-122"/>
            </a:endParaRPr>
          </a:p>
        </p:txBody>
      </p:sp>
      <p:sp>
        <p:nvSpPr>
          <p:cNvPr id="544772" name="Rectangle 4"/>
          <p:cNvSpPr>
            <a:spLocks noGrp="1" noChangeArrowheads="1"/>
          </p:cNvSpPr>
          <p:nvPr>
            <p:ph type="body" idx="1"/>
          </p:nvPr>
        </p:nvSpPr>
        <p:spPr>
          <a:xfrm>
            <a:off x="809625" y="1773238"/>
            <a:ext cx="7958138" cy="4680097"/>
          </a:xfrm>
        </p:spPr>
        <p:txBody>
          <a:bodyPr/>
          <a:lstStyle/>
          <a:p>
            <a:pPr>
              <a:lnSpc>
                <a:spcPct val="125000"/>
              </a:lnSpc>
              <a:spcBef>
                <a:spcPts val="0"/>
              </a:spcBef>
            </a:pPr>
            <a:r>
              <a:rPr lang="zh-CN" altLang="en-US" sz="2400" dirty="0" smtClean="0">
                <a:solidFill>
                  <a:srgbClr val="FC0404"/>
                </a:solidFill>
              </a:rPr>
              <a:t>思想：</a:t>
            </a:r>
            <a:r>
              <a:rPr lang="zh-CN" altLang="en-US" sz="2400" dirty="0" smtClean="0"/>
              <a:t>采用</a:t>
            </a:r>
            <a:r>
              <a:rPr lang="zh-CN" altLang="en-US" sz="2400" dirty="0"/>
              <a:t>一特定的比特组合（例如：</a:t>
            </a:r>
            <a:r>
              <a:rPr lang="en-US" altLang="zh-CN" sz="2400" dirty="0">
                <a:solidFill>
                  <a:srgbClr val="0000FF"/>
                </a:solidFill>
              </a:rPr>
              <a:t>01111110</a:t>
            </a:r>
            <a:r>
              <a:rPr lang="zh-CN" altLang="en-US" sz="2400" dirty="0"/>
              <a:t>）来表示一帧的开始和结束。</a:t>
            </a:r>
          </a:p>
          <a:p>
            <a:pPr>
              <a:lnSpc>
                <a:spcPct val="125000"/>
              </a:lnSpc>
              <a:spcBef>
                <a:spcPts val="0"/>
              </a:spcBef>
            </a:pPr>
            <a:r>
              <a:rPr lang="zh-CN" altLang="en-US" sz="2400" dirty="0" smtClean="0">
                <a:solidFill>
                  <a:srgbClr val="FC0404"/>
                </a:solidFill>
              </a:rPr>
              <a:t>例子：</a:t>
            </a:r>
            <a:r>
              <a:rPr lang="en-US" altLang="zh-CN" sz="2400" dirty="0" smtClean="0">
                <a:solidFill>
                  <a:schemeClr val="tx1"/>
                </a:solidFill>
              </a:rPr>
              <a:t>HDLC</a:t>
            </a:r>
            <a:r>
              <a:rPr lang="zh-CN" altLang="en-US" sz="2400" dirty="0" smtClean="0">
                <a:solidFill>
                  <a:schemeClr val="tx1"/>
                </a:solidFill>
              </a:rPr>
              <a:t>（高级数据链路控制）协议</a:t>
            </a:r>
            <a:endParaRPr lang="en-US" altLang="zh-CN" sz="2400" dirty="0" smtClean="0">
              <a:solidFill>
                <a:schemeClr val="tx1"/>
              </a:solidFill>
            </a:endParaRPr>
          </a:p>
          <a:p>
            <a:pPr>
              <a:lnSpc>
                <a:spcPct val="125000"/>
              </a:lnSpc>
              <a:spcBef>
                <a:spcPts val="0"/>
              </a:spcBef>
            </a:pPr>
            <a:r>
              <a:rPr lang="zh-CN" altLang="en-US" sz="2400" dirty="0" smtClean="0">
                <a:solidFill>
                  <a:srgbClr val="FC0404"/>
                </a:solidFill>
              </a:rPr>
              <a:t>透明性传输：</a:t>
            </a:r>
            <a:r>
              <a:rPr lang="zh-CN" altLang="en-US" sz="2400" dirty="0" smtClean="0"/>
              <a:t>如果</a:t>
            </a:r>
            <a:r>
              <a:rPr lang="zh-CN" altLang="en-US" sz="2400" dirty="0"/>
              <a:t>传输的数据中出现用于定界的比特组合，会干扰传输，此时可采用“</a:t>
            </a:r>
            <a:r>
              <a:rPr lang="en-US" altLang="zh-CN" sz="2400" dirty="0">
                <a:solidFill>
                  <a:srgbClr val="0000FF"/>
                </a:solidFill>
              </a:rPr>
              <a:t>0</a:t>
            </a:r>
            <a:r>
              <a:rPr lang="zh-CN" altLang="en-US" sz="2400" dirty="0">
                <a:solidFill>
                  <a:srgbClr val="0000FF"/>
                </a:solidFill>
              </a:rPr>
              <a:t>比特插入</a:t>
            </a:r>
            <a:r>
              <a:rPr lang="en-US" altLang="zh-CN" sz="2400" dirty="0">
                <a:solidFill>
                  <a:srgbClr val="0000FF"/>
                </a:solidFill>
              </a:rPr>
              <a:t>/</a:t>
            </a:r>
            <a:r>
              <a:rPr lang="zh-CN" altLang="en-US" sz="2400" dirty="0">
                <a:solidFill>
                  <a:srgbClr val="0000FF"/>
                </a:solidFill>
              </a:rPr>
              <a:t>删除法</a:t>
            </a:r>
            <a:r>
              <a:rPr lang="zh-CN" altLang="en-US" sz="2400" dirty="0"/>
              <a:t>”实现数据的透明性传输。</a:t>
            </a:r>
          </a:p>
          <a:p>
            <a:pPr>
              <a:lnSpc>
                <a:spcPct val="125000"/>
              </a:lnSpc>
              <a:spcBef>
                <a:spcPts val="0"/>
              </a:spcBef>
            </a:pPr>
            <a:r>
              <a:rPr lang="zh-CN" altLang="en-US" sz="2400" dirty="0" smtClean="0">
                <a:solidFill>
                  <a:srgbClr val="FC0404"/>
                </a:solidFill>
              </a:rPr>
              <a:t>特点：</a:t>
            </a:r>
            <a:endParaRPr lang="en-US" altLang="zh-CN" sz="2400" dirty="0" smtClean="0">
              <a:solidFill>
                <a:srgbClr val="FC0404"/>
              </a:solidFill>
            </a:endParaRPr>
          </a:p>
          <a:p>
            <a:pPr lvl="1">
              <a:lnSpc>
                <a:spcPct val="125000"/>
              </a:lnSpc>
              <a:spcBef>
                <a:spcPts val="0"/>
              </a:spcBef>
            </a:pPr>
            <a:r>
              <a:rPr lang="zh-CN" altLang="en-US" sz="2400" dirty="0" smtClean="0"/>
              <a:t>协议</a:t>
            </a:r>
            <a:r>
              <a:rPr lang="zh-CN" altLang="en-US" sz="2400" dirty="0"/>
              <a:t>不依赖于任何一种字符编码集</a:t>
            </a:r>
            <a:r>
              <a:rPr lang="zh-CN" altLang="en-US" sz="2400" dirty="0" smtClean="0"/>
              <a:t>；</a:t>
            </a:r>
            <a:endParaRPr lang="en-US" altLang="zh-CN" sz="2400" dirty="0" smtClean="0"/>
          </a:p>
          <a:p>
            <a:pPr lvl="1">
              <a:lnSpc>
                <a:spcPct val="125000"/>
              </a:lnSpc>
              <a:spcBef>
                <a:spcPts val="0"/>
              </a:spcBef>
            </a:pPr>
            <a:r>
              <a:rPr lang="zh-CN" altLang="en-US" sz="2400" dirty="0" smtClean="0"/>
              <a:t>用于</a:t>
            </a:r>
            <a:r>
              <a:rPr lang="zh-CN" altLang="en-US" sz="2400" dirty="0"/>
              <a:t>实现数据的透明性传输的“</a:t>
            </a:r>
            <a:r>
              <a:rPr lang="en-US" altLang="zh-CN" sz="2400" dirty="0"/>
              <a:t>0</a:t>
            </a:r>
            <a:r>
              <a:rPr lang="zh-CN" altLang="en-US" sz="2400" dirty="0"/>
              <a:t>比特插入</a:t>
            </a:r>
            <a:r>
              <a:rPr lang="en-US" altLang="zh-CN" sz="2400" dirty="0"/>
              <a:t>/</a:t>
            </a:r>
            <a:r>
              <a:rPr lang="zh-CN" altLang="en-US" sz="2400" dirty="0"/>
              <a:t>删除法”易于硬件实现。</a:t>
            </a:r>
          </a:p>
        </p:txBody>
      </p:sp>
      <p:sp>
        <p:nvSpPr>
          <p:cNvPr id="54477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r>
              <a:rPr lang="zh-CN" altLang="en-US"/>
              <a:t>举  例</a:t>
            </a:r>
          </a:p>
        </p:txBody>
      </p:sp>
      <p:sp>
        <p:nvSpPr>
          <p:cNvPr id="548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数据成帧</a:t>
            </a:r>
            <a:endParaRPr lang="en-US" altLang="zh-CN" sz="1200">
              <a:ea typeface="幼圆" pitchFamily="49" charset="-122"/>
            </a:endParaRPr>
          </a:p>
        </p:txBody>
      </p:sp>
      <p:sp>
        <p:nvSpPr>
          <p:cNvPr id="54886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548871" name="Picture 7" descr="3-06"/>
          <p:cNvPicPr>
            <a:picLocks noChangeAspect="1" noChangeArrowheads="1"/>
          </p:cNvPicPr>
          <p:nvPr/>
        </p:nvPicPr>
        <p:blipFill>
          <a:blip r:embed="rId6" cstate="print">
            <a:clrChange>
              <a:clrFrom>
                <a:srgbClr val="FFFFFF"/>
              </a:clrFrom>
              <a:clrTo>
                <a:srgbClr val="FFFFFF">
                  <a:alpha val="0"/>
                </a:srgbClr>
              </a:clrTo>
            </a:clrChange>
            <a:lum bright="-24000"/>
            <a:extLst>
              <a:ext uri="{28A0092B-C50C-407E-A947-70E740481C1C}">
                <a14:useLocalDpi xmlns="" xmlns:a14="http://schemas.microsoft.com/office/drawing/2010/main" val="0"/>
              </a:ext>
            </a:extLst>
          </a:blip>
          <a:srcRect/>
          <a:stretch>
            <a:fillRect/>
          </a:stretch>
        </p:blipFill>
        <p:spPr bwMode="auto">
          <a:xfrm>
            <a:off x="755650" y="2349500"/>
            <a:ext cx="8207375" cy="3330575"/>
          </a:xfrm>
          <a:prstGeom prst="rect">
            <a:avLst/>
          </a:prstGeom>
          <a:noFill/>
          <a:extLst>
            <a:ext uri="{909E8E84-426E-40DD-AFC4-6F175D3DCCD1}">
              <a14:hiddenFill xmlns="" xmlns:a14="http://schemas.microsoft.com/office/drawing/2010/main">
                <a:solidFill>
                  <a:srgbClr val="FFFFFF"/>
                </a:solidFill>
              </a14:hiddenFill>
            </a:ext>
          </a:extLst>
        </p:spPr>
      </p:pic>
      <p:sp>
        <p:nvSpPr>
          <p:cNvPr id="548872" name="Text Box 8"/>
          <p:cNvSpPr txBox="1">
            <a:spLocks noChangeArrowheads="1"/>
          </p:cNvSpPr>
          <p:nvPr/>
        </p:nvSpPr>
        <p:spPr bwMode="auto">
          <a:xfrm>
            <a:off x="827088" y="1963688"/>
            <a:ext cx="3240087"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Pct val="100000"/>
              <a:buFontTx/>
              <a:buNone/>
            </a:pPr>
            <a:r>
              <a:rPr lang="en-US" altLang="zh-CN" sz="2400" b="1" dirty="0">
                <a:solidFill>
                  <a:srgbClr val="0000FF"/>
                </a:solidFill>
                <a:latin typeface="+mn-lt"/>
                <a:ea typeface="+mn-ea"/>
              </a:rPr>
              <a:t>(a) </a:t>
            </a:r>
            <a:r>
              <a:rPr lang="zh-CN" altLang="en-US" sz="2400" b="1" dirty="0">
                <a:solidFill>
                  <a:srgbClr val="0000FF"/>
                </a:solidFill>
                <a:latin typeface="+mn-lt"/>
                <a:ea typeface="+mn-ea"/>
              </a:rPr>
              <a:t>发送方的原始数据</a:t>
            </a:r>
          </a:p>
        </p:txBody>
      </p:sp>
      <p:sp>
        <p:nvSpPr>
          <p:cNvPr id="548873" name="Text Box 9"/>
          <p:cNvSpPr txBox="1">
            <a:spLocks noChangeArrowheads="1"/>
          </p:cNvSpPr>
          <p:nvPr/>
        </p:nvSpPr>
        <p:spPr bwMode="auto">
          <a:xfrm>
            <a:off x="827088" y="2971800"/>
            <a:ext cx="53276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Pct val="100000"/>
              <a:buFontTx/>
              <a:buNone/>
            </a:pPr>
            <a:r>
              <a:rPr lang="en-US" altLang="zh-CN" sz="2400" b="1" dirty="0">
                <a:solidFill>
                  <a:srgbClr val="0000FF"/>
                </a:solidFill>
                <a:latin typeface="+mn-lt"/>
                <a:ea typeface="+mn-ea"/>
              </a:rPr>
              <a:t>(b) </a:t>
            </a:r>
            <a:r>
              <a:rPr lang="zh-CN" altLang="en-US" sz="2400" b="1" dirty="0">
                <a:solidFill>
                  <a:srgbClr val="0000FF"/>
                </a:solidFill>
                <a:latin typeface="+mn-lt"/>
                <a:ea typeface="+mn-ea"/>
              </a:rPr>
              <a:t>信道上“</a:t>
            </a:r>
            <a:r>
              <a:rPr lang="en-US" altLang="zh-CN" sz="2400" b="1" dirty="0">
                <a:solidFill>
                  <a:srgbClr val="0000FF"/>
                </a:solidFill>
                <a:latin typeface="+mn-lt"/>
                <a:ea typeface="+mn-ea"/>
              </a:rPr>
              <a:t>0</a:t>
            </a:r>
            <a:r>
              <a:rPr lang="zh-CN" altLang="en-US" sz="2400" b="1" dirty="0">
                <a:solidFill>
                  <a:srgbClr val="0000FF"/>
                </a:solidFill>
                <a:latin typeface="+mn-lt"/>
                <a:ea typeface="+mn-ea"/>
              </a:rPr>
              <a:t>比特插入”后的数据</a:t>
            </a:r>
          </a:p>
        </p:txBody>
      </p:sp>
      <p:sp>
        <p:nvSpPr>
          <p:cNvPr id="548874" name="Text Box 10"/>
          <p:cNvSpPr txBox="1">
            <a:spLocks noChangeArrowheads="1"/>
          </p:cNvSpPr>
          <p:nvPr/>
        </p:nvSpPr>
        <p:spPr bwMode="auto">
          <a:xfrm>
            <a:off x="827088" y="4699992"/>
            <a:ext cx="48958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Pct val="100000"/>
              <a:buFontTx/>
              <a:buNone/>
            </a:pPr>
            <a:r>
              <a:rPr lang="en-US" altLang="zh-CN" sz="2400" b="1" dirty="0">
                <a:solidFill>
                  <a:srgbClr val="0000FF"/>
                </a:solidFill>
                <a:latin typeface="+mn-lt"/>
                <a:ea typeface="+mn-ea"/>
              </a:rPr>
              <a:t>(c) </a:t>
            </a:r>
            <a:r>
              <a:rPr lang="zh-CN" altLang="en-US" sz="2400" b="1" dirty="0">
                <a:solidFill>
                  <a:srgbClr val="0000FF"/>
                </a:solidFill>
                <a:latin typeface="+mn-lt"/>
                <a:ea typeface="+mn-ea"/>
              </a:rPr>
              <a:t>接收方“</a:t>
            </a:r>
            <a:r>
              <a:rPr lang="en-US" altLang="zh-CN" sz="2400" b="1" dirty="0">
                <a:solidFill>
                  <a:srgbClr val="0000FF"/>
                </a:solidFill>
                <a:latin typeface="+mn-lt"/>
                <a:ea typeface="+mn-ea"/>
              </a:rPr>
              <a:t>0</a:t>
            </a:r>
            <a:r>
              <a:rPr lang="zh-CN" altLang="en-US" sz="2400" b="1" dirty="0">
                <a:solidFill>
                  <a:srgbClr val="0000FF"/>
                </a:solidFill>
                <a:latin typeface="+mn-lt"/>
                <a:ea typeface="+mn-ea"/>
              </a:rPr>
              <a:t>比特删除”后的数据</a:t>
            </a:r>
          </a:p>
        </p:txBody>
      </p:sp>
      <p:sp>
        <p:nvSpPr>
          <p:cNvPr id="548875" name="Rectangle 11"/>
          <p:cNvSpPr>
            <a:spLocks noChangeArrowheads="1"/>
          </p:cNvSpPr>
          <p:nvPr/>
        </p:nvSpPr>
        <p:spPr bwMode="auto">
          <a:xfrm>
            <a:off x="3924300" y="3429000"/>
            <a:ext cx="288925" cy="503238"/>
          </a:xfrm>
          <a:prstGeom prst="rect">
            <a:avLst/>
          </a:prstGeom>
          <a:solidFill>
            <a:srgbClr val="993366">
              <a:alpha val="50999"/>
            </a:srgbClr>
          </a:solidFill>
          <a:ln>
            <a:noFill/>
          </a:ln>
          <a:effectLst/>
          <a:extLs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mn-ea"/>
            </a:endParaRPr>
          </a:p>
        </p:txBody>
      </p:sp>
      <p:sp>
        <p:nvSpPr>
          <p:cNvPr id="548876" name="Rectangle 12"/>
          <p:cNvSpPr>
            <a:spLocks noChangeArrowheads="1"/>
          </p:cNvSpPr>
          <p:nvPr/>
        </p:nvSpPr>
        <p:spPr bwMode="auto">
          <a:xfrm>
            <a:off x="5580063" y="3429000"/>
            <a:ext cx="288925" cy="503238"/>
          </a:xfrm>
          <a:prstGeom prst="rect">
            <a:avLst/>
          </a:prstGeom>
          <a:solidFill>
            <a:srgbClr val="800080">
              <a:alpha val="50999"/>
            </a:srgbClr>
          </a:solidFill>
          <a:ln>
            <a:noFill/>
          </a:ln>
          <a:effectLst/>
          <a:extLs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mn-ea"/>
            </a:endParaRPr>
          </a:p>
        </p:txBody>
      </p:sp>
      <p:sp>
        <p:nvSpPr>
          <p:cNvPr id="548877" name="Rectangle 13"/>
          <p:cNvSpPr>
            <a:spLocks noChangeArrowheads="1"/>
          </p:cNvSpPr>
          <p:nvPr/>
        </p:nvSpPr>
        <p:spPr bwMode="auto">
          <a:xfrm>
            <a:off x="7235825" y="3429000"/>
            <a:ext cx="288925" cy="503238"/>
          </a:xfrm>
          <a:prstGeom prst="rect">
            <a:avLst/>
          </a:prstGeom>
          <a:solidFill>
            <a:srgbClr val="800080">
              <a:alpha val="50999"/>
            </a:srgbClr>
          </a:solidFill>
          <a:ln>
            <a:noFill/>
          </a:ln>
          <a:effectLst/>
          <a:extLs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8872"/>
                                        </p:tgtEl>
                                        <p:attrNameLst>
                                          <p:attrName>style.visibility</p:attrName>
                                        </p:attrNameLst>
                                      </p:cBhvr>
                                      <p:to>
                                        <p:strVal val="visible"/>
                                      </p:to>
                                    </p:set>
                                    <p:animEffect transition="in" filter="dissolve">
                                      <p:cBhvr>
                                        <p:cTn id="7" dur="500"/>
                                        <p:tgtEl>
                                          <p:spTgt spid="5488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48873"/>
                                        </p:tgtEl>
                                        <p:attrNameLst>
                                          <p:attrName>style.visibility</p:attrName>
                                        </p:attrNameLst>
                                      </p:cBhvr>
                                      <p:to>
                                        <p:strVal val="visible"/>
                                      </p:to>
                                    </p:set>
                                    <p:animEffect transition="in" filter="dissolve">
                                      <p:cBhvr>
                                        <p:cTn id="12" dur="500"/>
                                        <p:tgtEl>
                                          <p:spTgt spid="5488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8875"/>
                                        </p:tgtEl>
                                        <p:attrNameLst>
                                          <p:attrName>style.visibility</p:attrName>
                                        </p:attrNameLst>
                                      </p:cBhvr>
                                      <p:to>
                                        <p:strVal val="visible"/>
                                      </p:to>
                                    </p:set>
                                    <p:animEffect transition="in" filter="dissolve">
                                      <p:cBhvr>
                                        <p:cTn id="17" dur="500"/>
                                        <p:tgtEl>
                                          <p:spTgt spid="548875"/>
                                        </p:tgtEl>
                                      </p:cBhvr>
                                    </p:animEffect>
                                  </p:childTnLst>
                                </p:cTn>
                              </p:par>
                            </p:childTnLst>
                          </p:cTn>
                        </p:par>
                        <p:par>
                          <p:cTn id="18" fill="hold" nodeType="afterGroup">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548876"/>
                                        </p:tgtEl>
                                        <p:attrNameLst>
                                          <p:attrName>style.visibility</p:attrName>
                                        </p:attrNameLst>
                                      </p:cBhvr>
                                      <p:to>
                                        <p:strVal val="visible"/>
                                      </p:to>
                                    </p:set>
                                    <p:animEffect transition="in" filter="dissolve">
                                      <p:cBhvr>
                                        <p:cTn id="21" dur="500"/>
                                        <p:tgtEl>
                                          <p:spTgt spid="548876"/>
                                        </p:tgtEl>
                                      </p:cBhvr>
                                    </p:animEffect>
                                  </p:childTnLst>
                                </p:cTn>
                              </p:par>
                            </p:childTnLst>
                          </p:cTn>
                        </p:par>
                        <p:par>
                          <p:cTn id="22" fill="hold" nodeType="afterGroup">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548877"/>
                                        </p:tgtEl>
                                        <p:attrNameLst>
                                          <p:attrName>style.visibility</p:attrName>
                                        </p:attrNameLst>
                                      </p:cBhvr>
                                      <p:to>
                                        <p:strVal val="visible"/>
                                      </p:to>
                                    </p:set>
                                    <p:animEffect transition="in" filter="dissolve">
                                      <p:cBhvr>
                                        <p:cTn id="25" dur="500"/>
                                        <p:tgtEl>
                                          <p:spTgt spid="54887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48874"/>
                                        </p:tgtEl>
                                        <p:attrNameLst>
                                          <p:attrName>style.visibility</p:attrName>
                                        </p:attrNameLst>
                                      </p:cBhvr>
                                      <p:to>
                                        <p:strVal val="visible"/>
                                      </p:to>
                                    </p:set>
                                    <p:animEffect transition="in" filter="dissolve">
                                      <p:cBhvr>
                                        <p:cTn id="30" dur="500"/>
                                        <p:tgtEl>
                                          <p:spTgt spid="548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72" grpId="0"/>
      <p:bldP spid="548873" grpId="0"/>
      <p:bldP spid="548874" grpId="0"/>
      <p:bldP spid="548875" grpId="0" animBg="1"/>
      <p:bldP spid="548876" grpId="0" animBg="1"/>
      <p:bldP spid="54887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ChangeArrowheads="1"/>
          </p:cNvSpPr>
          <p:nvPr>
            <p:ph type="title"/>
          </p:nvPr>
        </p:nvSpPr>
        <p:spPr/>
        <p:txBody>
          <a:bodyPr/>
          <a:lstStyle/>
          <a:p>
            <a:r>
              <a:rPr lang="zh-CN" altLang="en-US"/>
              <a:t>差错控制</a:t>
            </a:r>
          </a:p>
        </p:txBody>
      </p:sp>
      <p:sp>
        <p:nvSpPr>
          <p:cNvPr id="535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endParaRPr lang="en-US" altLang="zh-CN" sz="1200">
              <a:ea typeface="幼圆" pitchFamily="49" charset="-122"/>
            </a:endParaRPr>
          </a:p>
        </p:txBody>
      </p:sp>
      <p:sp>
        <p:nvSpPr>
          <p:cNvPr id="535557" name="Rectangle 5"/>
          <p:cNvSpPr>
            <a:spLocks noGrp="1" noChangeArrowheads="1"/>
          </p:cNvSpPr>
          <p:nvPr>
            <p:ph type="body" idx="1"/>
          </p:nvPr>
        </p:nvSpPr>
        <p:spPr>
          <a:xfrm>
            <a:off x="809625" y="1773238"/>
            <a:ext cx="7958138" cy="4679950"/>
          </a:xfrm>
        </p:spPr>
        <p:txBody>
          <a:bodyPr/>
          <a:lstStyle/>
          <a:p>
            <a:pPr>
              <a:lnSpc>
                <a:spcPct val="125000"/>
              </a:lnSpc>
            </a:pPr>
            <a:r>
              <a:rPr lang="zh-CN" altLang="en-US">
                <a:solidFill>
                  <a:srgbClr val="FC0404"/>
                </a:solidFill>
              </a:rPr>
              <a:t>目的</a:t>
            </a:r>
          </a:p>
          <a:p>
            <a:pPr lvl="1">
              <a:lnSpc>
                <a:spcPct val="125000"/>
              </a:lnSpc>
            </a:pPr>
            <a:r>
              <a:rPr lang="zh-CN" altLang="en-US"/>
              <a:t>在数据通信过程中能发现或纠正差错，将差错限制在尽可能小的允许范围内。</a:t>
            </a:r>
          </a:p>
          <a:p>
            <a:pPr>
              <a:lnSpc>
                <a:spcPct val="125000"/>
              </a:lnSpc>
            </a:pPr>
            <a:r>
              <a:rPr lang="zh-CN" altLang="en-US">
                <a:solidFill>
                  <a:srgbClr val="FC0404"/>
                </a:solidFill>
              </a:rPr>
              <a:t>内容</a:t>
            </a:r>
          </a:p>
          <a:p>
            <a:pPr lvl="1">
              <a:lnSpc>
                <a:spcPct val="125000"/>
              </a:lnSpc>
            </a:pPr>
            <a:r>
              <a:rPr lang="zh-CN" altLang="en-US">
                <a:hlinkClick r:id="rId5" action="ppaction://hlinksldjump"/>
              </a:rPr>
              <a:t>传输差错类型</a:t>
            </a:r>
            <a:endParaRPr lang="zh-CN" altLang="en-US"/>
          </a:p>
          <a:p>
            <a:pPr lvl="1">
              <a:lnSpc>
                <a:spcPct val="125000"/>
              </a:lnSpc>
            </a:pPr>
            <a:r>
              <a:rPr lang="zh-CN" altLang="en-US">
                <a:hlinkClick r:id="rId6" action="ppaction://hlinksldjump"/>
              </a:rPr>
              <a:t>差错控制编码</a:t>
            </a:r>
            <a:endParaRPr lang="zh-CN" altLang="en-US"/>
          </a:p>
          <a:p>
            <a:pPr lvl="1">
              <a:lnSpc>
                <a:spcPct val="125000"/>
              </a:lnSpc>
            </a:pPr>
            <a:r>
              <a:rPr lang="zh-CN" altLang="en-US">
                <a:hlinkClick r:id="rId7" action="ppaction://hlinksldjump"/>
              </a:rPr>
              <a:t>差错控制方法</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r>
              <a:rPr lang="zh-CN" altLang="en-US"/>
              <a:t>传输差错类型</a:t>
            </a:r>
          </a:p>
        </p:txBody>
      </p:sp>
      <p:sp>
        <p:nvSpPr>
          <p:cNvPr id="549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endParaRPr lang="en-US" altLang="zh-CN" sz="1200">
              <a:ea typeface="幼圆" pitchFamily="49" charset="-122"/>
            </a:endParaRPr>
          </a:p>
        </p:txBody>
      </p:sp>
      <p:sp>
        <p:nvSpPr>
          <p:cNvPr id="549893" name="Rectangle 5"/>
          <p:cNvSpPr>
            <a:spLocks noGrp="1" noChangeArrowheads="1"/>
          </p:cNvSpPr>
          <p:nvPr>
            <p:ph type="body" idx="1"/>
          </p:nvPr>
        </p:nvSpPr>
        <p:spPr>
          <a:xfrm>
            <a:off x="809625" y="1773238"/>
            <a:ext cx="7958138" cy="4679950"/>
          </a:xfrm>
        </p:spPr>
        <p:txBody>
          <a:bodyPr/>
          <a:lstStyle/>
          <a:p>
            <a:r>
              <a:rPr lang="zh-CN" altLang="en-US" dirty="0">
                <a:solidFill>
                  <a:srgbClr val="FC0404"/>
                </a:solidFill>
              </a:rPr>
              <a:t>随机错</a:t>
            </a:r>
          </a:p>
          <a:p>
            <a:pPr lvl="1"/>
            <a:r>
              <a:rPr lang="zh-CN" altLang="en-US" dirty="0">
                <a:solidFill>
                  <a:schemeClr val="tx2"/>
                </a:solidFill>
              </a:rPr>
              <a:t>定义</a:t>
            </a:r>
            <a:r>
              <a:rPr lang="zh-CN" altLang="en-US" dirty="0"/>
              <a:t>：由</a:t>
            </a:r>
            <a:r>
              <a:rPr lang="zh-CN" altLang="en-US" dirty="0">
                <a:solidFill>
                  <a:srgbClr val="0000FF"/>
                </a:solidFill>
              </a:rPr>
              <a:t>随机噪声</a:t>
            </a:r>
            <a:r>
              <a:rPr lang="zh-CN" altLang="en-US" dirty="0"/>
              <a:t>引起的；</a:t>
            </a:r>
          </a:p>
          <a:p>
            <a:pPr lvl="1"/>
            <a:r>
              <a:rPr lang="zh-CN" altLang="en-US" dirty="0">
                <a:solidFill>
                  <a:schemeClr val="tx2"/>
                </a:solidFill>
              </a:rPr>
              <a:t>特点</a:t>
            </a:r>
            <a:r>
              <a:rPr lang="zh-CN" altLang="en-US" dirty="0"/>
              <a:t>：差错是</a:t>
            </a:r>
            <a:r>
              <a:rPr lang="zh-CN" altLang="en-US" dirty="0">
                <a:solidFill>
                  <a:srgbClr val="0000FF"/>
                </a:solidFill>
              </a:rPr>
              <a:t>孤立</a:t>
            </a:r>
            <a:r>
              <a:rPr lang="zh-CN" altLang="en-US" dirty="0"/>
              <a:t>的。此类错误在计算机网络中是</a:t>
            </a:r>
            <a:r>
              <a:rPr lang="zh-CN" altLang="en-US" dirty="0">
                <a:solidFill>
                  <a:srgbClr val="0000FF"/>
                </a:solidFill>
              </a:rPr>
              <a:t>个别</a:t>
            </a:r>
            <a:r>
              <a:rPr lang="zh-CN" altLang="en-US" dirty="0"/>
              <a:t>的。</a:t>
            </a:r>
          </a:p>
          <a:p>
            <a:r>
              <a:rPr lang="zh-CN" altLang="en-US" dirty="0">
                <a:solidFill>
                  <a:srgbClr val="FC0404"/>
                </a:solidFill>
              </a:rPr>
              <a:t>突发错</a:t>
            </a:r>
          </a:p>
          <a:p>
            <a:pPr lvl="1"/>
            <a:r>
              <a:rPr lang="zh-CN" altLang="en-US" dirty="0">
                <a:solidFill>
                  <a:schemeClr val="tx2"/>
                </a:solidFill>
              </a:rPr>
              <a:t>定义</a:t>
            </a:r>
            <a:r>
              <a:rPr lang="zh-CN" altLang="en-US" dirty="0"/>
              <a:t>：由</a:t>
            </a:r>
            <a:r>
              <a:rPr lang="zh-CN" altLang="en-US" dirty="0">
                <a:solidFill>
                  <a:srgbClr val="0000FF"/>
                </a:solidFill>
              </a:rPr>
              <a:t>冲击噪声</a:t>
            </a:r>
            <a:r>
              <a:rPr lang="zh-CN" altLang="en-US" dirty="0"/>
              <a:t>引起的；</a:t>
            </a:r>
          </a:p>
          <a:p>
            <a:pPr lvl="1"/>
            <a:r>
              <a:rPr lang="zh-CN" altLang="en-US" dirty="0">
                <a:solidFill>
                  <a:schemeClr val="tx2"/>
                </a:solidFill>
              </a:rPr>
              <a:t>特点</a:t>
            </a:r>
            <a:r>
              <a:rPr lang="zh-CN" altLang="en-US" dirty="0"/>
              <a:t>：差错呈</a:t>
            </a:r>
            <a:r>
              <a:rPr lang="zh-CN" altLang="en-US" dirty="0">
                <a:solidFill>
                  <a:srgbClr val="0000FF"/>
                </a:solidFill>
              </a:rPr>
              <a:t>突发</a:t>
            </a:r>
            <a:r>
              <a:rPr lang="zh-CN" altLang="en-US" dirty="0"/>
              <a:t>状，影响一批连续的</a:t>
            </a:r>
            <a:r>
              <a:rPr lang="en-US" altLang="zh-CN" dirty="0"/>
              <a:t>bit</a:t>
            </a:r>
            <a:r>
              <a:rPr lang="zh-CN" altLang="en-US" dirty="0"/>
              <a:t>（突发长度）。此类错误在计算机网络中是</a:t>
            </a:r>
            <a:r>
              <a:rPr lang="zh-CN" altLang="en-US" dirty="0">
                <a:solidFill>
                  <a:srgbClr val="0000FF"/>
                </a:solidFill>
              </a:rPr>
              <a:t>主要</a:t>
            </a:r>
            <a:r>
              <a:rPr lang="zh-CN" altLang="en-US" dirty="0"/>
              <a:t>的。</a:t>
            </a:r>
          </a:p>
        </p:txBody>
      </p:sp>
      <p:sp>
        <p:nvSpPr>
          <p:cNvPr id="54989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p:txBody>
          <a:bodyPr/>
          <a:lstStyle/>
          <a:p>
            <a:r>
              <a:rPr lang="zh-CN" altLang="en-US"/>
              <a:t>突发长度</a:t>
            </a:r>
          </a:p>
        </p:txBody>
      </p:sp>
      <p:sp>
        <p:nvSpPr>
          <p:cNvPr id="550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endParaRPr lang="en-US" altLang="zh-CN" sz="1200">
              <a:ea typeface="幼圆" pitchFamily="49" charset="-122"/>
            </a:endParaRPr>
          </a:p>
        </p:txBody>
      </p:sp>
      <p:sp>
        <p:nvSpPr>
          <p:cNvPr id="550916" name="Rectangle 4"/>
          <p:cNvSpPr>
            <a:spLocks noGrp="1" noChangeArrowheads="1"/>
          </p:cNvSpPr>
          <p:nvPr>
            <p:ph type="body" idx="1"/>
          </p:nvPr>
        </p:nvSpPr>
        <p:spPr>
          <a:xfrm>
            <a:off x="827088" y="5157788"/>
            <a:ext cx="7958137" cy="1152525"/>
          </a:xfrm>
        </p:spPr>
        <p:txBody>
          <a:bodyPr/>
          <a:lstStyle/>
          <a:p>
            <a:pPr>
              <a:lnSpc>
                <a:spcPct val="120000"/>
              </a:lnSpc>
            </a:pPr>
            <a:r>
              <a:rPr lang="zh-CN" altLang="en-US" sz="2400"/>
              <a:t>例如：一次电火花（冲击噪声）持续时间为</a:t>
            </a:r>
            <a:r>
              <a:rPr lang="en-US" altLang="zh-CN" sz="2400"/>
              <a:t>100ms</a:t>
            </a:r>
            <a:r>
              <a:rPr lang="zh-CN" altLang="en-US" sz="2400"/>
              <a:t>，但对于</a:t>
            </a:r>
            <a:r>
              <a:rPr lang="en-US" altLang="zh-CN" sz="2400"/>
              <a:t>4800bps</a:t>
            </a:r>
            <a:r>
              <a:rPr lang="zh-CN" altLang="en-US" sz="2400"/>
              <a:t>的信道，会造成连续</a:t>
            </a:r>
            <a:r>
              <a:rPr lang="en-US" altLang="zh-CN" sz="2400"/>
              <a:t>480bit</a:t>
            </a:r>
            <a:r>
              <a:rPr lang="zh-CN" altLang="en-US" sz="2400"/>
              <a:t>的数据差错。</a:t>
            </a:r>
          </a:p>
        </p:txBody>
      </p:sp>
      <p:pic>
        <p:nvPicPr>
          <p:cNvPr id="550917" name="Picture 5"/>
          <p:cNvPicPr>
            <a:picLocks noChangeAspect="1" noChangeArrowheads="1"/>
          </p:cNvPicPr>
          <p:nvPr/>
        </p:nvPicPr>
        <p:blipFill>
          <a:blip r:embed="rId6" cstate="print">
            <a:clrChange>
              <a:clrFrom>
                <a:srgbClr val="FFFFFF"/>
              </a:clrFrom>
              <a:clrTo>
                <a:srgbClr val="FFFFFF">
                  <a:alpha val="0"/>
                </a:srgbClr>
              </a:clrTo>
            </a:clrChange>
            <a:lum bright="-42000"/>
            <a:extLst>
              <a:ext uri="{28A0092B-C50C-407E-A947-70E740481C1C}">
                <a14:useLocalDpi xmlns="" xmlns:a14="http://schemas.microsoft.com/office/drawing/2010/main" val="0"/>
              </a:ext>
            </a:extLst>
          </a:blip>
          <a:srcRect/>
          <a:stretch>
            <a:fillRect/>
          </a:stretch>
        </p:blipFill>
        <p:spPr bwMode="auto">
          <a:xfrm>
            <a:off x="1476375" y="1844675"/>
            <a:ext cx="6769100" cy="31226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50919"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r>
              <a:rPr lang="zh-CN" altLang="en-US"/>
              <a:t>差错控制编码</a:t>
            </a:r>
          </a:p>
        </p:txBody>
      </p:sp>
      <p:sp>
        <p:nvSpPr>
          <p:cNvPr id="551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endParaRPr lang="en-US" altLang="zh-CN" sz="1200">
              <a:ea typeface="幼圆" pitchFamily="49" charset="-122"/>
            </a:endParaRPr>
          </a:p>
        </p:txBody>
      </p:sp>
      <p:pic>
        <p:nvPicPr>
          <p:cNvPr id="551941" name="Picture 5"/>
          <p:cNvPicPr>
            <a:picLocks noChangeAspect="1" noChangeArrowheads="1"/>
          </p:cNvPicPr>
          <p:nvPr/>
        </p:nvPicPr>
        <p:blipFill>
          <a:blip r:embed="rId6" cstate="print">
            <a:clrChange>
              <a:clrFrom>
                <a:srgbClr val="FFFFFF"/>
              </a:clrFrom>
              <a:clrTo>
                <a:srgbClr val="FFFFFF">
                  <a:alpha val="0"/>
                </a:srgbClr>
              </a:clrTo>
            </a:clrChange>
            <a:lum bright="-30000"/>
            <a:extLst>
              <a:ext uri="{28A0092B-C50C-407E-A947-70E740481C1C}">
                <a14:useLocalDpi xmlns="" xmlns:a14="http://schemas.microsoft.com/office/drawing/2010/main" val="0"/>
              </a:ext>
            </a:extLst>
          </a:blip>
          <a:srcRect/>
          <a:stretch>
            <a:fillRect/>
          </a:stretch>
        </p:blipFill>
        <p:spPr bwMode="auto">
          <a:xfrm>
            <a:off x="755650" y="1916113"/>
            <a:ext cx="7993063" cy="41624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5194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p:txBody>
          <a:bodyPr/>
          <a:lstStyle/>
          <a:p>
            <a:r>
              <a:rPr lang="zh-CN" altLang="en-US"/>
              <a:t>编码分类</a:t>
            </a:r>
          </a:p>
        </p:txBody>
      </p:sp>
      <p:sp>
        <p:nvSpPr>
          <p:cNvPr id="552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endParaRPr lang="en-US" altLang="zh-CN" sz="1200">
              <a:ea typeface="幼圆" pitchFamily="49" charset="-122"/>
            </a:endParaRPr>
          </a:p>
        </p:txBody>
      </p:sp>
      <p:sp>
        <p:nvSpPr>
          <p:cNvPr id="552964" name="Rectangle 4"/>
          <p:cNvSpPr>
            <a:spLocks noGrp="1" noChangeArrowheads="1"/>
          </p:cNvSpPr>
          <p:nvPr>
            <p:ph type="body" idx="1"/>
          </p:nvPr>
        </p:nvSpPr>
        <p:spPr/>
        <p:txBody>
          <a:bodyPr/>
          <a:lstStyle/>
          <a:p>
            <a:pPr>
              <a:lnSpc>
                <a:spcPct val="120000"/>
              </a:lnSpc>
            </a:pPr>
            <a:r>
              <a:rPr lang="zh-CN" altLang="en-US" dirty="0">
                <a:solidFill>
                  <a:srgbClr val="FC0404"/>
                </a:solidFill>
              </a:rPr>
              <a:t>检错码</a:t>
            </a:r>
          </a:p>
          <a:p>
            <a:pPr lvl="1">
              <a:lnSpc>
                <a:spcPct val="120000"/>
              </a:lnSpc>
            </a:pPr>
            <a:r>
              <a:rPr lang="zh-CN" altLang="en-US" dirty="0"/>
              <a:t>能自动</a:t>
            </a:r>
            <a:r>
              <a:rPr lang="zh-CN" altLang="en-US" dirty="0">
                <a:solidFill>
                  <a:srgbClr val="0000FF"/>
                </a:solidFill>
              </a:rPr>
              <a:t>发现</a:t>
            </a:r>
            <a:r>
              <a:rPr lang="zh-CN" altLang="en-US" dirty="0"/>
              <a:t>差错的编码</a:t>
            </a:r>
          </a:p>
          <a:p>
            <a:pPr lvl="1">
              <a:lnSpc>
                <a:spcPct val="120000"/>
              </a:lnSpc>
            </a:pPr>
            <a:r>
              <a:rPr lang="zh-CN" altLang="en-US" dirty="0"/>
              <a:t>例：奇偶校验码</a:t>
            </a:r>
            <a:r>
              <a:rPr lang="zh-CN" altLang="en-US" dirty="0" smtClean="0"/>
              <a:t>、校验和、循环冗余码</a:t>
            </a:r>
            <a:r>
              <a:rPr lang="zh-CN" altLang="en-US" dirty="0"/>
              <a:t>等</a:t>
            </a:r>
          </a:p>
          <a:p>
            <a:pPr>
              <a:lnSpc>
                <a:spcPct val="120000"/>
              </a:lnSpc>
            </a:pPr>
            <a:r>
              <a:rPr lang="zh-CN" altLang="en-US" dirty="0">
                <a:solidFill>
                  <a:srgbClr val="FC0404"/>
                </a:solidFill>
              </a:rPr>
              <a:t>纠错码</a:t>
            </a:r>
          </a:p>
          <a:p>
            <a:pPr lvl="1">
              <a:lnSpc>
                <a:spcPct val="120000"/>
              </a:lnSpc>
            </a:pPr>
            <a:r>
              <a:rPr lang="zh-CN" altLang="en-US" dirty="0"/>
              <a:t>不仅能</a:t>
            </a:r>
            <a:r>
              <a:rPr lang="zh-CN" altLang="en-US" dirty="0">
                <a:solidFill>
                  <a:srgbClr val="0000FF"/>
                </a:solidFill>
              </a:rPr>
              <a:t>发现</a:t>
            </a:r>
            <a:r>
              <a:rPr lang="zh-CN" altLang="en-US" dirty="0"/>
              <a:t>差错，而且能自动</a:t>
            </a:r>
            <a:r>
              <a:rPr lang="zh-CN" altLang="en-US" dirty="0">
                <a:solidFill>
                  <a:srgbClr val="0000FF"/>
                </a:solidFill>
              </a:rPr>
              <a:t>纠正</a:t>
            </a:r>
            <a:r>
              <a:rPr lang="zh-CN" altLang="en-US" dirty="0"/>
              <a:t>差错的编码</a:t>
            </a:r>
          </a:p>
          <a:p>
            <a:pPr lvl="1">
              <a:lnSpc>
                <a:spcPct val="120000"/>
              </a:lnSpc>
            </a:pPr>
            <a:r>
              <a:rPr lang="zh-CN" altLang="en-US" dirty="0"/>
              <a:t>例：海</a:t>
            </a:r>
            <a:r>
              <a:rPr lang="zh-CN" altLang="en-US" dirty="0" smtClean="0"/>
              <a:t>明码、二进制卷积码等 </a:t>
            </a:r>
            <a:endParaRPr lang="zh-CN" altLang="en-US" dirty="0"/>
          </a:p>
        </p:txBody>
      </p:sp>
      <p:sp>
        <p:nvSpPr>
          <p:cNvPr id="5529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p:txBody>
          <a:bodyPr/>
          <a:lstStyle/>
          <a:p>
            <a:r>
              <a:rPr lang="zh-CN" altLang="en-US"/>
              <a:t>编码效率</a:t>
            </a:r>
          </a:p>
        </p:txBody>
      </p:sp>
      <p:sp>
        <p:nvSpPr>
          <p:cNvPr id="536581" name="Rectangle 5"/>
          <p:cNvSpPr>
            <a:spLocks noGrp="1" noChangeArrowheads="1"/>
          </p:cNvSpPr>
          <p:nvPr>
            <p:ph type="body" sz="half" idx="1"/>
          </p:nvPr>
        </p:nvSpPr>
        <p:spPr>
          <a:xfrm>
            <a:off x="827088" y="1916113"/>
            <a:ext cx="7939087" cy="2232025"/>
          </a:xfrm>
        </p:spPr>
        <p:txBody>
          <a:bodyPr/>
          <a:lstStyle/>
          <a:p>
            <a:pPr marL="0" indent="0">
              <a:lnSpc>
                <a:spcPct val="150000"/>
              </a:lnSpc>
              <a:buFont typeface="Wingdings" pitchFamily="2" charset="2"/>
              <a:buNone/>
            </a:pPr>
            <a:r>
              <a:rPr lang="zh-CN" altLang="en-US" sz="2800">
                <a:solidFill>
                  <a:srgbClr val="FC0404"/>
                </a:solidFill>
              </a:rPr>
              <a:t>       编码效率</a:t>
            </a:r>
            <a:r>
              <a:rPr lang="en-US" altLang="zh-CN" sz="2800"/>
              <a:t>R</a:t>
            </a:r>
            <a:r>
              <a:rPr lang="zh-CN" altLang="en-US" sz="2800"/>
              <a:t>是编码性能好坏衡量的一个重要参数，若</a:t>
            </a:r>
            <a:r>
              <a:rPr lang="zh-CN" altLang="en-US" sz="2800">
                <a:solidFill>
                  <a:srgbClr val="FC0404"/>
                </a:solidFill>
              </a:rPr>
              <a:t>码字</a:t>
            </a:r>
            <a:r>
              <a:rPr lang="zh-CN" altLang="en-US" sz="2800"/>
              <a:t>长</a:t>
            </a:r>
            <a:r>
              <a:rPr lang="en-US" altLang="zh-CN" sz="2800"/>
              <a:t>n</a:t>
            </a:r>
            <a:r>
              <a:rPr lang="zh-CN" altLang="en-US" sz="2800"/>
              <a:t>位，其中</a:t>
            </a:r>
            <a:r>
              <a:rPr lang="zh-CN" altLang="en-US" sz="2800">
                <a:solidFill>
                  <a:srgbClr val="FC0404"/>
                </a:solidFill>
              </a:rPr>
              <a:t>信息位</a:t>
            </a:r>
            <a:r>
              <a:rPr lang="zh-CN" altLang="en-US" sz="2800"/>
              <a:t>长</a:t>
            </a:r>
            <a:r>
              <a:rPr lang="en-US" altLang="zh-CN" sz="2800"/>
              <a:t>k</a:t>
            </a:r>
            <a:r>
              <a:rPr lang="zh-CN" altLang="en-US" sz="2800"/>
              <a:t>位，</a:t>
            </a:r>
            <a:r>
              <a:rPr lang="zh-CN" altLang="en-US" sz="2800">
                <a:solidFill>
                  <a:srgbClr val="FC0404"/>
                </a:solidFill>
              </a:rPr>
              <a:t>冗余位</a:t>
            </a:r>
            <a:r>
              <a:rPr lang="zh-CN" altLang="en-US" sz="2800"/>
              <a:t>长</a:t>
            </a:r>
            <a:r>
              <a:rPr lang="en-US" altLang="zh-CN" sz="2800"/>
              <a:t>r</a:t>
            </a:r>
            <a:r>
              <a:rPr lang="zh-CN" altLang="en-US" sz="2800"/>
              <a:t>位，则编码效率</a:t>
            </a:r>
            <a:r>
              <a:rPr lang="en-US" altLang="zh-CN" sz="2800"/>
              <a:t>R</a:t>
            </a:r>
            <a:r>
              <a:rPr lang="zh-CN" altLang="en-US" sz="2800"/>
              <a:t>为：</a:t>
            </a:r>
          </a:p>
        </p:txBody>
      </p:sp>
      <p:sp>
        <p:nvSpPr>
          <p:cNvPr id="53658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graphicFrame>
        <p:nvGraphicFramePr>
          <p:cNvPr id="536582" name="Object 6"/>
          <p:cNvGraphicFramePr>
            <a:graphicFrameLocks noGrp="1" noChangeAspect="1"/>
          </p:cNvGraphicFramePr>
          <p:nvPr>
            <p:ph sz="half" idx="2"/>
          </p:nvPr>
        </p:nvGraphicFramePr>
        <p:xfrm>
          <a:off x="3419475" y="4437063"/>
          <a:ext cx="2735263" cy="1193800"/>
        </p:xfrm>
        <a:graphic>
          <a:graphicData uri="http://schemas.openxmlformats.org/presentationml/2006/ole">
            <p:oleObj spid="_x0000_s536617" name="公式" r:id="rId4" imgW="901309" imgH="393529" progId="Equation.3">
              <p:embed/>
            </p:oleObj>
          </a:graphicData>
        </a:graphic>
      </p:graphicFrame>
      <p:sp>
        <p:nvSpPr>
          <p:cNvPr id="536584"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数据链路层功能</a:t>
            </a:r>
            <a:r>
              <a:rPr lang="en-US" altLang="zh-CN" sz="1200">
                <a:ea typeface="幼圆" pitchFamily="49" charset="-122"/>
              </a:rPr>
              <a:t>&gt;&gt;</a:t>
            </a:r>
            <a:r>
              <a:rPr lang="zh-CN" altLang="en-US" sz="1200">
                <a:ea typeface="幼圆" pitchFamily="49" charset="-122"/>
                <a:hlinkClick r:id="rId7" action="ppaction://hlinksldjump"/>
              </a:rPr>
              <a:t>差错控制</a:t>
            </a:r>
            <a:endParaRPr lang="en-US" altLang="zh-CN"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r>
              <a:rPr lang="zh-CN" altLang="en-US"/>
              <a:t>常用差错控制编码</a:t>
            </a:r>
          </a:p>
        </p:txBody>
      </p:sp>
      <p:sp>
        <p:nvSpPr>
          <p:cNvPr id="564233" name="Rectangle 9"/>
          <p:cNvSpPr>
            <a:spLocks noGrp="1" noChangeArrowheads="1"/>
          </p:cNvSpPr>
          <p:nvPr>
            <p:ph sz="half" idx="1"/>
          </p:nvPr>
        </p:nvSpPr>
        <p:spPr>
          <a:xfrm>
            <a:off x="809625" y="1773238"/>
            <a:ext cx="3402335" cy="4464050"/>
          </a:xfrm>
        </p:spPr>
        <p:txBody>
          <a:bodyPr/>
          <a:lstStyle/>
          <a:p>
            <a:pPr>
              <a:lnSpc>
                <a:spcPct val="150000"/>
              </a:lnSpc>
            </a:pPr>
            <a:r>
              <a:rPr lang="zh-CN" altLang="en-US" dirty="0">
                <a:solidFill>
                  <a:srgbClr val="FC0404"/>
                </a:solidFill>
              </a:rPr>
              <a:t>检错码</a:t>
            </a:r>
            <a:r>
              <a:rPr lang="zh-CN" altLang="en-US" dirty="0"/>
              <a:t> </a:t>
            </a:r>
          </a:p>
          <a:p>
            <a:pPr lvl="1">
              <a:lnSpc>
                <a:spcPct val="150000"/>
              </a:lnSpc>
            </a:pPr>
            <a:r>
              <a:rPr lang="zh-CN" altLang="en-US" sz="3200" dirty="0" smtClean="0">
                <a:hlinkClick r:id="rId3" action="ppaction://hlinksldjump"/>
              </a:rPr>
              <a:t>奇偶校验码</a:t>
            </a:r>
            <a:endParaRPr lang="en-US" altLang="zh-CN" sz="3200" dirty="0" smtClean="0"/>
          </a:p>
          <a:p>
            <a:pPr lvl="1">
              <a:lnSpc>
                <a:spcPct val="150000"/>
              </a:lnSpc>
            </a:pPr>
            <a:r>
              <a:rPr lang="zh-CN" altLang="en-US" sz="3200" dirty="0"/>
              <a:t>校验和</a:t>
            </a:r>
          </a:p>
          <a:p>
            <a:pPr lvl="1">
              <a:lnSpc>
                <a:spcPct val="150000"/>
              </a:lnSpc>
            </a:pPr>
            <a:r>
              <a:rPr lang="zh-CN" altLang="en-US" sz="3200" dirty="0" smtClean="0">
                <a:hlinkClick r:id="rId4" action="ppaction://hlinksldjump"/>
              </a:rPr>
              <a:t>循环冗余码</a:t>
            </a:r>
            <a:endParaRPr lang="zh-CN" altLang="en-US" sz="3200" dirty="0"/>
          </a:p>
        </p:txBody>
      </p:sp>
      <p:sp>
        <p:nvSpPr>
          <p:cNvPr id="2" name="内容占位符 1"/>
          <p:cNvSpPr>
            <a:spLocks noGrp="1"/>
          </p:cNvSpPr>
          <p:nvPr>
            <p:ph sz="half" idx="2"/>
          </p:nvPr>
        </p:nvSpPr>
        <p:spPr>
          <a:xfrm>
            <a:off x="4283968" y="1773238"/>
            <a:ext cx="4483795" cy="4464050"/>
          </a:xfrm>
        </p:spPr>
        <p:txBody>
          <a:bodyPr/>
          <a:lstStyle/>
          <a:p>
            <a:pPr>
              <a:lnSpc>
                <a:spcPct val="150000"/>
              </a:lnSpc>
            </a:pPr>
            <a:r>
              <a:rPr lang="zh-CN" altLang="en-US" dirty="0">
                <a:solidFill>
                  <a:srgbClr val="FC0404"/>
                </a:solidFill>
              </a:rPr>
              <a:t>纠错码</a:t>
            </a:r>
            <a:r>
              <a:rPr lang="zh-CN" altLang="en-US" dirty="0"/>
              <a:t> </a:t>
            </a:r>
          </a:p>
          <a:p>
            <a:pPr lvl="1">
              <a:lnSpc>
                <a:spcPct val="150000"/>
              </a:lnSpc>
            </a:pPr>
            <a:r>
              <a:rPr lang="zh-CN" altLang="en-US" sz="3200" dirty="0">
                <a:hlinkClick r:id="rId5" action="ppaction://hlinksldjump"/>
              </a:rPr>
              <a:t>海</a:t>
            </a:r>
            <a:r>
              <a:rPr lang="zh-CN" altLang="en-US" sz="3200" dirty="0" smtClean="0">
                <a:hlinkClick r:id="rId5" action="ppaction://hlinksldjump"/>
              </a:rPr>
              <a:t>明码</a:t>
            </a:r>
            <a:endParaRPr lang="en-US" altLang="zh-CN" sz="3200" dirty="0" smtClean="0"/>
          </a:p>
          <a:p>
            <a:pPr lvl="1">
              <a:lnSpc>
                <a:spcPct val="150000"/>
              </a:lnSpc>
            </a:pPr>
            <a:r>
              <a:rPr lang="zh-CN" altLang="en-US" sz="3200" dirty="0" smtClean="0"/>
              <a:t>二进制卷积码</a:t>
            </a:r>
            <a:endParaRPr lang="en-US" altLang="zh-CN" sz="3200" dirty="0" smtClean="0"/>
          </a:p>
          <a:p>
            <a:pPr lvl="1">
              <a:lnSpc>
                <a:spcPct val="150000"/>
              </a:lnSpc>
            </a:pPr>
            <a:r>
              <a:rPr lang="zh-CN" altLang="en-US" sz="3200" dirty="0" smtClean="0"/>
              <a:t>里德所罗门码</a:t>
            </a:r>
            <a:endParaRPr lang="en-US" altLang="zh-CN" sz="3200" dirty="0" smtClean="0"/>
          </a:p>
          <a:p>
            <a:pPr lvl="1">
              <a:lnSpc>
                <a:spcPct val="150000"/>
              </a:lnSpc>
            </a:pPr>
            <a:r>
              <a:rPr lang="zh-CN" altLang="en-US" sz="3200" dirty="0"/>
              <a:t>低</a:t>
            </a:r>
            <a:r>
              <a:rPr lang="zh-CN" altLang="en-US" sz="3200" dirty="0" smtClean="0"/>
              <a:t>密度奇偶校验码</a:t>
            </a:r>
            <a:endParaRPr lang="zh-CN" altLang="en-US" sz="3200" dirty="0"/>
          </a:p>
        </p:txBody>
      </p:sp>
      <p:sp>
        <p:nvSpPr>
          <p:cNvPr id="56422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564230"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r>
              <a:rPr lang="en-US" altLang="zh-CN" sz="1200">
                <a:ea typeface="幼圆" pitchFamily="49" charset="-122"/>
              </a:rPr>
              <a:t>&gt;&gt;</a:t>
            </a:r>
            <a:r>
              <a:rPr lang="zh-CN" altLang="en-US" sz="1200">
                <a:ea typeface="幼圆" pitchFamily="49" charset="-122"/>
                <a:hlinkClick r:id="rId7" action="ppaction://hlinksldjump"/>
              </a:rPr>
              <a:t>数据链路层功能</a:t>
            </a:r>
            <a:r>
              <a:rPr lang="en-US" altLang="zh-CN" sz="1200">
                <a:ea typeface="幼圆" pitchFamily="49" charset="-122"/>
              </a:rPr>
              <a:t>&gt;&gt;</a:t>
            </a:r>
            <a:r>
              <a:rPr lang="zh-CN" altLang="en-US" sz="1200">
                <a:ea typeface="幼圆" pitchFamily="49" charset="-122"/>
                <a:hlinkClick r:id="rId8" action="ppaction://hlinksldjump"/>
              </a:rPr>
              <a:t>差错控制</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p:txBody>
          <a:bodyPr/>
          <a:lstStyle/>
          <a:p>
            <a:r>
              <a:rPr lang="zh-CN" altLang="en-US"/>
              <a:t>奇偶校验码</a:t>
            </a:r>
          </a:p>
        </p:txBody>
      </p:sp>
      <p:sp>
        <p:nvSpPr>
          <p:cNvPr id="5662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566277"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endParaRPr lang="en-US" altLang="zh-CN" sz="1200">
              <a:ea typeface="幼圆" pitchFamily="49" charset="-122"/>
            </a:endParaRPr>
          </a:p>
        </p:txBody>
      </p:sp>
      <p:sp>
        <p:nvSpPr>
          <p:cNvPr id="566278" name="Rectangle 6"/>
          <p:cNvSpPr>
            <a:spLocks noGrp="1" noChangeArrowheads="1"/>
          </p:cNvSpPr>
          <p:nvPr>
            <p:ph type="body" idx="1"/>
          </p:nvPr>
        </p:nvSpPr>
        <p:spPr/>
        <p:txBody>
          <a:bodyPr/>
          <a:lstStyle/>
          <a:p>
            <a:pPr>
              <a:lnSpc>
                <a:spcPct val="120000"/>
              </a:lnSpc>
            </a:pPr>
            <a:r>
              <a:rPr lang="zh-CN" altLang="en-US" sz="2800" dirty="0">
                <a:solidFill>
                  <a:srgbClr val="FC0404"/>
                </a:solidFill>
              </a:rPr>
              <a:t>编码原理</a:t>
            </a:r>
          </a:p>
          <a:p>
            <a:pPr lvl="1">
              <a:lnSpc>
                <a:spcPct val="120000"/>
              </a:lnSpc>
            </a:pPr>
            <a:r>
              <a:rPr lang="zh-CN" altLang="en-US" dirty="0"/>
              <a:t>通过增加冗余位来使得码字中“</a:t>
            </a:r>
            <a:r>
              <a:rPr lang="en-US" altLang="zh-CN" dirty="0"/>
              <a:t>1”</a:t>
            </a:r>
            <a:r>
              <a:rPr lang="zh-CN" altLang="en-US" dirty="0"/>
              <a:t>的个数保持为</a:t>
            </a:r>
            <a:r>
              <a:rPr lang="zh-CN" altLang="en-US" dirty="0">
                <a:solidFill>
                  <a:srgbClr val="0000FF"/>
                </a:solidFill>
              </a:rPr>
              <a:t>奇数</a:t>
            </a:r>
            <a:r>
              <a:rPr lang="zh-CN" altLang="en-US" dirty="0"/>
              <a:t>（</a:t>
            </a:r>
            <a:r>
              <a:rPr lang="zh-CN" altLang="en-US" dirty="0">
                <a:solidFill>
                  <a:srgbClr val="0000FF"/>
                </a:solidFill>
              </a:rPr>
              <a:t>奇校验</a:t>
            </a:r>
            <a:r>
              <a:rPr lang="zh-CN" altLang="en-US" dirty="0"/>
              <a:t>）或</a:t>
            </a:r>
            <a:r>
              <a:rPr lang="zh-CN" altLang="en-US" dirty="0">
                <a:solidFill>
                  <a:srgbClr val="0000FF"/>
                </a:solidFill>
              </a:rPr>
              <a:t>偶数</a:t>
            </a:r>
            <a:r>
              <a:rPr lang="zh-CN" altLang="en-US" dirty="0"/>
              <a:t>（</a:t>
            </a:r>
            <a:r>
              <a:rPr lang="zh-CN" altLang="en-US" dirty="0">
                <a:solidFill>
                  <a:srgbClr val="0000FF"/>
                </a:solidFill>
              </a:rPr>
              <a:t>偶校验</a:t>
            </a:r>
            <a:r>
              <a:rPr lang="zh-CN" altLang="en-US" dirty="0"/>
              <a:t>）。例如，偶校验：</a:t>
            </a:r>
            <a:r>
              <a:rPr lang="en-US" altLang="zh-CN" dirty="0"/>
              <a:t>11010100</a:t>
            </a:r>
            <a:r>
              <a:rPr lang="en-US" altLang="zh-CN" dirty="0">
                <a:solidFill>
                  <a:srgbClr val="0000FF"/>
                </a:solidFill>
              </a:rPr>
              <a:t>0</a:t>
            </a:r>
            <a:r>
              <a:rPr lang="zh-CN" altLang="en-US" dirty="0"/>
              <a:t>、</a:t>
            </a:r>
            <a:r>
              <a:rPr lang="en-US" altLang="zh-CN" dirty="0"/>
              <a:t>01101101</a:t>
            </a:r>
            <a:r>
              <a:rPr lang="en-US" altLang="zh-CN" dirty="0">
                <a:solidFill>
                  <a:srgbClr val="0000FF"/>
                </a:solidFill>
              </a:rPr>
              <a:t>1</a:t>
            </a:r>
            <a:r>
              <a:rPr lang="zh-CN" altLang="en-US" dirty="0"/>
              <a:t>。</a:t>
            </a:r>
          </a:p>
          <a:p>
            <a:pPr>
              <a:lnSpc>
                <a:spcPct val="120000"/>
              </a:lnSpc>
            </a:pPr>
            <a:r>
              <a:rPr lang="zh-CN" altLang="en-US" sz="2800" dirty="0">
                <a:solidFill>
                  <a:srgbClr val="FC0404"/>
                </a:solidFill>
              </a:rPr>
              <a:t>检错能力</a:t>
            </a:r>
          </a:p>
          <a:p>
            <a:pPr lvl="1">
              <a:lnSpc>
                <a:spcPct val="120000"/>
              </a:lnSpc>
            </a:pPr>
            <a:r>
              <a:rPr lang="zh-CN" altLang="en-US" dirty="0"/>
              <a:t>能检测出所有单比特错，但突发错漏检率约为</a:t>
            </a:r>
            <a:r>
              <a:rPr lang="en-US" altLang="zh-CN" dirty="0"/>
              <a:t>50%</a:t>
            </a:r>
            <a:r>
              <a:rPr lang="zh-CN" altLang="en-US" dirty="0"/>
              <a:t>（只能检测出所有奇数个错）。</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92" name="Rectangle 24"/>
          <p:cNvSpPr>
            <a:spLocks noChangeArrowheads="1"/>
          </p:cNvSpPr>
          <p:nvPr/>
        </p:nvSpPr>
        <p:spPr bwMode="auto">
          <a:xfrm>
            <a:off x="6300788" y="1773238"/>
            <a:ext cx="2519362" cy="2592387"/>
          </a:xfrm>
          <a:prstGeom prst="rect">
            <a:avLst/>
          </a:prstGeom>
          <a:solidFill>
            <a:srgbClr val="CCFFCC"/>
          </a:solidFill>
          <a:ln w="28575">
            <a:solidFill>
              <a:schemeClr val="tx1"/>
            </a:solidFill>
            <a:miter lim="800000"/>
            <a:headEnd/>
            <a:tailEnd/>
          </a:ln>
          <a:effectLst>
            <a:outerShdw dist="107763" dir="2700000" algn="ctr" rotWithShape="0">
              <a:srgbClr val="00002E">
                <a:alpha val="50000"/>
              </a:srgbClr>
            </a:outerShdw>
          </a:effectLst>
        </p:spPr>
        <p:txBody>
          <a:bodyPr lIns="90000" tIns="46800" rIns="90000" bIns="46800" anchor="ctr">
            <a:spAutoFit/>
          </a:bodyPr>
          <a:lstStyle/>
          <a:p>
            <a:endParaRPr lang="zh-CN" altLang="en-US"/>
          </a:p>
        </p:txBody>
      </p:sp>
      <p:sp>
        <p:nvSpPr>
          <p:cNvPr id="570370" name="Rectangle 2"/>
          <p:cNvSpPr>
            <a:spLocks noGrp="1" noChangeArrowheads="1"/>
          </p:cNvSpPr>
          <p:nvPr>
            <p:ph type="title"/>
          </p:nvPr>
        </p:nvSpPr>
        <p:spPr/>
        <p:txBody>
          <a:bodyPr/>
          <a:lstStyle/>
          <a:p>
            <a:pPr>
              <a:lnSpc>
                <a:spcPct val="90000"/>
              </a:lnSpc>
            </a:pPr>
            <a:r>
              <a:rPr lang="zh-CN" altLang="en-US"/>
              <a:t>循环冗余码</a:t>
            </a:r>
            <a:br>
              <a:rPr lang="zh-CN" altLang="en-US"/>
            </a:br>
            <a:r>
              <a:rPr lang="zh-CN" altLang="en-US" sz="2800">
                <a:latin typeface="楷体_GB2312" pitchFamily="49" charset="-122"/>
                <a:ea typeface="楷体_GB2312" pitchFamily="49" charset="-122"/>
              </a:rPr>
              <a:t>（</a:t>
            </a:r>
            <a:r>
              <a:rPr lang="en-US" altLang="zh-CN" sz="2800">
                <a:latin typeface="华文新魏" pitchFamily="2" charset="-122"/>
                <a:ea typeface="华文新魏" pitchFamily="2" charset="-122"/>
              </a:rPr>
              <a:t>CRC</a:t>
            </a:r>
            <a:r>
              <a:rPr lang="zh-CN" altLang="en-US" sz="2800">
                <a:latin typeface="楷体_GB2312" pitchFamily="49" charset="-122"/>
                <a:ea typeface="楷体_GB2312" pitchFamily="49" charset="-122"/>
              </a:rPr>
              <a:t>）</a:t>
            </a:r>
          </a:p>
        </p:txBody>
      </p:sp>
      <p:sp>
        <p:nvSpPr>
          <p:cNvPr id="570371"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5703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endParaRPr lang="en-US" altLang="zh-CN" sz="1200">
              <a:ea typeface="幼圆" pitchFamily="49" charset="-122"/>
            </a:endParaRPr>
          </a:p>
        </p:txBody>
      </p:sp>
      <p:sp>
        <p:nvSpPr>
          <p:cNvPr id="570374" name="Rectangle 6"/>
          <p:cNvSpPr>
            <a:spLocks noGrp="1" noChangeArrowheads="1"/>
          </p:cNvSpPr>
          <p:nvPr>
            <p:ph type="body" sz="half" idx="1"/>
          </p:nvPr>
        </p:nvSpPr>
        <p:spPr>
          <a:xfrm>
            <a:off x="684213" y="4581525"/>
            <a:ext cx="3919537" cy="1730375"/>
          </a:xfrm>
          <a:noFill/>
          <a:ln/>
        </p:spPr>
        <p:txBody>
          <a:bodyPr/>
          <a:lstStyle/>
          <a:p>
            <a:pPr>
              <a:lnSpc>
                <a:spcPct val="120000"/>
              </a:lnSpc>
            </a:pPr>
            <a:r>
              <a:rPr lang="zh-CN" altLang="en-US" sz="2400">
                <a:solidFill>
                  <a:srgbClr val="FF0000"/>
                </a:solidFill>
              </a:rPr>
              <a:t>接收端</a:t>
            </a:r>
          </a:p>
          <a:p>
            <a:pPr lvl="1">
              <a:lnSpc>
                <a:spcPct val="120000"/>
              </a:lnSpc>
            </a:pPr>
            <a:r>
              <a:rPr lang="zh-CN" altLang="en-US" sz="2000"/>
              <a:t>将收到的码字除以生成多项式，如果余数为</a:t>
            </a:r>
            <a:r>
              <a:rPr lang="en-US" altLang="zh-CN" sz="2000"/>
              <a:t>0</a:t>
            </a:r>
            <a:r>
              <a:rPr lang="zh-CN" altLang="en-US" sz="2000"/>
              <a:t>，则正确接收，否则拒绝接收。</a:t>
            </a:r>
          </a:p>
        </p:txBody>
      </p:sp>
      <p:sp>
        <p:nvSpPr>
          <p:cNvPr id="570375" name="Rectangle 7"/>
          <p:cNvSpPr>
            <a:spLocks noChangeArrowheads="1"/>
          </p:cNvSpPr>
          <p:nvPr/>
        </p:nvSpPr>
        <p:spPr bwMode="auto">
          <a:xfrm>
            <a:off x="4716463" y="4581525"/>
            <a:ext cx="4064000" cy="1730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lvl1pPr marL="444500" indent="-444500">
              <a:buClr>
                <a:srgbClr val="000000"/>
              </a:buClr>
              <a:buChar char="@"/>
              <a:defRPr kumimoji="1" sz="2800" b="1">
                <a:solidFill>
                  <a:srgbClr val="000000"/>
                </a:solidFill>
                <a:latin typeface="Arial" charset="0"/>
                <a:ea typeface="华文楷体" pitchFamily="2" charset="-122"/>
              </a:defRPr>
            </a:lvl1pPr>
            <a:lvl2pPr marL="909638" indent="-285750">
              <a:buSzPct val="55000"/>
              <a:buBlip>
                <a:blip r:embed="rId7"/>
              </a:buBlip>
              <a:defRPr kumimoji="1" sz="2400" b="1">
                <a:solidFill>
                  <a:srgbClr val="000000"/>
                </a:solidFill>
                <a:latin typeface="Arial" charset="0"/>
                <a:ea typeface="华文楷体" pitchFamily="2" charset="-122"/>
              </a:defRPr>
            </a:lvl2pPr>
            <a:lvl3pPr marL="1317625" indent="-228600">
              <a:buSzPct val="65000"/>
              <a:buBlip>
                <a:blip r:embed="rId8"/>
              </a:buBlip>
              <a:defRPr kumimoji="1" sz="2000" b="1">
                <a:solidFill>
                  <a:srgbClr val="000000"/>
                </a:solidFill>
                <a:latin typeface="Arial" charset="0"/>
                <a:ea typeface="华文楷体" pitchFamily="2" charset="-122"/>
              </a:defRPr>
            </a:lvl3pPr>
            <a:lvl4pPr marL="1725613" indent="-228600">
              <a:buSzPct val="85000"/>
              <a:buChar char="w"/>
              <a:defRPr kumimoji="1" b="1">
                <a:solidFill>
                  <a:srgbClr val="000000"/>
                </a:solidFill>
                <a:latin typeface="Arial" charset="0"/>
                <a:ea typeface="华文楷体" pitchFamily="2" charset="-122"/>
              </a:defRPr>
            </a:lvl4pPr>
            <a:lvl5pPr marL="2159000" indent="-228600">
              <a:buSzPct val="80000"/>
              <a:buChar char="§"/>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charset="0"/>
                <a:ea typeface="华文楷体" pitchFamily="2" charset="-122"/>
              </a:defRPr>
            </a:lvl9pPr>
          </a:lstStyle>
          <a:p>
            <a:r>
              <a:rPr lang="zh-CN" altLang="en-US" sz="2400">
                <a:solidFill>
                  <a:srgbClr val="FF0000"/>
                </a:solidFill>
                <a:latin typeface="+mn-lt"/>
                <a:ea typeface="+mn-ea"/>
              </a:rPr>
              <a:t>发送端</a:t>
            </a:r>
          </a:p>
          <a:p>
            <a:pPr lvl="1"/>
            <a:r>
              <a:rPr lang="zh-CN" altLang="en-US" sz="2000">
                <a:latin typeface="+mn-lt"/>
                <a:ea typeface="+mn-ea"/>
              </a:rPr>
              <a:t>先在信息位后添加</a:t>
            </a:r>
            <a:r>
              <a:rPr lang="en-US" altLang="zh-CN" sz="2000">
                <a:latin typeface="+mn-lt"/>
                <a:ea typeface="+mn-ea"/>
              </a:rPr>
              <a:t>r</a:t>
            </a:r>
            <a:r>
              <a:rPr lang="zh-CN" altLang="en-US" sz="2000">
                <a:latin typeface="+mn-lt"/>
                <a:ea typeface="+mn-ea"/>
              </a:rPr>
              <a:t>个</a:t>
            </a:r>
            <a:r>
              <a:rPr lang="en-US" altLang="zh-CN" sz="2000">
                <a:latin typeface="+mn-lt"/>
                <a:ea typeface="+mn-ea"/>
              </a:rPr>
              <a:t>0</a:t>
            </a:r>
            <a:r>
              <a:rPr lang="zh-CN" altLang="en-US" sz="2000">
                <a:latin typeface="+mn-lt"/>
                <a:ea typeface="+mn-ea"/>
              </a:rPr>
              <a:t>，然后除以生成多项式，最后将得到的余数替代</a:t>
            </a:r>
            <a:r>
              <a:rPr lang="en-US" altLang="zh-CN" sz="2000">
                <a:latin typeface="+mn-lt"/>
                <a:ea typeface="+mn-ea"/>
              </a:rPr>
              <a:t>r</a:t>
            </a:r>
            <a:r>
              <a:rPr lang="zh-CN" altLang="en-US" sz="2000">
                <a:latin typeface="+mn-lt"/>
                <a:ea typeface="+mn-ea"/>
              </a:rPr>
              <a:t>个</a:t>
            </a:r>
            <a:r>
              <a:rPr lang="en-US" altLang="zh-CN" sz="2000">
                <a:latin typeface="+mn-lt"/>
                <a:ea typeface="+mn-ea"/>
              </a:rPr>
              <a:t>0</a:t>
            </a:r>
            <a:r>
              <a:rPr lang="zh-CN" altLang="en-US" sz="2000">
                <a:latin typeface="+mn-lt"/>
                <a:ea typeface="+mn-ea"/>
              </a:rPr>
              <a:t>形成码字进行传输。</a:t>
            </a:r>
          </a:p>
        </p:txBody>
      </p:sp>
      <p:grpSp>
        <p:nvGrpSpPr>
          <p:cNvPr id="570410" name="Group 42"/>
          <p:cNvGrpSpPr>
            <a:grpSpLocks/>
          </p:cNvGrpSpPr>
          <p:nvPr/>
        </p:nvGrpSpPr>
        <p:grpSpPr bwMode="auto">
          <a:xfrm>
            <a:off x="6445250" y="1773238"/>
            <a:ext cx="1474788" cy="898525"/>
            <a:chOff x="4060" y="1117"/>
            <a:chExt cx="929" cy="566"/>
          </a:xfrm>
        </p:grpSpPr>
        <p:sp>
          <p:nvSpPr>
            <p:cNvPr id="570377" name="Rectangle 9"/>
            <p:cNvSpPr>
              <a:spLocks noChangeArrowheads="1"/>
            </p:cNvSpPr>
            <p:nvPr/>
          </p:nvSpPr>
          <p:spPr bwMode="auto">
            <a:xfrm>
              <a:off x="4060" y="1479"/>
              <a:ext cx="929" cy="204"/>
            </a:xfrm>
            <a:prstGeom prst="rect">
              <a:avLst/>
            </a:prstGeom>
            <a:solidFill>
              <a:schemeClr val="accent1"/>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1400" b="1">
                  <a:latin typeface="Arial" charset="0"/>
                  <a:ea typeface="楷体_GB2312" pitchFamily="49" charset="-122"/>
                </a:rPr>
                <a:t>Data</a:t>
              </a:r>
            </a:p>
          </p:txBody>
        </p:sp>
        <p:sp>
          <p:nvSpPr>
            <p:cNvPr id="570379" name="Rectangle 11"/>
            <p:cNvSpPr>
              <a:spLocks noChangeArrowheads="1"/>
            </p:cNvSpPr>
            <p:nvPr/>
          </p:nvSpPr>
          <p:spPr bwMode="auto">
            <a:xfrm>
              <a:off x="4241" y="1117"/>
              <a:ext cx="600" cy="3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r>
                <a:rPr lang="zh-CN" altLang="en-US" sz="1600" b="1">
                  <a:latin typeface="Arial" charset="0"/>
                  <a:ea typeface="楷体_GB2312" pitchFamily="49" charset="-122"/>
                </a:rPr>
                <a:t>信息位</a:t>
              </a:r>
            </a:p>
            <a:p>
              <a:pPr algn="ctr"/>
              <a:r>
                <a:rPr lang="zh-CN" altLang="en-US" sz="1600" b="1">
                  <a:latin typeface="Arial" charset="0"/>
                  <a:ea typeface="楷体_GB2312" pitchFamily="49" charset="-122"/>
                </a:rPr>
                <a:t>（</a:t>
              </a:r>
              <a:r>
                <a:rPr lang="en-US" altLang="zh-CN" sz="1600" b="1">
                  <a:latin typeface="Arial" charset="0"/>
                  <a:ea typeface="楷体_GB2312" pitchFamily="49" charset="-122"/>
                </a:rPr>
                <a:t>kbit</a:t>
              </a:r>
              <a:r>
                <a:rPr lang="zh-CN" altLang="en-US" sz="1600" b="1">
                  <a:latin typeface="Arial" charset="0"/>
                  <a:ea typeface="楷体_GB2312" pitchFamily="49" charset="-122"/>
                </a:rPr>
                <a:t>）</a:t>
              </a:r>
            </a:p>
          </p:txBody>
        </p:sp>
      </p:grpSp>
      <p:grpSp>
        <p:nvGrpSpPr>
          <p:cNvPr id="570411" name="Group 43"/>
          <p:cNvGrpSpPr>
            <a:grpSpLocks/>
          </p:cNvGrpSpPr>
          <p:nvPr/>
        </p:nvGrpSpPr>
        <p:grpSpPr bwMode="auto">
          <a:xfrm>
            <a:off x="7812096" y="1773238"/>
            <a:ext cx="919163" cy="898525"/>
            <a:chOff x="4921" y="1117"/>
            <a:chExt cx="579" cy="566"/>
          </a:xfrm>
        </p:grpSpPr>
        <p:sp>
          <p:nvSpPr>
            <p:cNvPr id="570378" name="Rectangle 10"/>
            <p:cNvSpPr>
              <a:spLocks noChangeArrowheads="1"/>
            </p:cNvSpPr>
            <p:nvPr/>
          </p:nvSpPr>
          <p:spPr bwMode="auto">
            <a:xfrm>
              <a:off x="4967" y="1479"/>
              <a:ext cx="453" cy="204"/>
            </a:xfrm>
            <a:prstGeom prst="rect">
              <a:avLst/>
            </a:prstGeom>
            <a:solidFill>
              <a:srgbClr val="FFFF00"/>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kumimoji="0" lang="en-US" altLang="zh-CN" sz="1400" b="1">
                  <a:latin typeface="Arial" charset="0"/>
                  <a:ea typeface="楷体_GB2312" pitchFamily="49" charset="-122"/>
                </a:rPr>
                <a:t>00…0</a:t>
              </a:r>
              <a:endParaRPr lang="zh-CN" altLang="en-US" sz="1400" b="1">
                <a:latin typeface="Arial" charset="0"/>
                <a:ea typeface="楷体_GB2312" pitchFamily="49" charset="-122"/>
              </a:endParaRPr>
            </a:p>
          </p:txBody>
        </p:sp>
        <p:sp>
          <p:nvSpPr>
            <p:cNvPr id="570380" name="Rectangle 12"/>
            <p:cNvSpPr>
              <a:spLocks noChangeArrowheads="1"/>
            </p:cNvSpPr>
            <p:nvPr/>
          </p:nvSpPr>
          <p:spPr bwMode="auto">
            <a:xfrm>
              <a:off x="4921" y="1117"/>
              <a:ext cx="579" cy="3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1600" b="1">
                  <a:latin typeface="Arial" charset="0"/>
                  <a:ea typeface="楷体_GB2312" pitchFamily="49" charset="-122"/>
                </a:rPr>
                <a:t>冗余位</a:t>
              </a:r>
            </a:p>
            <a:p>
              <a:r>
                <a:rPr lang="zh-CN" altLang="en-US" sz="1600" b="1">
                  <a:latin typeface="Arial" charset="0"/>
                  <a:ea typeface="楷体_GB2312" pitchFamily="49" charset="-122"/>
                </a:rPr>
                <a:t>（</a:t>
              </a:r>
              <a:r>
                <a:rPr lang="en-US" altLang="zh-CN" sz="1600" b="1">
                  <a:latin typeface="Arial" charset="0"/>
                  <a:ea typeface="楷体_GB2312" pitchFamily="49" charset="-122"/>
                </a:rPr>
                <a:t>rbit</a:t>
              </a:r>
              <a:r>
                <a:rPr lang="zh-CN" altLang="en-US" sz="1600" b="1">
                  <a:latin typeface="Arial" charset="0"/>
                  <a:ea typeface="楷体_GB2312" pitchFamily="49" charset="-122"/>
                </a:rPr>
                <a:t>）</a:t>
              </a:r>
            </a:p>
          </p:txBody>
        </p:sp>
      </p:grpSp>
      <p:sp>
        <p:nvSpPr>
          <p:cNvPr id="570382" name="Rectangle 14"/>
          <p:cNvSpPr>
            <a:spLocks noChangeArrowheads="1"/>
          </p:cNvSpPr>
          <p:nvPr/>
        </p:nvSpPr>
        <p:spPr bwMode="auto">
          <a:xfrm>
            <a:off x="6948488" y="3933825"/>
            <a:ext cx="1079500" cy="323850"/>
          </a:xfrm>
          <a:prstGeom prst="rect">
            <a:avLst/>
          </a:prstGeom>
          <a:solidFill>
            <a:srgbClr val="FFCC99"/>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kumimoji="0" lang="en-US" altLang="zh-CN" sz="1400" b="1">
                <a:latin typeface="Arial" charset="0"/>
                <a:ea typeface="楷体_GB2312" pitchFamily="49" charset="-122"/>
              </a:rPr>
              <a:t>CRC</a:t>
            </a:r>
            <a:r>
              <a:rPr kumimoji="0" lang="zh-CN" altLang="en-US" sz="1400" b="1">
                <a:latin typeface="Arial" charset="0"/>
                <a:ea typeface="楷体_GB2312" pitchFamily="49" charset="-122"/>
              </a:rPr>
              <a:t>码</a:t>
            </a:r>
            <a:endParaRPr lang="zh-CN" altLang="en-US" sz="1400" b="1">
              <a:latin typeface="Arial" charset="0"/>
              <a:ea typeface="楷体_GB2312" pitchFamily="49" charset="-122"/>
            </a:endParaRPr>
          </a:p>
        </p:txBody>
      </p:sp>
      <p:grpSp>
        <p:nvGrpSpPr>
          <p:cNvPr id="570413" name="Group 45"/>
          <p:cNvGrpSpPr>
            <a:grpSpLocks/>
          </p:cNvGrpSpPr>
          <p:nvPr/>
        </p:nvGrpSpPr>
        <p:grpSpPr bwMode="auto">
          <a:xfrm>
            <a:off x="6948488" y="3141663"/>
            <a:ext cx="1878012" cy="336550"/>
            <a:chOff x="4377" y="1979"/>
            <a:chExt cx="1183" cy="212"/>
          </a:xfrm>
        </p:grpSpPr>
        <p:sp>
          <p:nvSpPr>
            <p:cNvPr id="570381" name="Rectangle 13"/>
            <p:cNvSpPr>
              <a:spLocks noChangeArrowheads="1"/>
            </p:cNvSpPr>
            <p:nvPr/>
          </p:nvSpPr>
          <p:spPr bwMode="auto">
            <a:xfrm>
              <a:off x="4377" y="1979"/>
              <a:ext cx="680" cy="204"/>
            </a:xfrm>
            <a:prstGeom prst="rect">
              <a:avLst/>
            </a:prstGeom>
            <a:solidFill>
              <a:srgbClr val="CC99FF"/>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kumimoji="0" lang="zh-CN" altLang="en-US" sz="1400" b="1">
                  <a:latin typeface="Arial" charset="0"/>
                  <a:ea typeface="楷体_GB2312" pitchFamily="49" charset="-122"/>
                </a:rPr>
                <a:t>生成多项式</a:t>
              </a:r>
              <a:endParaRPr lang="zh-CN" altLang="en-US" sz="1400" b="1">
                <a:latin typeface="Arial" charset="0"/>
                <a:ea typeface="楷体_GB2312" pitchFamily="49" charset="-122"/>
              </a:endParaRPr>
            </a:p>
          </p:txBody>
        </p:sp>
        <p:sp>
          <p:nvSpPr>
            <p:cNvPr id="570383" name="Rectangle 15"/>
            <p:cNvSpPr>
              <a:spLocks noChangeArrowheads="1"/>
            </p:cNvSpPr>
            <p:nvPr/>
          </p:nvSpPr>
          <p:spPr bwMode="auto">
            <a:xfrm>
              <a:off x="5057" y="1979"/>
              <a:ext cx="50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en-US" altLang="zh-CN" sz="1600" b="1">
                  <a:latin typeface="Arial" charset="0"/>
                  <a:ea typeface="楷体_GB2312" pitchFamily="49" charset="-122"/>
                </a:rPr>
                <a:t>r+1 bit</a:t>
              </a:r>
              <a:endParaRPr lang="zh-CN" altLang="en-US" sz="1600" b="1">
                <a:latin typeface="Arial" charset="0"/>
                <a:ea typeface="楷体_GB2312" pitchFamily="49" charset="-122"/>
              </a:endParaRPr>
            </a:p>
          </p:txBody>
        </p:sp>
      </p:grpSp>
      <p:sp>
        <p:nvSpPr>
          <p:cNvPr id="570387" name="AutoShape 19"/>
          <p:cNvSpPr>
            <a:spLocks noChangeArrowheads="1"/>
          </p:cNvSpPr>
          <p:nvPr/>
        </p:nvSpPr>
        <p:spPr bwMode="auto">
          <a:xfrm rot="5400000">
            <a:off x="7308851" y="2779712"/>
            <a:ext cx="4318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9966"/>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570388" name="AutoShape 20"/>
          <p:cNvSpPr>
            <a:spLocks noChangeArrowheads="1"/>
          </p:cNvSpPr>
          <p:nvPr/>
        </p:nvSpPr>
        <p:spPr bwMode="auto">
          <a:xfrm rot="5400000">
            <a:off x="7308851" y="3571875"/>
            <a:ext cx="4318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9966"/>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grpSp>
        <p:nvGrpSpPr>
          <p:cNvPr id="570414" name="Group 46"/>
          <p:cNvGrpSpPr>
            <a:grpSpLocks/>
          </p:cNvGrpSpPr>
          <p:nvPr/>
        </p:nvGrpSpPr>
        <p:grpSpPr bwMode="auto">
          <a:xfrm>
            <a:off x="3708400" y="2636838"/>
            <a:ext cx="2159000" cy="684212"/>
            <a:chOff x="2336" y="1661"/>
            <a:chExt cx="1360" cy="431"/>
          </a:xfrm>
        </p:grpSpPr>
        <p:sp>
          <p:nvSpPr>
            <p:cNvPr id="570389" name="Rectangle 21"/>
            <p:cNvSpPr>
              <a:spLocks noChangeArrowheads="1"/>
            </p:cNvSpPr>
            <p:nvPr/>
          </p:nvSpPr>
          <p:spPr bwMode="auto">
            <a:xfrm>
              <a:off x="2336" y="1888"/>
              <a:ext cx="929" cy="204"/>
            </a:xfrm>
            <a:prstGeom prst="rect">
              <a:avLst/>
            </a:prstGeom>
            <a:solidFill>
              <a:schemeClr val="accent1"/>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1400" b="1">
                  <a:latin typeface="Arial" charset="0"/>
                  <a:ea typeface="楷体_GB2312" pitchFamily="49" charset="-122"/>
                </a:rPr>
                <a:t>Data</a:t>
              </a:r>
            </a:p>
          </p:txBody>
        </p:sp>
        <p:sp>
          <p:nvSpPr>
            <p:cNvPr id="570390" name="Rectangle 22"/>
            <p:cNvSpPr>
              <a:spLocks noChangeArrowheads="1"/>
            </p:cNvSpPr>
            <p:nvPr/>
          </p:nvSpPr>
          <p:spPr bwMode="auto">
            <a:xfrm>
              <a:off x="3243" y="1888"/>
              <a:ext cx="453" cy="204"/>
            </a:xfrm>
            <a:prstGeom prst="rect">
              <a:avLst/>
            </a:prstGeom>
            <a:solidFill>
              <a:srgbClr val="FFFF00"/>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kumimoji="0" lang="en-US" altLang="zh-CN" sz="1400" b="1">
                  <a:latin typeface="Arial" charset="0"/>
                  <a:ea typeface="楷体_GB2312" pitchFamily="49" charset="-122"/>
                </a:rPr>
                <a:t>CRC</a:t>
              </a:r>
              <a:endParaRPr lang="zh-CN" altLang="en-US" sz="1400" b="1">
                <a:latin typeface="Arial" charset="0"/>
                <a:ea typeface="楷体_GB2312" pitchFamily="49" charset="-122"/>
              </a:endParaRPr>
            </a:p>
          </p:txBody>
        </p:sp>
        <p:sp>
          <p:nvSpPr>
            <p:cNvPr id="570391" name="Rectangle 23"/>
            <p:cNvSpPr>
              <a:spLocks noChangeArrowheads="1"/>
            </p:cNvSpPr>
            <p:nvPr/>
          </p:nvSpPr>
          <p:spPr bwMode="auto">
            <a:xfrm>
              <a:off x="2608" y="1661"/>
              <a:ext cx="865"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Arial" charset="0"/>
                  <a:ea typeface="楷体_GB2312" pitchFamily="49" charset="-122"/>
                </a:rPr>
                <a:t>码字（</a:t>
              </a:r>
              <a:r>
                <a:rPr lang="en-US" altLang="zh-CN" sz="1600" b="1">
                  <a:latin typeface="Arial" charset="0"/>
                  <a:ea typeface="楷体_GB2312" pitchFamily="49" charset="-122"/>
                </a:rPr>
                <a:t>nbit</a:t>
              </a:r>
              <a:r>
                <a:rPr lang="zh-CN" altLang="en-US" sz="1600" b="1">
                  <a:latin typeface="Arial" charset="0"/>
                  <a:ea typeface="楷体_GB2312" pitchFamily="49" charset="-122"/>
                </a:rPr>
                <a:t>）</a:t>
              </a:r>
            </a:p>
          </p:txBody>
        </p:sp>
      </p:grpSp>
      <p:sp>
        <p:nvSpPr>
          <p:cNvPr id="570393" name="Rectangle 25"/>
          <p:cNvSpPr>
            <a:spLocks noChangeArrowheads="1"/>
          </p:cNvSpPr>
          <p:nvPr/>
        </p:nvSpPr>
        <p:spPr bwMode="auto">
          <a:xfrm>
            <a:off x="7669213" y="2697163"/>
            <a:ext cx="5905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Arial" charset="0"/>
                <a:ea typeface="楷体_GB2312" pitchFamily="49" charset="-122"/>
              </a:rPr>
              <a:t>除以</a:t>
            </a:r>
          </a:p>
        </p:txBody>
      </p:sp>
      <p:sp>
        <p:nvSpPr>
          <p:cNvPr id="570394" name="Rectangle 26"/>
          <p:cNvSpPr>
            <a:spLocks noChangeArrowheads="1"/>
          </p:cNvSpPr>
          <p:nvPr/>
        </p:nvSpPr>
        <p:spPr bwMode="auto">
          <a:xfrm>
            <a:off x="7669213" y="3500438"/>
            <a:ext cx="5905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Arial" charset="0"/>
                <a:ea typeface="楷体_GB2312" pitchFamily="49" charset="-122"/>
              </a:rPr>
              <a:t>余数</a:t>
            </a:r>
          </a:p>
        </p:txBody>
      </p:sp>
      <p:sp>
        <p:nvSpPr>
          <p:cNvPr id="570395" name="Rectangle 27"/>
          <p:cNvSpPr>
            <a:spLocks noChangeArrowheads="1"/>
          </p:cNvSpPr>
          <p:nvPr/>
        </p:nvSpPr>
        <p:spPr bwMode="auto">
          <a:xfrm>
            <a:off x="755650" y="1773238"/>
            <a:ext cx="2520950" cy="2592387"/>
          </a:xfrm>
          <a:prstGeom prst="rect">
            <a:avLst/>
          </a:prstGeom>
          <a:solidFill>
            <a:srgbClr val="CCFFCC"/>
          </a:solidFill>
          <a:ln w="28575">
            <a:solidFill>
              <a:schemeClr val="tx1"/>
            </a:solidFill>
            <a:miter lim="800000"/>
            <a:headEnd/>
            <a:tailEnd/>
          </a:ln>
          <a:effectLst>
            <a:outerShdw dist="107763" dir="2700000" algn="ctr" rotWithShape="0">
              <a:srgbClr val="00002E">
                <a:alpha val="50000"/>
              </a:srgbClr>
            </a:outerShdw>
          </a:effectLst>
        </p:spPr>
        <p:txBody>
          <a:bodyPr lIns="90000" tIns="46800" rIns="90000" bIns="46800" anchor="ctr">
            <a:spAutoFit/>
          </a:bodyPr>
          <a:lstStyle/>
          <a:p>
            <a:endParaRPr lang="zh-CN" altLang="en-US"/>
          </a:p>
        </p:txBody>
      </p:sp>
      <p:sp>
        <p:nvSpPr>
          <p:cNvPr id="570401" name="Rectangle 33"/>
          <p:cNvSpPr>
            <a:spLocks noChangeArrowheads="1"/>
          </p:cNvSpPr>
          <p:nvPr/>
        </p:nvSpPr>
        <p:spPr bwMode="auto">
          <a:xfrm>
            <a:off x="1187450" y="3933825"/>
            <a:ext cx="1512888" cy="323850"/>
          </a:xfrm>
          <a:prstGeom prst="rect">
            <a:avLst/>
          </a:prstGeom>
          <a:solidFill>
            <a:srgbClr val="FFCC99"/>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1400" b="1">
                <a:latin typeface="Arial" charset="0"/>
                <a:ea typeface="楷体_GB2312" pitchFamily="49" charset="-122"/>
              </a:rPr>
              <a:t>0</a:t>
            </a:r>
            <a:r>
              <a:rPr lang="zh-CN" altLang="en-US" sz="1400" b="1">
                <a:latin typeface="Arial" charset="0"/>
                <a:ea typeface="楷体_GB2312" pitchFamily="49" charset="-122"/>
              </a:rPr>
              <a:t>接受，非</a:t>
            </a:r>
            <a:r>
              <a:rPr lang="en-US" altLang="zh-CN" sz="1400" b="1">
                <a:latin typeface="Arial" charset="0"/>
                <a:ea typeface="楷体_GB2312" pitchFamily="49" charset="-122"/>
              </a:rPr>
              <a:t>0</a:t>
            </a:r>
            <a:r>
              <a:rPr lang="zh-CN" altLang="en-US" sz="1400" b="1">
                <a:latin typeface="Arial" charset="0"/>
                <a:ea typeface="楷体_GB2312" pitchFamily="49" charset="-122"/>
              </a:rPr>
              <a:t>拒收</a:t>
            </a:r>
          </a:p>
        </p:txBody>
      </p:sp>
      <p:grpSp>
        <p:nvGrpSpPr>
          <p:cNvPr id="570416" name="Group 48"/>
          <p:cNvGrpSpPr>
            <a:grpSpLocks/>
          </p:cNvGrpSpPr>
          <p:nvPr/>
        </p:nvGrpSpPr>
        <p:grpSpPr bwMode="auto">
          <a:xfrm>
            <a:off x="1403350" y="3141663"/>
            <a:ext cx="1879600" cy="336550"/>
            <a:chOff x="884" y="1979"/>
            <a:chExt cx="1184" cy="212"/>
          </a:xfrm>
        </p:grpSpPr>
        <p:sp>
          <p:nvSpPr>
            <p:cNvPr id="570400" name="Rectangle 32"/>
            <p:cNvSpPr>
              <a:spLocks noChangeArrowheads="1"/>
            </p:cNvSpPr>
            <p:nvPr/>
          </p:nvSpPr>
          <p:spPr bwMode="auto">
            <a:xfrm>
              <a:off x="884" y="1979"/>
              <a:ext cx="680" cy="204"/>
            </a:xfrm>
            <a:prstGeom prst="rect">
              <a:avLst/>
            </a:prstGeom>
            <a:solidFill>
              <a:srgbClr val="CC99FF"/>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kumimoji="0" lang="zh-CN" altLang="en-US" sz="1400" b="1">
                  <a:latin typeface="Arial" charset="0"/>
                  <a:ea typeface="楷体_GB2312" pitchFamily="49" charset="-122"/>
                </a:rPr>
                <a:t>生成多项式</a:t>
              </a:r>
              <a:endParaRPr lang="zh-CN" altLang="en-US" sz="1400" b="1">
                <a:latin typeface="Arial" charset="0"/>
                <a:ea typeface="楷体_GB2312" pitchFamily="49" charset="-122"/>
              </a:endParaRPr>
            </a:p>
          </p:txBody>
        </p:sp>
        <p:sp>
          <p:nvSpPr>
            <p:cNvPr id="570402" name="Rectangle 34"/>
            <p:cNvSpPr>
              <a:spLocks noChangeArrowheads="1"/>
            </p:cNvSpPr>
            <p:nvPr/>
          </p:nvSpPr>
          <p:spPr bwMode="auto">
            <a:xfrm>
              <a:off x="1565" y="1979"/>
              <a:ext cx="50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en-US" altLang="zh-CN" sz="1600" b="1">
                  <a:latin typeface="Arial" charset="0"/>
                  <a:ea typeface="楷体_GB2312" pitchFamily="49" charset="-122"/>
                </a:rPr>
                <a:t>r+1 bit</a:t>
              </a:r>
              <a:endParaRPr lang="zh-CN" altLang="en-US" sz="1600" b="1">
                <a:latin typeface="Arial" charset="0"/>
                <a:ea typeface="楷体_GB2312" pitchFamily="49" charset="-122"/>
              </a:endParaRPr>
            </a:p>
          </p:txBody>
        </p:sp>
      </p:grpSp>
      <p:sp>
        <p:nvSpPr>
          <p:cNvPr id="570403" name="AutoShape 35"/>
          <p:cNvSpPr>
            <a:spLocks noChangeArrowheads="1"/>
          </p:cNvSpPr>
          <p:nvPr/>
        </p:nvSpPr>
        <p:spPr bwMode="auto">
          <a:xfrm rot="5400000">
            <a:off x="1765301" y="2779712"/>
            <a:ext cx="4318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9966"/>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570404" name="AutoShape 36"/>
          <p:cNvSpPr>
            <a:spLocks noChangeArrowheads="1"/>
          </p:cNvSpPr>
          <p:nvPr/>
        </p:nvSpPr>
        <p:spPr bwMode="auto">
          <a:xfrm rot="5400000">
            <a:off x="1765301" y="3571875"/>
            <a:ext cx="4318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9966"/>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570405" name="Rectangle 37"/>
          <p:cNvSpPr>
            <a:spLocks noChangeArrowheads="1"/>
          </p:cNvSpPr>
          <p:nvPr/>
        </p:nvSpPr>
        <p:spPr bwMode="auto">
          <a:xfrm>
            <a:off x="2124075" y="2708275"/>
            <a:ext cx="5905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Arial" charset="0"/>
                <a:ea typeface="楷体_GB2312" pitchFamily="49" charset="-122"/>
              </a:rPr>
              <a:t>除以</a:t>
            </a:r>
          </a:p>
        </p:txBody>
      </p:sp>
      <p:sp>
        <p:nvSpPr>
          <p:cNvPr id="570406" name="Rectangle 38"/>
          <p:cNvSpPr>
            <a:spLocks noChangeArrowheads="1"/>
          </p:cNvSpPr>
          <p:nvPr/>
        </p:nvSpPr>
        <p:spPr bwMode="auto">
          <a:xfrm>
            <a:off x="2125663" y="3500438"/>
            <a:ext cx="5905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Arial" charset="0"/>
                <a:ea typeface="楷体_GB2312" pitchFamily="49" charset="-122"/>
              </a:rPr>
              <a:t>余数</a:t>
            </a:r>
          </a:p>
        </p:txBody>
      </p:sp>
      <p:grpSp>
        <p:nvGrpSpPr>
          <p:cNvPr id="570415" name="Group 47"/>
          <p:cNvGrpSpPr>
            <a:grpSpLocks/>
          </p:cNvGrpSpPr>
          <p:nvPr/>
        </p:nvGrpSpPr>
        <p:grpSpPr bwMode="auto">
          <a:xfrm>
            <a:off x="901700" y="1989138"/>
            <a:ext cx="2159000" cy="682625"/>
            <a:chOff x="568" y="1253"/>
            <a:chExt cx="1360" cy="430"/>
          </a:xfrm>
        </p:grpSpPr>
        <p:sp>
          <p:nvSpPr>
            <p:cNvPr id="570396" name="Rectangle 28"/>
            <p:cNvSpPr>
              <a:spLocks noChangeArrowheads="1"/>
            </p:cNvSpPr>
            <p:nvPr/>
          </p:nvSpPr>
          <p:spPr bwMode="auto">
            <a:xfrm>
              <a:off x="568" y="1479"/>
              <a:ext cx="929" cy="204"/>
            </a:xfrm>
            <a:prstGeom prst="rect">
              <a:avLst/>
            </a:prstGeom>
            <a:solidFill>
              <a:schemeClr val="accent1"/>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1400" b="1">
                  <a:latin typeface="Arial" charset="0"/>
                  <a:ea typeface="楷体_GB2312" pitchFamily="49" charset="-122"/>
                </a:rPr>
                <a:t>Data</a:t>
              </a:r>
            </a:p>
          </p:txBody>
        </p:sp>
        <p:sp>
          <p:nvSpPr>
            <p:cNvPr id="570397" name="Rectangle 29"/>
            <p:cNvSpPr>
              <a:spLocks noChangeArrowheads="1"/>
            </p:cNvSpPr>
            <p:nvPr/>
          </p:nvSpPr>
          <p:spPr bwMode="auto">
            <a:xfrm>
              <a:off x="1475" y="1479"/>
              <a:ext cx="453" cy="204"/>
            </a:xfrm>
            <a:prstGeom prst="rect">
              <a:avLst/>
            </a:prstGeom>
            <a:solidFill>
              <a:srgbClr val="FFFF00"/>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kumimoji="0" lang="en-US" altLang="zh-CN" sz="1400" b="1">
                  <a:latin typeface="Arial" charset="0"/>
                  <a:ea typeface="楷体_GB2312" pitchFamily="49" charset="-122"/>
                </a:rPr>
                <a:t>CRC</a:t>
              </a:r>
              <a:endParaRPr lang="zh-CN" altLang="en-US" sz="1400" b="1">
                <a:latin typeface="Arial" charset="0"/>
                <a:ea typeface="楷体_GB2312" pitchFamily="49" charset="-122"/>
              </a:endParaRPr>
            </a:p>
          </p:txBody>
        </p:sp>
        <p:sp>
          <p:nvSpPr>
            <p:cNvPr id="570407" name="Rectangle 39"/>
            <p:cNvSpPr>
              <a:spLocks noChangeArrowheads="1"/>
            </p:cNvSpPr>
            <p:nvPr/>
          </p:nvSpPr>
          <p:spPr bwMode="auto">
            <a:xfrm>
              <a:off x="839" y="1253"/>
              <a:ext cx="865"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Arial" charset="0"/>
                  <a:ea typeface="楷体_GB2312" pitchFamily="49" charset="-122"/>
                </a:rPr>
                <a:t>码字（</a:t>
              </a:r>
              <a:r>
                <a:rPr lang="en-US" altLang="zh-CN" sz="1600" b="1">
                  <a:latin typeface="Arial" charset="0"/>
                  <a:ea typeface="楷体_GB2312" pitchFamily="49" charset="-122"/>
                </a:rPr>
                <a:t>nbit</a:t>
              </a:r>
              <a:r>
                <a:rPr lang="zh-CN" altLang="en-US" sz="1600" b="1">
                  <a:latin typeface="Arial" charset="0"/>
                  <a:ea typeface="楷体_GB2312" pitchFamily="49" charset="-122"/>
                </a:rPr>
                <a:t>）</a:t>
              </a:r>
            </a:p>
          </p:txBody>
        </p:sp>
      </p:grpSp>
      <p:sp>
        <p:nvSpPr>
          <p:cNvPr id="570408" name="Line 40"/>
          <p:cNvSpPr>
            <a:spLocks noChangeShapeType="1"/>
          </p:cNvSpPr>
          <p:nvPr/>
        </p:nvSpPr>
        <p:spPr bwMode="auto">
          <a:xfrm flipH="1">
            <a:off x="5940425" y="3141663"/>
            <a:ext cx="287338" cy="0"/>
          </a:xfrm>
          <a:prstGeom prst="line">
            <a:avLst/>
          </a:prstGeom>
          <a:noFill/>
          <a:ln w="28575">
            <a:solidFill>
              <a:srgbClr val="FF0000"/>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70409" name="Line 41"/>
          <p:cNvSpPr>
            <a:spLocks noChangeShapeType="1"/>
          </p:cNvSpPr>
          <p:nvPr/>
        </p:nvSpPr>
        <p:spPr bwMode="auto">
          <a:xfrm flipH="1">
            <a:off x="3348038" y="3141663"/>
            <a:ext cx="287337" cy="0"/>
          </a:xfrm>
          <a:prstGeom prst="line">
            <a:avLst/>
          </a:prstGeom>
          <a:noFill/>
          <a:ln w="28575">
            <a:solidFill>
              <a:srgbClr val="FF0000"/>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70410"/>
                                        </p:tgtEl>
                                        <p:attrNameLst>
                                          <p:attrName>style.visibility</p:attrName>
                                        </p:attrNameLst>
                                      </p:cBhvr>
                                      <p:to>
                                        <p:strVal val="visible"/>
                                      </p:to>
                                    </p:set>
                                    <p:animEffect transition="in" filter="dissolve">
                                      <p:cBhvr>
                                        <p:cTn id="7" dur="500"/>
                                        <p:tgtEl>
                                          <p:spTgt spid="570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70411"/>
                                        </p:tgtEl>
                                        <p:attrNameLst>
                                          <p:attrName>style.visibility</p:attrName>
                                        </p:attrNameLst>
                                      </p:cBhvr>
                                      <p:to>
                                        <p:strVal val="visible"/>
                                      </p:to>
                                    </p:set>
                                    <p:animEffect transition="in" filter="dissolve">
                                      <p:cBhvr>
                                        <p:cTn id="12" dur="500"/>
                                        <p:tgtEl>
                                          <p:spTgt spid="5704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70387"/>
                                        </p:tgtEl>
                                        <p:attrNameLst>
                                          <p:attrName>style.visibility</p:attrName>
                                        </p:attrNameLst>
                                      </p:cBhvr>
                                      <p:to>
                                        <p:strVal val="visible"/>
                                      </p:to>
                                    </p:set>
                                    <p:animEffect transition="in" filter="wipe(up)">
                                      <p:cBhvr>
                                        <p:cTn id="17" dur="500"/>
                                        <p:tgtEl>
                                          <p:spTgt spid="570387"/>
                                        </p:tgtEl>
                                      </p:cBhvr>
                                    </p:animEffect>
                                  </p:childTnLst>
                                </p:cTn>
                              </p:par>
                            </p:childTnLst>
                          </p:cTn>
                        </p:par>
                        <p:par>
                          <p:cTn id="18" fill="hold" nodeType="afterGroup">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570393"/>
                                        </p:tgtEl>
                                        <p:attrNameLst>
                                          <p:attrName>style.visibility</p:attrName>
                                        </p:attrNameLst>
                                      </p:cBhvr>
                                      <p:to>
                                        <p:strVal val="visible"/>
                                      </p:to>
                                    </p:set>
                                    <p:animEffect transition="in" filter="dissolve">
                                      <p:cBhvr>
                                        <p:cTn id="21" dur="500"/>
                                        <p:tgtEl>
                                          <p:spTgt spid="57039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570413"/>
                                        </p:tgtEl>
                                        <p:attrNameLst>
                                          <p:attrName>style.visibility</p:attrName>
                                        </p:attrNameLst>
                                      </p:cBhvr>
                                      <p:to>
                                        <p:strVal val="visible"/>
                                      </p:to>
                                    </p:set>
                                    <p:animEffect transition="in" filter="dissolve">
                                      <p:cBhvr>
                                        <p:cTn id="26" dur="500"/>
                                        <p:tgtEl>
                                          <p:spTgt spid="57041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570388"/>
                                        </p:tgtEl>
                                        <p:attrNameLst>
                                          <p:attrName>style.visibility</p:attrName>
                                        </p:attrNameLst>
                                      </p:cBhvr>
                                      <p:to>
                                        <p:strVal val="visible"/>
                                      </p:to>
                                    </p:set>
                                    <p:animEffect transition="in" filter="wipe(up)">
                                      <p:cBhvr>
                                        <p:cTn id="31" dur="500"/>
                                        <p:tgtEl>
                                          <p:spTgt spid="570388"/>
                                        </p:tgtEl>
                                      </p:cBhvr>
                                    </p:animEffect>
                                  </p:childTnLst>
                                </p:cTn>
                              </p:par>
                            </p:childTnLst>
                          </p:cTn>
                        </p:par>
                        <p:par>
                          <p:cTn id="32" fill="hold" nodeType="afterGroup">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570394"/>
                                        </p:tgtEl>
                                        <p:attrNameLst>
                                          <p:attrName>style.visibility</p:attrName>
                                        </p:attrNameLst>
                                      </p:cBhvr>
                                      <p:to>
                                        <p:strVal val="visible"/>
                                      </p:to>
                                    </p:set>
                                    <p:animEffect transition="in" filter="dissolve">
                                      <p:cBhvr>
                                        <p:cTn id="35" dur="500"/>
                                        <p:tgtEl>
                                          <p:spTgt spid="57039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570382"/>
                                        </p:tgtEl>
                                        <p:attrNameLst>
                                          <p:attrName>style.visibility</p:attrName>
                                        </p:attrNameLst>
                                      </p:cBhvr>
                                      <p:to>
                                        <p:strVal val="visible"/>
                                      </p:to>
                                    </p:set>
                                    <p:animEffect transition="in" filter="dissolve">
                                      <p:cBhvr>
                                        <p:cTn id="40" dur="500"/>
                                        <p:tgtEl>
                                          <p:spTgt spid="57038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570408"/>
                                        </p:tgtEl>
                                        <p:attrNameLst>
                                          <p:attrName>style.visibility</p:attrName>
                                        </p:attrNameLst>
                                      </p:cBhvr>
                                      <p:to>
                                        <p:strVal val="visible"/>
                                      </p:to>
                                    </p:set>
                                    <p:animEffect transition="in" filter="wipe(right)">
                                      <p:cBhvr>
                                        <p:cTn id="45" dur="500"/>
                                        <p:tgtEl>
                                          <p:spTgt spid="57040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570414"/>
                                        </p:tgtEl>
                                        <p:attrNameLst>
                                          <p:attrName>style.visibility</p:attrName>
                                        </p:attrNameLst>
                                      </p:cBhvr>
                                      <p:to>
                                        <p:strVal val="visible"/>
                                      </p:to>
                                    </p:set>
                                    <p:animEffect transition="in" filter="dissolve">
                                      <p:cBhvr>
                                        <p:cTn id="50" dur="500"/>
                                        <p:tgtEl>
                                          <p:spTgt spid="57041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570409"/>
                                        </p:tgtEl>
                                        <p:attrNameLst>
                                          <p:attrName>style.visibility</p:attrName>
                                        </p:attrNameLst>
                                      </p:cBhvr>
                                      <p:to>
                                        <p:strVal val="visible"/>
                                      </p:to>
                                    </p:set>
                                    <p:animEffect transition="in" filter="wipe(right)">
                                      <p:cBhvr>
                                        <p:cTn id="55" dur="500"/>
                                        <p:tgtEl>
                                          <p:spTgt spid="57040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570415"/>
                                        </p:tgtEl>
                                        <p:attrNameLst>
                                          <p:attrName>style.visibility</p:attrName>
                                        </p:attrNameLst>
                                      </p:cBhvr>
                                      <p:to>
                                        <p:strVal val="visible"/>
                                      </p:to>
                                    </p:set>
                                    <p:animEffect transition="in" filter="dissolve">
                                      <p:cBhvr>
                                        <p:cTn id="60" dur="500"/>
                                        <p:tgtEl>
                                          <p:spTgt spid="57041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570403"/>
                                        </p:tgtEl>
                                        <p:attrNameLst>
                                          <p:attrName>style.visibility</p:attrName>
                                        </p:attrNameLst>
                                      </p:cBhvr>
                                      <p:to>
                                        <p:strVal val="visible"/>
                                      </p:to>
                                    </p:set>
                                    <p:animEffect transition="in" filter="wipe(up)">
                                      <p:cBhvr>
                                        <p:cTn id="65" dur="500"/>
                                        <p:tgtEl>
                                          <p:spTgt spid="570403"/>
                                        </p:tgtEl>
                                      </p:cBhvr>
                                    </p:animEffect>
                                  </p:childTnLst>
                                </p:cTn>
                              </p:par>
                            </p:childTnLst>
                          </p:cTn>
                        </p:par>
                        <p:par>
                          <p:cTn id="66" fill="hold" nodeType="afterGroup">
                            <p:stCondLst>
                              <p:cond delay="500"/>
                            </p:stCondLst>
                            <p:childTnLst>
                              <p:par>
                                <p:cTn id="67" presetID="9" presetClass="entr" presetSubtype="0" fill="hold" grpId="0" nodeType="afterEffect">
                                  <p:stCondLst>
                                    <p:cond delay="0"/>
                                  </p:stCondLst>
                                  <p:childTnLst>
                                    <p:set>
                                      <p:cBhvr>
                                        <p:cTn id="68" dur="1" fill="hold">
                                          <p:stCondLst>
                                            <p:cond delay="0"/>
                                          </p:stCondLst>
                                        </p:cTn>
                                        <p:tgtEl>
                                          <p:spTgt spid="570405"/>
                                        </p:tgtEl>
                                        <p:attrNameLst>
                                          <p:attrName>style.visibility</p:attrName>
                                        </p:attrNameLst>
                                      </p:cBhvr>
                                      <p:to>
                                        <p:strVal val="visible"/>
                                      </p:to>
                                    </p:set>
                                    <p:animEffect transition="in" filter="dissolve">
                                      <p:cBhvr>
                                        <p:cTn id="69" dur="500"/>
                                        <p:tgtEl>
                                          <p:spTgt spid="57040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nodeType="clickEffect">
                                  <p:stCondLst>
                                    <p:cond delay="0"/>
                                  </p:stCondLst>
                                  <p:childTnLst>
                                    <p:set>
                                      <p:cBhvr>
                                        <p:cTn id="73" dur="1" fill="hold">
                                          <p:stCondLst>
                                            <p:cond delay="0"/>
                                          </p:stCondLst>
                                        </p:cTn>
                                        <p:tgtEl>
                                          <p:spTgt spid="570416"/>
                                        </p:tgtEl>
                                        <p:attrNameLst>
                                          <p:attrName>style.visibility</p:attrName>
                                        </p:attrNameLst>
                                      </p:cBhvr>
                                      <p:to>
                                        <p:strVal val="visible"/>
                                      </p:to>
                                    </p:set>
                                    <p:animEffect transition="in" filter="dissolve">
                                      <p:cBhvr>
                                        <p:cTn id="74" dur="500"/>
                                        <p:tgtEl>
                                          <p:spTgt spid="57041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570404"/>
                                        </p:tgtEl>
                                        <p:attrNameLst>
                                          <p:attrName>style.visibility</p:attrName>
                                        </p:attrNameLst>
                                      </p:cBhvr>
                                      <p:to>
                                        <p:strVal val="visible"/>
                                      </p:to>
                                    </p:set>
                                    <p:animEffect transition="in" filter="wipe(up)">
                                      <p:cBhvr>
                                        <p:cTn id="79" dur="500"/>
                                        <p:tgtEl>
                                          <p:spTgt spid="570404"/>
                                        </p:tgtEl>
                                      </p:cBhvr>
                                    </p:animEffect>
                                  </p:childTnLst>
                                </p:cTn>
                              </p:par>
                            </p:childTnLst>
                          </p:cTn>
                        </p:par>
                        <p:par>
                          <p:cTn id="80" fill="hold" nodeType="afterGroup">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570406"/>
                                        </p:tgtEl>
                                        <p:attrNameLst>
                                          <p:attrName>style.visibility</p:attrName>
                                        </p:attrNameLst>
                                      </p:cBhvr>
                                      <p:to>
                                        <p:strVal val="visible"/>
                                      </p:to>
                                    </p:set>
                                    <p:animEffect transition="in" filter="dissolve">
                                      <p:cBhvr>
                                        <p:cTn id="83" dur="500"/>
                                        <p:tgtEl>
                                          <p:spTgt spid="57040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570401"/>
                                        </p:tgtEl>
                                        <p:attrNameLst>
                                          <p:attrName>style.visibility</p:attrName>
                                        </p:attrNameLst>
                                      </p:cBhvr>
                                      <p:to>
                                        <p:strVal val="visible"/>
                                      </p:to>
                                    </p:set>
                                    <p:animEffect transition="in" filter="dissolve">
                                      <p:cBhvr>
                                        <p:cTn id="88" dur="500"/>
                                        <p:tgtEl>
                                          <p:spTgt spid="570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82" grpId="0" animBg="1"/>
      <p:bldP spid="570387" grpId="0" animBg="1"/>
      <p:bldP spid="570388" grpId="0" animBg="1"/>
      <p:bldP spid="570393" grpId="0"/>
      <p:bldP spid="570394" grpId="0"/>
      <p:bldP spid="570401" grpId="0" animBg="1"/>
      <p:bldP spid="570403" grpId="0" animBg="1"/>
      <p:bldP spid="570404" grpId="0" animBg="1"/>
      <p:bldP spid="570405" grpId="0"/>
      <p:bldP spid="570406" grpId="0"/>
      <p:bldP spid="570408" grpId="0" animBg="1"/>
      <p:bldP spid="57040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p:cNvSpPr>
            <a:spLocks noGrp="1" noChangeArrowheads="1"/>
          </p:cNvSpPr>
          <p:nvPr>
            <p:ph type="title"/>
          </p:nvPr>
        </p:nvSpPr>
        <p:spPr/>
        <p:txBody>
          <a:bodyPr/>
          <a:lstStyle/>
          <a:p>
            <a:r>
              <a:rPr lang="zh-CN" altLang="en-US">
                <a:latin typeface="隶书" pitchFamily="49" charset="-122"/>
              </a:rPr>
              <a:t>例</a:t>
            </a:r>
            <a:r>
              <a:rPr lang="en-US" altLang="zh-CN">
                <a:latin typeface="隶书" pitchFamily="49" charset="-122"/>
              </a:rPr>
              <a:t>:</a:t>
            </a:r>
            <a:r>
              <a:rPr lang="zh-CN" altLang="en-US">
                <a:latin typeface="隶书" pitchFamily="49" charset="-122"/>
              </a:rPr>
              <a:t>发送端的编码</a:t>
            </a:r>
          </a:p>
        </p:txBody>
      </p:sp>
      <p:sp>
        <p:nvSpPr>
          <p:cNvPr id="571395"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571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endParaRPr lang="en-US" altLang="zh-CN" sz="1200">
              <a:ea typeface="幼圆" pitchFamily="49" charset="-122"/>
            </a:endParaRPr>
          </a:p>
        </p:txBody>
      </p:sp>
      <p:pic>
        <p:nvPicPr>
          <p:cNvPr id="571398" name="Picture 6"/>
          <p:cNvPicPr>
            <a:picLocks noChangeAspect="1" noChangeArrowheads="1"/>
          </p:cNvPicPr>
          <p:nvPr/>
        </p:nvPicPr>
        <p:blipFill>
          <a:blip r:embed="rId7" cstate="print">
            <a:clrChange>
              <a:clrFrom>
                <a:srgbClr val="FFFFFF"/>
              </a:clrFrom>
              <a:clrTo>
                <a:srgbClr val="FFFFFF">
                  <a:alpha val="0"/>
                </a:srgbClr>
              </a:clrTo>
            </a:clrChange>
            <a:lum bright="-36000"/>
            <a:extLst>
              <a:ext uri="{28A0092B-C50C-407E-A947-70E740481C1C}">
                <a14:useLocalDpi xmlns="" xmlns:a14="http://schemas.microsoft.com/office/drawing/2010/main" val="0"/>
              </a:ext>
            </a:extLst>
          </a:blip>
          <a:srcRect/>
          <a:stretch>
            <a:fillRect/>
          </a:stretch>
        </p:blipFill>
        <p:spPr bwMode="auto">
          <a:xfrm>
            <a:off x="827088" y="1557338"/>
            <a:ext cx="7029450" cy="4845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71399" name="Rectangle 7"/>
          <p:cNvSpPr>
            <a:spLocks noChangeArrowheads="1"/>
          </p:cNvSpPr>
          <p:nvPr/>
        </p:nvSpPr>
        <p:spPr bwMode="auto">
          <a:xfrm>
            <a:off x="5940425" y="2840016"/>
            <a:ext cx="2808288" cy="29654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152352" rIns="90000" bIns="41262" anchor="ctr">
            <a:spAutoFit/>
          </a:bodyPr>
          <a:lstStyle>
            <a:lvl1pPr indent="3048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spcBef>
                <a:spcPct val="20000"/>
              </a:spcBef>
              <a:buFont typeface="Wingdings" pitchFamily="2" charset="2"/>
              <a:buChar char="ü"/>
            </a:pPr>
            <a:r>
              <a:rPr lang="zh-CN" altLang="en-US" sz="2000" b="1" dirty="0">
                <a:solidFill>
                  <a:srgbClr val="FF0000"/>
                </a:solidFill>
                <a:latin typeface="+mn-lt"/>
                <a:ea typeface="+mn-ea"/>
              </a:rPr>
              <a:t>加法和减法</a:t>
            </a:r>
          </a:p>
          <a:p>
            <a:pPr>
              <a:lnSpc>
                <a:spcPct val="120000"/>
              </a:lnSpc>
              <a:spcBef>
                <a:spcPct val="20000"/>
              </a:spcBef>
            </a:pPr>
            <a:r>
              <a:rPr lang="zh-CN" altLang="en-US" sz="2000" b="1" dirty="0">
                <a:latin typeface="+mn-lt"/>
                <a:ea typeface="+mn-ea"/>
              </a:rPr>
              <a:t>   同异或运算（不带进位或借位），即按模</a:t>
            </a:r>
            <a:r>
              <a:rPr lang="en-US" altLang="zh-CN" sz="2000" b="1" dirty="0">
                <a:latin typeface="+mn-lt"/>
                <a:ea typeface="+mn-ea"/>
              </a:rPr>
              <a:t>2</a:t>
            </a:r>
            <a:r>
              <a:rPr lang="zh-CN" altLang="en-US" sz="2000" b="1" dirty="0">
                <a:latin typeface="+mn-lt"/>
                <a:ea typeface="+mn-ea"/>
              </a:rPr>
              <a:t>进行。</a:t>
            </a:r>
          </a:p>
          <a:p>
            <a:pPr>
              <a:lnSpc>
                <a:spcPct val="120000"/>
              </a:lnSpc>
              <a:spcBef>
                <a:spcPct val="20000"/>
              </a:spcBef>
              <a:buFont typeface="Wingdings" pitchFamily="2" charset="2"/>
              <a:buChar char="ü"/>
            </a:pPr>
            <a:r>
              <a:rPr lang="zh-CN" altLang="en-US" sz="2000" b="1" dirty="0">
                <a:solidFill>
                  <a:srgbClr val="FF0000"/>
                </a:solidFill>
                <a:latin typeface="+mn-lt"/>
                <a:ea typeface="+mn-ea"/>
              </a:rPr>
              <a:t>除法</a:t>
            </a:r>
          </a:p>
          <a:p>
            <a:pPr>
              <a:lnSpc>
                <a:spcPct val="120000"/>
              </a:lnSpc>
              <a:spcBef>
                <a:spcPct val="20000"/>
              </a:spcBef>
            </a:pPr>
            <a:r>
              <a:rPr lang="zh-CN" altLang="en-US" sz="2000" b="1" dirty="0">
                <a:latin typeface="+mn-lt"/>
                <a:ea typeface="+mn-ea"/>
              </a:rPr>
              <a:t>   同代数运算，只是在作减法时按模</a:t>
            </a:r>
            <a:r>
              <a:rPr lang="en-US" altLang="zh-CN" sz="2000" b="1" dirty="0">
                <a:latin typeface="+mn-lt"/>
                <a:ea typeface="+mn-ea"/>
              </a:rPr>
              <a:t>2</a:t>
            </a:r>
            <a:r>
              <a:rPr lang="zh-CN" altLang="en-US" sz="2000" b="1" dirty="0">
                <a:latin typeface="+mn-lt"/>
                <a:ea typeface="+mn-ea"/>
              </a:rPr>
              <a:t>进行。</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p:txBody>
          <a:bodyPr/>
          <a:lstStyle/>
          <a:p>
            <a:r>
              <a:rPr lang="zh-CN" altLang="en-US">
                <a:latin typeface="隶书" pitchFamily="49" charset="-122"/>
              </a:rPr>
              <a:t>例</a:t>
            </a:r>
            <a:r>
              <a:rPr lang="en-US" altLang="zh-CN">
                <a:latin typeface="隶书" pitchFamily="49" charset="-122"/>
              </a:rPr>
              <a:t>:</a:t>
            </a:r>
            <a:r>
              <a:rPr lang="zh-CN" altLang="en-US">
                <a:latin typeface="隶书" pitchFamily="49" charset="-122"/>
              </a:rPr>
              <a:t>接收端的校验</a:t>
            </a:r>
          </a:p>
        </p:txBody>
      </p:sp>
      <p:sp>
        <p:nvSpPr>
          <p:cNvPr id="572419"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57242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endParaRPr lang="en-US" altLang="zh-CN" sz="1200">
              <a:ea typeface="幼圆" pitchFamily="49" charset="-122"/>
            </a:endParaRPr>
          </a:p>
        </p:txBody>
      </p:sp>
      <p:pic>
        <p:nvPicPr>
          <p:cNvPr id="572422" name="Picture 6"/>
          <p:cNvPicPr>
            <a:picLocks noChangeAspect="1" noChangeArrowheads="1"/>
          </p:cNvPicPr>
          <p:nvPr/>
        </p:nvPicPr>
        <p:blipFill>
          <a:blip r:embed="rId7" cstate="print">
            <a:clrChange>
              <a:clrFrom>
                <a:srgbClr val="FFFFFF"/>
              </a:clrFrom>
              <a:clrTo>
                <a:srgbClr val="FFFFFF">
                  <a:alpha val="0"/>
                </a:srgbClr>
              </a:clrTo>
            </a:clrChange>
            <a:lum bright="-48000"/>
            <a:extLst>
              <a:ext uri="{28A0092B-C50C-407E-A947-70E740481C1C}">
                <a14:useLocalDpi xmlns="" xmlns:a14="http://schemas.microsoft.com/office/drawing/2010/main" val="0"/>
              </a:ext>
            </a:extLst>
          </a:blip>
          <a:srcRect/>
          <a:stretch>
            <a:fillRect/>
          </a:stretch>
        </p:blipFill>
        <p:spPr bwMode="auto">
          <a:xfrm>
            <a:off x="827088" y="1628775"/>
            <a:ext cx="7175500" cy="4803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72424" name="Rectangle 8"/>
          <p:cNvSpPr>
            <a:spLocks noChangeArrowheads="1"/>
          </p:cNvSpPr>
          <p:nvPr/>
        </p:nvSpPr>
        <p:spPr bwMode="auto">
          <a:xfrm>
            <a:off x="6084888" y="2906691"/>
            <a:ext cx="2808287" cy="29654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152352" rIns="90000" bIns="41262" anchor="ctr">
            <a:spAutoFit/>
          </a:bodyPr>
          <a:lstStyle>
            <a:lvl1pPr indent="3048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spcBef>
                <a:spcPct val="20000"/>
              </a:spcBef>
              <a:buFont typeface="Wingdings" pitchFamily="2" charset="2"/>
              <a:buChar char="ü"/>
            </a:pPr>
            <a:r>
              <a:rPr lang="zh-CN" altLang="en-US" sz="2000" b="1" dirty="0">
                <a:solidFill>
                  <a:srgbClr val="FF0000"/>
                </a:solidFill>
                <a:latin typeface="+mn-lt"/>
                <a:ea typeface="+mn-ea"/>
              </a:rPr>
              <a:t>加法和减法</a:t>
            </a:r>
          </a:p>
          <a:p>
            <a:pPr>
              <a:lnSpc>
                <a:spcPct val="120000"/>
              </a:lnSpc>
              <a:spcBef>
                <a:spcPct val="20000"/>
              </a:spcBef>
            </a:pPr>
            <a:r>
              <a:rPr lang="zh-CN" altLang="en-US" sz="2000" b="1" dirty="0">
                <a:latin typeface="+mn-lt"/>
                <a:ea typeface="+mn-ea"/>
              </a:rPr>
              <a:t>   同异或运算（不带进位或借位），即按模</a:t>
            </a:r>
            <a:r>
              <a:rPr lang="en-US" altLang="zh-CN" sz="2000" b="1" dirty="0">
                <a:latin typeface="+mn-lt"/>
                <a:ea typeface="+mn-ea"/>
              </a:rPr>
              <a:t>2</a:t>
            </a:r>
            <a:r>
              <a:rPr lang="zh-CN" altLang="en-US" sz="2000" b="1" dirty="0">
                <a:latin typeface="+mn-lt"/>
                <a:ea typeface="+mn-ea"/>
              </a:rPr>
              <a:t>进行。</a:t>
            </a:r>
          </a:p>
          <a:p>
            <a:pPr>
              <a:lnSpc>
                <a:spcPct val="120000"/>
              </a:lnSpc>
              <a:spcBef>
                <a:spcPct val="20000"/>
              </a:spcBef>
              <a:buFont typeface="Wingdings" pitchFamily="2" charset="2"/>
              <a:buChar char="ü"/>
            </a:pPr>
            <a:r>
              <a:rPr lang="zh-CN" altLang="en-US" sz="2000" b="1" dirty="0">
                <a:solidFill>
                  <a:srgbClr val="FF0000"/>
                </a:solidFill>
                <a:latin typeface="+mn-lt"/>
                <a:ea typeface="+mn-ea"/>
              </a:rPr>
              <a:t>除法</a:t>
            </a:r>
          </a:p>
          <a:p>
            <a:pPr>
              <a:lnSpc>
                <a:spcPct val="120000"/>
              </a:lnSpc>
              <a:spcBef>
                <a:spcPct val="20000"/>
              </a:spcBef>
            </a:pPr>
            <a:r>
              <a:rPr lang="zh-CN" altLang="en-US" sz="2000" b="1" dirty="0">
                <a:latin typeface="+mn-lt"/>
                <a:ea typeface="+mn-ea"/>
              </a:rPr>
              <a:t>   同代数运算，只是在作减法时按模</a:t>
            </a:r>
            <a:r>
              <a:rPr lang="en-US" altLang="zh-CN" sz="2000" b="1" dirty="0">
                <a:latin typeface="+mn-lt"/>
                <a:ea typeface="+mn-ea"/>
              </a:rPr>
              <a:t>2</a:t>
            </a:r>
            <a:r>
              <a:rPr lang="zh-CN" altLang="en-US" sz="2000" b="1" dirty="0">
                <a:latin typeface="+mn-lt"/>
                <a:ea typeface="+mn-ea"/>
              </a:rPr>
              <a:t>进行。</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r>
              <a:rPr lang="zh-CN" altLang="en-US"/>
              <a:t>标准生成多项式</a:t>
            </a:r>
          </a:p>
        </p:txBody>
      </p:sp>
      <p:sp>
        <p:nvSpPr>
          <p:cNvPr id="573477" name="Rectangle 37"/>
          <p:cNvSpPr>
            <a:spLocks noGrp="1" noChangeArrowheads="1"/>
          </p:cNvSpPr>
          <p:nvPr>
            <p:ph type="body" idx="1"/>
          </p:nvPr>
        </p:nvSpPr>
        <p:spPr>
          <a:xfrm>
            <a:off x="809625" y="4149725"/>
            <a:ext cx="6283325" cy="2232025"/>
          </a:xfrm>
        </p:spPr>
        <p:txBody>
          <a:bodyPr/>
          <a:lstStyle/>
          <a:p>
            <a:pPr>
              <a:lnSpc>
                <a:spcPct val="150000"/>
              </a:lnSpc>
            </a:pPr>
            <a:r>
              <a:rPr lang="zh-CN" altLang="en-US" sz="2400" dirty="0">
                <a:solidFill>
                  <a:srgbClr val="FC0404"/>
                </a:solidFill>
              </a:rPr>
              <a:t>多项式和比特串的对应关系为</a:t>
            </a:r>
            <a:r>
              <a:rPr lang="zh-CN" altLang="en-US" sz="2400" dirty="0"/>
              <a:t>：</a:t>
            </a:r>
          </a:p>
          <a:p>
            <a:pPr>
              <a:lnSpc>
                <a:spcPct val="150000"/>
              </a:lnSpc>
              <a:buFont typeface="Wingdings" pitchFamily="2" charset="2"/>
              <a:buNone/>
            </a:pPr>
            <a:r>
              <a:rPr lang="zh-CN" altLang="en-US" sz="2000" dirty="0">
                <a:solidFill>
                  <a:srgbClr val="0000FF"/>
                </a:solidFill>
              </a:rPr>
              <a:t>       比特串</a:t>
            </a:r>
            <a:r>
              <a:rPr lang="zh-CN" altLang="en-US" sz="2000" dirty="0"/>
              <a:t>：</a:t>
            </a:r>
            <a:r>
              <a:rPr lang="en-US" altLang="zh-CN" sz="2000" dirty="0"/>
              <a:t>b</a:t>
            </a:r>
            <a:r>
              <a:rPr lang="en-US" altLang="zh-CN" sz="2000" baseline="-25000" dirty="0"/>
              <a:t>n-1</a:t>
            </a:r>
            <a:r>
              <a:rPr lang="en-US" altLang="zh-CN" sz="2000" dirty="0"/>
              <a:t>b</a:t>
            </a:r>
            <a:r>
              <a:rPr lang="en-US" altLang="zh-CN" sz="2000" baseline="-25000" dirty="0"/>
              <a:t>n-2</a:t>
            </a:r>
            <a:r>
              <a:rPr lang="en-US" altLang="zh-CN" sz="2000" dirty="0"/>
              <a:t> … b</a:t>
            </a:r>
            <a:r>
              <a:rPr lang="en-US" altLang="zh-CN" sz="2000" baseline="-25000" dirty="0"/>
              <a:t>2</a:t>
            </a:r>
            <a:r>
              <a:rPr lang="en-US" altLang="zh-CN" sz="2000" dirty="0"/>
              <a:t>b</a:t>
            </a:r>
            <a:r>
              <a:rPr lang="en-US" altLang="zh-CN" sz="2000" baseline="-25000" dirty="0"/>
              <a:t>1</a:t>
            </a:r>
            <a:r>
              <a:rPr lang="en-US" altLang="zh-CN" sz="2000" dirty="0"/>
              <a:t>b</a:t>
            </a:r>
            <a:r>
              <a:rPr lang="en-US" altLang="zh-CN" sz="2000" baseline="-25000" dirty="0"/>
              <a:t>0</a:t>
            </a:r>
          </a:p>
          <a:p>
            <a:pPr>
              <a:lnSpc>
                <a:spcPct val="150000"/>
              </a:lnSpc>
              <a:buFont typeface="Wingdings" pitchFamily="2" charset="2"/>
              <a:buNone/>
            </a:pPr>
            <a:r>
              <a:rPr lang="zh-CN" altLang="en-US" sz="2000" dirty="0">
                <a:solidFill>
                  <a:srgbClr val="0000FF"/>
                </a:solidFill>
              </a:rPr>
              <a:t>       多项式</a:t>
            </a:r>
            <a:r>
              <a:rPr lang="zh-CN" altLang="en-US" sz="2000" dirty="0"/>
              <a:t>：</a:t>
            </a:r>
            <a:r>
              <a:rPr lang="en-US" altLang="zh-CN" sz="2000" dirty="0"/>
              <a:t>b</a:t>
            </a:r>
            <a:r>
              <a:rPr lang="en-US" altLang="zh-CN" sz="2000" baseline="-25000" dirty="0"/>
              <a:t>n-1</a:t>
            </a:r>
            <a:r>
              <a:rPr lang="en-US" altLang="zh-CN" sz="2000" dirty="0"/>
              <a:t>x</a:t>
            </a:r>
            <a:r>
              <a:rPr lang="en-US" altLang="zh-CN" sz="2000" baseline="30000" dirty="0"/>
              <a:t>n-1</a:t>
            </a:r>
            <a:r>
              <a:rPr lang="en-US" altLang="zh-CN" sz="2000" dirty="0"/>
              <a:t>+b</a:t>
            </a:r>
            <a:r>
              <a:rPr lang="en-US" altLang="zh-CN" sz="2000" baseline="-25000" dirty="0"/>
              <a:t>n-2</a:t>
            </a:r>
            <a:r>
              <a:rPr lang="en-US" altLang="zh-CN" sz="2000" dirty="0"/>
              <a:t>x</a:t>
            </a:r>
            <a:r>
              <a:rPr lang="en-US" altLang="zh-CN" sz="2000" baseline="30000" dirty="0"/>
              <a:t>n-2</a:t>
            </a:r>
            <a:r>
              <a:rPr lang="en-US" altLang="zh-CN" sz="2000" dirty="0"/>
              <a:t>+ …+b</a:t>
            </a:r>
            <a:r>
              <a:rPr lang="en-US" altLang="zh-CN" sz="2000" baseline="-25000" dirty="0"/>
              <a:t>2</a:t>
            </a:r>
            <a:r>
              <a:rPr lang="en-US" altLang="zh-CN" sz="2000" dirty="0"/>
              <a:t>x</a:t>
            </a:r>
            <a:r>
              <a:rPr lang="en-US" altLang="zh-CN" sz="2000" baseline="30000" dirty="0"/>
              <a:t>2</a:t>
            </a:r>
            <a:r>
              <a:rPr lang="en-US" altLang="zh-CN" sz="2000" dirty="0"/>
              <a:t>+b</a:t>
            </a:r>
            <a:r>
              <a:rPr lang="en-US" altLang="zh-CN" sz="2000" baseline="-25000" dirty="0"/>
              <a:t>1</a:t>
            </a:r>
            <a:r>
              <a:rPr lang="en-US" altLang="zh-CN" sz="2000" dirty="0"/>
              <a:t>x</a:t>
            </a:r>
            <a:r>
              <a:rPr lang="en-US" altLang="zh-CN" sz="2000" baseline="30000" dirty="0"/>
              <a:t>1</a:t>
            </a:r>
            <a:r>
              <a:rPr lang="en-US" altLang="zh-CN" sz="2000" dirty="0"/>
              <a:t>+b</a:t>
            </a:r>
            <a:r>
              <a:rPr lang="en-US" altLang="zh-CN" sz="2000" baseline="-25000" dirty="0"/>
              <a:t>0</a:t>
            </a:r>
            <a:r>
              <a:rPr lang="en-US" altLang="zh-CN" sz="2000" dirty="0"/>
              <a:t>x</a:t>
            </a:r>
            <a:r>
              <a:rPr lang="en-US" altLang="zh-CN" sz="2000" baseline="30000" dirty="0"/>
              <a:t>0</a:t>
            </a:r>
            <a:endParaRPr lang="zh-CN" altLang="en-US" sz="2000" dirty="0"/>
          </a:p>
        </p:txBody>
      </p:sp>
      <p:sp>
        <p:nvSpPr>
          <p:cNvPr id="573443"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57344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endParaRPr lang="en-US" altLang="zh-CN" sz="1200">
              <a:ea typeface="幼圆" pitchFamily="49" charset="-122"/>
            </a:endParaRPr>
          </a:p>
        </p:txBody>
      </p:sp>
      <p:graphicFrame>
        <p:nvGraphicFramePr>
          <p:cNvPr id="573478" name="Group 38"/>
          <p:cNvGraphicFramePr>
            <a:graphicFrameLocks noGrp="1"/>
          </p:cNvGraphicFramePr>
          <p:nvPr>
            <p:ph idx="4294967295"/>
          </p:nvPr>
        </p:nvGraphicFramePr>
        <p:xfrm>
          <a:off x="827088" y="1773238"/>
          <a:ext cx="7958137" cy="2286000"/>
        </p:xfrm>
        <a:graphic>
          <a:graphicData uri="http://schemas.openxmlformats.org/drawingml/2006/table">
            <a:tbl>
              <a:tblPr/>
              <a:tblGrid>
                <a:gridCol w="1608137"/>
                <a:gridCol w="4487863"/>
                <a:gridCol w="1862137"/>
              </a:tblGrid>
              <a:tr h="3476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0" i="0" u="none" strike="noStrike" cap="none" normalizeH="0" baseline="0" smtClean="0">
                          <a:ln>
                            <a:noFill/>
                          </a:ln>
                          <a:solidFill>
                            <a:schemeClr val="tx1"/>
                          </a:solidFill>
                          <a:effectLst/>
                          <a:latin typeface="Arial" charset="0"/>
                          <a:ea typeface="华文楷体" pitchFamily="2" charset="-122"/>
                        </a:rPr>
                        <a:t>Name</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0" i="0" u="none" strike="noStrike" cap="none" normalizeH="0" baseline="0" smtClean="0">
                          <a:ln>
                            <a:noFill/>
                          </a:ln>
                          <a:solidFill>
                            <a:schemeClr val="tx1"/>
                          </a:solidFill>
                          <a:effectLst/>
                          <a:latin typeface="Arial" charset="0"/>
                          <a:ea typeface="华文楷体" pitchFamily="2" charset="-122"/>
                        </a:rPr>
                        <a:t>Polynomial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0" i="0" u="none" strike="noStrike" cap="none" normalizeH="0" baseline="0" smtClean="0">
                          <a:ln>
                            <a:noFill/>
                          </a:ln>
                          <a:solidFill>
                            <a:schemeClr val="tx1"/>
                          </a:solidFill>
                          <a:effectLst/>
                          <a:latin typeface="Arial" charset="0"/>
                          <a:ea typeface="华文楷体" pitchFamily="2" charset="-122"/>
                        </a:rPr>
                        <a:t>Application</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18732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0" u="none" strike="noStrike" cap="none" normalizeH="0" baseline="0" smtClean="0">
                          <a:ln>
                            <a:noFill/>
                          </a:ln>
                          <a:solidFill>
                            <a:schemeClr val="hlink"/>
                          </a:solidFill>
                          <a:effectLst>
                            <a:outerShdw blurRad="38100" dist="38100" dir="2700000" algn="tl">
                              <a:srgbClr val="C0C0C0"/>
                            </a:outerShdw>
                          </a:effectLst>
                          <a:latin typeface="Arial" charset="0"/>
                          <a:ea typeface="华文楷体" pitchFamily="2" charset="-122"/>
                        </a:rPr>
                        <a:t>CRC-8</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1" i="1" u="none" strike="noStrike" cap="none" normalizeH="0" baseline="0" smtClean="0">
                          <a:ln>
                            <a:noFill/>
                          </a:ln>
                          <a:solidFill>
                            <a:schemeClr val="tx1"/>
                          </a:solidFill>
                          <a:effectLst/>
                          <a:latin typeface="Arial" charset="0"/>
                          <a:ea typeface="华文楷体" pitchFamily="2" charset="-122"/>
                        </a:rPr>
                        <a:t>x</a:t>
                      </a:r>
                      <a:r>
                        <a:rPr kumimoji="1" lang="en-US" altLang="zh-CN" sz="2000" b="1" i="0" u="none" strike="noStrike" cap="none" normalizeH="0" baseline="30000" smtClean="0">
                          <a:ln>
                            <a:noFill/>
                          </a:ln>
                          <a:solidFill>
                            <a:schemeClr val="tx1"/>
                          </a:solidFill>
                          <a:effectLst/>
                          <a:latin typeface="Arial" charset="0"/>
                          <a:ea typeface="华文楷体" pitchFamily="2" charset="-122"/>
                        </a:rPr>
                        <a:t>8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30000" smtClean="0">
                          <a:ln>
                            <a:noFill/>
                          </a:ln>
                          <a:solidFill>
                            <a:schemeClr val="tx1"/>
                          </a:solidFill>
                          <a:effectLst/>
                          <a:latin typeface="Arial" charset="0"/>
                          <a:ea typeface="华文楷体" pitchFamily="2" charset="-122"/>
                        </a:rPr>
                        <a:t>2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0" u="none" strike="noStrike" cap="none" normalizeH="0" baseline="0" smtClean="0">
                          <a:ln>
                            <a:noFill/>
                          </a:ln>
                          <a:solidFill>
                            <a:schemeClr val="tx1"/>
                          </a:solidFill>
                          <a:effectLst/>
                          <a:latin typeface="Arial" charset="0"/>
                          <a:ea typeface="华文楷体" pitchFamily="2" charset="-122"/>
                        </a:rPr>
                        <a:t>ATM header</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8732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0" u="none" strike="noStrike" cap="none" normalizeH="0" baseline="0" smtClean="0">
                          <a:ln>
                            <a:noFill/>
                          </a:ln>
                          <a:solidFill>
                            <a:schemeClr val="hlink"/>
                          </a:solidFill>
                          <a:effectLst>
                            <a:outerShdw blurRad="38100" dist="38100" dir="2700000" algn="tl">
                              <a:srgbClr val="C0C0C0"/>
                            </a:outerShdw>
                          </a:effectLst>
                          <a:latin typeface="Arial" charset="0"/>
                          <a:ea typeface="华文楷体" pitchFamily="2" charset="-122"/>
                        </a:rPr>
                        <a:t>CRC-10</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30000" smtClean="0">
                          <a:ln>
                            <a:noFill/>
                          </a:ln>
                          <a:solidFill>
                            <a:schemeClr val="tx1"/>
                          </a:solidFill>
                          <a:effectLst/>
                          <a:latin typeface="Arial" charset="0"/>
                          <a:ea typeface="华文楷体" pitchFamily="2" charset="-122"/>
                        </a:rPr>
                        <a:t>10</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30000" smtClean="0">
                          <a:ln>
                            <a:noFill/>
                          </a:ln>
                          <a:solidFill>
                            <a:schemeClr val="tx1"/>
                          </a:solidFill>
                          <a:effectLst/>
                          <a:latin typeface="Arial" charset="0"/>
                          <a:ea typeface="华文楷体" pitchFamily="2" charset="-122"/>
                        </a:rPr>
                        <a:t>9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30000" smtClean="0">
                          <a:ln>
                            <a:noFill/>
                          </a:ln>
                          <a:solidFill>
                            <a:schemeClr val="tx1"/>
                          </a:solidFill>
                          <a:effectLst/>
                          <a:latin typeface="Arial" charset="0"/>
                          <a:ea typeface="华文楷体" pitchFamily="2" charset="-122"/>
                        </a:rPr>
                        <a:t>5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30000" smtClean="0">
                          <a:ln>
                            <a:noFill/>
                          </a:ln>
                          <a:solidFill>
                            <a:schemeClr val="tx1"/>
                          </a:solidFill>
                          <a:effectLst/>
                          <a:latin typeface="Arial" charset="0"/>
                          <a:ea typeface="华文楷体" pitchFamily="2" charset="-122"/>
                        </a:rPr>
                        <a:t>4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30000" smtClean="0">
                          <a:ln>
                            <a:noFill/>
                          </a:ln>
                          <a:solidFill>
                            <a:schemeClr val="tx1"/>
                          </a:solidFill>
                          <a:effectLst/>
                          <a:latin typeface="Arial" charset="0"/>
                          <a:ea typeface="华文楷体" pitchFamily="2" charset="-122"/>
                        </a:rPr>
                        <a:t> 2</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0" u="none" strike="noStrike" cap="none" normalizeH="0" baseline="0" smtClean="0">
                          <a:ln>
                            <a:noFill/>
                          </a:ln>
                          <a:solidFill>
                            <a:schemeClr val="tx1"/>
                          </a:solidFill>
                          <a:effectLst/>
                          <a:latin typeface="Arial" charset="0"/>
                          <a:ea typeface="华文楷体" pitchFamily="2" charset="-122"/>
                        </a:rPr>
                        <a:t>ATM AAL</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3177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0" u="none" strike="noStrike" cap="none" normalizeH="0" baseline="0" smtClean="0">
                          <a:ln>
                            <a:noFill/>
                          </a:ln>
                          <a:solidFill>
                            <a:schemeClr val="hlink"/>
                          </a:solidFill>
                          <a:effectLst>
                            <a:outerShdw blurRad="38100" dist="38100" dir="2700000" algn="tl">
                              <a:srgbClr val="C0C0C0"/>
                            </a:outerShdw>
                          </a:effectLst>
                          <a:latin typeface="Arial" charset="0"/>
                          <a:ea typeface="华文楷体" pitchFamily="2" charset="-122"/>
                        </a:rPr>
                        <a:t>ITU-16</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30000" smtClean="0">
                          <a:ln>
                            <a:noFill/>
                          </a:ln>
                          <a:solidFill>
                            <a:schemeClr val="tx1"/>
                          </a:solidFill>
                          <a:effectLst/>
                          <a:latin typeface="Arial" charset="0"/>
                          <a:ea typeface="华文楷体" pitchFamily="2" charset="-122"/>
                        </a:rPr>
                        <a:t>16</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30000" smtClean="0">
                          <a:ln>
                            <a:noFill/>
                          </a:ln>
                          <a:solidFill>
                            <a:schemeClr val="tx1"/>
                          </a:solidFill>
                          <a:effectLst/>
                          <a:latin typeface="Arial" charset="0"/>
                          <a:ea typeface="华文楷体" pitchFamily="2" charset="-122"/>
                        </a:rPr>
                        <a:t>12</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1" i="0" u="none" strike="noStrike" cap="none" normalizeH="0" baseline="0" smtClean="0">
                          <a:ln>
                            <a:noFill/>
                          </a:ln>
                          <a:solidFill>
                            <a:schemeClr val="tx1"/>
                          </a:solidFill>
                          <a:effectLst/>
                          <a:latin typeface="Arial" charset="0"/>
                          <a:ea typeface="华文楷体" pitchFamily="2" charset="-122"/>
                        </a:rPr>
                        <a:t>+</a:t>
                      </a:r>
                      <a:r>
                        <a:rPr kumimoji="1" lang="en-US" altLang="zh-CN" sz="2000" b="0" i="0" u="none" strike="noStrike" cap="none" normalizeH="0" baseline="0" smtClean="0">
                          <a:ln>
                            <a:noFill/>
                          </a:ln>
                          <a:solidFill>
                            <a:schemeClr val="tx1"/>
                          </a:solidFill>
                          <a:effectLst/>
                          <a:latin typeface="Arial" charset="0"/>
                          <a:ea typeface="华文楷体" pitchFamily="2" charset="-122"/>
                        </a:rPr>
                        <a:t> </a:t>
                      </a:r>
                      <a:r>
                        <a:rPr kumimoji="1" lang="en-US" altLang="zh-CN" sz="2000" b="0" i="1" u="none" strike="noStrike" cap="none" normalizeH="0" baseline="0" smtClean="0">
                          <a:ln>
                            <a:noFill/>
                          </a:ln>
                          <a:solidFill>
                            <a:schemeClr val="tx1"/>
                          </a:solidFill>
                          <a:effectLst/>
                          <a:latin typeface="Arial" charset="0"/>
                          <a:ea typeface="华文楷体" pitchFamily="2" charset="-122"/>
                        </a:rPr>
                        <a:t>x</a:t>
                      </a:r>
                      <a:r>
                        <a:rPr kumimoji="1" lang="en-US" altLang="zh-CN" sz="2000" b="0" i="0" u="none" strike="noStrike" cap="none" normalizeH="0" baseline="30000" smtClean="0">
                          <a:ln>
                            <a:noFill/>
                          </a:ln>
                          <a:solidFill>
                            <a:schemeClr val="tx1"/>
                          </a:solidFill>
                          <a:effectLst/>
                          <a:latin typeface="Arial" charset="0"/>
                          <a:ea typeface="华文楷体" pitchFamily="2" charset="-122"/>
                        </a:rPr>
                        <a:t>5 </a:t>
                      </a:r>
                      <a:r>
                        <a:rPr kumimoji="1" lang="en-US" altLang="zh-CN" sz="2000" b="1" i="0" u="none" strike="noStrike" cap="none" normalizeH="0" baseline="0" smtClean="0">
                          <a:ln>
                            <a:noFill/>
                          </a:ln>
                          <a:solidFill>
                            <a:schemeClr val="tx1"/>
                          </a:solidFill>
                          <a:effectLst/>
                          <a:latin typeface="Arial" charset="0"/>
                          <a:ea typeface="华文楷体" pitchFamily="2" charset="-122"/>
                        </a:rPr>
                        <a:t>+ </a:t>
                      </a:r>
                      <a:r>
                        <a:rPr kumimoji="1" lang="en-US" altLang="zh-CN" sz="2000" b="0" i="0" u="none" strike="noStrike" cap="none" normalizeH="0" baseline="0" smtClean="0">
                          <a:ln>
                            <a:noFill/>
                          </a:ln>
                          <a:solidFill>
                            <a:schemeClr val="tx1"/>
                          </a:solidFill>
                          <a:effectLst/>
                          <a:latin typeface="Arial" charset="0"/>
                          <a:ea typeface="华文楷体" pitchFamily="2" charset="-122"/>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0" u="none" strike="noStrike" cap="none" normalizeH="0" baseline="0" smtClean="0">
                          <a:ln>
                            <a:noFill/>
                          </a:ln>
                          <a:solidFill>
                            <a:schemeClr val="tx1"/>
                          </a:solidFill>
                          <a:effectLst/>
                          <a:latin typeface="Arial" charset="0"/>
                          <a:ea typeface="华文楷体" pitchFamily="2" charset="-122"/>
                        </a:rPr>
                        <a:t>HDLC</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131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0" u="none" strike="noStrike" cap="none" normalizeH="0" baseline="0" smtClean="0">
                          <a:ln>
                            <a:noFill/>
                          </a:ln>
                          <a:solidFill>
                            <a:schemeClr val="hlink"/>
                          </a:solidFill>
                          <a:effectLst>
                            <a:outerShdw blurRad="38100" dist="38100" dir="2700000" algn="tl">
                              <a:srgbClr val="C0C0C0"/>
                            </a:outerShdw>
                          </a:effectLst>
                          <a:latin typeface="Arial" charset="0"/>
                          <a:ea typeface="华文楷体" pitchFamily="2" charset="-122"/>
                        </a:rPr>
                        <a:t>ITU-32</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32</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26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23</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22</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16</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12</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11</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10</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1" u="none" strike="noStrike" cap="none" normalizeH="0" baseline="0" dirty="0" smtClean="0">
                          <a:ln>
                            <a:noFill/>
                          </a:ln>
                          <a:solidFill>
                            <a:schemeClr val="tx1"/>
                          </a:solidFill>
                          <a:effectLst/>
                          <a:latin typeface="Arial" charset="0"/>
                          <a:ea typeface="华文楷体" pitchFamily="2" charset="-122"/>
                        </a:rPr>
                        <a:t>x</a:t>
                      </a:r>
                      <a:r>
                        <a:rPr kumimoji="1" lang="en-US" altLang="zh-CN" sz="2000" b="1" i="0" u="none" strike="noStrike" cap="none" normalizeH="0" baseline="30000" dirty="0" smtClean="0">
                          <a:ln>
                            <a:noFill/>
                          </a:ln>
                          <a:solidFill>
                            <a:schemeClr val="tx1"/>
                          </a:solidFill>
                          <a:effectLst/>
                          <a:latin typeface="Arial" charset="0"/>
                          <a:ea typeface="华文楷体" pitchFamily="2" charset="-122"/>
                        </a:rPr>
                        <a:t>8</a:t>
                      </a:r>
                      <a:r>
                        <a:rPr kumimoji="1" lang="en-US" altLang="zh-CN" sz="2000" b="1"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7</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5</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4</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a:t>
                      </a:r>
                      <a:r>
                        <a:rPr kumimoji="1" lang="en-US" altLang="zh-CN" sz="2000" b="0" i="0" u="none" strike="noStrike" cap="none" normalizeH="0" baseline="30000" dirty="0" smtClean="0">
                          <a:ln>
                            <a:noFill/>
                          </a:ln>
                          <a:solidFill>
                            <a:schemeClr val="tx1"/>
                          </a:solidFill>
                          <a:effectLst/>
                          <a:latin typeface="Arial" charset="0"/>
                          <a:ea typeface="华文楷体" pitchFamily="2" charset="-122"/>
                        </a:rPr>
                        <a:t>2</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a:t>
                      </a:r>
                      <a:r>
                        <a:rPr kumimoji="1" lang="en-US" altLang="zh-CN" sz="2000" b="0" i="1" u="none" strike="noStrike" cap="none" normalizeH="0" baseline="0" dirty="0" smtClean="0">
                          <a:ln>
                            <a:noFill/>
                          </a:ln>
                          <a:solidFill>
                            <a:schemeClr val="tx1"/>
                          </a:solidFill>
                          <a:effectLst/>
                          <a:latin typeface="Arial" charset="0"/>
                          <a:ea typeface="华文楷体" pitchFamily="2" charset="-122"/>
                        </a:rPr>
                        <a:t>x </a:t>
                      </a:r>
                      <a:r>
                        <a:rPr kumimoji="1" lang="en-US" altLang="zh-CN" sz="2000" b="1" i="0" u="none" strike="noStrike" cap="none" normalizeH="0" baseline="0" dirty="0" smtClean="0">
                          <a:ln>
                            <a:noFill/>
                          </a:ln>
                          <a:solidFill>
                            <a:schemeClr val="tx1"/>
                          </a:solidFill>
                          <a:effectLst/>
                          <a:latin typeface="Arial" charset="0"/>
                          <a:ea typeface="华文楷体" pitchFamily="2" charset="-122"/>
                        </a:rPr>
                        <a:t>+</a:t>
                      </a:r>
                      <a:r>
                        <a:rPr kumimoji="1" lang="en-US" altLang="zh-CN" sz="2000" b="0" i="0" u="none" strike="noStrike" cap="none" normalizeH="0" baseline="0" dirty="0" smtClean="0">
                          <a:ln>
                            <a:noFill/>
                          </a:ln>
                          <a:solidFill>
                            <a:schemeClr val="tx1"/>
                          </a:solidFill>
                          <a:effectLst/>
                          <a:latin typeface="Arial" charset="0"/>
                          <a:ea typeface="华文楷体" pitchFamily="2" charset="-122"/>
                        </a:rPr>
                        <a:t>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ts val="300"/>
                        </a:spcAft>
                        <a:buClr>
                          <a:srgbClr val="000000"/>
                        </a:buClr>
                        <a:buSzTx/>
                        <a:buFont typeface="Wingdings" pitchFamily="2" charset="2"/>
                        <a:buNone/>
                        <a:tabLst/>
                      </a:pPr>
                      <a:r>
                        <a:rPr kumimoji="1" lang="en-US" altLang="zh-CN" sz="2000" b="0" i="0" u="none" strike="noStrike" cap="none" normalizeH="0" baseline="0" dirty="0" smtClean="0">
                          <a:ln>
                            <a:noFill/>
                          </a:ln>
                          <a:solidFill>
                            <a:schemeClr val="tx1"/>
                          </a:solidFill>
                          <a:effectLst/>
                          <a:latin typeface="Arial" charset="0"/>
                          <a:ea typeface="华文楷体" pitchFamily="2" charset="-122"/>
                        </a:rPr>
                        <a:t>LANs</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r>
            </a:tbl>
          </a:graphicData>
        </a:graphic>
      </p:graphicFrame>
      <p:pic>
        <p:nvPicPr>
          <p:cNvPr id="573479" name="Picture 39"/>
          <p:cNvPicPr>
            <a:picLocks noChangeAspect="1" noChangeArrowheads="1"/>
          </p:cNvPicPr>
          <p:nvPr/>
        </p:nvPicPr>
        <p:blipFill>
          <a:blip r:embed="rId7" cstate="print">
            <a:clrChange>
              <a:clrFrom>
                <a:srgbClr val="FFFFFF"/>
              </a:clrFrom>
              <a:clrTo>
                <a:srgbClr val="FFFFFF">
                  <a:alpha val="0"/>
                </a:srgbClr>
              </a:clrTo>
            </a:clrChange>
            <a:lum bright="-36000"/>
            <a:extLst>
              <a:ext uri="{28A0092B-C50C-407E-A947-70E740481C1C}">
                <a14:useLocalDpi xmlns="" xmlns:a14="http://schemas.microsoft.com/office/drawing/2010/main" val="0"/>
              </a:ext>
            </a:extLst>
          </a:blip>
          <a:srcRect/>
          <a:stretch>
            <a:fillRect/>
          </a:stretch>
        </p:blipFill>
        <p:spPr bwMode="auto">
          <a:xfrm>
            <a:off x="6516688" y="4076700"/>
            <a:ext cx="2254250" cy="2359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p:txBody>
          <a:bodyPr/>
          <a:lstStyle/>
          <a:p>
            <a:r>
              <a:rPr lang="en-US" altLang="zh-CN">
                <a:latin typeface="华文新魏" pitchFamily="2" charset="-122"/>
                <a:ea typeface="华文新魏" pitchFamily="2" charset="-122"/>
              </a:rPr>
              <a:t>CRC</a:t>
            </a:r>
            <a:r>
              <a:rPr lang="zh-CN" altLang="en-US"/>
              <a:t>性质</a:t>
            </a:r>
          </a:p>
        </p:txBody>
      </p:sp>
      <p:sp>
        <p:nvSpPr>
          <p:cNvPr id="574467"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57446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endParaRPr lang="en-US" altLang="zh-CN" sz="1200">
              <a:ea typeface="幼圆" pitchFamily="49" charset="-122"/>
            </a:endParaRPr>
          </a:p>
        </p:txBody>
      </p:sp>
      <p:sp>
        <p:nvSpPr>
          <p:cNvPr id="574469" name="Rectangle 5"/>
          <p:cNvSpPr>
            <a:spLocks noGrp="1" noChangeArrowheads="1"/>
          </p:cNvSpPr>
          <p:nvPr>
            <p:ph type="body" idx="1"/>
          </p:nvPr>
        </p:nvSpPr>
        <p:spPr/>
        <p:txBody>
          <a:bodyPr/>
          <a:lstStyle/>
          <a:p>
            <a:pPr>
              <a:lnSpc>
                <a:spcPct val="110000"/>
              </a:lnSpc>
            </a:pPr>
            <a:r>
              <a:rPr lang="zh-CN" altLang="en-US" sz="2400" dirty="0"/>
              <a:t>若生成多项式</a:t>
            </a:r>
            <a:r>
              <a:rPr lang="en-US" altLang="zh-CN" sz="2400" dirty="0"/>
              <a:t>G(x)</a:t>
            </a:r>
            <a:r>
              <a:rPr lang="zh-CN" altLang="en-US" sz="2400" dirty="0"/>
              <a:t>中含有</a:t>
            </a:r>
            <a:r>
              <a:rPr lang="en-US" altLang="zh-CN" sz="2400" dirty="0"/>
              <a:t>(x+1)</a:t>
            </a:r>
            <a:r>
              <a:rPr lang="zh-CN" altLang="en-US" sz="2400" dirty="0"/>
              <a:t>的因子，则检出所有奇数位错。</a:t>
            </a:r>
          </a:p>
          <a:p>
            <a:pPr>
              <a:lnSpc>
                <a:spcPct val="110000"/>
              </a:lnSpc>
            </a:pPr>
            <a:r>
              <a:rPr lang="zh-CN" altLang="en-US" sz="2400" dirty="0"/>
              <a:t>若生成多项式</a:t>
            </a:r>
            <a:r>
              <a:rPr lang="en-US" altLang="zh-CN" sz="2400" dirty="0"/>
              <a:t>G(x)</a:t>
            </a:r>
            <a:r>
              <a:rPr lang="zh-CN" altLang="en-US" sz="2400" dirty="0"/>
              <a:t>中不含有</a:t>
            </a:r>
            <a:r>
              <a:rPr lang="en-US" altLang="zh-CN" sz="2400" dirty="0"/>
              <a:t>x</a:t>
            </a:r>
            <a:r>
              <a:rPr lang="zh-CN" altLang="en-US" sz="2400" dirty="0"/>
              <a:t>的因子，即</a:t>
            </a:r>
            <a:r>
              <a:rPr lang="en-US" altLang="zh-CN" sz="2400" dirty="0"/>
              <a:t>G(x)</a:t>
            </a:r>
            <a:r>
              <a:rPr lang="zh-CN" altLang="en-US" sz="2400" dirty="0"/>
              <a:t>中含有常数项</a:t>
            </a:r>
            <a:r>
              <a:rPr lang="en-US" altLang="zh-CN" sz="2400" dirty="0"/>
              <a:t>1</a:t>
            </a:r>
            <a:r>
              <a:rPr lang="zh-CN" altLang="en-US" sz="2400" dirty="0"/>
              <a:t>，则可检测所有突发长度≤</a:t>
            </a:r>
            <a:r>
              <a:rPr lang="en-US" altLang="zh-CN" sz="2400" dirty="0"/>
              <a:t>r</a:t>
            </a:r>
            <a:r>
              <a:rPr lang="zh-CN" altLang="en-US" sz="2400" dirty="0"/>
              <a:t>的突发错。</a:t>
            </a:r>
          </a:p>
          <a:p>
            <a:pPr>
              <a:lnSpc>
                <a:spcPct val="110000"/>
              </a:lnSpc>
            </a:pPr>
            <a:r>
              <a:rPr lang="zh-CN" altLang="en-US" sz="2400" dirty="0"/>
              <a:t>若生成多项式</a:t>
            </a:r>
            <a:r>
              <a:rPr lang="en-US" altLang="zh-CN" sz="2400" dirty="0"/>
              <a:t>G(x)</a:t>
            </a:r>
            <a:r>
              <a:rPr lang="zh-CN" altLang="en-US" sz="2400" dirty="0"/>
              <a:t>中不含有</a:t>
            </a:r>
            <a:r>
              <a:rPr lang="en-US" altLang="zh-CN" sz="2400" dirty="0"/>
              <a:t>x</a:t>
            </a:r>
            <a:r>
              <a:rPr lang="zh-CN" altLang="en-US" sz="2400" dirty="0"/>
              <a:t>的因子，且对任何</a:t>
            </a:r>
            <a:r>
              <a:rPr lang="en-US" altLang="zh-CN" sz="2400" dirty="0"/>
              <a:t>0&lt;e≤n-1</a:t>
            </a:r>
            <a:r>
              <a:rPr lang="zh-CN" altLang="en-US" sz="2400" dirty="0"/>
              <a:t>的</a:t>
            </a:r>
            <a:r>
              <a:rPr lang="en-US" altLang="zh-CN" sz="2400" dirty="0"/>
              <a:t>e</a:t>
            </a:r>
            <a:r>
              <a:rPr lang="zh-CN" altLang="en-US" sz="2400" dirty="0"/>
              <a:t>，除不尽</a:t>
            </a:r>
            <a:r>
              <a:rPr lang="en-US" altLang="zh-CN" sz="2400" dirty="0"/>
              <a:t>x</a:t>
            </a:r>
            <a:r>
              <a:rPr lang="en-US" altLang="zh-CN" sz="2400" baseline="30000" dirty="0"/>
              <a:t>e</a:t>
            </a:r>
            <a:r>
              <a:rPr lang="en-US" altLang="zh-CN" sz="2400" dirty="0"/>
              <a:t>+1</a:t>
            </a:r>
            <a:r>
              <a:rPr lang="zh-CN" altLang="en-US" sz="2400" dirty="0"/>
              <a:t>，则能检测出所有双错。</a:t>
            </a:r>
          </a:p>
          <a:p>
            <a:pPr>
              <a:lnSpc>
                <a:spcPct val="110000"/>
              </a:lnSpc>
            </a:pPr>
            <a:r>
              <a:rPr lang="zh-CN" altLang="en-US" sz="2400" dirty="0"/>
              <a:t>若生成多项式</a:t>
            </a:r>
            <a:r>
              <a:rPr lang="en-US" altLang="zh-CN" sz="2400" dirty="0"/>
              <a:t>G(x)</a:t>
            </a:r>
            <a:r>
              <a:rPr lang="zh-CN" altLang="en-US" sz="2400" dirty="0"/>
              <a:t>中不含有</a:t>
            </a:r>
            <a:r>
              <a:rPr lang="en-US" altLang="zh-CN" sz="2400" dirty="0"/>
              <a:t>x</a:t>
            </a:r>
            <a:r>
              <a:rPr lang="zh-CN" altLang="en-US" sz="2400" dirty="0"/>
              <a:t>的因子，则对突发长度为</a:t>
            </a:r>
            <a:r>
              <a:rPr lang="en-US" altLang="zh-CN" sz="2400" dirty="0"/>
              <a:t>r+1</a:t>
            </a:r>
            <a:r>
              <a:rPr lang="zh-CN" altLang="en-US" sz="2400" dirty="0"/>
              <a:t>的突发错的漏检率为</a:t>
            </a:r>
            <a:r>
              <a:rPr lang="en-US" altLang="zh-CN" sz="2400" dirty="0"/>
              <a:t>2</a:t>
            </a:r>
            <a:r>
              <a:rPr lang="en-US" altLang="zh-CN" sz="2400" baseline="30000" dirty="0"/>
              <a:t>-(r-1)</a:t>
            </a:r>
            <a:r>
              <a:rPr lang="zh-CN" altLang="en-US" sz="2400" dirty="0"/>
              <a:t>。</a:t>
            </a:r>
          </a:p>
          <a:p>
            <a:pPr>
              <a:lnSpc>
                <a:spcPct val="110000"/>
              </a:lnSpc>
            </a:pPr>
            <a:r>
              <a:rPr lang="zh-CN" altLang="en-US" sz="2400" dirty="0"/>
              <a:t>若生成多项式</a:t>
            </a:r>
            <a:r>
              <a:rPr lang="en-US" altLang="zh-CN" sz="2400" dirty="0"/>
              <a:t>G(x)</a:t>
            </a:r>
            <a:r>
              <a:rPr lang="zh-CN" altLang="en-US" sz="2400" dirty="0"/>
              <a:t>中不含有</a:t>
            </a:r>
            <a:r>
              <a:rPr lang="en-US" altLang="zh-CN" sz="2400" dirty="0"/>
              <a:t>x</a:t>
            </a:r>
            <a:r>
              <a:rPr lang="zh-CN" altLang="en-US" sz="2400" dirty="0"/>
              <a:t>的因子，则对突发长度大于</a:t>
            </a:r>
            <a:r>
              <a:rPr lang="en-US" altLang="zh-CN" sz="2400" dirty="0"/>
              <a:t>r+1</a:t>
            </a:r>
            <a:r>
              <a:rPr lang="zh-CN" altLang="en-US" sz="2400" dirty="0"/>
              <a:t>的突发错的漏检率为</a:t>
            </a:r>
            <a:r>
              <a:rPr lang="en-US" altLang="zh-CN" sz="2400" dirty="0"/>
              <a:t>2</a:t>
            </a:r>
            <a:r>
              <a:rPr lang="en-US" altLang="zh-CN" sz="2400" baseline="30000" dirty="0"/>
              <a:t>-r</a:t>
            </a:r>
            <a:r>
              <a:rPr lang="zh-CN" altLang="en-US" sz="2400" dirty="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r>
              <a:rPr lang="zh-CN" altLang="en-US"/>
              <a:t>海明码</a:t>
            </a:r>
          </a:p>
        </p:txBody>
      </p:sp>
      <p:sp>
        <p:nvSpPr>
          <p:cNvPr id="58061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endParaRPr lang="en-US" altLang="zh-CN" sz="1200">
              <a:ea typeface="幼圆" pitchFamily="49" charset="-122"/>
            </a:endParaRPr>
          </a:p>
        </p:txBody>
      </p:sp>
      <p:sp>
        <p:nvSpPr>
          <p:cNvPr id="580614" name="Rectangle 6"/>
          <p:cNvSpPr>
            <a:spLocks noGrp="1" noChangeArrowheads="1"/>
          </p:cNvSpPr>
          <p:nvPr>
            <p:ph type="body" idx="1"/>
          </p:nvPr>
        </p:nvSpPr>
        <p:spPr>
          <a:xfrm>
            <a:off x="2916238" y="2708275"/>
            <a:ext cx="3041650" cy="2087563"/>
          </a:xfrm>
          <a:noFill/>
          <a:ln/>
        </p:spPr>
        <p:txBody>
          <a:bodyPr/>
          <a:lstStyle/>
          <a:p>
            <a:r>
              <a:rPr lang="zh-CN" altLang="en-US">
                <a:hlinkClick r:id="rId7" action="ppaction://hlinksldjump"/>
              </a:rPr>
              <a:t>纠正一位错</a:t>
            </a:r>
            <a:endParaRPr lang="zh-CN" altLang="en-US"/>
          </a:p>
          <a:p>
            <a:endParaRPr lang="zh-CN" altLang="en-US"/>
          </a:p>
          <a:p>
            <a:r>
              <a:rPr lang="zh-CN" altLang="en-US">
                <a:hlinkClick r:id="rId8" action="ppaction://hlinksldjump"/>
              </a:rPr>
              <a:t>纠正突发错</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r>
              <a:rPr lang="zh-CN" altLang="en-US"/>
              <a:t>海明距离</a:t>
            </a:r>
          </a:p>
        </p:txBody>
      </p:sp>
      <p:sp>
        <p:nvSpPr>
          <p:cNvPr id="5816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r>
              <a:rPr lang="en-US" altLang="zh-CN" sz="1200">
                <a:ea typeface="幼圆" pitchFamily="49" charset="-122"/>
              </a:rPr>
              <a:t>&gt;&gt;</a:t>
            </a:r>
            <a:r>
              <a:rPr lang="zh-CN" altLang="en-US" sz="1200">
                <a:ea typeface="幼圆" pitchFamily="49" charset="-122"/>
                <a:hlinkClick r:id="rId7" action="ppaction://hlinksldjump"/>
              </a:rPr>
              <a:t>海明码</a:t>
            </a:r>
            <a:endParaRPr lang="en-US" altLang="zh-CN" sz="1200">
              <a:ea typeface="幼圆" pitchFamily="49" charset="-122"/>
            </a:endParaRPr>
          </a:p>
        </p:txBody>
      </p:sp>
      <p:sp>
        <p:nvSpPr>
          <p:cNvPr id="581637" name="Rectangle 5"/>
          <p:cNvSpPr>
            <a:spLocks noGrp="1" noChangeArrowheads="1"/>
          </p:cNvSpPr>
          <p:nvPr>
            <p:ph type="body" idx="1"/>
          </p:nvPr>
        </p:nvSpPr>
        <p:spPr>
          <a:xfrm>
            <a:off x="809625" y="1773238"/>
            <a:ext cx="7958138" cy="4679950"/>
          </a:xfrm>
        </p:spPr>
        <p:txBody>
          <a:bodyPr/>
          <a:lstStyle/>
          <a:p>
            <a:pPr>
              <a:lnSpc>
                <a:spcPct val="105000"/>
              </a:lnSpc>
            </a:pPr>
            <a:r>
              <a:rPr lang="zh-CN" altLang="en-US" sz="2800" dirty="0">
                <a:solidFill>
                  <a:srgbClr val="FC0404"/>
                </a:solidFill>
              </a:rPr>
              <a:t>定义</a:t>
            </a:r>
          </a:p>
          <a:p>
            <a:pPr lvl="1">
              <a:lnSpc>
                <a:spcPct val="105000"/>
              </a:lnSpc>
            </a:pPr>
            <a:r>
              <a:rPr lang="zh-CN" altLang="en-US" sz="2400" dirty="0"/>
              <a:t>两个码字中对应位比较，不同值的位的个数称为</a:t>
            </a:r>
            <a:r>
              <a:rPr lang="zh-CN" altLang="en-US" sz="2400" dirty="0">
                <a:solidFill>
                  <a:srgbClr val="0000FF"/>
                </a:solidFill>
              </a:rPr>
              <a:t>海明距离</a:t>
            </a:r>
            <a:r>
              <a:rPr lang="zh-CN" altLang="en-US" sz="2400" dirty="0"/>
              <a:t>。对于码字长</a:t>
            </a:r>
            <a:r>
              <a:rPr lang="en-US" altLang="zh-CN" sz="2400" dirty="0"/>
              <a:t>n</a:t>
            </a:r>
            <a:r>
              <a:rPr lang="zh-CN" altLang="en-US" sz="2400" dirty="0"/>
              <a:t>位，数据</a:t>
            </a:r>
            <a:r>
              <a:rPr lang="en-US" altLang="zh-CN" sz="2400" dirty="0"/>
              <a:t>k</a:t>
            </a:r>
            <a:r>
              <a:rPr lang="zh-CN" altLang="en-US" sz="2400" dirty="0"/>
              <a:t>位，一般有</a:t>
            </a:r>
            <a:r>
              <a:rPr lang="en-US" altLang="zh-CN" sz="2400" dirty="0" err="1"/>
              <a:t>n≥k</a:t>
            </a:r>
            <a:r>
              <a:rPr lang="zh-CN" altLang="en-US" sz="2400" dirty="0" smtClean="0"/>
              <a:t>，可以</a:t>
            </a:r>
            <a:r>
              <a:rPr lang="zh-CN" altLang="en-US" sz="2400" dirty="0"/>
              <a:t>计算全部码字的海明距离，距离最小的就是</a:t>
            </a:r>
            <a:r>
              <a:rPr lang="zh-CN" altLang="en-US" sz="2400" dirty="0">
                <a:solidFill>
                  <a:srgbClr val="0000FF"/>
                </a:solidFill>
              </a:rPr>
              <a:t>整个编码方案的海明距离</a:t>
            </a:r>
            <a:r>
              <a:rPr lang="zh-CN" altLang="en-US" sz="2400" dirty="0"/>
              <a:t>。</a:t>
            </a:r>
          </a:p>
          <a:p>
            <a:pPr>
              <a:lnSpc>
                <a:spcPct val="105000"/>
              </a:lnSpc>
            </a:pPr>
            <a:r>
              <a:rPr lang="zh-CN" altLang="en-US" sz="2800" dirty="0">
                <a:solidFill>
                  <a:srgbClr val="FC0404"/>
                </a:solidFill>
              </a:rPr>
              <a:t>检验和纠错能力</a:t>
            </a:r>
          </a:p>
          <a:p>
            <a:pPr lvl="1">
              <a:lnSpc>
                <a:spcPct val="105000"/>
              </a:lnSpc>
            </a:pPr>
            <a:r>
              <a:rPr lang="zh-CN" altLang="en-US" sz="2400" dirty="0">
                <a:solidFill>
                  <a:schemeClr val="tx2"/>
                </a:solidFill>
              </a:rPr>
              <a:t>检验码</a:t>
            </a:r>
          </a:p>
          <a:p>
            <a:pPr lvl="1">
              <a:lnSpc>
                <a:spcPct val="105000"/>
              </a:lnSpc>
              <a:buFont typeface="Wingdings" pitchFamily="2" charset="2"/>
              <a:buNone/>
            </a:pPr>
            <a:r>
              <a:rPr lang="zh-CN" altLang="en-US" sz="2400" dirty="0"/>
              <a:t>    欲检测出</a:t>
            </a:r>
            <a:r>
              <a:rPr lang="en-US" altLang="zh-CN" sz="2400" dirty="0"/>
              <a:t>d</a:t>
            </a:r>
            <a:r>
              <a:rPr lang="zh-CN" altLang="en-US" sz="2400" dirty="0"/>
              <a:t>比特错，需使用海明距离为</a:t>
            </a:r>
            <a:r>
              <a:rPr lang="en-US" altLang="zh-CN" sz="2400" dirty="0"/>
              <a:t>d+1</a:t>
            </a:r>
            <a:r>
              <a:rPr lang="zh-CN" altLang="en-US" sz="2400" dirty="0"/>
              <a:t>的编码。</a:t>
            </a:r>
          </a:p>
          <a:p>
            <a:pPr lvl="1">
              <a:lnSpc>
                <a:spcPct val="105000"/>
              </a:lnSpc>
            </a:pPr>
            <a:r>
              <a:rPr lang="zh-CN" altLang="en-US" sz="2400" dirty="0">
                <a:solidFill>
                  <a:schemeClr val="tx2"/>
                </a:solidFill>
              </a:rPr>
              <a:t>纠错码</a:t>
            </a:r>
          </a:p>
          <a:p>
            <a:pPr lvl="1">
              <a:lnSpc>
                <a:spcPct val="105000"/>
              </a:lnSpc>
              <a:buFont typeface="Wingdings" pitchFamily="2" charset="2"/>
              <a:buNone/>
            </a:pPr>
            <a:r>
              <a:rPr lang="zh-CN" altLang="en-US" sz="2400" dirty="0"/>
              <a:t>    欲纠正</a:t>
            </a:r>
            <a:r>
              <a:rPr lang="en-US" altLang="zh-CN" sz="2400" dirty="0"/>
              <a:t>d</a:t>
            </a:r>
            <a:r>
              <a:rPr lang="zh-CN" altLang="en-US" sz="2400" dirty="0"/>
              <a:t>比特错，需使用海明距离为</a:t>
            </a:r>
            <a:r>
              <a:rPr lang="en-US" altLang="zh-CN" sz="2400" dirty="0"/>
              <a:t>2d+1</a:t>
            </a:r>
            <a:r>
              <a:rPr lang="zh-CN" altLang="en-US" sz="2400" dirty="0"/>
              <a:t>的编码。</a:t>
            </a:r>
          </a:p>
        </p:txBody>
      </p:sp>
      <p:sp>
        <p:nvSpPr>
          <p:cNvPr id="58163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p:txBody>
          <a:bodyPr/>
          <a:lstStyle/>
          <a:p>
            <a:r>
              <a:rPr lang="zh-CN" altLang="en-US"/>
              <a:t>校验位位数</a:t>
            </a:r>
          </a:p>
        </p:txBody>
      </p:sp>
      <p:sp>
        <p:nvSpPr>
          <p:cNvPr id="599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r>
              <a:rPr lang="en-US" altLang="zh-CN" sz="1200">
                <a:ea typeface="幼圆" pitchFamily="49" charset="-122"/>
              </a:rPr>
              <a:t>&gt;&gt;</a:t>
            </a:r>
            <a:r>
              <a:rPr lang="zh-CN" altLang="en-US" sz="1200">
                <a:ea typeface="幼圆" pitchFamily="49" charset="-122"/>
                <a:hlinkClick r:id="rId7" action="ppaction://hlinksldjump"/>
              </a:rPr>
              <a:t>海明码</a:t>
            </a:r>
            <a:endParaRPr lang="en-US" altLang="zh-CN" sz="1200">
              <a:ea typeface="幼圆" pitchFamily="49" charset="-122"/>
            </a:endParaRPr>
          </a:p>
        </p:txBody>
      </p:sp>
      <p:sp>
        <p:nvSpPr>
          <p:cNvPr id="599044" name="Rectangle 4"/>
          <p:cNvSpPr>
            <a:spLocks noGrp="1" noChangeArrowheads="1"/>
          </p:cNvSpPr>
          <p:nvPr>
            <p:ph type="body" idx="1"/>
          </p:nvPr>
        </p:nvSpPr>
        <p:spPr>
          <a:xfrm>
            <a:off x="809625" y="1773238"/>
            <a:ext cx="7958138" cy="4751387"/>
          </a:xfrm>
        </p:spPr>
        <p:txBody>
          <a:bodyPr/>
          <a:lstStyle/>
          <a:p>
            <a:r>
              <a:rPr lang="zh-CN" altLang="en-US" sz="2400" dirty="0">
                <a:solidFill>
                  <a:srgbClr val="FC0404"/>
                </a:solidFill>
              </a:rPr>
              <a:t>定理：</a:t>
            </a:r>
            <a:r>
              <a:rPr lang="zh-CN" altLang="en-US" sz="2400" dirty="0"/>
              <a:t>设数据位为</a:t>
            </a:r>
            <a:r>
              <a:rPr lang="en-US" altLang="zh-CN" sz="2400" dirty="0"/>
              <a:t>k</a:t>
            </a:r>
            <a:r>
              <a:rPr lang="zh-CN" altLang="en-US" sz="2400" dirty="0"/>
              <a:t>位，校验位为</a:t>
            </a:r>
            <a:r>
              <a:rPr lang="en-US" altLang="zh-CN" sz="2400" dirty="0"/>
              <a:t>r</a:t>
            </a:r>
            <a:r>
              <a:rPr lang="zh-CN" altLang="en-US" sz="2400" dirty="0"/>
              <a:t>位，码字位数为</a:t>
            </a:r>
            <a:r>
              <a:rPr lang="en-US" altLang="zh-CN" sz="2400" dirty="0"/>
              <a:t>n</a:t>
            </a:r>
            <a:r>
              <a:rPr lang="zh-CN" altLang="en-US" sz="2400" dirty="0"/>
              <a:t>位，若欲纠正单比特错，则海明码校验位的位数为</a:t>
            </a:r>
            <a:r>
              <a:rPr lang="en-US" altLang="zh-CN" sz="2400" dirty="0"/>
              <a:t>(k+r+1)≤2</a:t>
            </a:r>
            <a:r>
              <a:rPr lang="en-US" altLang="zh-CN" sz="2400" baseline="30000" dirty="0"/>
              <a:t>r</a:t>
            </a:r>
            <a:r>
              <a:rPr lang="zh-CN" altLang="en-US" sz="2400" dirty="0"/>
              <a:t>。</a:t>
            </a:r>
          </a:p>
          <a:p>
            <a:r>
              <a:rPr lang="zh-CN" altLang="en-US" sz="2400" dirty="0">
                <a:solidFill>
                  <a:srgbClr val="FC0404"/>
                </a:solidFill>
              </a:rPr>
              <a:t>证明</a:t>
            </a:r>
            <a:endParaRPr lang="zh-CN" altLang="en-US" sz="2400" dirty="0"/>
          </a:p>
          <a:p>
            <a:pPr>
              <a:buFont typeface="Wingdings" pitchFamily="2" charset="2"/>
              <a:buNone/>
            </a:pPr>
            <a:r>
              <a:rPr lang="zh-CN" altLang="en-US" sz="2400" dirty="0"/>
              <a:t>      ∵  </a:t>
            </a:r>
            <a:r>
              <a:rPr lang="en-US" altLang="zh-CN" sz="2400" dirty="0"/>
              <a:t>2</a:t>
            </a:r>
            <a:r>
              <a:rPr lang="en-US" altLang="zh-CN" sz="2400" baseline="30000" dirty="0"/>
              <a:t>k</a:t>
            </a:r>
            <a:r>
              <a:rPr lang="zh-CN" altLang="en-US" sz="2400" dirty="0"/>
              <a:t>个有效数据每个均有</a:t>
            </a:r>
            <a:r>
              <a:rPr lang="en-US" altLang="zh-CN" sz="2400" dirty="0"/>
              <a:t>n</a:t>
            </a:r>
            <a:r>
              <a:rPr lang="zh-CN" altLang="en-US" sz="2400" dirty="0"/>
              <a:t>个距离为</a:t>
            </a:r>
            <a:r>
              <a:rPr lang="en-US" altLang="zh-CN" sz="2400" dirty="0"/>
              <a:t>1</a:t>
            </a:r>
            <a:r>
              <a:rPr lang="zh-CN" altLang="en-US" sz="2400" dirty="0"/>
              <a:t>的非法码字</a:t>
            </a:r>
          </a:p>
          <a:p>
            <a:pPr>
              <a:buFont typeface="Wingdings" pitchFamily="2" charset="2"/>
              <a:buNone/>
            </a:pPr>
            <a:r>
              <a:rPr lang="zh-CN" altLang="en-US" sz="2400" dirty="0"/>
              <a:t>      ∴  </a:t>
            </a:r>
            <a:r>
              <a:rPr lang="en-US" altLang="zh-CN" sz="2400" dirty="0"/>
              <a:t>2</a:t>
            </a:r>
            <a:r>
              <a:rPr lang="en-US" altLang="zh-CN" sz="2400" baseline="30000" dirty="0"/>
              <a:t>k</a:t>
            </a:r>
            <a:r>
              <a:rPr lang="zh-CN" altLang="en-US" sz="2400" dirty="0"/>
              <a:t>个有效数据每个均需要</a:t>
            </a:r>
            <a:r>
              <a:rPr lang="en-US" altLang="zh-CN" sz="2400" dirty="0"/>
              <a:t>n+1</a:t>
            </a:r>
            <a:r>
              <a:rPr lang="zh-CN" altLang="en-US" sz="2400" dirty="0"/>
              <a:t>个比特模式</a:t>
            </a:r>
          </a:p>
          <a:p>
            <a:pPr>
              <a:buFont typeface="Wingdings" pitchFamily="2" charset="2"/>
              <a:buNone/>
            </a:pPr>
            <a:r>
              <a:rPr lang="zh-CN" altLang="en-US" sz="2400" dirty="0"/>
              <a:t>      又∵  比特模式总数为</a:t>
            </a:r>
            <a:r>
              <a:rPr lang="en-US" altLang="zh-CN" sz="2400" dirty="0"/>
              <a:t>2</a:t>
            </a:r>
            <a:r>
              <a:rPr lang="en-US" altLang="zh-CN" sz="2400" baseline="30000" dirty="0"/>
              <a:t>n</a:t>
            </a:r>
          </a:p>
          <a:p>
            <a:pPr>
              <a:buFont typeface="Wingdings" pitchFamily="2" charset="2"/>
              <a:buNone/>
            </a:pPr>
            <a:r>
              <a:rPr lang="en-US" altLang="zh-CN" sz="2400" dirty="0"/>
              <a:t>      ∴  (n+1)2</a:t>
            </a:r>
            <a:r>
              <a:rPr lang="en-US" altLang="zh-CN" sz="2400" baseline="30000" dirty="0"/>
              <a:t>k </a:t>
            </a:r>
            <a:r>
              <a:rPr lang="en-US" altLang="zh-CN" sz="2400" dirty="0"/>
              <a:t>≤2</a:t>
            </a:r>
            <a:r>
              <a:rPr lang="en-US" altLang="zh-CN" sz="2400" baseline="30000" dirty="0"/>
              <a:t>n</a:t>
            </a:r>
          </a:p>
          <a:p>
            <a:pPr>
              <a:buFont typeface="Wingdings" pitchFamily="2" charset="2"/>
              <a:buNone/>
            </a:pPr>
            <a:r>
              <a:rPr lang="zh-CN" altLang="en-US" sz="2400" dirty="0"/>
              <a:t>      考虑到</a:t>
            </a:r>
            <a:r>
              <a:rPr lang="en-US" altLang="zh-CN" sz="2400" dirty="0"/>
              <a:t>n=</a:t>
            </a:r>
            <a:r>
              <a:rPr lang="en-US" altLang="zh-CN" sz="2400" dirty="0" err="1"/>
              <a:t>k+r</a:t>
            </a:r>
            <a:r>
              <a:rPr lang="zh-CN" altLang="en-US" sz="2400" dirty="0"/>
              <a:t>，故</a:t>
            </a:r>
            <a:r>
              <a:rPr lang="en-US" altLang="zh-CN" sz="2400" dirty="0"/>
              <a:t>(k+r+1)≤2</a:t>
            </a:r>
            <a:r>
              <a:rPr lang="en-US" altLang="zh-CN" sz="2400" baseline="30000" dirty="0"/>
              <a:t>r</a:t>
            </a:r>
            <a:r>
              <a:rPr lang="en-US" altLang="zh-CN" sz="2400" dirty="0"/>
              <a:t>       </a:t>
            </a:r>
            <a:r>
              <a:rPr lang="en-US" altLang="zh-CN" sz="2400" dirty="0">
                <a:solidFill>
                  <a:schemeClr val="tx2"/>
                </a:solidFill>
              </a:rPr>
              <a:t>&lt;</a:t>
            </a:r>
            <a:r>
              <a:rPr lang="zh-CN" altLang="en-US" sz="2400" dirty="0">
                <a:solidFill>
                  <a:schemeClr val="tx2"/>
                </a:solidFill>
              </a:rPr>
              <a:t>证毕</a:t>
            </a:r>
            <a:r>
              <a:rPr lang="en-US" altLang="zh-CN" sz="2400" dirty="0">
                <a:solidFill>
                  <a:schemeClr val="tx2"/>
                </a:solidFill>
              </a:rPr>
              <a:t>&gt;</a:t>
            </a:r>
          </a:p>
          <a:p>
            <a:r>
              <a:rPr lang="zh-CN" altLang="en-US" sz="2400" dirty="0">
                <a:solidFill>
                  <a:srgbClr val="FC0404"/>
                </a:solidFill>
              </a:rPr>
              <a:t>例子</a:t>
            </a:r>
          </a:p>
          <a:p>
            <a:pPr>
              <a:buFont typeface="Wingdings" pitchFamily="2" charset="2"/>
              <a:buNone/>
            </a:pPr>
            <a:r>
              <a:rPr lang="en-US" altLang="zh-CN" sz="2400" dirty="0"/>
              <a:t>      k=4</a:t>
            </a:r>
            <a:r>
              <a:rPr lang="zh-CN" altLang="en-US" sz="2400" dirty="0"/>
              <a:t>，则</a:t>
            </a:r>
            <a:r>
              <a:rPr lang="en-US" altLang="zh-CN" sz="2400" dirty="0"/>
              <a:t>r≥3</a:t>
            </a:r>
            <a:r>
              <a:rPr lang="zh-CN" altLang="en-US" sz="2400" dirty="0"/>
              <a:t>（取</a:t>
            </a:r>
            <a:r>
              <a:rPr lang="en-US" altLang="zh-CN" sz="2400" dirty="0"/>
              <a:t>r=3</a:t>
            </a:r>
            <a:r>
              <a:rPr lang="zh-CN" altLang="en-US" sz="2400" dirty="0"/>
              <a:t>）；</a:t>
            </a:r>
            <a:r>
              <a:rPr lang="en-US" altLang="zh-CN" sz="2400" dirty="0"/>
              <a:t>k=7</a:t>
            </a:r>
            <a:r>
              <a:rPr lang="zh-CN" altLang="en-US" sz="2400" dirty="0"/>
              <a:t>，则</a:t>
            </a:r>
            <a:r>
              <a:rPr lang="en-US" altLang="zh-CN" sz="2400" dirty="0"/>
              <a:t>r≥4</a:t>
            </a:r>
            <a:r>
              <a:rPr lang="zh-CN" altLang="en-US" sz="2400" dirty="0"/>
              <a:t>（取</a:t>
            </a:r>
            <a:r>
              <a:rPr lang="en-US" altLang="zh-CN" sz="2400" dirty="0"/>
              <a:t>r=4</a:t>
            </a:r>
            <a:r>
              <a:rPr lang="zh-CN" altLang="en-US" sz="2400" dirty="0"/>
              <a:t>）</a:t>
            </a:r>
          </a:p>
        </p:txBody>
      </p:sp>
      <p:sp>
        <p:nvSpPr>
          <p:cNvPr id="5990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99044">
                                            <p:txEl>
                                              <p:pRg st="2" end="2"/>
                                            </p:txEl>
                                          </p:spTgt>
                                        </p:tgtEl>
                                        <p:attrNameLst>
                                          <p:attrName>style.visibility</p:attrName>
                                        </p:attrNameLst>
                                      </p:cBhvr>
                                      <p:to>
                                        <p:strVal val="visible"/>
                                      </p:to>
                                    </p:set>
                                    <p:animEffect transition="in" filter="dissolve">
                                      <p:cBhvr>
                                        <p:cTn id="7" dur="500"/>
                                        <p:tgtEl>
                                          <p:spTgt spid="599044">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99044">
                                            <p:txEl>
                                              <p:pRg st="3" end="3"/>
                                            </p:txEl>
                                          </p:spTgt>
                                        </p:tgtEl>
                                        <p:attrNameLst>
                                          <p:attrName>style.visibility</p:attrName>
                                        </p:attrNameLst>
                                      </p:cBhvr>
                                      <p:to>
                                        <p:strVal val="visible"/>
                                      </p:to>
                                    </p:set>
                                    <p:animEffect transition="in" filter="dissolve">
                                      <p:cBhvr>
                                        <p:cTn id="10" dur="500"/>
                                        <p:tgtEl>
                                          <p:spTgt spid="599044">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99044">
                                            <p:txEl>
                                              <p:pRg st="4" end="4"/>
                                            </p:txEl>
                                          </p:spTgt>
                                        </p:tgtEl>
                                        <p:attrNameLst>
                                          <p:attrName>style.visibility</p:attrName>
                                        </p:attrNameLst>
                                      </p:cBhvr>
                                      <p:to>
                                        <p:strVal val="visible"/>
                                      </p:to>
                                    </p:set>
                                    <p:animEffect transition="in" filter="dissolve">
                                      <p:cBhvr>
                                        <p:cTn id="13" dur="500"/>
                                        <p:tgtEl>
                                          <p:spTgt spid="599044">
                                            <p:txEl>
                                              <p:pRg st="4" end="4"/>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599044">
                                            <p:txEl>
                                              <p:pRg st="5" end="5"/>
                                            </p:txEl>
                                          </p:spTgt>
                                        </p:tgtEl>
                                        <p:attrNameLst>
                                          <p:attrName>style.visibility</p:attrName>
                                        </p:attrNameLst>
                                      </p:cBhvr>
                                      <p:to>
                                        <p:strVal val="visible"/>
                                      </p:to>
                                    </p:set>
                                    <p:animEffect transition="in" filter="dissolve">
                                      <p:cBhvr>
                                        <p:cTn id="16" dur="500"/>
                                        <p:tgtEl>
                                          <p:spTgt spid="599044">
                                            <p:txEl>
                                              <p:pRg st="5" end="5"/>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599044">
                                            <p:txEl>
                                              <p:pRg st="6" end="6"/>
                                            </p:txEl>
                                          </p:spTgt>
                                        </p:tgtEl>
                                        <p:attrNameLst>
                                          <p:attrName>style.visibility</p:attrName>
                                        </p:attrNameLst>
                                      </p:cBhvr>
                                      <p:to>
                                        <p:strVal val="visible"/>
                                      </p:to>
                                    </p:set>
                                    <p:animEffect transition="in" filter="dissolve">
                                      <p:cBhvr>
                                        <p:cTn id="19" dur="500"/>
                                        <p:tgtEl>
                                          <p:spTgt spid="599044">
                                            <p:txEl>
                                              <p:pRg st="6" end="6"/>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599044">
                                            <p:txEl>
                                              <p:pRg st="7" end="7"/>
                                            </p:txEl>
                                          </p:spTgt>
                                        </p:tgtEl>
                                        <p:attrNameLst>
                                          <p:attrName>style.visibility</p:attrName>
                                        </p:attrNameLst>
                                      </p:cBhvr>
                                      <p:to>
                                        <p:strVal val="visible"/>
                                      </p:to>
                                    </p:set>
                                    <p:animEffect transition="in" filter="dissolve">
                                      <p:cBhvr>
                                        <p:cTn id="24" dur="500"/>
                                        <p:tgtEl>
                                          <p:spTgt spid="599044">
                                            <p:txEl>
                                              <p:pRg st="7" end="7"/>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599044">
                                            <p:txEl>
                                              <p:pRg st="8" end="8"/>
                                            </p:txEl>
                                          </p:spTgt>
                                        </p:tgtEl>
                                        <p:attrNameLst>
                                          <p:attrName>style.visibility</p:attrName>
                                        </p:attrNameLst>
                                      </p:cBhvr>
                                      <p:to>
                                        <p:strVal val="visible"/>
                                      </p:to>
                                    </p:set>
                                    <p:animEffect transition="in" filter="dissolve">
                                      <p:cBhvr>
                                        <p:cTn id="27" dur="500"/>
                                        <p:tgtEl>
                                          <p:spTgt spid="59904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r>
              <a:rPr lang="zh-CN" altLang="en-US"/>
              <a:t>纠正突发错</a:t>
            </a:r>
          </a:p>
        </p:txBody>
      </p:sp>
      <p:sp>
        <p:nvSpPr>
          <p:cNvPr id="610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常用差错控制编码</a:t>
            </a:r>
            <a:r>
              <a:rPr lang="en-US" altLang="zh-CN" sz="1200">
                <a:ea typeface="幼圆" pitchFamily="49" charset="-122"/>
              </a:rPr>
              <a:t>&gt;&gt;</a:t>
            </a:r>
            <a:r>
              <a:rPr lang="zh-CN" altLang="en-US" sz="1200">
                <a:ea typeface="幼圆" pitchFamily="49" charset="-122"/>
                <a:hlinkClick r:id="rId7" action="ppaction://hlinksldjump"/>
              </a:rPr>
              <a:t>海明码</a:t>
            </a:r>
            <a:endParaRPr lang="en-US" altLang="zh-CN" sz="1200">
              <a:ea typeface="幼圆" pitchFamily="49" charset="-122"/>
            </a:endParaRPr>
          </a:p>
        </p:txBody>
      </p:sp>
      <p:sp>
        <p:nvSpPr>
          <p:cNvPr id="610379" name="Rectangle 75"/>
          <p:cNvSpPr>
            <a:spLocks noGrp="1" noChangeArrowheads="1"/>
          </p:cNvSpPr>
          <p:nvPr>
            <p:ph type="body" idx="1"/>
          </p:nvPr>
        </p:nvSpPr>
        <p:spPr>
          <a:xfrm>
            <a:off x="809625" y="1917254"/>
            <a:ext cx="2682875" cy="4176042"/>
          </a:xfrm>
          <a:solidFill>
            <a:srgbClr val="CC99FF"/>
          </a:solidFill>
          <a:ln w="28575">
            <a:solidFill>
              <a:schemeClr val="tx1"/>
            </a:solidFill>
            <a:miter lim="800000"/>
            <a:headEnd/>
            <a:tailEnd/>
          </a:ln>
          <a:effectLst>
            <a:outerShdw dist="107763" dir="2700000" algn="ctr" rotWithShape="0">
              <a:srgbClr val="00002E">
                <a:alpha val="50000"/>
              </a:srgbClr>
            </a:outerShdw>
          </a:effectLst>
        </p:spPr>
        <p:txBody>
          <a:bodyPr/>
          <a:lstStyle/>
          <a:p>
            <a:pPr marL="0" indent="0">
              <a:lnSpc>
                <a:spcPct val="120000"/>
              </a:lnSpc>
              <a:buFont typeface="Wingdings" pitchFamily="2" charset="2"/>
              <a:buNone/>
            </a:pPr>
            <a:r>
              <a:rPr lang="zh-CN" altLang="en-US" sz="2400"/>
              <a:t>       海明码只能纠正一位错，但采用右边方法可以纠正突发错：以码字为行，一行一个，构成</a:t>
            </a:r>
            <a:r>
              <a:rPr lang="en-US" altLang="zh-CN" sz="2400"/>
              <a:t>m</a:t>
            </a:r>
            <a:r>
              <a:rPr lang="zh-CN" altLang="en-US" sz="2400"/>
              <a:t>个码字的矩阵，按列发送，仅当突发长度≤</a:t>
            </a:r>
            <a:r>
              <a:rPr lang="en-US" altLang="zh-CN" sz="2400"/>
              <a:t>m</a:t>
            </a:r>
            <a:r>
              <a:rPr lang="zh-CN" altLang="en-US" sz="2400"/>
              <a:t>时，则可纠正该突发错。</a:t>
            </a:r>
          </a:p>
        </p:txBody>
      </p:sp>
      <p:pic>
        <p:nvPicPr>
          <p:cNvPr id="610380" name="Picture 76" descr="3-07"/>
          <p:cNvPicPr>
            <a:picLocks noChangeAspect="1" noChangeArrowheads="1"/>
          </p:cNvPicPr>
          <p:nvPr/>
        </p:nvPicPr>
        <p:blipFill>
          <a:blip r:embed="rId8" cstate="print">
            <a:clrChange>
              <a:clrFrom>
                <a:srgbClr val="FFFFFF"/>
              </a:clrFrom>
              <a:clrTo>
                <a:srgbClr val="FFFFFF">
                  <a:alpha val="0"/>
                </a:srgbClr>
              </a:clrTo>
            </a:clrChange>
            <a:lum bright="-36000"/>
            <a:extLst>
              <a:ext uri="{28A0092B-C50C-407E-A947-70E740481C1C}">
                <a14:useLocalDpi xmlns="" xmlns:a14="http://schemas.microsoft.com/office/drawing/2010/main" val="0"/>
              </a:ext>
            </a:extLst>
          </a:blip>
          <a:srcRect/>
          <a:stretch>
            <a:fillRect/>
          </a:stretch>
        </p:blipFill>
        <p:spPr bwMode="auto">
          <a:xfrm>
            <a:off x="3635375" y="1700213"/>
            <a:ext cx="5302250" cy="471170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r>
              <a:rPr lang="zh-CN" altLang="en-US"/>
              <a:t>差错控制方法</a:t>
            </a:r>
          </a:p>
        </p:txBody>
      </p:sp>
      <p:sp>
        <p:nvSpPr>
          <p:cNvPr id="555017" name="Rectangle 9"/>
          <p:cNvSpPr>
            <a:spLocks noGrp="1" noChangeArrowheads="1"/>
          </p:cNvSpPr>
          <p:nvPr>
            <p:ph type="body" idx="1"/>
          </p:nvPr>
        </p:nvSpPr>
        <p:spPr>
          <a:xfrm>
            <a:off x="2843213" y="2276475"/>
            <a:ext cx="3546475" cy="3311525"/>
          </a:xfrm>
        </p:spPr>
        <p:txBody>
          <a:bodyPr/>
          <a:lstStyle/>
          <a:p>
            <a:r>
              <a:rPr lang="zh-CN" altLang="en-US">
                <a:hlinkClick r:id="rId3" action="ppaction://hlinksldjump"/>
              </a:rPr>
              <a:t>反馈检测法</a:t>
            </a:r>
            <a:endParaRPr lang="zh-CN" altLang="en-US"/>
          </a:p>
          <a:p>
            <a:endParaRPr lang="zh-CN" altLang="en-US"/>
          </a:p>
          <a:p>
            <a:r>
              <a:rPr lang="zh-CN" altLang="en-US">
                <a:hlinkClick r:id="rId4" action="ppaction://hlinksldjump"/>
              </a:rPr>
              <a:t>自动请求重发</a:t>
            </a:r>
            <a:endParaRPr lang="zh-CN" altLang="en-US"/>
          </a:p>
          <a:p>
            <a:endParaRPr lang="zh-CN" altLang="en-US"/>
          </a:p>
          <a:p>
            <a:r>
              <a:rPr lang="zh-CN" altLang="en-US">
                <a:hlinkClick r:id="rId5" action="ppaction://hlinksldjump"/>
              </a:rPr>
              <a:t>前向纠错</a:t>
            </a:r>
            <a:endParaRPr lang="zh-CN" altLang="en-US"/>
          </a:p>
        </p:txBody>
      </p:sp>
      <p:sp>
        <p:nvSpPr>
          <p:cNvPr id="55501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r>
              <a:rPr lang="en-US" altLang="zh-CN" sz="1200">
                <a:ea typeface="幼圆" pitchFamily="49" charset="-122"/>
              </a:rPr>
              <a:t>&gt;&gt;</a:t>
            </a:r>
            <a:r>
              <a:rPr lang="zh-CN" altLang="en-US" sz="1200">
                <a:ea typeface="幼圆" pitchFamily="49" charset="-122"/>
                <a:hlinkClick r:id="rId7" action="ppaction://hlinksldjump"/>
              </a:rPr>
              <a:t>数据链路层功能</a:t>
            </a:r>
            <a:r>
              <a:rPr lang="en-US" altLang="zh-CN" sz="1200">
                <a:ea typeface="幼圆" pitchFamily="49" charset="-122"/>
              </a:rPr>
              <a:t>&gt;&gt;</a:t>
            </a:r>
            <a:r>
              <a:rPr lang="zh-CN" altLang="en-US" sz="1200">
                <a:ea typeface="幼圆" pitchFamily="49" charset="-122"/>
                <a:hlinkClick r:id="rId8" action="ppaction://hlinksldjump"/>
              </a:rPr>
              <a:t>差错控制</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r>
              <a:rPr lang="zh-CN" altLang="en-US"/>
              <a:t>反馈检测法</a:t>
            </a:r>
          </a:p>
        </p:txBody>
      </p:sp>
      <p:sp>
        <p:nvSpPr>
          <p:cNvPr id="557059" name="Rectangle 3"/>
          <p:cNvSpPr>
            <a:spLocks noGrp="1" noChangeArrowheads="1"/>
          </p:cNvSpPr>
          <p:nvPr>
            <p:ph type="body" idx="1"/>
          </p:nvPr>
        </p:nvSpPr>
        <p:spPr>
          <a:xfrm>
            <a:off x="827088" y="6092825"/>
            <a:ext cx="7958137" cy="360363"/>
          </a:xfrm>
        </p:spPr>
        <p:txBody>
          <a:bodyPr/>
          <a:lstStyle/>
          <a:p>
            <a:pPr marL="269875" indent="-269875">
              <a:lnSpc>
                <a:spcPct val="80000"/>
              </a:lnSpc>
            </a:pPr>
            <a:r>
              <a:rPr lang="zh-CN" altLang="en-US" sz="2000">
                <a:solidFill>
                  <a:srgbClr val="FC0404"/>
                </a:solidFill>
              </a:rPr>
              <a:t>特点</a:t>
            </a:r>
            <a:r>
              <a:rPr lang="zh-CN" altLang="en-US" sz="2000"/>
              <a:t>：原理简单、实现容易、可靠性强，但开销大，信道利用率低。</a:t>
            </a:r>
          </a:p>
        </p:txBody>
      </p:sp>
      <p:sp>
        <p:nvSpPr>
          <p:cNvPr id="557061"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差错控制方法</a:t>
            </a:r>
            <a:endParaRPr lang="en-US" altLang="zh-CN" sz="1200">
              <a:ea typeface="幼圆" pitchFamily="49" charset="-122"/>
            </a:endParaRPr>
          </a:p>
        </p:txBody>
      </p:sp>
      <p:sp>
        <p:nvSpPr>
          <p:cNvPr id="557063" name="Rectangle 7"/>
          <p:cNvSpPr>
            <a:spLocks noChangeArrowheads="1"/>
          </p:cNvSpPr>
          <p:nvPr/>
        </p:nvSpPr>
        <p:spPr bwMode="auto">
          <a:xfrm>
            <a:off x="2912274" y="1799412"/>
            <a:ext cx="3875077" cy="371513"/>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lt"/>
                <a:ea typeface="+mn-ea"/>
              </a:rPr>
              <a:t>发送方发送数据（一帧或一个字符）</a:t>
            </a:r>
          </a:p>
        </p:txBody>
      </p:sp>
      <p:sp>
        <p:nvSpPr>
          <p:cNvPr id="557064" name="Rectangle 8"/>
          <p:cNvSpPr>
            <a:spLocks noChangeArrowheads="1"/>
          </p:cNvSpPr>
          <p:nvPr/>
        </p:nvSpPr>
        <p:spPr bwMode="auto">
          <a:xfrm>
            <a:off x="3808939" y="2447112"/>
            <a:ext cx="1797585" cy="371513"/>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lt"/>
                <a:ea typeface="+mn-ea"/>
              </a:rPr>
              <a:t>接收方接收数据</a:t>
            </a:r>
          </a:p>
        </p:txBody>
      </p:sp>
      <p:sp>
        <p:nvSpPr>
          <p:cNvPr id="557065" name="AutoShape 9"/>
          <p:cNvSpPr>
            <a:spLocks noChangeArrowheads="1"/>
          </p:cNvSpPr>
          <p:nvPr/>
        </p:nvSpPr>
        <p:spPr bwMode="auto">
          <a:xfrm>
            <a:off x="1947863" y="3697288"/>
            <a:ext cx="5689600" cy="1238250"/>
          </a:xfrm>
          <a:prstGeom prst="diamond">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lt"/>
                <a:ea typeface="+mn-ea"/>
              </a:rPr>
              <a:t>发送方用原始数据与接收</a:t>
            </a:r>
          </a:p>
          <a:p>
            <a:pPr algn="ctr">
              <a:spcBef>
                <a:spcPct val="20000"/>
              </a:spcBef>
            </a:pPr>
            <a:r>
              <a:rPr lang="zh-CN" altLang="en-US" sz="1800" b="1">
                <a:latin typeface="+mn-lt"/>
                <a:ea typeface="+mn-ea"/>
              </a:rPr>
              <a:t>方发回的数据进行比较</a:t>
            </a:r>
          </a:p>
        </p:txBody>
      </p:sp>
      <p:sp>
        <p:nvSpPr>
          <p:cNvPr id="557066" name="Rectangle 10"/>
          <p:cNvSpPr>
            <a:spLocks noChangeArrowheads="1"/>
          </p:cNvSpPr>
          <p:nvPr/>
        </p:nvSpPr>
        <p:spPr bwMode="auto">
          <a:xfrm>
            <a:off x="810747" y="4968062"/>
            <a:ext cx="3644244" cy="371513"/>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lt"/>
                <a:ea typeface="+mn-ea"/>
              </a:rPr>
              <a:t>发送方通知接收方删除出错的数据</a:t>
            </a:r>
          </a:p>
        </p:txBody>
      </p:sp>
      <p:sp>
        <p:nvSpPr>
          <p:cNvPr id="557067" name="Rectangle 11"/>
          <p:cNvSpPr>
            <a:spLocks noChangeArrowheads="1"/>
          </p:cNvSpPr>
          <p:nvPr/>
        </p:nvSpPr>
        <p:spPr bwMode="auto">
          <a:xfrm>
            <a:off x="1000651" y="5615762"/>
            <a:ext cx="1797585" cy="371513"/>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lt"/>
                <a:ea typeface="+mn-ea"/>
              </a:rPr>
              <a:t>发送方重发数据</a:t>
            </a:r>
          </a:p>
        </p:txBody>
      </p:sp>
      <p:sp>
        <p:nvSpPr>
          <p:cNvPr id="557068" name="Rectangle 12"/>
          <p:cNvSpPr>
            <a:spLocks noChangeArrowheads="1"/>
          </p:cNvSpPr>
          <p:nvPr/>
        </p:nvSpPr>
        <p:spPr bwMode="auto">
          <a:xfrm>
            <a:off x="6222559" y="4895037"/>
            <a:ext cx="2490082" cy="371513"/>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lt"/>
                <a:ea typeface="+mn-ea"/>
              </a:rPr>
              <a:t>发送方继续发送新数据</a:t>
            </a:r>
          </a:p>
        </p:txBody>
      </p:sp>
      <p:sp>
        <p:nvSpPr>
          <p:cNvPr id="557069" name="Text Box 13"/>
          <p:cNvSpPr txBox="1">
            <a:spLocks noChangeArrowheads="1"/>
          </p:cNvSpPr>
          <p:nvPr/>
        </p:nvSpPr>
        <p:spPr bwMode="auto">
          <a:xfrm>
            <a:off x="1547813" y="3933825"/>
            <a:ext cx="719137" cy="3715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1800" b="1">
                <a:solidFill>
                  <a:srgbClr val="FF0000"/>
                </a:solidFill>
                <a:latin typeface="+mn-lt"/>
                <a:ea typeface="+mn-ea"/>
              </a:rPr>
              <a:t>出错</a:t>
            </a:r>
          </a:p>
        </p:txBody>
      </p:sp>
      <p:sp>
        <p:nvSpPr>
          <p:cNvPr id="557070" name="Text Box 14"/>
          <p:cNvSpPr txBox="1">
            <a:spLocks noChangeArrowheads="1"/>
          </p:cNvSpPr>
          <p:nvPr/>
        </p:nvSpPr>
        <p:spPr bwMode="auto">
          <a:xfrm>
            <a:off x="7451725" y="3933825"/>
            <a:ext cx="719138" cy="3715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1800" b="1">
                <a:latin typeface="+mn-lt"/>
                <a:ea typeface="+mn-ea"/>
              </a:rPr>
              <a:t>正确</a:t>
            </a:r>
          </a:p>
        </p:txBody>
      </p:sp>
      <p:sp>
        <p:nvSpPr>
          <p:cNvPr id="557071" name="Line 15"/>
          <p:cNvSpPr>
            <a:spLocks noChangeShapeType="1"/>
          </p:cNvSpPr>
          <p:nvPr/>
        </p:nvSpPr>
        <p:spPr bwMode="auto">
          <a:xfrm>
            <a:off x="4787900" y="2205038"/>
            <a:ext cx="0" cy="215900"/>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7072" name="Line 16"/>
          <p:cNvSpPr>
            <a:spLocks noChangeShapeType="1"/>
          </p:cNvSpPr>
          <p:nvPr/>
        </p:nvSpPr>
        <p:spPr bwMode="auto">
          <a:xfrm>
            <a:off x="4787900" y="2852738"/>
            <a:ext cx="0" cy="217487"/>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7073" name="Line 17"/>
          <p:cNvSpPr>
            <a:spLocks noChangeShapeType="1"/>
          </p:cNvSpPr>
          <p:nvPr/>
        </p:nvSpPr>
        <p:spPr bwMode="auto">
          <a:xfrm>
            <a:off x="1568450" y="4292600"/>
            <a:ext cx="0" cy="649288"/>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7074" name="Line 18"/>
          <p:cNvSpPr>
            <a:spLocks noChangeShapeType="1"/>
          </p:cNvSpPr>
          <p:nvPr/>
        </p:nvSpPr>
        <p:spPr bwMode="auto">
          <a:xfrm>
            <a:off x="1577975" y="4311650"/>
            <a:ext cx="360363"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7075" name="Line 19"/>
          <p:cNvSpPr>
            <a:spLocks noChangeShapeType="1"/>
          </p:cNvSpPr>
          <p:nvPr/>
        </p:nvSpPr>
        <p:spPr bwMode="auto">
          <a:xfrm>
            <a:off x="7683500" y="4329113"/>
            <a:ext cx="431800"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7076" name="Line 20"/>
          <p:cNvSpPr>
            <a:spLocks noChangeShapeType="1"/>
          </p:cNvSpPr>
          <p:nvPr/>
        </p:nvSpPr>
        <p:spPr bwMode="auto">
          <a:xfrm>
            <a:off x="8115300" y="4318000"/>
            <a:ext cx="20638" cy="574675"/>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7078" name="Rectangle 22"/>
          <p:cNvSpPr>
            <a:spLocks noChangeArrowheads="1"/>
          </p:cNvSpPr>
          <p:nvPr/>
        </p:nvSpPr>
        <p:spPr bwMode="auto">
          <a:xfrm>
            <a:off x="2912274" y="3094812"/>
            <a:ext cx="3875077" cy="371513"/>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lt"/>
                <a:ea typeface="+mn-ea"/>
              </a:rPr>
              <a:t>接收方将接收到的数据发回给发送方</a:t>
            </a:r>
          </a:p>
        </p:txBody>
      </p:sp>
      <p:sp>
        <p:nvSpPr>
          <p:cNvPr id="557079" name="Line 23"/>
          <p:cNvSpPr>
            <a:spLocks noChangeShapeType="1"/>
          </p:cNvSpPr>
          <p:nvPr/>
        </p:nvSpPr>
        <p:spPr bwMode="auto">
          <a:xfrm>
            <a:off x="4787900" y="3500438"/>
            <a:ext cx="0" cy="217487"/>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7080" name="Line 24"/>
          <p:cNvSpPr>
            <a:spLocks noChangeShapeType="1"/>
          </p:cNvSpPr>
          <p:nvPr/>
        </p:nvSpPr>
        <p:spPr bwMode="auto">
          <a:xfrm>
            <a:off x="1908175" y="5373688"/>
            <a:ext cx="0" cy="217487"/>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r>
              <a:rPr lang="zh-CN" altLang="en-US" dirty="0"/>
              <a:t>自动请求重发</a:t>
            </a:r>
            <a:r>
              <a:rPr lang="zh-CN" altLang="en-US" sz="4000" dirty="0"/>
              <a:t/>
            </a:r>
            <a:br>
              <a:rPr lang="zh-CN" altLang="en-US" sz="4000" dirty="0"/>
            </a:br>
            <a:r>
              <a:rPr lang="zh-CN" altLang="en-US" sz="2800" dirty="0">
                <a:latin typeface="华文新魏" pitchFamily="2" charset="-122"/>
                <a:ea typeface="华文新魏" pitchFamily="2" charset="-122"/>
              </a:rPr>
              <a:t>（</a:t>
            </a:r>
            <a:r>
              <a:rPr lang="en-US" altLang="zh-CN" sz="2800" dirty="0">
                <a:latin typeface="华文新魏" pitchFamily="2" charset="-122"/>
                <a:ea typeface="华文新魏" pitchFamily="2" charset="-122"/>
              </a:rPr>
              <a:t>ARQ</a:t>
            </a:r>
            <a:r>
              <a:rPr lang="zh-CN" altLang="en-US" sz="2800" dirty="0">
                <a:latin typeface="华文新魏" pitchFamily="2" charset="-122"/>
                <a:ea typeface="华文新魏" pitchFamily="2" charset="-122"/>
              </a:rPr>
              <a:t>）</a:t>
            </a:r>
            <a:endParaRPr lang="en-US" altLang="zh-CN" sz="2800" dirty="0">
              <a:latin typeface="华文新魏" pitchFamily="2" charset="-122"/>
              <a:ea typeface="华文新魏" pitchFamily="2" charset="-122"/>
            </a:endParaRPr>
          </a:p>
        </p:txBody>
      </p:sp>
      <p:sp>
        <p:nvSpPr>
          <p:cNvPr id="55910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55910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差错控制方法</a:t>
            </a:r>
            <a:endParaRPr lang="en-US" altLang="zh-CN" sz="1200">
              <a:ea typeface="幼圆" pitchFamily="49" charset="-122"/>
            </a:endParaRPr>
          </a:p>
        </p:txBody>
      </p:sp>
      <p:sp>
        <p:nvSpPr>
          <p:cNvPr id="559111" name="Rectangle 7"/>
          <p:cNvSpPr>
            <a:spLocks noChangeArrowheads="1"/>
          </p:cNvSpPr>
          <p:nvPr/>
        </p:nvSpPr>
        <p:spPr bwMode="auto">
          <a:xfrm>
            <a:off x="2707090" y="1927692"/>
            <a:ext cx="4285445" cy="402291"/>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lt"/>
                <a:ea typeface="+mn-ea"/>
              </a:rPr>
              <a:t>发送方发送数据（一帧或一个字符）</a:t>
            </a:r>
          </a:p>
        </p:txBody>
      </p:sp>
      <p:sp>
        <p:nvSpPr>
          <p:cNvPr id="559112" name="Rectangle 8"/>
          <p:cNvSpPr>
            <a:spLocks noChangeArrowheads="1"/>
          </p:cNvSpPr>
          <p:nvPr/>
        </p:nvSpPr>
        <p:spPr bwMode="auto">
          <a:xfrm>
            <a:off x="3719171" y="2791292"/>
            <a:ext cx="1977121" cy="402291"/>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lt"/>
                <a:ea typeface="+mn-ea"/>
              </a:rPr>
              <a:t>接收方接收数据</a:t>
            </a:r>
          </a:p>
        </p:txBody>
      </p:sp>
      <p:sp>
        <p:nvSpPr>
          <p:cNvPr id="559113" name="AutoShape 9"/>
          <p:cNvSpPr>
            <a:spLocks noChangeArrowheads="1"/>
          </p:cNvSpPr>
          <p:nvPr/>
        </p:nvSpPr>
        <p:spPr bwMode="auto">
          <a:xfrm>
            <a:off x="2846389" y="3608871"/>
            <a:ext cx="3927473" cy="799134"/>
          </a:xfrm>
          <a:prstGeom prst="diamond">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lt"/>
                <a:ea typeface="+mn-ea"/>
              </a:rPr>
              <a:t>接收方检测数据</a:t>
            </a:r>
          </a:p>
        </p:txBody>
      </p:sp>
      <p:sp>
        <p:nvSpPr>
          <p:cNvPr id="559114" name="Rectangle 10"/>
          <p:cNvSpPr>
            <a:spLocks noChangeArrowheads="1"/>
          </p:cNvSpPr>
          <p:nvPr/>
        </p:nvSpPr>
        <p:spPr bwMode="auto">
          <a:xfrm>
            <a:off x="908204" y="4878854"/>
            <a:ext cx="3516004" cy="402291"/>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lt"/>
                <a:ea typeface="+mn-ea"/>
              </a:rPr>
              <a:t>接收方发出重发请求给发送方</a:t>
            </a:r>
          </a:p>
        </p:txBody>
      </p:sp>
      <p:sp>
        <p:nvSpPr>
          <p:cNvPr id="559115" name="Rectangle 11"/>
          <p:cNvSpPr>
            <a:spLocks noChangeArrowheads="1"/>
          </p:cNvSpPr>
          <p:nvPr/>
        </p:nvSpPr>
        <p:spPr bwMode="auto">
          <a:xfrm>
            <a:off x="1566521" y="5744042"/>
            <a:ext cx="1977121" cy="402291"/>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lt"/>
                <a:ea typeface="+mn-ea"/>
              </a:rPr>
              <a:t>发送方重发数据</a:t>
            </a:r>
          </a:p>
        </p:txBody>
      </p:sp>
      <p:sp>
        <p:nvSpPr>
          <p:cNvPr id="559116" name="Rectangle 12"/>
          <p:cNvSpPr>
            <a:spLocks noChangeArrowheads="1"/>
          </p:cNvSpPr>
          <p:nvPr/>
        </p:nvSpPr>
        <p:spPr bwMode="auto">
          <a:xfrm>
            <a:off x="5733956" y="4878854"/>
            <a:ext cx="2746563" cy="402291"/>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lt"/>
                <a:ea typeface="+mn-ea"/>
              </a:rPr>
              <a:t>发送方继续发送新数据</a:t>
            </a:r>
          </a:p>
        </p:txBody>
      </p:sp>
      <p:sp>
        <p:nvSpPr>
          <p:cNvPr id="559117" name="Text Box 13"/>
          <p:cNvSpPr txBox="1">
            <a:spLocks noChangeArrowheads="1"/>
          </p:cNvSpPr>
          <p:nvPr/>
        </p:nvSpPr>
        <p:spPr bwMode="auto">
          <a:xfrm>
            <a:off x="2484438" y="3571875"/>
            <a:ext cx="719137" cy="402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solidFill>
                  <a:srgbClr val="FF0000"/>
                </a:solidFill>
                <a:latin typeface="+mn-lt"/>
                <a:ea typeface="+mn-ea"/>
              </a:rPr>
              <a:t>出错</a:t>
            </a:r>
          </a:p>
        </p:txBody>
      </p:sp>
      <p:sp>
        <p:nvSpPr>
          <p:cNvPr id="559118" name="Text Box 14"/>
          <p:cNvSpPr txBox="1">
            <a:spLocks noChangeArrowheads="1"/>
          </p:cNvSpPr>
          <p:nvPr/>
        </p:nvSpPr>
        <p:spPr bwMode="auto">
          <a:xfrm>
            <a:off x="6516688" y="3571875"/>
            <a:ext cx="719137" cy="402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正确</a:t>
            </a:r>
          </a:p>
        </p:txBody>
      </p:sp>
      <p:sp>
        <p:nvSpPr>
          <p:cNvPr id="559119" name="Line 15"/>
          <p:cNvSpPr>
            <a:spLocks noChangeShapeType="1"/>
          </p:cNvSpPr>
          <p:nvPr/>
        </p:nvSpPr>
        <p:spPr bwMode="auto">
          <a:xfrm>
            <a:off x="4787900" y="2347913"/>
            <a:ext cx="0" cy="431800"/>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9120" name="Line 16"/>
          <p:cNvSpPr>
            <a:spLocks noChangeShapeType="1"/>
          </p:cNvSpPr>
          <p:nvPr/>
        </p:nvSpPr>
        <p:spPr bwMode="auto">
          <a:xfrm>
            <a:off x="4787900" y="3211513"/>
            <a:ext cx="0" cy="431800"/>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9121" name="Line 17"/>
          <p:cNvSpPr>
            <a:spLocks noChangeShapeType="1"/>
          </p:cNvSpPr>
          <p:nvPr/>
        </p:nvSpPr>
        <p:spPr bwMode="auto">
          <a:xfrm>
            <a:off x="2555875" y="4003675"/>
            <a:ext cx="0" cy="863600"/>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9122" name="Line 18"/>
          <p:cNvSpPr>
            <a:spLocks noChangeShapeType="1"/>
          </p:cNvSpPr>
          <p:nvPr/>
        </p:nvSpPr>
        <p:spPr bwMode="auto">
          <a:xfrm>
            <a:off x="2555875" y="4003675"/>
            <a:ext cx="360363"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9123" name="Line 19"/>
          <p:cNvSpPr>
            <a:spLocks noChangeShapeType="1"/>
          </p:cNvSpPr>
          <p:nvPr/>
        </p:nvSpPr>
        <p:spPr bwMode="auto">
          <a:xfrm>
            <a:off x="6732588" y="4003675"/>
            <a:ext cx="431800"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9124" name="Line 20"/>
          <p:cNvSpPr>
            <a:spLocks noChangeShapeType="1"/>
          </p:cNvSpPr>
          <p:nvPr/>
        </p:nvSpPr>
        <p:spPr bwMode="auto">
          <a:xfrm>
            <a:off x="7164388" y="4003675"/>
            <a:ext cx="0" cy="863600"/>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59125" name="Line 21"/>
          <p:cNvSpPr>
            <a:spLocks noChangeShapeType="1"/>
          </p:cNvSpPr>
          <p:nvPr/>
        </p:nvSpPr>
        <p:spPr bwMode="auto">
          <a:xfrm>
            <a:off x="2555875" y="5300663"/>
            <a:ext cx="0" cy="431800"/>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r>
              <a:rPr lang="zh-CN" altLang="en-US"/>
              <a:t>特  点</a:t>
            </a:r>
          </a:p>
        </p:txBody>
      </p:sp>
      <p:sp>
        <p:nvSpPr>
          <p:cNvPr id="560131" name="Rectangle 3"/>
          <p:cNvSpPr>
            <a:spLocks noGrp="1" noChangeArrowheads="1"/>
          </p:cNvSpPr>
          <p:nvPr>
            <p:ph type="body" idx="1"/>
          </p:nvPr>
        </p:nvSpPr>
        <p:spPr/>
        <p:txBody>
          <a:bodyPr/>
          <a:lstStyle/>
          <a:p>
            <a:pPr>
              <a:lnSpc>
                <a:spcPct val="110000"/>
              </a:lnSpc>
            </a:pPr>
            <a:r>
              <a:rPr lang="zh-CN" altLang="en-US" sz="2200" dirty="0">
                <a:solidFill>
                  <a:srgbClr val="FC0404"/>
                </a:solidFill>
              </a:rPr>
              <a:t>为保证通信正常进行，还需引入：</a:t>
            </a:r>
          </a:p>
          <a:p>
            <a:pPr lvl="1">
              <a:lnSpc>
                <a:spcPct val="110000"/>
              </a:lnSpc>
            </a:pPr>
            <a:r>
              <a:rPr lang="zh-CN" altLang="en-US" sz="2200" dirty="0" smtClean="0">
                <a:solidFill>
                  <a:srgbClr val="0000FF"/>
                </a:solidFill>
              </a:rPr>
              <a:t>定时器：</a:t>
            </a:r>
            <a:r>
              <a:rPr lang="zh-CN" altLang="en-US" sz="2200" dirty="0" smtClean="0"/>
              <a:t>防止</a:t>
            </a:r>
            <a:r>
              <a:rPr lang="zh-CN" altLang="en-US" sz="2200" dirty="0"/>
              <a:t>整个数据帧或反馈信息丢失。</a:t>
            </a:r>
          </a:p>
          <a:p>
            <a:pPr lvl="1">
              <a:lnSpc>
                <a:spcPct val="110000"/>
              </a:lnSpc>
            </a:pPr>
            <a:r>
              <a:rPr lang="zh-CN" altLang="en-US" sz="2200" dirty="0">
                <a:solidFill>
                  <a:srgbClr val="0000FF"/>
                </a:solidFill>
              </a:rPr>
              <a:t>帧</a:t>
            </a:r>
            <a:r>
              <a:rPr lang="zh-CN" altLang="en-US" sz="2200" dirty="0" smtClean="0">
                <a:solidFill>
                  <a:srgbClr val="0000FF"/>
                </a:solidFill>
              </a:rPr>
              <a:t>序号：</a:t>
            </a:r>
            <a:r>
              <a:rPr lang="zh-CN" altLang="en-US" sz="2200" dirty="0" smtClean="0"/>
              <a:t>防止</a:t>
            </a:r>
            <a:r>
              <a:rPr lang="zh-CN" altLang="en-US" sz="2200" dirty="0"/>
              <a:t>接收方多次收到同一帧并</a:t>
            </a:r>
            <a:r>
              <a:rPr lang="zh-CN" altLang="en-US" sz="2200" dirty="0" smtClean="0"/>
              <a:t>递交网络层。</a:t>
            </a:r>
            <a:endParaRPr lang="zh-CN" altLang="en-US" sz="2200" dirty="0"/>
          </a:p>
          <a:p>
            <a:pPr>
              <a:lnSpc>
                <a:spcPct val="110000"/>
              </a:lnSpc>
            </a:pPr>
            <a:r>
              <a:rPr lang="zh-CN" altLang="en-US" sz="2200" dirty="0">
                <a:solidFill>
                  <a:srgbClr val="FC0404"/>
                </a:solidFill>
              </a:rPr>
              <a:t>特点：</a:t>
            </a:r>
          </a:p>
          <a:p>
            <a:pPr lvl="1">
              <a:lnSpc>
                <a:spcPct val="110000"/>
              </a:lnSpc>
            </a:pPr>
            <a:r>
              <a:rPr lang="zh-CN" altLang="en-US" sz="2200" dirty="0"/>
              <a:t>使用检错码；</a:t>
            </a:r>
          </a:p>
          <a:p>
            <a:pPr lvl="1">
              <a:lnSpc>
                <a:spcPct val="110000"/>
              </a:lnSpc>
            </a:pPr>
            <a:r>
              <a:rPr lang="zh-CN" altLang="en-US" sz="2200" dirty="0"/>
              <a:t>必须是双向信道；</a:t>
            </a:r>
          </a:p>
          <a:p>
            <a:pPr lvl="1">
              <a:lnSpc>
                <a:spcPct val="110000"/>
              </a:lnSpc>
            </a:pPr>
            <a:r>
              <a:rPr lang="zh-CN" altLang="en-US" sz="2200" dirty="0"/>
              <a:t>发送方需设置缓冲器</a:t>
            </a:r>
            <a:r>
              <a:rPr lang="zh-CN" altLang="en-US" sz="2200" dirty="0" smtClean="0"/>
              <a:t>。</a:t>
            </a:r>
            <a:endParaRPr lang="en-US" altLang="zh-CN" sz="2200" dirty="0" smtClean="0"/>
          </a:p>
          <a:p>
            <a:pPr>
              <a:lnSpc>
                <a:spcPct val="110000"/>
              </a:lnSpc>
            </a:pPr>
            <a:r>
              <a:rPr lang="zh-CN" altLang="en-US" sz="2200" dirty="0" smtClean="0">
                <a:solidFill>
                  <a:srgbClr val="FF0000"/>
                </a:solidFill>
              </a:rPr>
              <a:t>应用：</a:t>
            </a:r>
            <a:endParaRPr lang="en-US" altLang="zh-CN" sz="2200" dirty="0" smtClean="0">
              <a:solidFill>
                <a:srgbClr val="FF0000"/>
              </a:solidFill>
            </a:endParaRPr>
          </a:p>
          <a:p>
            <a:pPr lvl="1">
              <a:lnSpc>
                <a:spcPct val="110000"/>
              </a:lnSpc>
            </a:pPr>
            <a:r>
              <a:rPr lang="zh-CN" altLang="en-US" sz="2200" dirty="0" smtClean="0"/>
              <a:t>高可靠性信道，例如光纤；</a:t>
            </a:r>
            <a:endParaRPr lang="en-US" altLang="zh-CN" sz="2200" dirty="0" smtClean="0"/>
          </a:p>
          <a:p>
            <a:pPr lvl="1">
              <a:lnSpc>
                <a:spcPct val="110000"/>
              </a:lnSpc>
            </a:pPr>
            <a:r>
              <a:rPr lang="zh-CN" altLang="en-US" sz="2200" dirty="0" smtClean="0"/>
              <a:t>经常被用在数据链路层、网络层和传输层。</a:t>
            </a:r>
            <a:endParaRPr lang="zh-CN" altLang="en-US" sz="2200" dirty="0"/>
          </a:p>
        </p:txBody>
      </p:sp>
      <p:sp>
        <p:nvSpPr>
          <p:cNvPr id="56013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560133"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差错控制方法</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r>
              <a:rPr lang="zh-CN" altLang="en-US" dirty="0" smtClean="0"/>
              <a:t>前向纠错</a:t>
            </a:r>
            <a:r>
              <a:rPr lang="en-US" altLang="zh-CN" dirty="0" smtClean="0"/>
              <a:t/>
            </a:r>
            <a:br>
              <a:rPr lang="en-US" altLang="zh-CN" dirty="0" smtClean="0"/>
            </a:br>
            <a:r>
              <a:rPr lang="zh-CN" altLang="en-US" sz="2800" dirty="0" smtClean="0"/>
              <a:t>（</a:t>
            </a:r>
            <a:r>
              <a:rPr lang="en-US" altLang="zh-CN" sz="2800" dirty="0">
                <a:latin typeface="华文新魏" pitchFamily="2" charset="-122"/>
                <a:ea typeface="华文新魏" pitchFamily="2" charset="-122"/>
              </a:rPr>
              <a:t>FEC</a:t>
            </a:r>
            <a:r>
              <a:rPr lang="zh-CN" altLang="en-US" sz="2800" dirty="0" smtClean="0"/>
              <a:t>）</a:t>
            </a:r>
            <a:endParaRPr lang="zh-CN" altLang="en-US" sz="2800" dirty="0"/>
          </a:p>
        </p:txBody>
      </p:sp>
      <p:sp>
        <p:nvSpPr>
          <p:cNvPr id="561157"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r>
              <a:rPr lang="en-US" altLang="zh-CN" sz="1200">
                <a:ea typeface="幼圆" pitchFamily="49" charset="-122"/>
              </a:rPr>
              <a:t>&gt;&gt;</a:t>
            </a:r>
            <a:r>
              <a:rPr lang="zh-CN" altLang="en-US" sz="1200">
                <a:ea typeface="幼圆" pitchFamily="49" charset="-122"/>
                <a:hlinkClick r:id="rId5" action="ppaction://hlinksldjump"/>
              </a:rPr>
              <a:t>差错控制</a:t>
            </a:r>
            <a:r>
              <a:rPr lang="en-US" altLang="zh-CN" sz="1200">
                <a:ea typeface="幼圆" pitchFamily="49" charset="-122"/>
              </a:rPr>
              <a:t>&gt;&gt;</a:t>
            </a:r>
            <a:r>
              <a:rPr lang="zh-CN" altLang="en-US" sz="1200">
                <a:ea typeface="幼圆" pitchFamily="49" charset="-122"/>
                <a:hlinkClick r:id="rId6" action="ppaction://hlinksldjump"/>
              </a:rPr>
              <a:t>差错控制方法</a:t>
            </a:r>
            <a:endParaRPr lang="en-US" altLang="zh-CN" sz="1200">
              <a:ea typeface="幼圆" pitchFamily="49" charset="-122"/>
            </a:endParaRPr>
          </a:p>
        </p:txBody>
      </p:sp>
      <p:sp>
        <p:nvSpPr>
          <p:cNvPr id="561158" name="Rectangle 6"/>
          <p:cNvSpPr>
            <a:spLocks noChangeArrowheads="1"/>
          </p:cNvSpPr>
          <p:nvPr/>
        </p:nvSpPr>
        <p:spPr bwMode="auto">
          <a:xfrm>
            <a:off x="1331640" y="1700808"/>
            <a:ext cx="4285445" cy="402291"/>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lt"/>
                <a:ea typeface="+mn-ea"/>
              </a:rPr>
              <a:t>发送方发送数据（一帧或一个字符）</a:t>
            </a:r>
          </a:p>
        </p:txBody>
      </p:sp>
      <p:sp>
        <p:nvSpPr>
          <p:cNvPr id="561159" name="Rectangle 7"/>
          <p:cNvSpPr>
            <a:spLocks noChangeArrowheads="1"/>
          </p:cNvSpPr>
          <p:nvPr/>
        </p:nvSpPr>
        <p:spPr bwMode="auto">
          <a:xfrm>
            <a:off x="2343721" y="2421533"/>
            <a:ext cx="1977121" cy="402291"/>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lt"/>
                <a:ea typeface="+mn-ea"/>
              </a:rPr>
              <a:t>接收方接收数据</a:t>
            </a:r>
          </a:p>
        </p:txBody>
      </p:sp>
      <p:sp>
        <p:nvSpPr>
          <p:cNvPr id="561161" name="Rectangle 9"/>
          <p:cNvSpPr>
            <a:spLocks noChangeArrowheads="1"/>
          </p:cNvSpPr>
          <p:nvPr/>
        </p:nvSpPr>
        <p:spPr bwMode="auto">
          <a:xfrm>
            <a:off x="1443941" y="3089425"/>
            <a:ext cx="3772484" cy="771623"/>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dirty="0">
                <a:latin typeface="+mn-lt"/>
                <a:ea typeface="+mn-ea"/>
              </a:rPr>
              <a:t>接收方检测数据，如发现差错</a:t>
            </a:r>
            <a:r>
              <a:rPr lang="zh-CN" altLang="en-US" sz="2000" b="1" dirty="0" smtClean="0">
                <a:latin typeface="+mn-lt"/>
                <a:ea typeface="+mn-ea"/>
              </a:rPr>
              <a:t>，</a:t>
            </a:r>
            <a:endParaRPr lang="en-US" altLang="zh-CN" sz="2000" b="1" dirty="0" smtClean="0">
              <a:latin typeface="+mn-lt"/>
              <a:ea typeface="+mn-ea"/>
            </a:endParaRPr>
          </a:p>
          <a:p>
            <a:pPr algn="ctr">
              <a:spcBef>
                <a:spcPct val="20000"/>
              </a:spcBef>
            </a:pPr>
            <a:r>
              <a:rPr lang="zh-CN" altLang="en-US" sz="2000" b="1" dirty="0" smtClean="0">
                <a:latin typeface="+mn-lt"/>
                <a:ea typeface="+mn-ea"/>
              </a:rPr>
              <a:t>由</a:t>
            </a:r>
            <a:r>
              <a:rPr lang="zh-CN" altLang="en-US" sz="2000" b="1" dirty="0">
                <a:latin typeface="+mn-lt"/>
                <a:ea typeface="+mn-ea"/>
              </a:rPr>
              <a:t>接收方进行纠正</a:t>
            </a:r>
          </a:p>
        </p:txBody>
      </p:sp>
      <p:sp>
        <p:nvSpPr>
          <p:cNvPr id="561163" name="Rectangle 11"/>
          <p:cNvSpPr>
            <a:spLocks noChangeArrowheads="1"/>
          </p:cNvSpPr>
          <p:nvPr/>
        </p:nvSpPr>
        <p:spPr bwMode="auto">
          <a:xfrm>
            <a:off x="1982019" y="4178837"/>
            <a:ext cx="2746563" cy="402291"/>
          </a:xfrm>
          <a:prstGeom prst="rect">
            <a:avLst/>
          </a:prstGeom>
          <a:solidFill>
            <a:schemeClr val="accent1"/>
          </a:solidFill>
          <a:ln w="28575">
            <a:solidFill>
              <a:schemeClr val="tx1"/>
            </a:solidFill>
            <a:miter lim="800000"/>
            <a:headEnd/>
            <a:tailEnd/>
          </a:ln>
          <a:effectLst>
            <a:outerShdw dist="35921" dir="2700000" algn="ctr" rotWithShape="0">
              <a:srgbClr val="00002E">
                <a:alpha val="50000"/>
              </a:srgbClr>
            </a:outerShdw>
          </a:effectLst>
        </p:spPr>
        <p:txBody>
          <a:bodyPr wrap="none"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lt"/>
                <a:ea typeface="+mn-ea"/>
              </a:rPr>
              <a:t>发送方继续发送新数据</a:t>
            </a:r>
          </a:p>
        </p:txBody>
      </p:sp>
      <p:sp>
        <p:nvSpPr>
          <p:cNvPr id="561166" name="Line 14"/>
          <p:cNvSpPr>
            <a:spLocks noChangeShapeType="1"/>
          </p:cNvSpPr>
          <p:nvPr/>
        </p:nvSpPr>
        <p:spPr bwMode="auto">
          <a:xfrm>
            <a:off x="3412450" y="2121029"/>
            <a:ext cx="0" cy="288925"/>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61167" name="Line 15"/>
          <p:cNvSpPr>
            <a:spLocks noChangeShapeType="1"/>
          </p:cNvSpPr>
          <p:nvPr/>
        </p:nvSpPr>
        <p:spPr bwMode="auto">
          <a:xfrm>
            <a:off x="3412450" y="2841754"/>
            <a:ext cx="0" cy="288925"/>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61174" name="Line 22"/>
          <p:cNvSpPr>
            <a:spLocks noChangeShapeType="1"/>
          </p:cNvSpPr>
          <p:nvPr/>
        </p:nvSpPr>
        <p:spPr bwMode="auto">
          <a:xfrm>
            <a:off x="3412450" y="3860155"/>
            <a:ext cx="0" cy="288925"/>
          </a:xfrm>
          <a:prstGeom prst="line">
            <a:avLst/>
          </a:prstGeom>
          <a:noFill/>
          <a:ln w="28575">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61175" name="Rectangle 23"/>
          <p:cNvSpPr>
            <a:spLocks noGrp="1" noChangeArrowheads="1"/>
          </p:cNvSpPr>
          <p:nvPr>
            <p:ph type="body" idx="1"/>
          </p:nvPr>
        </p:nvSpPr>
        <p:spPr>
          <a:xfrm>
            <a:off x="809625" y="4581525"/>
            <a:ext cx="7958138" cy="1871663"/>
          </a:xfrm>
        </p:spPr>
        <p:txBody>
          <a:bodyPr/>
          <a:lstStyle/>
          <a:p>
            <a:r>
              <a:rPr lang="zh-CN" altLang="en-US" sz="2400" dirty="0">
                <a:solidFill>
                  <a:srgbClr val="FC0404"/>
                </a:solidFill>
              </a:rPr>
              <a:t>特点：</a:t>
            </a:r>
          </a:p>
          <a:p>
            <a:pPr lvl="1"/>
            <a:r>
              <a:rPr lang="zh-CN" altLang="en-US" sz="2400" dirty="0"/>
              <a:t>使用纠错码（纠错码编码效率低且设备复杂）；</a:t>
            </a:r>
          </a:p>
          <a:p>
            <a:pPr lvl="1"/>
            <a:r>
              <a:rPr lang="zh-CN" altLang="en-US" sz="2400" dirty="0"/>
              <a:t>单向信道；</a:t>
            </a:r>
          </a:p>
          <a:p>
            <a:pPr lvl="1"/>
            <a:r>
              <a:rPr lang="zh-CN" altLang="en-US" sz="2400" dirty="0"/>
              <a:t>发送方无需设置缓冲器。</a:t>
            </a:r>
          </a:p>
        </p:txBody>
      </p:sp>
      <p:sp>
        <p:nvSpPr>
          <p:cNvPr id="2" name="矩形 1"/>
          <p:cNvSpPr/>
          <p:nvPr/>
        </p:nvSpPr>
        <p:spPr>
          <a:xfrm>
            <a:off x="5436096" y="2348880"/>
            <a:ext cx="3384376" cy="2086725"/>
          </a:xfrm>
          <a:prstGeom prst="rect">
            <a:avLst/>
          </a:prstGeom>
        </p:spPr>
        <p:txBody>
          <a:bodyPr wrap="square">
            <a:spAutoFit/>
          </a:bodyPr>
          <a:lstStyle/>
          <a:p>
            <a:pPr marL="444500" indent="-444500">
              <a:buClr>
                <a:srgbClr val="000000"/>
              </a:buClr>
              <a:buFont typeface="Wingdings" pitchFamily="2" charset="2"/>
              <a:buChar char="@"/>
            </a:pPr>
            <a:r>
              <a:rPr lang="zh-CN" altLang="en-US" sz="2400" b="1" dirty="0">
                <a:solidFill>
                  <a:srgbClr val="FC0404"/>
                </a:solidFill>
                <a:latin typeface="+mn-lt"/>
                <a:ea typeface="+mn-ea"/>
              </a:rPr>
              <a:t>应用：</a:t>
            </a:r>
          </a:p>
          <a:p>
            <a:pPr marL="909638" lvl="1" indent="-285750">
              <a:buSzPct val="55000"/>
              <a:buBlip>
                <a:blip r:embed="rId7"/>
              </a:buBlip>
            </a:pPr>
            <a:r>
              <a:rPr lang="zh-CN" altLang="en-US" sz="2400" b="1" dirty="0" smtClean="0">
                <a:solidFill>
                  <a:srgbClr val="000000"/>
                </a:solidFill>
                <a:latin typeface="+mn-lt"/>
                <a:ea typeface="+mn-ea"/>
              </a:rPr>
              <a:t>有噪声的信道</a:t>
            </a:r>
            <a:r>
              <a:rPr lang="zh-CN" altLang="en-US" sz="2400" b="1" dirty="0">
                <a:solidFill>
                  <a:srgbClr val="000000"/>
                </a:solidFill>
                <a:latin typeface="+mn-lt"/>
                <a:ea typeface="+mn-ea"/>
              </a:rPr>
              <a:t>，</a:t>
            </a:r>
            <a:r>
              <a:rPr lang="zh-CN" altLang="en-US" sz="2400" b="1" dirty="0" smtClean="0">
                <a:solidFill>
                  <a:srgbClr val="000000"/>
                </a:solidFill>
                <a:latin typeface="+mn-lt"/>
                <a:ea typeface="+mn-ea"/>
              </a:rPr>
              <a:t>例如无线信道；</a:t>
            </a:r>
            <a:endParaRPr lang="zh-CN" altLang="en-US" sz="2400" b="1" dirty="0">
              <a:solidFill>
                <a:srgbClr val="000000"/>
              </a:solidFill>
              <a:latin typeface="+mn-lt"/>
              <a:ea typeface="+mn-ea"/>
            </a:endParaRPr>
          </a:p>
          <a:p>
            <a:pPr marL="909638" lvl="1" indent="-285750">
              <a:buSzPct val="55000"/>
              <a:buBlip>
                <a:blip r:embed="rId7"/>
              </a:buBlip>
            </a:pPr>
            <a:r>
              <a:rPr lang="zh-CN" altLang="en-US" sz="2400" b="1" dirty="0">
                <a:solidFill>
                  <a:srgbClr val="000000"/>
                </a:solidFill>
                <a:latin typeface="+mn-lt"/>
                <a:ea typeface="+mn-ea"/>
              </a:rPr>
              <a:t>经常被用在</a:t>
            </a:r>
            <a:r>
              <a:rPr lang="zh-CN" altLang="en-US" sz="2400" b="1" dirty="0" smtClean="0">
                <a:solidFill>
                  <a:srgbClr val="000000"/>
                </a:solidFill>
                <a:latin typeface="+mn-lt"/>
                <a:ea typeface="+mn-ea"/>
              </a:rPr>
              <a:t>数据链路层和物理层</a:t>
            </a:r>
            <a:r>
              <a:rPr lang="zh-CN" altLang="en-US" sz="2400" b="1" dirty="0">
                <a:solidFill>
                  <a:srgbClr val="000000"/>
                </a:solidFill>
                <a:latin typeface="+mn-lt"/>
                <a:ea typeface="+mn-ea"/>
              </a:rPr>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r>
              <a:rPr lang="zh-CN" altLang="en-US"/>
              <a:t>流量控制</a:t>
            </a:r>
          </a:p>
        </p:txBody>
      </p:sp>
      <p:sp>
        <p:nvSpPr>
          <p:cNvPr id="562179" name="Rectangle 3"/>
          <p:cNvSpPr>
            <a:spLocks noGrp="1" noChangeArrowheads="1"/>
          </p:cNvSpPr>
          <p:nvPr>
            <p:ph type="body" idx="1"/>
          </p:nvPr>
        </p:nvSpPr>
        <p:spPr>
          <a:xfrm>
            <a:off x="809625" y="1773238"/>
            <a:ext cx="7958138" cy="4679950"/>
          </a:xfrm>
        </p:spPr>
        <p:txBody>
          <a:bodyPr/>
          <a:lstStyle/>
          <a:p>
            <a:pPr>
              <a:lnSpc>
                <a:spcPct val="110000"/>
              </a:lnSpc>
            </a:pPr>
            <a:r>
              <a:rPr lang="zh-CN" altLang="en-US" sz="2400" dirty="0" smtClean="0">
                <a:solidFill>
                  <a:srgbClr val="FF0000"/>
                </a:solidFill>
              </a:rPr>
              <a:t>问题：</a:t>
            </a:r>
            <a:r>
              <a:rPr lang="zh-CN" altLang="en-US" sz="2400" dirty="0" smtClean="0"/>
              <a:t>发送</a:t>
            </a:r>
            <a:r>
              <a:rPr lang="zh-CN" altLang="en-US" sz="2400" dirty="0"/>
              <a:t>方发送能力大于接收方接收能力。例如，高速发送方的帧会“淹没”低速的接收方。</a:t>
            </a:r>
          </a:p>
          <a:p>
            <a:pPr>
              <a:lnSpc>
                <a:spcPct val="110000"/>
              </a:lnSpc>
            </a:pPr>
            <a:r>
              <a:rPr lang="zh-CN" altLang="en-US" sz="2400" dirty="0">
                <a:solidFill>
                  <a:srgbClr val="FF0000"/>
                </a:solidFill>
              </a:rPr>
              <a:t>解决</a:t>
            </a:r>
          </a:p>
          <a:p>
            <a:pPr lvl="1">
              <a:lnSpc>
                <a:spcPct val="110000"/>
              </a:lnSpc>
            </a:pPr>
            <a:r>
              <a:rPr lang="zh-CN" altLang="en-US" sz="2400" dirty="0">
                <a:solidFill>
                  <a:srgbClr val="0000FF"/>
                </a:solidFill>
              </a:rPr>
              <a:t>基于反馈的</a:t>
            </a:r>
            <a:r>
              <a:rPr lang="zh-CN" altLang="en-US" sz="2400" dirty="0" smtClean="0">
                <a:solidFill>
                  <a:srgbClr val="0000FF"/>
                </a:solidFill>
              </a:rPr>
              <a:t>流量控制</a:t>
            </a:r>
            <a:r>
              <a:rPr lang="zh-CN" altLang="en-US" sz="2400" dirty="0" smtClean="0">
                <a:solidFill>
                  <a:schemeClr val="tx1"/>
                </a:solidFill>
              </a:rPr>
              <a:t>（本章介绍）</a:t>
            </a:r>
            <a:endParaRPr lang="zh-CN" altLang="en-US" sz="2400" dirty="0">
              <a:solidFill>
                <a:schemeClr val="tx1"/>
              </a:solidFill>
            </a:endParaRPr>
          </a:p>
          <a:p>
            <a:pPr lvl="1">
              <a:lnSpc>
                <a:spcPct val="110000"/>
              </a:lnSpc>
              <a:buFont typeface="Wingdings" pitchFamily="2" charset="2"/>
              <a:buNone/>
            </a:pPr>
            <a:r>
              <a:rPr lang="zh-CN" altLang="en-US" sz="2400" dirty="0"/>
              <a:t>    接收方显式或隐式通知发送方发送速率是否可接受。</a:t>
            </a:r>
          </a:p>
          <a:p>
            <a:pPr lvl="1">
              <a:lnSpc>
                <a:spcPct val="110000"/>
              </a:lnSpc>
            </a:pPr>
            <a:r>
              <a:rPr lang="zh-CN" altLang="en-US" sz="2400" dirty="0">
                <a:solidFill>
                  <a:srgbClr val="0000FF"/>
                </a:solidFill>
              </a:rPr>
              <a:t>基于速率的流量控制</a:t>
            </a:r>
          </a:p>
          <a:p>
            <a:pPr lvl="1">
              <a:lnSpc>
                <a:spcPct val="110000"/>
              </a:lnSpc>
              <a:buFont typeface="Wingdings" pitchFamily="2" charset="2"/>
              <a:buNone/>
            </a:pPr>
            <a:r>
              <a:rPr lang="zh-CN" altLang="en-US" sz="2400" dirty="0"/>
              <a:t>    由协议限制发送方</a:t>
            </a:r>
            <a:r>
              <a:rPr lang="zh-CN" altLang="en-US" sz="2400" dirty="0" smtClean="0"/>
              <a:t>可发送</a:t>
            </a:r>
            <a:r>
              <a:rPr lang="zh-CN" altLang="en-US" sz="2400" dirty="0"/>
              <a:t>的</a:t>
            </a:r>
            <a:r>
              <a:rPr lang="zh-CN" altLang="en-US" sz="2400" dirty="0" smtClean="0"/>
              <a:t>速率，无需接收方反馈。</a:t>
            </a:r>
            <a:endParaRPr lang="zh-CN" altLang="en-US" sz="2400" dirty="0"/>
          </a:p>
          <a:p>
            <a:pPr>
              <a:lnSpc>
                <a:spcPct val="110000"/>
              </a:lnSpc>
            </a:pPr>
            <a:r>
              <a:rPr lang="zh-CN" altLang="en-US" sz="2400" dirty="0" smtClean="0">
                <a:solidFill>
                  <a:srgbClr val="FF0000"/>
                </a:solidFill>
              </a:rPr>
              <a:t>提示：</a:t>
            </a:r>
            <a:r>
              <a:rPr lang="zh-CN" altLang="en-US" sz="2400" dirty="0" smtClean="0"/>
              <a:t>解决</a:t>
            </a:r>
            <a:r>
              <a:rPr lang="zh-CN" altLang="en-US" sz="2400" dirty="0"/>
              <a:t>方法原理大致相同，都是限制发送方所发出的数据流量，使其发送速率不要超过接收方能处理的速率。</a:t>
            </a:r>
          </a:p>
        </p:txBody>
      </p:sp>
      <p:sp>
        <p:nvSpPr>
          <p:cNvPr id="562181"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数据链路层功能</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a:lstStyle/>
          <a:p>
            <a:r>
              <a:rPr lang="zh-CN" altLang="en-US"/>
              <a:t>数据链路层协议</a:t>
            </a:r>
          </a:p>
        </p:txBody>
      </p:sp>
      <p:sp>
        <p:nvSpPr>
          <p:cNvPr id="525321" name="Rectangle 9"/>
          <p:cNvSpPr>
            <a:spLocks noGrp="1" noChangeArrowheads="1"/>
          </p:cNvSpPr>
          <p:nvPr>
            <p:ph type="body" idx="1"/>
          </p:nvPr>
        </p:nvSpPr>
        <p:spPr>
          <a:xfrm>
            <a:off x="2411413" y="2492375"/>
            <a:ext cx="4122737" cy="3168650"/>
          </a:xfrm>
        </p:spPr>
        <p:txBody>
          <a:bodyPr/>
          <a:lstStyle/>
          <a:p>
            <a:r>
              <a:rPr lang="zh-CN" altLang="en-US">
                <a:hlinkClick r:id="rId3" action="ppaction://hlinksldjump"/>
              </a:rPr>
              <a:t>基本数据链路协议</a:t>
            </a:r>
            <a:endParaRPr lang="zh-CN" altLang="en-US"/>
          </a:p>
          <a:p>
            <a:endParaRPr lang="zh-CN" altLang="en-US"/>
          </a:p>
          <a:p>
            <a:r>
              <a:rPr lang="zh-CN" altLang="en-US">
                <a:hlinkClick r:id="rId4" action="ppaction://hlinksldjump"/>
              </a:rPr>
              <a:t>滑动窗口协议</a:t>
            </a:r>
            <a:endParaRPr lang="zh-CN" altLang="en-US"/>
          </a:p>
          <a:p>
            <a:endParaRPr lang="zh-CN" altLang="en-US"/>
          </a:p>
          <a:p>
            <a:r>
              <a:rPr lang="zh-CN" altLang="en-US">
                <a:hlinkClick r:id="rId5" action="ppaction://hlinksldjump"/>
              </a:rPr>
              <a:t>协议描述和验证</a:t>
            </a:r>
            <a:endParaRPr lang="zh-CN" altLang="en-US"/>
          </a:p>
        </p:txBody>
      </p:sp>
      <p:sp>
        <p:nvSpPr>
          <p:cNvPr id="525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ChangeArrowheads="1"/>
          </p:cNvSpPr>
          <p:nvPr>
            <p:ph type="title"/>
          </p:nvPr>
        </p:nvSpPr>
        <p:spPr/>
        <p:txBody>
          <a:bodyPr/>
          <a:lstStyle/>
          <a:p>
            <a:r>
              <a:rPr lang="zh-CN" altLang="en-US"/>
              <a:t>基本数据链路协议</a:t>
            </a:r>
          </a:p>
        </p:txBody>
      </p:sp>
      <p:sp>
        <p:nvSpPr>
          <p:cNvPr id="62566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endParaRPr lang="en-US" altLang="zh-CN" sz="1200">
              <a:ea typeface="幼圆" pitchFamily="49" charset="-122"/>
            </a:endParaRPr>
          </a:p>
        </p:txBody>
      </p:sp>
      <p:sp>
        <p:nvSpPr>
          <p:cNvPr id="625669" name="Rectangle 5"/>
          <p:cNvSpPr>
            <a:spLocks noGrp="1" noChangeArrowheads="1"/>
          </p:cNvSpPr>
          <p:nvPr>
            <p:ph type="body" idx="1"/>
          </p:nvPr>
        </p:nvSpPr>
        <p:spPr>
          <a:xfrm>
            <a:off x="1547664" y="1916113"/>
            <a:ext cx="6480720" cy="4321175"/>
          </a:xfrm>
        </p:spPr>
        <p:txBody>
          <a:bodyPr/>
          <a:lstStyle/>
          <a:p>
            <a:pPr>
              <a:lnSpc>
                <a:spcPct val="150000"/>
              </a:lnSpc>
            </a:pPr>
            <a:r>
              <a:rPr lang="zh-CN" altLang="en-US" dirty="0">
                <a:hlinkClick r:id="rId5" action="ppaction://hlinksldjump"/>
              </a:rPr>
              <a:t>一些约定</a:t>
            </a:r>
            <a:endParaRPr lang="zh-CN" altLang="en-US" dirty="0"/>
          </a:p>
          <a:p>
            <a:pPr>
              <a:lnSpc>
                <a:spcPct val="150000"/>
              </a:lnSpc>
            </a:pPr>
            <a:r>
              <a:rPr lang="zh-CN" altLang="en-US" dirty="0" smtClean="0">
                <a:hlinkClick r:id="rId6" action="ppaction://hlinksldjump"/>
              </a:rPr>
              <a:t>一个乌托邦式的单工</a:t>
            </a:r>
            <a:r>
              <a:rPr lang="zh-CN" altLang="en-US" dirty="0">
                <a:hlinkClick r:id="rId6" action="ppaction://hlinksldjump"/>
              </a:rPr>
              <a:t>协议 </a:t>
            </a:r>
            <a:endParaRPr lang="zh-CN" altLang="en-US" dirty="0"/>
          </a:p>
          <a:p>
            <a:pPr>
              <a:lnSpc>
                <a:spcPct val="150000"/>
              </a:lnSpc>
            </a:pPr>
            <a:r>
              <a:rPr lang="zh-CN" altLang="en-US" dirty="0" smtClean="0">
                <a:hlinkClick r:id="rId7" action="ppaction://hlinksldjump"/>
              </a:rPr>
              <a:t>无错信道上的单工停</a:t>
            </a:r>
            <a:r>
              <a:rPr lang="en-US" altLang="zh-CN" dirty="0">
                <a:hlinkClick r:id="rId7" action="ppaction://hlinksldjump"/>
              </a:rPr>
              <a:t>-</a:t>
            </a:r>
            <a:r>
              <a:rPr lang="zh-CN" altLang="en-US" dirty="0" smtClean="0">
                <a:hlinkClick r:id="rId7" action="ppaction://hlinksldjump"/>
              </a:rPr>
              <a:t>等式协议 </a:t>
            </a:r>
            <a:endParaRPr lang="zh-CN" altLang="en-US" dirty="0"/>
          </a:p>
          <a:p>
            <a:pPr>
              <a:lnSpc>
                <a:spcPct val="150000"/>
              </a:lnSpc>
            </a:pPr>
            <a:r>
              <a:rPr lang="zh-CN" altLang="en-US" dirty="0" smtClean="0">
                <a:hlinkClick r:id="rId8" action="ppaction://hlinksldjump"/>
              </a:rPr>
              <a:t>有错信道上的单工停</a:t>
            </a:r>
            <a:r>
              <a:rPr lang="en-US" altLang="zh-CN" dirty="0" smtClean="0">
                <a:hlinkClick r:id="rId8" action="ppaction://hlinksldjump"/>
              </a:rPr>
              <a:t>-</a:t>
            </a:r>
            <a:r>
              <a:rPr lang="zh-CN" altLang="en-US" dirty="0" smtClean="0">
                <a:hlinkClick r:id="rId8" action="ppaction://hlinksldjump"/>
              </a:rPr>
              <a:t>等式协议</a:t>
            </a:r>
            <a:endParaRPr lang="zh-CN" altLang="en-US" dirty="0"/>
          </a:p>
          <a:p>
            <a:pPr>
              <a:lnSpc>
                <a:spcPct val="150000"/>
              </a:lnSpc>
            </a:pPr>
            <a:r>
              <a:rPr lang="zh-CN" altLang="en-US" dirty="0">
                <a:hlinkClick r:id="rId9" action="ppaction://hlinksldjump"/>
              </a:rPr>
              <a:t>协议效率分析</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p:txBody>
          <a:bodyPr/>
          <a:lstStyle/>
          <a:p>
            <a:r>
              <a:rPr lang="zh-CN" altLang="en-US"/>
              <a:t>简化的通信模型</a:t>
            </a:r>
          </a:p>
        </p:txBody>
      </p:sp>
      <p:sp>
        <p:nvSpPr>
          <p:cNvPr id="612360" name="Rectangle 8"/>
          <p:cNvSpPr>
            <a:spLocks noGrp="1" noChangeArrowheads="1"/>
          </p:cNvSpPr>
          <p:nvPr>
            <p:ph type="body" idx="1"/>
          </p:nvPr>
        </p:nvSpPr>
        <p:spPr>
          <a:xfrm>
            <a:off x="755650" y="1700213"/>
            <a:ext cx="7958138" cy="1728787"/>
          </a:xfrm>
        </p:spPr>
        <p:txBody>
          <a:bodyPr/>
          <a:lstStyle/>
          <a:p>
            <a:r>
              <a:rPr lang="zh-CN" altLang="en-US" sz="2000" dirty="0" smtClean="0"/>
              <a:t>假设物理层、数据链路层和网络层都是</a:t>
            </a:r>
            <a:r>
              <a:rPr lang="zh-CN" altLang="en-US" sz="2000" dirty="0" smtClean="0">
                <a:solidFill>
                  <a:srgbClr val="FF0000"/>
                </a:solidFill>
              </a:rPr>
              <a:t>独立的进程</a:t>
            </a:r>
            <a:r>
              <a:rPr lang="zh-CN" altLang="en-US" sz="2000" dirty="0" smtClean="0"/>
              <a:t>；</a:t>
            </a:r>
            <a:endParaRPr lang="en-US" altLang="zh-CN" sz="2000" dirty="0" smtClean="0"/>
          </a:p>
          <a:p>
            <a:r>
              <a:rPr lang="zh-CN" altLang="en-US" sz="2000" dirty="0" smtClean="0"/>
              <a:t>假设主机</a:t>
            </a:r>
            <a:r>
              <a:rPr lang="en-US" altLang="zh-CN" sz="2000" dirty="0" smtClean="0"/>
              <a:t>A</a:t>
            </a:r>
            <a:r>
              <a:rPr lang="zh-CN" altLang="en-US" sz="2000" dirty="0" smtClean="0"/>
              <a:t>用一个可靠的、面向连接的服务向</a:t>
            </a:r>
            <a:r>
              <a:rPr lang="zh-CN" altLang="en-US" sz="2000" dirty="0"/>
              <a:t>主机</a:t>
            </a:r>
            <a:r>
              <a:rPr lang="en-US" altLang="zh-CN" sz="2000" dirty="0"/>
              <a:t>B</a:t>
            </a:r>
            <a:r>
              <a:rPr lang="zh-CN" altLang="en-US" sz="2000" dirty="0" smtClean="0"/>
              <a:t>发送</a:t>
            </a:r>
            <a:r>
              <a:rPr lang="zh-CN" altLang="en-US" sz="2000" dirty="0"/>
              <a:t>长</a:t>
            </a:r>
            <a:r>
              <a:rPr lang="zh-CN" altLang="en-US" sz="2000" dirty="0" smtClean="0"/>
              <a:t>数据流</a:t>
            </a:r>
            <a:r>
              <a:rPr lang="zh-CN" altLang="en-US" sz="2000" dirty="0"/>
              <a:t>（</a:t>
            </a:r>
            <a:r>
              <a:rPr lang="zh-CN" altLang="en-US" sz="2000" dirty="0">
                <a:solidFill>
                  <a:srgbClr val="FF0000"/>
                </a:solidFill>
              </a:rPr>
              <a:t>单工</a:t>
            </a:r>
            <a:r>
              <a:rPr lang="zh-CN" altLang="en-US" sz="2000" dirty="0"/>
              <a:t>）</a:t>
            </a:r>
            <a:r>
              <a:rPr lang="zh-CN" altLang="en-US" sz="2000" dirty="0" smtClean="0"/>
              <a:t>；且准备</a:t>
            </a:r>
            <a:r>
              <a:rPr lang="zh-CN" altLang="en-US" sz="2000" dirty="0"/>
              <a:t>发送的数据是</a:t>
            </a:r>
            <a:r>
              <a:rPr lang="zh-CN" altLang="en-US" sz="2000" dirty="0">
                <a:solidFill>
                  <a:srgbClr val="FF0000"/>
                </a:solidFill>
              </a:rPr>
              <a:t>无限</a:t>
            </a:r>
            <a:r>
              <a:rPr lang="zh-CN" altLang="en-US" sz="2000" dirty="0"/>
              <a:t>的；</a:t>
            </a:r>
          </a:p>
          <a:p>
            <a:r>
              <a:rPr lang="zh-CN" altLang="en-US" sz="2000" dirty="0" smtClean="0"/>
              <a:t>假设主机不会崩溃；</a:t>
            </a:r>
            <a:endParaRPr lang="zh-CN" altLang="en-US" sz="2000" dirty="0"/>
          </a:p>
          <a:p>
            <a:r>
              <a:rPr lang="zh-CN" altLang="en-US" sz="2000" dirty="0"/>
              <a:t>硬件计算帧校验和。</a:t>
            </a:r>
          </a:p>
        </p:txBody>
      </p:sp>
      <p:sp>
        <p:nvSpPr>
          <p:cNvPr id="612361" name="Text Box 9"/>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12362" name="Line 10"/>
          <p:cNvSpPr>
            <a:spLocks noChangeShapeType="1"/>
          </p:cNvSpPr>
          <p:nvPr/>
        </p:nvSpPr>
        <p:spPr bwMode="auto">
          <a:xfrm>
            <a:off x="8053388" y="4730750"/>
            <a:ext cx="0" cy="500063"/>
          </a:xfrm>
          <a:prstGeom prst="line">
            <a:avLst/>
          </a:prstGeom>
          <a:noFill/>
          <a:ln w="28575">
            <a:solidFill>
              <a:schemeClr val="tx2"/>
            </a:solidFill>
            <a:round/>
            <a:headEnd type="triangle" w="sm" len="med"/>
            <a:tailEnd type="non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363" name="Rectangle 11"/>
          <p:cNvSpPr>
            <a:spLocks noChangeArrowheads="1"/>
          </p:cNvSpPr>
          <p:nvPr/>
        </p:nvSpPr>
        <p:spPr bwMode="auto">
          <a:xfrm>
            <a:off x="7370763" y="5168900"/>
            <a:ext cx="1336905" cy="36676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数据链路层</a:t>
            </a:r>
          </a:p>
        </p:txBody>
      </p:sp>
      <p:sp>
        <p:nvSpPr>
          <p:cNvPr id="612364" name="Rectangle 12"/>
          <p:cNvSpPr>
            <a:spLocks noChangeArrowheads="1"/>
          </p:cNvSpPr>
          <p:nvPr/>
        </p:nvSpPr>
        <p:spPr bwMode="auto">
          <a:xfrm>
            <a:off x="763588" y="3479800"/>
            <a:ext cx="1831975" cy="2513013"/>
          </a:xfrm>
          <a:prstGeom prst="rect">
            <a:avLst/>
          </a:prstGeom>
          <a:solidFill>
            <a:srgbClr val="FFFF66"/>
          </a:solidFill>
          <a:ln w="12700">
            <a:solidFill>
              <a:schemeClr val="tx1"/>
            </a:solidFill>
            <a:miter lim="800000"/>
            <a:headEnd/>
            <a:tailEnd/>
          </a:ln>
          <a:effectLst>
            <a:outerShdw dist="53882" dir="2700000" algn="ctr" rotWithShape="0">
              <a:srgbClr val="00002E"/>
            </a:outerShdw>
          </a:effectLst>
        </p:spPr>
        <p:txBody>
          <a:bodyPr wrap="none" anchor="ctr"/>
          <a:lstStyle/>
          <a:p>
            <a:endParaRPr lang="zh-CN" altLang="en-US" sz="1800">
              <a:latin typeface="+mn-lt"/>
              <a:ea typeface="+mn-ea"/>
            </a:endParaRPr>
          </a:p>
        </p:txBody>
      </p:sp>
      <p:sp>
        <p:nvSpPr>
          <p:cNvPr id="612365" name="Rectangle 13"/>
          <p:cNvSpPr>
            <a:spLocks noChangeArrowheads="1"/>
          </p:cNvSpPr>
          <p:nvPr/>
        </p:nvSpPr>
        <p:spPr bwMode="auto">
          <a:xfrm>
            <a:off x="763588" y="3479800"/>
            <a:ext cx="413576" cy="79611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85000"/>
              </a:lnSpc>
              <a:buClrTx/>
              <a:buFontTx/>
              <a:buNone/>
            </a:pPr>
            <a:r>
              <a:rPr lang="zh-CN" altLang="en-US" sz="1800" b="1">
                <a:solidFill>
                  <a:srgbClr val="080808"/>
                </a:solidFill>
                <a:latin typeface="+mn-lt"/>
                <a:ea typeface="+mn-ea"/>
              </a:rPr>
              <a:t>主</a:t>
            </a:r>
          </a:p>
          <a:p>
            <a:pPr eaLnBrk="0" hangingPunct="0">
              <a:lnSpc>
                <a:spcPct val="85000"/>
              </a:lnSpc>
              <a:buClrTx/>
              <a:buFontTx/>
              <a:buNone/>
            </a:pPr>
            <a:r>
              <a:rPr lang="zh-CN" altLang="en-US" sz="1800" b="1">
                <a:solidFill>
                  <a:srgbClr val="080808"/>
                </a:solidFill>
                <a:latin typeface="+mn-lt"/>
                <a:ea typeface="+mn-ea"/>
              </a:rPr>
              <a:t>机</a:t>
            </a:r>
          </a:p>
          <a:p>
            <a:pPr eaLnBrk="0" hangingPunct="0">
              <a:lnSpc>
                <a:spcPct val="85000"/>
              </a:lnSpc>
              <a:buClrTx/>
              <a:buFontTx/>
              <a:buNone/>
            </a:pPr>
            <a:r>
              <a:rPr lang="zh-CN" altLang="en-US" sz="1800" b="1">
                <a:solidFill>
                  <a:srgbClr val="080808"/>
                </a:solidFill>
                <a:latin typeface="+mn-lt"/>
                <a:ea typeface="+mn-ea"/>
              </a:rPr>
              <a:t> </a:t>
            </a:r>
            <a:r>
              <a:rPr lang="en-US" altLang="zh-CN" sz="1800" b="1">
                <a:solidFill>
                  <a:srgbClr val="080808"/>
                </a:solidFill>
                <a:latin typeface="+mn-lt"/>
                <a:ea typeface="+mn-ea"/>
              </a:rPr>
              <a:t>A</a:t>
            </a:r>
          </a:p>
        </p:txBody>
      </p:sp>
      <p:sp>
        <p:nvSpPr>
          <p:cNvPr id="612366" name="Line 14"/>
          <p:cNvSpPr>
            <a:spLocks noChangeShapeType="1"/>
          </p:cNvSpPr>
          <p:nvPr/>
        </p:nvSpPr>
        <p:spPr bwMode="auto">
          <a:xfrm>
            <a:off x="768350" y="4703763"/>
            <a:ext cx="1795463" cy="1587"/>
          </a:xfrm>
          <a:prstGeom prst="line">
            <a:avLst/>
          </a:prstGeom>
          <a:noFill/>
          <a:ln w="12700">
            <a:solidFill>
              <a:srgbClr val="080808"/>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sp>
        <p:nvSpPr>
          <p:cNvPr id="612367" name="Rectangle 15"/>
          <p:cNvSpPr>
            <a:spLocks noChangeArrowheads="1"/>
          </p:cNvSpPr>
          <p:nvPr/>
        </p:nvSpPr>
        <p:spPr bwMode="auto">
          <a:xfrm>
            <a:off x="925513" y="4943475"/>
            <a:ext cx="1579562" cy="457200"/>
          </a:xfrm>
          <a:prstGeom prst="rect">
            <a:avLst/>
          </a:prstGeom>
          <a:solidFill>
            <a:srgbClr val="00FFCC"/>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solidFill>
                  <a:srgbClr val="080808"/>
                </a:solidFill>
                <a:latin typeface="+mn-lt"/>
                <a:ea typeface="+mn-ea"/>
              </a:rPr>
              <a:t>缓存</a:t>
            </a:r>
          </a:p>
        </p:txBody>
      </p:sp>
      <p:sp>
        <p:nvSpPr>
          <p:cNvPr id="612368" name="Rectangle 16"/>
          <p:cNvSpPr>
            <a:spLocks noChangeArrowheads="1"/>
          </p:cNvSpPr>
          <p:nvPr/>
        </p:nvSpPr>
        <p:spPr bwMode="auto">
          <a:xfrm>
            <a:off x="5508625" y="3502025"/>
            <a:ext cx="1830388" cy="2513013"/>
          </a:xfrm>
          <a:prstGeom prst="rect">
            <a:avLst/>
          </a:prstGeom>
          <a:solidFill>
            <a:srgbClr val="FFFF66"/>
          </a:solidFill>
          <a:ln w="12700">
            <a:solidFill>
              <a:schemeClr val="tx1"/>
            </a:solidFill>
            <a:miter lim="800000"/>
            <a:headEnd/>
            <a:tailEnd/>
          </a:ln>
          <a:effectLst>
            <a:outerShdw dist="53882" dir="2700000" algn="ctr" rotWithShape="0">
              <a:srgbClr val="00002E"/>
            </a:outerShdw>
          </a:effectLst>
        </p:spPr>
        <p:txBody>
          <a:bodyPr wrap="none" anchor="ctr"/>
          <a:lstStyle/>
          <a:p>
            <a:endParaRPr lang="zh-CN" altLang="en-US" sz="1800">
              <a:latin typeface="+mn-lt"/>
              <a:ea typeface="+mn-ea"/>
            </a:endParaRPr>
          </a:p>
        </p:txBody>
      </p:sp>
      <p:sp>
        <p:nvSpPr>
          <p:cNvPr id="612369" name="Rectangle 17"/>
          <p:cNvSpPr>
            <a:spLocks noChangeArrowheads="1"/>
          </p:cNvSpPr>
          <p:nvPr/>
        </p:nvSpPr>
        <p:spPr bwMode="auto">
          <a:xfrm>
            <a:off x="6829425" y="3502025"/>
            <a:ext cx="413576" cy="79611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85000"/>
              </a:lnSpc>
              <a:buClrTx/>
              <a:buFontTx/>
              <a:buNone/>
            </a:pPr>
            <a:r>
              <a:rPr lang="zh-CN" altLang="en-US" sz="1800" b="1">
                <a:solidFill>
                  <a:srgbClr val="080808"/>
                </a:solidFill>
                <a:latin typeface="+mn-lt"/>
                <a:ea typeface="+mn-ea"/>
              </a:rPr>
              <a:t>主</a:t>
            </a:r>
          </a:p>
          <a:p>
            <a:pPr eaLnBrk="0" hangingPunct="0">
              <a:lnSpc>
                <a:spcPct val="85000"/>
              </a:lnSpc>
              <a:buClrTx/>
              <a:buFontTx/>
              <a:buNone/>
            </a:pPr>
            <a:r>
              <a:rPr lang="zh-CN" altLang="en-US" sz="1800" b="1">
                <a:solidFill>
                  <a:srgbClr val="080808"/>
                </a:solidFill>
                <a:latin typeface="+mn-lt"/>
                <a:ea typeface="+mn-ea"/>
              </a:rPr>
              <a:t>机</a:t>
            </a:r>
          </a:p>
          <a:p>
            <a:pPr eaLnBrk="0" hangingPunct="0">
              <a:lnSpc>
                <a:spcPct val="85000"/>
              </a:lnSpc>
              <a:buClrTx/>
              <a:buFontTx/>
              <a:buNone/>
            </a:pPr>
            <a:r>
              <a:rPr lang="zh-CN" altLang="en-US" sz="1800" b="1">
                <a:solidFill>
                  <a:srgbClr val="080808"/>
                </a:solidFill>
                <a:latin typeface="+mn-lt"/>
                <a:ea typeface="+mn-ea"/>
              </a:rPr>
              <a:t> </a:t>
            </a:r>
            <a:r>
              <a:rPr lang="en-US" altLang="zh-CN" sz="1800" b="1">
                <a:solidFill>
                  <a:srgbClr val="080808"/>
                </a:solidFill>
                <a:latin typeface="+mn-lt"/>
                <a:ea typeface="+mn-ea"/>
              </a:rPr>
              <a:t>B</a:t>
            </a:r>
          </a:p>
        </p:txBody>
      </p:sp>
      <p:sp>
        <p:nvSpPr>
          <p:cNvPr id="612370" name="Line 18"/>
          <p:cNvSpPr>
            <a:spLocks noChangeShapeType="1"/>
          </p:cNvSpPr>
          <p:nvPr/>
        </p:nvSpPr>
        <p:spPr bwMode="auto">
          <a:xfrm flipV="1">
            <a:off x="5502275" y="4727575"/>
            <a:ext cx="1831975" cy="11113"/>
          </a:xfrm>
          <a:prstGeom prst="line">
            <a:avLst/>
          </a:prstGeom>
          <a:noFill/>
          <a:ln w="12700">
            <a:solidFill>
              <a:srgbClr val="080808"/>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sp>
        <p:nvSpPr>
          <p:cNvPr id="612371" name="Rectangle 19"/>
          <p:cNvSpPr>
            <a:spLocks noChangeArrowheads="1"/>
          </p:cNvSpPr>
          <p:nvPr/>
        </p:nvSpPr>
        <p:spPr bwMode="auto">
          <a:xfrm>
            <a:off x="3444875" y="5878513"/>
            <a:ext cx="1106073"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数据链路</a:t>
            </a:r>
          </a:p>
        </p:txBody>
      </p:sp>
      <p:sp>
        <p:nvSpPr>
          <p:cNvPr id="612372" name="Freeform 20"/>
          <p:cNvSpPr>
            <a:spLocks/>
          </p:cNvSpPr>
          <p:nvPr/>
        </p:nvSpPr>
        <p:spPr bwMode="auto">
          <a:xfrm>
            <a:off x="1717675" y="5437188"/>
            <a:ext cx="4713288" cy="404812"/>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57150" cap="flat" cmpd="sng">
            <a:solidFill>
              <a:srgbClr val="FF0000"/>
            </a:solidFill>
            <a:prstDash val="sysDot"/>
            <a:round/>
            <a:headEnd type="none" w="med" len="med"/>
            <a:tailEnd type="triangle" w="sm"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grpSp>
        <p:nvGrpSpPr>
          <p:cNvPr id="612373" name="Group 21"/>
          <p:cNvGrpSpPr>
            <a:grpSpLocks/>
          </p:cNvGrpSpPr>
          <p:nvPr/>
        </p:nvGrpSpPr>
        <p:grpSpPr bwMode="auto">
          <a:xfrm>
            <a:off x="1581150" y="5078413"/>
            <a:ext cx="309563" cy="173037"/>
            <a:chOff x="2544" y="864"/>
            <a:chExt cx="192" cy="96"/>
          </a:xfrm>
        </p:grpSpPr>
        <p:sp>
          <p:nvSpPr>
            <p:cNvPr id="612374" name="Rectangle 22"/>
            <p:cNvSpPr>
              <a:spLocks noChangeArrowheads="1"/>
            </p:cNvSpPr>
            <p:nvPr/>
          </p:nvSpPr>
          <p:spPr bwMode="auto">
            <a:xfrm>
              <a:off x="2544" y="864"/>
              <a:ext cx="192" cy="96"/>
            </a:xfrm>
            <a:prstGeom prst="rect">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sp>
          <p:nvSpPr>
            <p:cNvPr id="612375" name="Line 23"/>
            <p:cNvSpPr>
              <a:spLocks noChangeShapeType="1"/>
            </p:cNvSpPr>
            <p:nvPr/>
          </p:nvSpPr>
          <p:spPr bwMode="auto">
            <a:xfrm>
              <a:off x="2592"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376" name="Line 24"/>
            <p:cNvSpPr>
              <a:spLocks noChangeShapeType="1"/>
            </p:cNvSpPr>
            <p:nvPr/>
          </p:nvSpPr>
          <p:spPr bwMode="auto">
            <a:xfrm>
              <a:off x="2640"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377" name="Line 25"/>
            <p:cNvSpPr>
              <a:spLocks noChangeShapeType="1"/>
            </p:cNvSpPr>
            <p:nvPr/>
          </p:nvSpPr>
          <p:spPr bwMode="auto">
            <a:xfrm>
              <a:off x="2688"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grpSp>
      <p:grpSp>
        <p:nvGrpSpPr>
          <p:cNvPr id="612378" name="Group 26"/>
          <p:cNvGrpSpPr>
            <a:grpSpLocks/>
          </p:cNvGrpSpPr>
          <p:nvPr/>
        </p:nvGrpSpPr>
        <p:grpSpPr bwMode="auto">
          <a:xfrm>
            <a:off x="1843088" y="4432300"/>
            <a:ext cx="307975" cy="173038"/>
            <a:chOff x="2544" y="864"/>
            <a:chExt cx="192" cy="96"/>
          </a:xfrm>
        </p:grpSpPr>
        <p:sp>
          <p:nvSpPr>
            <p:cNvPr id="612379" name="Rectangle 27"/>
            <p:cNvSpPr>
              <a:spLocks noChangeArrowheads="1"/>
            </p:cNvSpPr>
            <p:nvPr/>
          </p:nvSpPr>
          <p:spPr bwMode="auto">
            <a:xfrm>
              <a:off x="2544" y="864"/>
              <a:ext cx="192" cy="96"/>
            </a:xfrm>
            <a:prstGeom prst="rect">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sp>
          <p:nvSpPr>
            <p:cNvPr id="612380" name="Line 28"/>
            <p:cNvSpPr>
              <a:spLocks noChangeShapeType="1"/>
            </p:cNvSpPr>
            <p:nvPr/>
          </p:nvSpPr>
          <p:spPr bwMode="auto">
            <a:xfrm>
              <a:off x="2592"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381" name="Line 29"/>
            <p:cNvSpPr>
              <a:spLocks noChangeShapeType="1"/>
            </p:cNvSpPr>
            <p:nvPr/>
          </p:nvSpPr>
          <p:spPr bwMode="auto">
            <a:xfrm>
              <a:off x="2640"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382" name="Line 30"/>
            <p:cNvSpPr>
              <a:spLocks noChangeShapeType="1"/>
            </p:cNvSpPr>
            <p:nvPr/>
          </p:nvSpPr>
          <p:spPr bwMode="auto">
            <a:xfrm>
              <a:off x="2688"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grpSp>
      <p:grpSp>
        <p:nvGrpSpPr>
          <p:cNvPr id="612383" name="Group 31"/>
          <p:cNvGrpSpPr>
            <a:grpSpLocks/>
          </p:cNvGrpSpPr>
          <p:nvPr/>
        </p:nvGrpSpPr>
        <p:grpSpPr bwMode="auto">
          <a:xfrm>
            <a:off x="6045200" y="4454525"/>
            <a:ext cx="309563" cy="173038"/>
            <a:chOff x="2544" y="864"/>
            <a:chExt cx="192" cy="96"/>
          </a:xfrm>
        </p:grpSpPr>
        <p:sp>
          <p:nvSpPr>
            <p:cNvPr id="612384" name="Rectangle 32"/>
            <p:cNvSpPr>
              <a:spLocks noChangeArrowheads="1"/>
            </p:cNvSpPr>
            <p:nvPr/>
          </p:nvSpPr>
          <p:spPr bwMode="auto">
            <a:xfrm>
              <a:off x="2544" y="864"/>
              <a:ext cx="192" cy="96"/>
            </a:xfrm>
            <a:prstGeom prst="rect">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sp>
          <p:nvSpPr>
            <p:cNvPr id="612385" name="Line 33"/>
            <p:cNvSpPr>
              <a:spLocks noChangeShapeType="1"/>
            </p:cNvSpPr>
            <p:nvPr/>
          </p:nvSpPr>
          <p:spPr bwMode="auto">
            <a:xfrm>
              <a:off x="2592"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386" name="Line 34"/>
            <p:cNvSpPr>
              <a:spLocks noChangeShapeType="1"/>
            </p:cNvSpPr>
            <p:nvPr/>
          </p:nvSpPr>
          <p:spPr bwMode="auto">
            <a:xfrm>
              <a:off x="2640"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387" name="Line 35"/>
            <p:cNvSpPr>
              <a:spLocks noChangeShapeType="1"/>
            </p:cNvSpPr>
            <p:nvPr/>
          </p:nvSpPr>
          <p:spPr bwMode="auto">
            <a:xfrm>
              <a:off x="2688"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grpSp>
      <p:grpSp>
        <p:nvGrpSpPr>
          <p:cNvPr id="612388" name="Group 36"/>
          <p:cNvGrpSpPr>
            <a:grpSpLocks/>
          </p:cNvGrpSpPr>
          <p:nvPr/>
        </p:nvGrpSpPr>
        <p:grpSpPr bwMode="auto">
          <a:xfrm>
            <a:off x="2871788" y="5591175"/>
            <a:ext cx="896937" cy="173038"/>
            <a:chOff x="1565" y="1570"/>
            <a:chExt cx="482" cy="72"/>
          </a:xfrm>
        </p:grpSpPr>
        <p:sp>
          <p:nvSpPr>
            <p:cNvPr id="612389" name="Rectangle 37"/>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grpSp>
          <p:nvGrpSpPr>
            <p:cNvPr id="612390" name="Group 38"/>
            <p:cNvGrpSpPr>
              <a:grpSpLocks/>
            </p:cNvGrpSpPr>
            <p:nvPr/>
          </p:nvGrpSpPr>
          <p:grpSpPr bwMode="auto">
            <a:xfrm>
              <a:off x="1656" y="1570"/>
              <a:ext cx="166" cy="72"/>
              <a:chOff x="2544" y="864"/>
              <a:chExt cx="192" cy="96"/>
            </a:xfrm>
          </p:grpSpPr>
          <p:sp>
            <p:nvSpPr>
              <p:cNvPr id="612391" name="Rectangle 39"/>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sp>
            <p:nvSpPr>
              <p:cNvPr id="612392" name="Line 40"/>
              <p:cNvSpPr>
                <a:spLocks noChangeShapeType="1"/>
              </p:cNvSpPr>
              <p:nvPr/>
            </p:nvSpPr>
            <p:spPr bwMode="auto">
              <a:xfrm>
                <a:off x="2592"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393" name="Line 41"/>
              <p:cNvSpPr>
                <a:spLocks noChangeShapeType="1"/>
              </p:cNvSpPr>
              <p:nvPr/>
            </p:nvSpPr>
            <p:spPr bwMode="auto">
              <a:xfrm>
                <a:off x="2640"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394" name="Line 42"/>
              <p:cNvSpPr>
                <a:spLocks noChangeShapeType="1"/>
              </p:cNvSpPr>
              <p:nvPr/>
            </p:nvSpPr>
            <p:spPr bwMode="auto">
              <a:xfrm>
                <a:off x="2688"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grpSp>
        <p:sp>
          <p:nvSpPr>
            <p:cNvPr id="612395" name="AutoShape 43"/>
            <p:cNvSpPr>
              <a:spLocks noChangeArrowheads="1"/>
            </p:cNvSpPr>
            <p:nvPr/>
          </p:nvSpPr>
          <p:spPr bwMode="auto">
            <a:xfrm rot="-5400000">
              <a:off x="1965" y="1557"/>
              <a:ext cx="67" cy="96"/>
            </a:xfrm>
            <a:prstGeom prst="downArrow">
              <a:avLst>
                <a:gd name="adj1" fmla="val 50000"/>
                <a:gd name="adj2" fmla="val 35821"/>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800">
                <a:latin typeface="+mn-lt"/>
                <a:ea typeface="+mn-ea"/>
              </a:endParaRPr>
            </a:p>
          </p:txBody>
        </p:sp>
      </p:grpSp>
      <p:sp>
        <p:nvSpPr>
          <p:cNvPr id="612396" name="Oval 44"/>
          <p:cNvSpPr>
            <a:spLocks noChangeArrowheads="1"/>
          </p:cNvSpPr>
          <p:nvPr/>
        </p:nvSpPr>
        <p:spPr bwMode="auto">
          <a:xfrm>
            <a:off x="6172200" y="3636963"/>
            <a:ext cx="568325" cy="571500"/>
          </a:xfrm>
          <a:prstGeom prst="ellipse">
            <a:avLst/>
          </a:prstGeom>
          <a:solidFill>
            <a:srgbClr val="CCECFF"/>
          </a:solidFill>
          <a:ln w="12700">
            <a:solidFill>
              <a:schemeClr val="tx1"/>
            </a:solidFill>
            <a:round/>
            <a:headEnd/>
            <a:tailEnd/>
          </a:ln>
          <a:effectLst>
            <a:outerShdw dist="35921" dir="2700000" algn="ctr" rotWithShape="0">
              <a:schemeClr val="bg2"/>
            </a:outerShdw>
          </a:effectLst>
        </p:spPr>
        <p:txBody>
          <a:bodyPr wrap="none"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sz="1800" b="1">
                <a:solidFill>
                  <a:srgbClr val="080808"/>
                </a:solidFill>
                <a:latin typeface="+mn-lt"/>
                <a:ea typeface="+mn-ea"/>
              </a:rPr>
              <a:t>AP</a:t>
            </a:r>
            <a:r>
              <a:rPr lang="en-US" altLang="zh-CN" sz="1800" b="1" baseline="-25000">
                <a:solidFill>
                  <a:srgbClr val="080808"/>
                </a:solidFill>
                <a:latin typeface="+mn-lt"/>
                <a:ea typeface="+mn-ea"/>
              </a:rPr>
              <a:t>2</a:t>
            </a:r>
          </a:p>
        </p:txBody>
      </p:sp>
      <p:sp>
        <p:nvSpPr>
          <p:cNvPr id="612397" name="AutoShape 45"/>
          <p:cNvSpPr>
            <a:spLocks noChangeArrowheads="1"/>
          </p:cNvSpPr>
          <p:nvPr/>
        </p:nvSpPr>
        <p:spPr bwMode="auto">
          <a:xfrm>
            <a:off x="1633538" y="4171950"/>
            <a:ext cx="153987" cy="782638"/>
          </a:xfrm>
          <a:prstGeom prst="downArrow">
            <a:avLst>
              <a:gd name="adj1" fmla="val 50000"/>
              <a:gd name="adj2" fmla="val 127062"/>
            </a:avLst>
          </a:prstGeom>
          <a:solidFill>
            <a:srgbClr val="FF0000"/>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800">
              <a:latin typeface="+mn-lt"/>
              <a:ea typeface="+mn-ea"/>
            </a:endParaRPr>
          </a:p>
        </p:txBody>
      </p:sp>
      <p:sp>
        <p:nvSpPr>
          <p:cNvPr id="612398" name="Oval 46"/>
          <p:cNvSpPr>
            <a:spLocks noChangeArrowheads="1"/>
          </p:cNvSpPr>
          <p:nvPr/>
        </p:nvSpPr>
        <p:spPr bwMode="auto">
          <a:xfrm>
            <a:off x="1416050" y="3614738"/>
            <a:ext cx="566738" cy="571500"/>
          </a:xfrm>
          <a:prstGeom prst="ellipse">
            <a:avLst/>
          </a:prstGeom>
          <a:solidFill>
            <a:srgbClr val="CCECFF"/>
          </a:solidFill>
          <a:ln w="12700">
            <a:solidFill>
              <a:schemeClr val="tx1"/>
            </a:solidFill>
            <a:round/>
            <a:headEnd/>
            <a:tailEnd/>
          </a:ln>
          <a:effectLst>
            <a:outerShdw dist="35921" dir="2700000" algn="ctr" rotWithShape="0">
              <a:schemeClr val="bg2"/>
            </a:outerShdw>
          </a:effectLst>
        </p:spPr>
        <p:txBody>
          <a:bodyPr wrap="none"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sz="1800" b="1">
                <a:solidFill>
                  <a:srgbClr val="080808"/>
                </a:solidFill>
                <a:latin typeface="+mn-lt"/>
                <a:ea typeface="+mn-ea"/>
              </a:rPr>
              <a:t>AP</a:t>
            </a:r>
            <a:r>
              <a:rPr lang="en-US" altLang="zh-CN" sz="1800" b="1" baseline="-25000">
                <a:solidFill>
                  <a:srgbClr val="080808"/>
                </a:solidFill>
                <a:latin typeface="+mn-lt"/>
                <a:ea typeface="+mn-ea"/>
              </a:rPr>
              <a:t>1</a:t>
            </a:r>
          </a:p>
        </p:txBody>
      </p:sp>
      <p:sp>
        <p:nvSpPr>
          <p:cNvPr id="612399" name="AutoShape 47"/>
          <p:cNvSpPr>
            <a:spLocks noChangeArrowheads="1"/>
          </p:cNvSpPr>
          <p:nvPr/>
        </p:nvSpPr>
        <p:spPr bwMode="auto">
          <a:xfrm flipV="1">
            <a:off x="6378575" y="4194175"/>
            <a:ext cx="153988" cy="782638"/>
          </a:xfrm>
          <a:prstGeom prst="downArrow">
            <a:avLst>
              <a:gd name="adj1" fmla="val 50000"/>
              <a:gd name="adj2" fmla="val 127062"/>
            </a:avLst>
          </a:prstGeom>
          <a:solidFill>
            <a:srgbClr val="FF0000"/>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800">
              <a:latin typeface="+mn-lt"/>
              <a:ea typeface="+mn-ea"/>
            </a:endParaRPr>
          </a:p>
        </p:txBody>
      </p:sp>
      <p:sp>
        <p:nvSpPr>
          <p:cNvPr id="612400" name="Rectangle 48"/>
          <p:cNvSpPr>
            <a:spLocks noChangeArrowheads="1"/>
          </p:cNvSpPr>
          <p:nvPr/>
        </p:nvSpPr>
        <p:spPr bwMode="auto">
          <a:xfrm>
            <a:off x="5670550" y="4965700"/>
            <a:ext cx="1579563" cy="466725"/>
          </a:xfrm>
          <a:prstGeom prst="rect">
            <a:avLst/>
          </a:prstGeom>
          <a:solidFill>
            <a:srgbClr val="00FFCC"/>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r" eaLnBrk="0" hangingPunct="0">
              <a:buClrTx/>
              <a:buFontTx/>
              <a:buNone/>
            </a:pPr>
            <a:r>
              <a:rPr lang="zh-CN" altLang="en-US" sz="1800" b="1">
                <a:solidFill>
                  <a:srgbClr val="080808"/>
                </a:solidFill>
                <a:latin typeface="+mn-lt"/>
                <a:ea typeface="+mn-ea"/>
              </a:rPr>
              <a:t>缓存</a:t>
            </a:r>
          </a:p>
        </p:txBody>
      </p:sp>
      <p:grpSp>
        <p:nvGrpSpPr>
          <p:cNvPr id="612401" name="Group 49"/>
          <p:cNvGrpSpPr>
            <a:grpSpLocks/>
          </p:cNvGrpSpPr>
          <p:nvPr/>
        </p:nvGrpSpPr>
        <p:grpSpPr bwMode="auto">
          <a:xfrm>
            <a:off x="6278563" y="5122863"/>
            <a:ext cx="306387" cy="173037"/>
            <a:chOff x="2544" y="864"/>
            <a:chExt cx="192" cy="96"/>
          </a:xfrm>
        </p:grpSpPr>
        <p:sp>
          <p:nvSpPr>
            <p:cNvPr id="612402" name="Rectangle 50"/>
            <p:cNvSpPr>
              <a:spLocks noChangeArrowheads="1"/>
            </p:cNvSpPr>
            <p:nvPr/>
          </p:nvSpPr>
          <p:spPr bwMode="auto">
            <a:xfrm>
              <a:off x="2544" y="864"/>
              <a:ext cx="192" cy="96"/>
            </a:xfrm>
            <a:prstGeom prst="rect">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sp>
          <p:nvSpPr>
            <p:cNvPr id="612403" name="Line 51"/>
            <p:cNvSpPr>
              <a:spLocks noChangeShapeType="1"/>
            </p:cNvSpPr>
            <p:nvPr/>
          </p:nvSpPr>
          <p:spPr bwMode="auto">
            <a:xfrm>
              <a:off x="2592"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04" name="Line 52"/>
            <p:cNvSpPr>
              <a:spLocks noChangeShapeType="1"/>
            </p:cNvSpPr>
            <p:nvPr/>
          </p:nvSpPr>
          <p:spPr bwMode="auto">
            <a:xfrm>
              <a:off x="2640"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05" name="Line 53"/>
            <p:cNvSpPr>
              <a:spLocks noChangeShapeType="1"/>
            </p:cNvSpPr>
            <p:nvPr/>
          </p:nvSpPr>
          <p:spPr bwMode="auto">
            <a:xfrm>
              <a:off x="2688"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grpSp>
      <p:sp>
        <p:nvSpPr>
          <p:cNvPr id="612406" name="Rectangle 54"/>
          <p:cNvSpPr>
            <a:spLocks noChangeArrowheads="1"/>
          </p:cNvSpPr>
          <p:nvPr/>
        </p:nvSpPr>
        <p:spPr bwMode="auto">
          <a:xfrm>
            <a:off x="1258888" y="6021388"/>
            <a:ext cx="875241"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发送方</a:t>
            </a:r>
          </a:p>
        </p:txBody>
      </p:sp>
      <p:sp>
        <p:nvSpPr>
          <p:cNvPr id="612407" name="Rectangle 55"/>
          <p:cNvSpPr>
            <a:spLocks noChangeArrowheads="1"/>
          </p:cNvSpPr>
          <p:nvPr/>
        </p:nvSpPr>
        <p:spPr bwMode="auto">
          <a:xfrm>
            <a:off x="6011863" y="6021388"/>
            <a:ext cx="875241"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接收方</a:t>
            </a:r>
          </a:p>
        </p:txBody>
      </p:sp>
      <p:sp>
        <p:nvSpPr>
          <p:cNvPr id="612408" name="Rectangle 56"/>
          <p:cNvSpPr>
            <a:spLocks noChangeArrowheads="1"/>
          </p:cNvSpPr>
          <p:nvPr/>
        </p:nvSpPr>
        <p:spPr bwMode="auto">
          <a:xfrm>
            <a:off x="3013075" y="5086350"/>
            <a:ext cx="413576"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帧</a:t>
            </a:r>
          </a:p>
        </p:txBody>
      </p:sp>
      <p:sp>
        <p:nvSpPr>
          <p:cNvPr id="612409" name="Line 57"/>
          <p:cNvSpPr>
            <a:spLocks noChangeShapeType="1"/>
          </p:cNvSpPr>
          <p:nvPr/>
        </p:nvSpPr>
        <p:spPr bwMode="auto">
          <a:xfrm>
            <a:off x="7461250" y="4743450"/>
            <a:ext cx="1250950" cy="0"/>
          </a:xfrm>
          <a:prstGeom prst="line">
            <a:avLst/>
          </a:prstGeom>
          <a:noFill/>
          <a:ln w="19050">
            <a:solidFill>
              <a:schemeClr val="tx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10" name="Line 58"/>
          <p:cNvSpPr>
            <a:spLocks noChangeShapeType="1"/>
          </p:cNvSpPr>
          <p:nvPr/>
        </p:nvSpPr>
        <p:spPr bwMode="auto">
          <a:xfrm>
            <a:off x="7445375" y="3530600"/>
            <a:ext cx="1250950" cy="0"/>
          </a:xfrm>
          <a:prstGeom prst="line">
            <a:avLst/>
          </a:prstGeom>
          <a:noFill/>
          <a:ln w="19050">
            <a:solidFill>
              <a:schemeClr val="tx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11" name="Line 59"/>
          <p:cNvSpPr>
            <a:spLocks noChangeShapeType="1"/>
          </p:cNvSpPr>
          <p:nvPr/>
        </p:nvSpPr>
        <p:spPr bwMode="auto">
          <a:xfrm>
            <a:off x="7445375" y="6030913"/>
            <a:ext cx="1250950" cy="0"/>
          </a:xfrm>
          <a:prstGeom prst="line">
            <a:avLst/>
          </a:prstGeom>
          <a:noFill/>
          <a:ln w="19050">
            <a:solidFill>
              <a:schemeClr val="tx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12" name="Line 60"/>
          <p:cNvSpPr>
            <a:spLocks noChangeShapeType="1"/>
          </p:cNvSpPr>
          <p:nvPr/>
        </p:nvSpPr>
        <p:spPr bwMode="auto">
          <a:xfrm>
            <a:off x="8053388" y="3530600"/>
            <a:ext cx="0" cy="476250"/>
          </a:xfrm>
          <a:prstGeom prst="line">
            <a:avLst/>
          </a:prstGeom>
          <a:noFill/>
          <a:ln w="28575">
            <a:solidFill>
              <a:schemeClr val="tx2"/>
            </a:solidFill>
            <a:round/>
            <a:headEnd type="triangle" w="sm" len="med"/>
            <a:tailEnd type="non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13" name="Rectangle 61"/>
          <p:cNvSpPr>
            <a:spLocks noChangeArrowheads="1"/>
          </p:cNvSpPr>
          <p:nvPr/>
        </p:nvSpPr>
        <p:spPr bwMode="auto">
          <a:xfrm>
            <a:off x="7766050" y="3935413"/>
            <a:ext cx="644408" cy="36676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高层</a:t>
            </a:r>
          </a:p>
        </p:txBody>
      </p:sp>
      <p:grpSp>
        <p:nvGrpSpPr>
          <p:cNvPr id="612414" name="Group 62"/>
          <p:cNvGrpSpPr>
            <a:grpSpLocks/>
          </p:cNvGrpSpPr>
          <p:nvPr/>
        </p:nvGrpSpPr>
        <p:grpSpPr bwMode="auto">
          <a:xfrm>
            <a:off x="4303713" y="5575300"/>
            <a:ext cx="898525" cy="173038"/>
            <a:chOff x="1565" y="1570"/>
            <a:chExt cx="482" cy="72"/>
          </a:xfrm>
        </p:grpSpPr>
        <p:sp>
          <p:nvSpPr>
            <p:cNvPr id="612415" name="Rectangle 63"/>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grpSp>
          <p:nvGrpSpPr>
            <p:cNvPr id="612416" name="Group 64"/>
            <p:cNvGrpSpPr>
              <a:grpSpLocks/>
            </p:cNvGrpSpPr>
            <p:nvPr/>
          </p:nvGrpSpPr>
          <p:grpSpPr bwMode="auto">
            <a:xfrm>
              <a:off x="1656" y="1570"/>
              <a:ext cx="166" cy="72"/>
              <a:chOff x="2544" y="864"/>
              <a:chExt cx="192" cy="96"/>
            </a:xfrm>
          </p:grpSpPr>
          <p:sp>
            <p:nvSpPr>
              <p:cNvPr id="612417" name="Rectangle 65"/>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lt"/>
                  <a:ea typeface="+mn-ea"/>
                </a:endParaRPr>
              </a:p>
            </p:txBody>
          </p:sp>
          <p:sp>
            <p:nvSpPr>
              <p:cNvPr id="612418" name="Line 66"/>
              <p:cNvSpPr>
                <a:spLocks noChangeShapeType="1"/>
              </p:cNvSpPr>
              <p:nvPr/>
            </p:nvSpPr>
            <p:spPr bwMode="auto">
              <a:xfrm>
                <a:off x="2592"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19" name="Line 67"/>
              <p:cNvSpPr>
                <a:spLocks noChangeShapeType="1"/>
              </p:cNvSpPr>
              <p:nvPr/>
            </p:nvSpPr>
            <p:spPr bwMode="auto">
              <a:xfrm>
                <a:off x="2640"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20" name="Line 68"/>
              <p:cNvSpPr>
                <a:spLocks noChangeShapeType="1"/>
              </p:cNvSpPr>
              <p:nvPr/>
            </p:nvSpPr>
            <p:spPr bwMode="auto">
              <a:xfrm>
                <a:off x="2688"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grpSp>
        <p:sp>
          <p:nvSpPr>
            <p:cNvPr id="612421" name="AutoShape 69"/>
            <p:cNvSpPr>
              <a:spLocks noChangeArrowheads="1"/>
            </p:cNvSpPr>
            <p:nvPr/>
          </p:nvSpPr>
          <p:spPr bwMode="auto">
            <a:xfrm rot="-5400000">
              <a:off x="1965" y="1557"/>
              <a:ext cx="67" cy="96"/>
            </a:xfrm>
            <a:prstGeom prst="downArrow">
              <a:avLst>
                <a:gd name="adj1" fmla="val 50000"/>
                <a:gd name="adj2" fmla="val 35821"/>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800">
                <a:latin typeface="+mn-lt"/>
                <a:ea typeface="+mn-ea"/>
              </a:endParaRPr>
            </a:p>
          </p:txBody>
        </p:sp>
      </p:grpSp>
      <p:sp>
        <p:nvSpPr>
          <p:cNvPr id="612422" name="Rectangle 70"/>
          <p:cNvSpPr>
            <a:spLocks noChangeArrowheads="1"/>
          </p:cNvSpPr>
          <p:nvPr/>
        </p:nvSpPr>
        <p:spPr bwMode="auto">
          <a:xfrm>
            <a:off x="4414838" y="5070475"/>
            <a:ext cx="413576" cy="3667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帧</a:t>
            </a:r>
          </a:p>
        </p:txBody>
      </p:sp>
      <p:sp>
        <p:nvSpPr>
          <p:cNvPr id="612423" name="Line 71"/>
          <p:cNvSpPr>
            <a:spLocks noChangeShapeType="1"/>
          </p:cNvSpPr>
          <p:nvPr/>
        </p:nvSpPr>
        <p:spPr bwMode="auto">
          <a:xfrm>
            <a:off x="8053388" y="4367213"/>
            <a:ext cx="0" cy="403225"/>
          </a:xfrm>
          <a:prstGeom prst="line">
            <a:avLst/>
          </a:prstGeom>
          <a:noFill/>
          <a:ln w="28575">
            <a:solidFill>
              <a:schemeClr val="tx2"/>
            </a:solidFill>
            <a:round/>
            <a:headEnd type="non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24" name="Line 72"/>
          <p:cNvSpPr>
            <a:spLocks noChangeShapeType="1"/>
          </p:cNvSpPr>
          <p:nvPr/>
        </p:nvSpPr>
        <p:spPr bwMode="auto">
          <a:xfrm>
            <a:off x="8053388" y="5518150"/>
            <a:ext cx="0" cy="500063"/>
          </a:xfrm>
          <a:prstGeom prst="line">
            <a:avLst/>
          </a:prstGeom>
          <a:noFill/>
          <a:ln w="28575">
            <a:solidFill>
              <a:schemeClr val="tx2"/>
            </a:solidFill>
            <a:round/>
            <a:headEnd type="non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lt"/>
              <a:ea typeface="+mn-ea"/>
            </a:endParaRPr>
          </a:p>
        </p:txBody>
      </p:sp>
      <p:sp>
        <p:nvSpPr>
          <p:cNvPr id="612425" name="Text Box 73"/>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title"/>
          </p:nvPr>
        </p:nvSpPr>
        <p:spPr/>
        <p:txBody>
          <a:bodyPr/>
          <a:lstStyle/>
          <a:p>
            <a:r>
              <a:rPr lang="zh-CN" altLang="en-US"/>
              <a:t>假  设</a:t>
            </a:r>
          </a:p>
        </p:txBody>
      </p:sp>
      <p:sp>
        <p:nvSpPr>
          <p:cNvPr id="614403" name="Rectangle 3"/>
          <p:cNvSpPr>
            <a:spLocks noGrp="1" noChangeArrowheads="1"/>
          </p:cNvSpPr>
          <p:nvPr>
            <p:ph type="body" idx="1"/>
          </p:nvPr>
        </p:nvSpPr>
        <p:spPr>
          <a:xfrm>
            <a:off x="809625" y="1773238"/>
            <a:ext cx="7958138" cy="4320058"/>
          </a:xfrm>
        </p:spPr>
        <p:txBody>
          <a:bodyPr/>
          <a:lstStyle/>
          <a:p>
            <a:pPr>
              <a:lnSpc>
                <a:spcPct val="150000"/>
              </a:lnSpc>
            </a:pPr>
            <a:r>
              <a:rPr lang="zh-CN" altLang="en-US" sz="2800" dirty="0">
                <a:solidFill>
                  <a:srgbClr val="FC0404"/>
                </a:solidFill>
              </a:rPr>
              <a:t>假设一：无差错控制</a:t>
            </a:r>
          </a:p>
          <a:p>
            <a:pPr>
              <a:lnSpc>
                <a:spcPct val="150000"/>
              </a:lnSpc>
              <a:buFont typeface="Wingdings" pitchFamily="2" charset="2"/>
              <a:buNone/>
            </a:pPr>
            <a:r>
              <a:rPr lang="zh-CN" altLang="en-US" sz="2800" dirty="0"/>
              <a:t>           链路是理想的传输信道，所传送的任何数据既不会出差错也不会丢失。</a:t>
            </a:r>
          </a:p>
          <a:p>
            <a:pPr>
              <a:lnSpc>
                <a:spcPct val="150000"/>
              </a:lnSpc>
            </a:pPr>
            <a:r>
              <a:rPr lang="zh-CN" altLang="en-US" sz="2800" dirty="0">
                <a:solidFill>
                  <a:srgbClr val="FC0404"/>
                </a:solidFill>
              </a:rPr>
              <a:t>假设二：无流量控制</a:t>
            </a:r>
          </a:p>
          <a:p>
            <a:pPr>
              <a:lnSpc>
                <a:spcPct val="150000"/>
              </a:lnSpc>
              <a:buFont typeface="Wingdings" pitchFamily="2" charset="2"/>
              <a:buNone/>
            </a:pPr>
            <a:r>
              <a:rPr lang="zh-CN" altLang="en-US" sz="2800" dirty="0"/>
              <a:t>           不管</a:t>
            </a:r>
            <a:r>
              <a:rPr lang="zh-CN" altLang="en-US" sz="2800" dirty="0" smtClean="0"/>
              <a:t>发方</a:t>
            </a:r>
            <a:r>
              <a:rPr lang="zh-CN" altLang="en-US" sz="2800" dirty="0"/>
              <a:t>以多快的速率发送数据，收方总是来得及收下，并及时上交主机。</a:t>
            </a:r>
          </a:p>
        </p:txBody>
      </p:sp>
      <p:sp>
        <p:nvSpPr>
          <p:cNvPr id="61440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1440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p:txBody>
          <a:bodyPr/>
          <a:lstStyle/>
          <a:p>
            <a:r>
              <a:rPr lang="zh-CN" altLang="en-US"/>
              <a:t>图示数据传输</a:t>
            </a:r>
          </a:p>
        </p:txBody>
      </p:sp>
      <p:sp>
        <p:nvSpPr>
          <p:cNvPr id="647171" name="Rectangle 3"/>
          <p:cNvSpPr>
            <a:spLocks noGrp="1" noChangeArrowheads="1"/>
          </p:cNvSpPr>
          <p:nvPr>
            <p:ph type="body" idx="1"/>
          </p:nvPr>
        </p:nvSpPr>
        <p:spPr>
          <a:xfrm>
            <a:off x="2484438" y="5734050"/>
            <a:ext cx="3959225" cy="576263"/>
          </a:xfrm>
        </p:spPr>
        <p:txBody>
          <a:bodyPr/>
          <a:lstStyle/>
          <a:p>
            <a:pPr algn="ctr">
              <a:lnSpc>
                <a:spcPct val="90000"/>
              </a:lnSpc>
              <a:buFont typeface="Wingdings" pitchFamily="2" charset="2"/>
              <a:buNone/>
            </a:pPr>
            <a:r>
              <a:rPr lang="zh-CN" altLang="en-US" sz="2800">
                <a:solidFill>
                  <a:srgbClr val="FF0000"/>
                </a:solidFill>
              </a:rPr>
              <a:t>完全理想化的数据传输</a:t>
            </a:r>
          </a:p>
        </p:txBody>
      </p:sp>
      <p:sp>
        <p:nvSpPr>
          <p:cNvPr id="6471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47173" name="Line 5"/>
          <p:cNvSpPr>
            <a:spLocks noChangeShapeType="1"/>
          </p:cNvSpPr>
          <p:nvPr/>
        </p:nvSpPr>
        <p:spPr bwMode="auto">
          <a:xfrm>
            <a:off x="3038475" y="2084388"/>
            <a:ext cx="0" cy="3179762"/>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74" name="Line 6"/>
          <p:cNvSpPr>
            <a:spLocks noChangeShapeType="1"/>
          </p:cNvSpPr>
          <p:nvPr/>
        </p:nvSpPr>
        <p:spPr bwMode="auto">
          <a:xfrm>
            <a:off x="4916488" y="2084388"/>
            <a:ext cx="0" cy="3160712"/>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75" name="Rectangle 7"/>
          <p:cNvSpPr>
            <a:spLocks noChangeArrowheads="1"/>
          </p:cNvSpPr>
          <p:nvPr/>
        </p:nvSpPr>
        <p:spPr bwMode="auto">
          <a:xfrm>
            <a:off x="2900363" y="1652588"/>
            <a:ext cx="401637" cy="454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Arial" charset="0"/>
                <a:ea typeface="楷体_GB2312" pitchFamily="49" charset="-122"/>
              </a:rPr>
              <a:t>A</a:t>
            </a:r>
          </a:p>
        </p:txBody>
      </p:sp>
      <p:sp>
        <p:nvSpPr>
          <p:cNvPr id="647176" name="Rectangle 8"/>
          <p:cNvSpPr>
            <a:spLocks noChangeArrowheads="1"/>
          </p:cNvSpPr>
          <p:nvPr/>
        </p:nvSpPr>
        <p:spPr bwMode="auto">
          <a:xfrm>
            <a:off x="4772025" y="1652588"/>
            <a:ext cx="401638" cy="454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Arial" charset="0"/>
                <a:ea typeface="楷体_GB2312" pitchFamily="49" charset="-122"/>
              </a:rPr>
              <a:t>B</a:t>
            </a:r>
          </a:p>
        </p:txBody>
      </p:sp>
      <p:grpSp>
        <p:nvGrpSpPr>
          <p:cNvPr id="647177" name="Group 9"/>
          <p:cNvGrpSpPr>
            <a:grpSpLocks/>
          </p:cNvGrpSpPr>
          <p:nvPr/>
        </p:nvGrpSpPr>
        <p:grpSpPr bwMode="auto">
          <a:xfrm>
            <a:off x="3044825" y="2236788"/>
            <a:ext cx="1862138" cy="757237"/>
            <a:chOff x="1918" y="1409"/>
            <a:chExt cx="1173" cy="477"/>
          </a:xfrm>
        </p:grpSpPr>
        <p:sp>
          <p:nvSpPr>
            <p:cNvPr id="647178" name="Line 10"/>
            <p:cNvSpPr>
              <a:spLocks noChangeShapeType="1"/>
            </p:cNvSpPr>
            <p:nvPr/>
          </p:nvSpPr>
          <p:spPr bwMode="auto">
            <a:xfrm>
              <a:off x="1918" y="1409"/>
              <a:ext cx="1173" cy="13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79" name="Line 11"/>
            <p:cNvSpPr>
              <a:spLocks noChangeShapeType="1"/>
            </p:cNvSpPr>
            <p:nvPr/>
          </p:nvSpPr>
          <p:spPr bwMode="auto">
            <a:xfrm>
              <a:off x="1918" y="1750"/>
              <a:ext cx="1173" cy="13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80" name="Freeform 12"/>
            <p:cNvSpPr>
              <a:spLocks/>
            </p:cNvSpPr>
            <p:nvPr/>
          </p:nvSpPr>
          <p:spPr bwMode="auto">
            <a:xfrm>
              <a:off x="1927" y="1423"/>
              <a:ext cx="1156" cy="449"/>
            </a:xfrm>
            <a:custGeom>
              <a:avLst/>
              <a:gdLst>
                <a:gd name="T0" fmla="*/ 0 w 1033"/>
                <a:gd name="T1" fmla="*/ 0 h 451"/>
                <a:gd name="T2" fmla="*/ 1032 w 1033"/>
                <a:gd name="T3" fmla="*/ 140 h 451"/>
                <a:gd name="T4" fmla="*/ 1032 w 1033"/>
                <a:gd name="T5" fmla="*/ 450 h 451"/>
                <a:gd name="T6" fmla="*/ 0 w 1033"/>
                <a:gd name="T7" fmla="*/ 310 h 451"/>
                <a:gd name="T8" fmla="*/ 0 w 1033"/>
                <a:gd name="T9" fmla="*/ 0 h 451"/>
              </a:gdLst>
              <a:ahLst/>
              <a:cxnLst>
                <a:cxn ang="0">
                  <a:pos x="T0" y="T1"/>
                </a:cxn>
                <a:cxn ang="0">
                  <a:pos x="T2" y="T3"/>
                </a:cxn>
                <a:cxn ang="0">
                  <a:pos x="T4" y="T5"/>
                </a:cxn>
                <a:cxn ang="0">
                  <a:pos x="T6" y="T7"/>
                </a:cxn>
                <a:cxn ang="0">
                  <a:pos x="T8" y="T9"/>
                </a:cxn>
              </a:cxnLst>
              <a:rect l="0" t="0" r="r" b="b"/>
              <a:pathLst>
                <a:path w="1033" h="451">
                  <a:moveTo>
                    <a:pt x="0" y="0"/>
                  </a:moveTo>
                  <a:lnTo>
                    <a:pt x="1032" y="140"/>
                  </a:lnTo>
                  <a:lnTo>
                    <a:pt x="1032" y="450"/>
                  </a:lnTo>
                  <a:lnTo>
                    <a:pt x="0" y="310"/>
                  </a:lnTo>
                  <a:lnTo>
                    <a:pt x="0" y="0"/>
                  </a:lnTo>
                </a:path>
              </a:pathLst>
            </a:custGeom>
            <a:solidFill>
              <a:srgbClr val="FFFF66"/>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181" name="AutoShape 13"/>
            <p:cNvSpPr>
              <a:spLocks noChangeArrowheads="1"/>
            </p:cNvSpPr>
            <p:nvPr/>
          </p:nvSpPr>
          <p:spPr bwMode="auto">
            <a:xfrm rot="480000">
              <a:off x="2651" y="1630"/>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82" name="Rectangle 14"/>
            <p:cNvSpPr>
              <a:spLocks noChangeArrowheads="1"/>
            </p:cNvSpPr>
            <p:nvPr/>
          </p:nvSpPr>
          <p:spPr bwMode="auto">
            <a:xfrm rot="540000">
              <a:off x="2008" y="1488"/>
              <a:ext cx="648" cy="286"/>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solidFill>
                    <a:srgbClr val="FC0404"/>
                  </a:solidFill>
                  <a:latin typeface="Arial" charset="0"/>
                  <a:ea typeface="楷体_GB2312" pitchFamily="49" charset="-122"/>
                </a:rPr>
                <a:t>DATA</a:t>
              </a:r>
            </a:p>
          </p:txBody>
        </p:sp>
      </p:grpSp>
      <p:grpSp>
        <p:nvGrpSpPr>
          <p:cNvPr id="647183" name="Group 15"/>
          <p:cNvGrpSpPr>
            <a:grpSpLocks/>
          </p:cNvGrpSpPr>
          <p:nvPr/>
        </p:nvGrpSpPr>
        <p:grpSpPr bwMode="auto">
          <a:xfrm>
            <a:off x="3044825" y="2901950"/>
            <a:ext cx="1862138" cy="757238"/>
            <a:chOff x="1918" y="1828"/>
            <a:chExt cx="1173" cy="477"/>
          </a:xfrm>
        </p:grpSpPr>
        <p:sp>
          <p:nvSpPr>
            <p:cNvPr id="647184" name="Line 16"/>
            <p:cNvSpPr>
              <a:spLocks noChangeShapeType="1"/>
            </p:cNvSpPr>
            <p:nvPr/>
          </p:nvSpPr>
          <p:spPr bwMode="auto">
            <a:xfrm>
              <a:off x="1918" y="1828"/>
              <a:ext cx="1173" cy="13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85" name="Line 17"/>
            <p:cNvSpPr>
              <a:spLocks noChangeShapeType="1"/>
            </p:cNvSpPr>
            <p:nvPr/>
          </p:nvSpPr>
          <p:spPr bwMode="auto">
            <a:xfrm>
              <a:off x="1918" y="2170"/>
              <a:ext cx="1173" cy="13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86" name="Freeform 18"/>
            <p:cNvSpPr>
              <a:spLocks/>
            </p:cNvSpPr>
            <p:nvPr/>
          </p:nvSpPr>
          <p:spPr bwMode="auto">
            <a:xfrm>
              <a:off x="1927" y="1842"/>
              <a:ext cx="1156" cy="450"/>
            </a:xfrm>
            <a:custGeom>
              <a:avLst/>
              <a:gdLst>
                <a:gd name="T0" fmla="*/ 0 w 1033"/>
                <a:gd name="T1" fmla="*/ 0 h 451"/>
                <a:gd name="T2" fmla="*/ 1032 w 1033"/>
                <a:gd name="T3" fmla="*/ 140 h 451"/>
                <a:gd name="T4" fmla="*/ 1032 w 1033"/>
                <a:gd name="T5" fmla="*/ 450 h 451"/>
                <a:gd name="T6" fmla="*/ 0 w 1033"/>
                <a:gd name="T7" fmla="*/ 310 h 451"/>
                <a:gd name="T8" fmla="*/ 0 w 1033"/>
                <a:gd name="T9" fmla="*/ 0 h 451"/>
              </a:gdLst>
              <a:ahLst/>
              <a:cxnLst>
                <a:cxn ang="0">
                  <a:pos x="T0" y="T1"/>
                </a:cxn>
                <a:cxn ang="0">
                  <a:pos x="T2" y="T3"/>
                </a:cxn>
                <a:cxn ang="0">
                  <a:pos x="T4" y="T5"/>
                </a:cxn>
                <a:cxn ang="0">
                  <a:pos x="T6" y="T7"/>
                </a:cxn>
                <a:cxn ang="0">
                  <a:pos x="T8" y="T9"/>
                </a:cxn>
              </a:cxnLst>
              <a:rect l="0" t="0" r="r" b="b"/>
              <a:pathLst>
                <a:path w="1033" h="451">
                  <a:moveTo>
                    <a:pt x="0" y="0"/>
                  </a:moveTo>
                  <a:lnTo>
                    <a:pt x="1032" y="140"/>
                  </a:lnTo>
                  <a:lnTo>
                    <a:pt x="1032" y="450"/>
                  </a:lnTo>
                  <a:lnTo>
                    <a:pt x="0" y="310"/>
                  </a:lnTo>
                  <a:lnTo>
                    <a:pt x="0" y="0"/>
                  </a:lnTo>
                </a:path>
              </a:pathLst>
            </a:custGeom>
            <a:solidFill>
              <a:srgbClr val="FFFF66"/>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187" name="AutoShape 19"/>
            <p:cNvSpPr>
              <a:spLocks noChangeArrowheads="1"/>
            </p:cNvSpPr>
            <p:nvPr/>
          </p:nvSpPr>
          <p:spPr bwMode="auto">
            <a:xfrm rot="480000">
              <a:off x="2651" y="2050"/>
              <a:ext cx="313" cy="99"/>
            </a:xfrm>
            <a:prstGeom prst="rightArrow">
              <a:avLst>
                <a:gd name="adj1" fmla="val 50000"/>
                <a:gd name="adj2" fmla="val 158095"/>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88" name="Rectangle 20"/>
            <p:cNvSpPr>
              <a:spLocks noChangeArrowheads="1"/>
            </p:cNvSpPr>
            <p:nvPr/>
          </p:nvSpPr>
          <p:spPr bwMode="auto">
            <a:xfrm rot="540000">
              <a:off x="2006" y="1907"/>
              <a:ext cx="648" cy="286"/>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solidFill>
                    <a:srgbClr val="FC0404"/>
                  </a:solidFill>
                  <a:latin typeface="Arial" charset="0"/>
                  <a:ea typeface="楷体_GB2312" pitchFamily="49" charset="-122"/>
                </a:rPr>
                <a:t>DATA</a:t>
              </a:r>
            </a:p>
          </p:txBody>
        </p:sp>
      </p:grpSp>
      <p:grpSp>
        <p:nvGrpSpPr>
          <p:cNvPr id="647189" name="Group 21"/>
          <p:cNvGrpSpPr>
            <a:grpSpLocks/>
          </p:cNvGrpSpPr>
          <p:nvPr/>
        </p:nvGrpSpPr>
        <p:grpSpPr bwMode="auto">
          <a:xfrm>
            <a:off x="3044825" y="3567113"/>
            <a:ext cx="1862138" cy="755650"/>
            <a:chOff x="1918" y="2247"/>
            <a:chExt cx="1173" cy="476"/>
          </a:xfrm>
        </p:grpSpPr>
        <p:sp>
          <p:nvSpPr>
            <p:cNvPr id="647190" name="Line 22"/>
            <p:cNvSpPr>
              <a:spLocks noChangeShapeType="1"/>
            </p:cNvSpPr>
            <p:nvPr/>
          </p:nvSpPr>
          <p:spPr bwMode="auto">
            <a:xfrm>
              <a:off x="1918" y="2247"/>
              <a:ext cx="1173" cy="13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91" name="Line 23"/>
            <p:cNvSpPr>
              <a:spLocks noChangeShapeType="1"/>
            </p:cNvSpPr>
            <p:nvPr/>
          </p:nvSpPr>
          <p:spPr bwMode="auto">
            <a:xfrm>
              <a:off x="1918" y="2589"/>
              <a:ext cx="1173" cy="134"/>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92" name="Freeform 24"/>
            <p:cNvSpPr>
              <a:spLocks/>
            </p:cNvSpPr>
            <p:nvPr/>
          </p:nvSpPr>
          <p:spPr bwMode="auto">
            <a:xfrm>
              <a:off x="1927" y="2256"/>
              <a:ext cx="1156" cy="455"/>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193" name="AutoShape 25"/>
            <p:cNvSpPr>
              <a:spLocks noChangeArrowheads="1"/>
            </p:cNvSpPr>
            <p:nvPr/>
          </p:nvSpPr>
          <p:spPr bwMode="auto">
            <a:xfrm rot="480000">
              <a:off x="2651" y="2469"/>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94" name="Rectangle 26"/>
            <p:cNvSpPr>
              <a:spLocks noChangeArrowheads="1"/>
            </p:cNvSpPr>
            <p:nvPr/>
          </p:nvSpPr>
          <p:spPr bwMode="auto">
            <a:xfrm rot="540000">
              <a:off x="2008" y="2325"/>
              <a:ext cx="648" cy="286"/>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solidFill>
                    <a:srgbClr val="FC0404"/>
                  </a:solidFill>
                  <a:latin typeface="Arial" charset="0"/>
                  <a:ea typeface="楷体_GB2312" pitchFamily="49" charset="-122"/>
                </a:rPr>
                <a:t>DATA</a:t>
              </a:r>
            </a:p>
          </p:txBody>
        </p:sp>
      </p:grpSp>
      <p:grpSp>
        <p:nvGrpSpPr>
          <p:cNvPr id="647195" name="Group 27"/>
          <p:cNvGrpSpPr>
            <a:grpSpLocks/>
          </p:cNvGrpSpPr>
          <p:nvPr/>
        </p:nvGrpSpPr>
        <p:grpSpPr bwMode="auto">
          <a:xfrm>
            <a:off x="3044825" y="4232275"/>
            <a:ext cx="1862138" cy="757238"/>
            <a:chOff x="1918" y="2666"/>
            <a:chExt cx="1173" cy="477"/>
          </a:xfrm>
        </p:grpSpPr>
        <p:sp>
          <p:nvSpPr>
            <p:cNvPr id="647196" name="Line 28"/>
            <p:cNvSpPr>
              <a:spLocks noChangeShapeType="1"/>
            </p:cNvSpPr>
            <p:nvPr/>
          </p:nvSpPr>
          <p:spPr bwMode="auto">
            <a:xfrm>
              <a:off x="1918" y="2666"/>
              <a:ext cx="1173" cy="13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97" name="Line 29"/>
            <p:cNvSpPr>
              <a:spLocks noChangeShapeType="1"/>
            </p:cNvSpPr>
            <p:nvPr/>
          </p:nvSpPr>
          <p:spPr bwMode="auto">
            <a:xfrm>
              <a:off x="1918" y="3007"/>
              <a:ext cx="1173" cy="13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198" name="Freeform 30"/>
            <p:cNvSpPr>
              <a:spLocks/>
            </p:cNvSpPr>
            <p:nvPr/>
          </p:nvSpPr>
          <p:spPr bwMode="auto">
            <a:xfrm>
              <a:off x="1927" y="2674"/>
              <a:ext cx="1156" cy="457"/>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199" name="AutoShape 31"/>
            <p:cNvSpPr>
              <a:spLocks noChangeArrowheads="1"/>
            </p:cNvSpPr>
            <p:nvPr/>
          </p:nvSpPr>
          <p:spPr bwMode="auto">
            <a:xfrm rot="480000">
              <a:off x="2651" y="2887"/>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200" name="Rectangle 32"/>
            <p:cNvSpPr>
              <a:spLocks noChangeArrowheads="1"/>
            </p:cNvSpPr>
            <p:nvPr/>
          </p:nvSpPr>
          <p:spPr bwMode="auto">
            <a:xfrm rot="540000">
              <a:off x="2006" y="2746"/>
              <a:ext cx="648" cy="286"/>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solidFill>
                    <a:srgbClr val="FC0404"/>
                  </a:solidFill>
                  <a:latin typeface="Arial" charset="0"/>
                  <a:ea typeface="楷体_GB2312" pitchFamily="49" charset="-122"/>
                </a:rPr>
                <a:t>DATA</a:t>
              </a:r>
            </a:p>
          </p:txBody>
        </p:sp>
      </p:grpSp>
      <p:grpSp>
        <p:nvGrpSpPr>
          <p:cNvPr id="647201" name="Group 33"/>
          <p:cNvGrpSpPr>
            <a:grpSpLocks/>
          </p:cNvGrpSpPr>
          <p:nvPr/>
        </p:nvGrpSpPr>
        <p:grpSpPr bwMode="auto">
          <a:xfrm>
            <a:off x="4922838" y="2803525"/>
            <a:ext cx="1758950" cy="454025"/>
            <a:chOff x="3101" y="1766"/>
            <a:chExt cx="1108" cy="286"/>
          </a:xfrm>
        </p:grpSpPr>
        <p:sp>
          <p:nvSpPr>
            <p:cNvPr id="647202" name="Line 34"/>
            <p:cNvSpPr>
              <a:spLocks noChangeShapeType="1"/>
            </p:cNvSpPr>
            <p:nvPr/>
          </p:nvSpPr>
          <p:spPr bwMode="auto">
            <a:xfrm>
              <a:off x="3101" y="1914"/>
              <a:ext cx="246" cy="0"/>
            </a:xfrm>
            <a:prstGeom prst="line">
              <a:avLst/>
            </a:prstGeom>
            <a:noFill/>
            <a:ln w="28575">
              <a:solidFill>
                <a:srgbClr val="0000FF"/>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203" name="Rectangle 35"/>
            <p:cNvSpPr>
              <a:spLocks noChangeArrowheads="1"/>
            </p:cNvSpPr>
            <p:nvPr/>
          </p:nvSpPr>
          <p:spPr bwMode="auto">
            <a:xfrm>
              <a:off x="3324" y="1766"/>
              <a:ext cx="885"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Arial" charset="0"/>
                  <a:ea typeface="楷体_GB2312" pitchFamily="49" charset="-122"/>
                </a:rPr>
                <a:t>送主机 </a:t>
              </a:r>
              <a:r>
                <a:rPr lang="en-US" altLang="zh-CN" b="1">
                  <a:latin typeface="Arial" charset="0"/>
                  <a:ea typeface="楷体_GB2312" pitchFamily="49" charset="-122"/>
                </a:rPr>
                <a:t>B</a:t>
              </a:r>
            </a:p>
          </p:txBody>
        </p:sp>
      </p:grpSp>
      <p:grpSp>
        <p:nvGrpSpPr>
          <p:cNvPr id="647204" name="Group 36"/>
          <p:cNvGrpSpPr>
            <a:grpSpLocks/>
          </p:cNvGrpSpPr>
          <p:nvPr/>
        </p:nvGrpSpPr>
        <p:grpSpPr bwMode="auto">
          <a:xfrm>
            <a:off x="4932363" y="3524250"/>
            <a:ext cx="1749425" cy="454025"/>
            <a:chOff x="3107" y="2220"/>
            <a:chExt cx="1102" cy="286"/>
          </a:xfrm>
        </p:grpSpPr>
        <p:sp>
          <p:nvSpPr>
            <p:cNvPr id="647205" name="Line 37"/>
            <p:cNvSpPr>
              <a:spLocks noChangeShapeType="1"/>
            </p:cNvSpPr>
            <p:nvPr/>
          </p:nvSpPr>
          <p:spPr bwMode="auto">
            <a:xfrm>
              <a:off x="3107" y="2344"/>
              <a:ext cx="246" cy="0"/>
            </a:xfrm>
            <a:prstGeom prst="line">
              <a:avLst/>
            </a:prstGeom>
            <a:noFill/>
            <a:ln w="28575">
              <a:solidFill>
                <a:srgbClr val="0000FF"/>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206" name="Rectangle 38"/>
            <p:cNvSpPr>
              <a:spLocks noChangeArrowheads="1"/>
            </p:cNvSpPr>
            <p:nvPr/>
          </p:nvSpPr>
          <p:spPr bwMode="auto">
            <a:xfrm>
              <a:off x="3324" y="2220"/>
              <a:ext cx="885"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Arial" charset="0"/>
                  <a:ea typeface="楷体_GB2312" pitchFamily="49" charset="-122"/>
                </a:rPr>
                <a:t>送主机 </a:t>
              </a:r>
              <a:r>
                <a:rPr lang="en-US" altLang="zh-CN" b="1">
                  <a:latin typeface="Arial" charset="0"/>
                  <a:ea typeface="楷体_GB2312" pitchFamily="49" charset="-122"/>
                </a:rPr>
                <a:t>B</a:t>
              </a:r>
            </a:p>
          </p:txBody>
        </p:sp>
      </p:grpSp>
      <p:grpSp>
        <p:nvGrpSpPr>
          <p:cNvPr id="647207" name="Group 39"/>
          <p:cNvGrpSpPr>
            <a:grpSpLocks/>
          </p:cNvGrpSpPr>
          <p:nvPr/>
        </p:nvGrpSpPr>
        <p:grpSpPr bwMode="auto">
          <a:xfrm>
            <a:off x="4932363" y="4171950"/>
            <a:ext cx="1749425" cy="454025"/>
            <a:chOff x="3107" y="2628"/>
            <a:chExt cx="1102" cy="286"/>
          </a:xfrm>
        </p:grpSpPr>
        <p:sp>
          <p:nvSpPr>
            <p:cNvPr id="647208" name="Line 40"/>
            <p:cNvSpPr>
              <a:spLocks noChangeShapeType="1"/>
            </p:cNvSpPr>
            <p:nvPr/>
          </p:nvSpPr>
          <p:spPr bwMode="auto">
            <a:xfrm>
              <a:off x="3107" y="2764"/>
              <a:ext cx="246" cy="0"/>
            </a:xfrm>
            <a:prstGeom prst="line">
              <a:avLst/>
            </a:prstGeom>
            <a:noFill/>
            <a:ln w="28575">
              <a:solidFill>
                <a:srgbClr val="0000FF"/>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209" name="Rectangle 41"/>
            <p:cNvSpPr>
              <a:spLocks noChangeArrowheads="1"/>
            </p:cNvSpPr>
            <p:nvPr/>
          </p:nvSpPr>
          <p:spPr bwMode="auto">
            <a:xfrm>
              <a:off x="3324" y="2628"/>
              <a:ext cx="885"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Arial" charset="0"/>
                  <a:ea typeface="楷体_GB2312" pitchFamily="49" charset="-122"/>
                </a:rPr>
                <a:t>送主机 </a:t>
              </a:r>
              <a:r>
                <a:rPr lang="en-US" altLang="zh-CN" b="1">
                  <a:latin typeface="Arial" charset="0"/>
                  <a:ea typeface="楷体_GB2312" pitchFamily="49" charset="-122"/>
                </a:rPr>
                <a:t>B</a:t>
              </a:r>
            </a:p>
          </p:txBody>
        </p:sp>
      </p:grpSp>
      <p:grpSp>
        <p:nvGrpSpPr>
          <p:cNvPr id="647210" name="Group 42"/>
          <p:cNvGrpSpPr>
            <a:grpSpLocks/>
          </p:cNvGrpSpPr>
          <p:nvPr/>
        </p:nvGrpSpPr>
        <p:grpSpPr bwMode="auto">
          <a:xfrm>
            <a:off x="4932363" y="4821238"/>
            <a:ext cx="1749425" cy="454025"/>
            <a:chOff x="3107" y="3037"/>
            <a:chExt cx="1102" cy="286"/>
          </a:xfrm>
        </p:grpSpPr>
        <p:sp>
          <p:nvSpPr>
            <p:cNvPr id="647211" name="Line 43"/>
            <p:cNvSpPr>
              <a:spLocks noChangeShapeType="1"/>
            </p:cNvSpPr>
            <p:nvPr/>
          </p:nvSpPr>
          <p:spPr bwMode="auto">
            <a:xfrm>
              <a:off x="3107" y="3183"/>
              <a:ext cx="246" cy="0"/>
            </a:xfrm>
            <a:prstGeom prst="line">
              <a:avLst/>
            </a:prstGeom>
            <a:noFill/>
            <a:ln w="28575">
              <a:solidFill>
                <a:srgbClr val="0000FF"/>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212" name="Rectangle 44"/>
            <p:cNvSpPr>
              <a:spLocks noChangeArrowheads="1"/>
            </p:cNvSpPr>
            <p:nvPr/>
          </p:nvSpPr>
          <p:spPr bwMode="auto">
            <a:xfrm>
              <a:off x="3324" y="3037"/>
              <a:ext cx="885"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Arial" charset="0"/>
                  <a:ea typeface="楷体_GB2312" pitchFamily="49" charset="-122"/>
                </a:rPr>
                <a:t>送主机 </a:t>
              </a:r>
              <a:r>
                <a:rPr lang="en-US" altLang="zh-CN" b="1">
                  <a:latin typeface="Arial" charset="0"/>
                  <a:ea typeface="楷体_GB2312" pitchFamily="49" charset="-122"/>
                </a:rPr>
                <a:t>B</a:t>
              </a:r>
            </a:p>
          </p:txBody>
        </p:sp>
      </p:grpSp>
      <p:sp>
        <p:nvSpPr>
          <p:cNvPr id="647213" name="Line 45"/>
          <p:cNvSpPr>
            <a:spLocks noChangeShapeType="1"/>
          </p:cNvSpPr>
          <p:nvPr/>
        </p:nvSpPr>
        <p:spPr bwMode="auto">
          <a:xfrm>
            <a:off x="2613025" y="2293938"/>
            <a:ext cx="0" cy="2249487"/>
          </a:xfrm>
          <a:prstGeom prst="line">
            <a:avLst/>
          </a:prstGeom>
          <a:noFill/>
          <a:ln w="28575">
            <a:solidFill>
              <a:srgbClr val="0000FF"/>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214" name="Rectangle 46"/>
          <p:cNvSpPr>
            <a:spLocks noChangeArrowheads="1"/>
          </p:cNvSpPr>
          <p:nvPr/>
        </p:nvSpPr>
        <p:spPr bwMode="auto">
          <a:xfrm>
            <a:off x="2381250" y="4619625"/>
            <a:ext cx="485775" cy="819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Arial" charset="0"/>
                <a:ea typeface="楷体_GB2312" pitchFamily="49" charset="-122"/>
              </a:rPr>
              <a:t>时</a:t>
            </a:r>
          </a:p>
          <a:p>
            <a:pPr eaLnBrk="0" hangingPunct="0">
              <a:buClrTx/>
              <a:buFontTx/>
              <a:buNone/>
            </a:pPr>
            <a:r>
              <a:rPr lang="zh-CN" altLang="en-US" b="1">
                <a:latin typeface="Arial" charset="0"/>
                <a:ea typeface="楷体_GB2312" pitchFamily="49" charset="-122"/>
              </a:rPr>
              <a:t>间</a:t>
            </a:r>
          </a:p>
        </p:txBody>
      </p:sp>
      <p:sp>
        <p:nvSpPr>
          <p:cNvPr id="647215" name="Text Box 47"/>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7177"/>
                                        </p:tgtEl>
                                        <p:attrNameLst>
                                          <p:attrName>style.visibility</p:attrName>
                                        </p:attrNameLst>
                                      </p:cBhvr>
                                      <p:to>
                                        <p:strVal val="visible"/>
                                      </p:to>
                                    </p:set>
                                    <p:animEffect transition="in" filter="wipe(left)">
                                      <p:cBhvr>
                                        <p:cTn id="7" dur="1000"/>
                                        <p:tgtEl>
                                          <p:spTgt spid="647177"/>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47201"/>
                                        </p:tgtEl>
                                        <p:attrNameLst>
                                          <p:attrName>style.visibility</p:attrName>
                                        </p:attrNameLst>
                                      </p:cBhvr>
                                      <p:to>
                                        <p:strVal val="visible"/>
                                      </p:to>
                                    </p:set>
                                    <p:animEffect transition="in" filter="wipe(left)">
                                      <p:cBhvr>
                                        <p:cTn id="11" dur="1000"/>
                                        <p:tgtEl>
                                          <p:spTgt spid="647201"/>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647183"/>
                                        </p:tgtEl>
                                        <p:attrNameLst>
                                          <p:attrName>style.visibility</p:attrName>
                                        </p:attrNameLst>
                                      </p:cBhvr>
                                      <p:to>
                                        <p:strVal val="visible"/>
                                      </p:to>
                                    </p:set>
                                    <p:animEffect transition="in" filter="wipe(left)">
                                      <p:cBhvr>
                                        <p:cTn id="15" dur="1000"/>
                                        <p:tgtEl>
                                          <p:spTgt spid="647183"/>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647204"/>
                                        </p:tgtEl>
                                        <p:attrNameLst>
                                          <p:attrName>style.visibility</p:attrName>
                                        </p:attrNameLst>
                                      </p:cBhvr>
                                      <p:to>
                                        <p:strVal val="visible"/>
                                      </p:to>
                                    </p:set>
                                    <p:animEffect transition="in" filter="wipe(left)">
                                      <p:cBhvr>
                                        <p:cTn id="19" dur="1000"/>
                                        <p:tgtEl>
                                          <p:spTgt spid="647204"/>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647189"/>
                                        </p:tgtEl>
                                        <p:attrNameLst>
                                          <p:attrName>style.visibility</p:attrName>
                                        </p:attrNameLst>
                                      </p:cBhvr>
                                      <p:to>
                                        <p:strVal val="visible"/>
                                      </p:to>
                                    </p:set>
                                    <p:animEffect transition="in" filter="wipe(left)">
                                      <p:cBhvr>
                                        <p:cTn id="23" dur="1000"/>
                                        <p:tgtEl>
                                          <p:spTgt spid="647189"/>
                                        </p:tgtEl>
                                      </p:cBhvr>
                                    </p:animEffect>
                                  </p:childTnLst>
                                </p:cTn>
                              </p:par>
                            </p:childTnLst>
                          </p:cTn>
                        </p:par>
                        <p:par>
                          <p:cTn id="24" fill="hold" nodeType="afterGroup">
                            <p:stCondLst>
                              <p:cond delay="5000"/>
                            </p:stCondLst>
                            <p:childTnLst>
                              <p:par>
                                <p:cTn id="25" presetID="22" presetClass="entr" presetSubtype="8" fill="hold" nodeType="afterEffect">
                                  <p:stCondLst>
                                    <p:cond delay="0"/>
                                  </p:stCondLst>
                                  <p:childTnLst>
                                    <p:set>
                                      <p:cBhvr>
                                        <p:cTn id="26" dur="1" fill="hold">
                                          <p:stCondLst>
                                            <p:cond delay="0"/>
                                          </p:stCondLst>
                                        </p:cTn>
                                        <p:tgtEl>
                                          <p:spTgt spid="647207"/>
                                        </p:tgtEl>
                                        <p:attrNameLst>
                                          <p:attrName>style.visibility</p:attrName>
                                        </p:attrNameLst>
                                      </p:cBhvr>
                                      <p:to>
                                        <p:strVal val="visible"/>
                                      </p:to>
                                    </p:set>
                                    <p:animEffect transition="in" filter="wipe(left)">
                                      <p:cBhvr>
                                        <p:cTn id="27" dur="1000"/>
                                        <p:tgtEl>
                                          <p:spTgt spid="647207"/>
                                        </p:tgtEl>
                                      </p:cBhvr>
                                    </p:animEffect>
                                  </p:childTnLst>
                                </p:cTn>
                              </p:par>
                            </p:childTnLst>
                          </p:cTn>
                        </p:par>
                        <p:par>
                          <p:cTn id="28" fill="hold" nodeType="afterGroup">
                            <p:stCondLst>
                              <p:cond delay="6000"/>
                            </p:stCondLst>
                            <p:childTnLst>
                              <p:par>
                                <p:cTn id="29" presetID="22" presetClass="entr" presetSubtype="8" fill="hold" nodeType="afterEffect">
                                  <p:stCondLst>
                                    <p:cond delay="0"/>
                                  </p:stCondLst>
                                  <p:childTnLst>
                                    <p:set>
                                      <p:cBhvr>
                                        <p:cTn id="30" dur="1" fill="hold">
                                          <p:stCondLst>
                                            <p:cond delay="0"/>
                                          </p:stCondLst>
                                        </p:cTn>
                                        <p:tgtEl>
                                          <p:spTgt spid="647195"/>
                                        </p:tgtEl>
                                        <p:attrNameLst>
                                          <p:attrName>style.visibility</p:attrName>
                                        </p:attrNameLst>
                                      </p:cBhvr>
                                      <p:to>
                                        <p:strVal val="visible"/>
                                      </p:to>
                                    </p:set>
                                    <p:animEffect transition="in" filter="wipe(left)">
                                      <p:cBhvr>
                                        <p:cTn id="31" dur="1000"/>
                                        <p:tgtEl>
                                          <p:spTgt spid="647195"/>
                                        </p:tgtEl>
                                      </p:cBhvr>
                                    </p:animEffect>
                                  </p:childTnLst>
                                </p:cTn>
                              </p:par>
                            </p:childTnLst>
                          </p:cTn>
                        </p:par>
                        <p:par>
                          <p:cTn id="32" fill="hold" nodeType="afterGroup">
                            <p:stCondLst>
                              <p:cond delay="7000"/>
                            </p:stCondLst>
                            <p:childTnLst>
                              <p:par>
                                <p:cTn id="33" presetID="22" presetClass="entr" presetSubtype="8" fill="hold" nodeType="afterEffect">
                                  <p:stCondLst>
                                    <p:cond delay="0"/>
                                  </p:stCondLst>
                                  <p:childTnLst>
                                    <p:set>
                                      <p:cBhvr>
                                        <p:cTn id="34" dur="1" fill="hold">
                                          <p:stCondLst>
                                            <p:cond delay="0"/>
                                          </p:stCondLst>
                                        </p:cTn>
                                        <p:tgtEl>
                                          <p:spTgt spid="647210"/>
                                        </p:tgtEl>
                                        <p:attrNameLst>
                                          <p:attrName>style.visibility</p:attrName>
                                        </p:attrNameLst>
                                      </p:cBhvr>
                                      <p:to>
                                        <p:strVal val="visible"/>
                                      </p:to>
                                    </p:set>
                                    <p:animEffect transition="in" filter="wipe(left)">
                                      <p:cBhvr>
                                        <p:cTn id="35" dur="1000"/>
                                        <p:tgtEl>
                                          <p:spTgt spid="647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2"/>
          <p:cNvSpPr>
            <a:spLocks noGrp="1" noChangeArrowheads="1"/>
          </p:cNvSpPr>
          <p:nvPr>
            <p:ph type="title"/>
          </p:nvPr>
        </p:nvSpPr>
        <p:spPr/>
        <p:txBody>
          <a:bodyPr/>
          <a:lstStyle/>
          <a:p>
            <a:r>
              <a:rPr lang="zh-CN" altLang="en-US"/>
              <a:t>协议</a:t>
            </a:r>
            <a:r>
              <a:rPr lang="en-US" altLang="zh-CN"/>
              <a:t>1</a:t>
            </a:r>
            <a:r>
              <a:rPr lang="en-US" altLang="zh-CN">
                <a:latin typeface="隶书" pitchFamily="49" charset="-122"/>
              </a:rPr>
              <a:t>:</a:t>
            </a:r>
            <a:r>
              <a:rPr lang="en-US" altLang="zh-CN"/>
              <a:t>sender</a:t>
            </a:r>
          </a:p>
        </p:txBody>
      </p:sp>
      <p:sp>
        <p:nvSpPr>
          <p:cNvPr id="632835" name="Rectangle 3"/>
          <p:cNvSpPr>
            <a:spLocks noGrp="1" noChangeArrowheads="1"/>
          </p:cNvSpPr>
          <p:nvPr>
            <p:ph type="body" idx="1"/>
          </p:nvPr>
        </p:nvSpPr>
        <p:spPr>
          <a:xfrm>
            <a:off x="809625" y="1773238"/>
            <a:ext cx="7958138" cy="4679950"/>
          </a:xfrm>
        </p:spPr>
        <p:txBody>
          <a:bodyPr/>
          <a:lstStyle/>
          <a:p>
            <a:pPr marL="0" indent="0">
              <a:buFont typeface="Wingdings" pitchFamily="2" charset="2"/>
              <a:buNone/>
            </a:pPr>
            <a:r>
              <a:rPr lang="en-US" altLang="zh-CN" sz="2400" noProof="1"/>
              <a:t>void sender1(void)</a:t>
            </a:r>
          </a:p>
          <a:p>
            <a:pPr marL="0" indent="0">
              <a:buFont typeface="Wingdings" pitchFamily="2" charset="2"/>
              <a:buNone/>
            </a:pPr>
            <a:r>
              <a:rPr lang="en-US" altLang="zh-CN" sz="2400" noProof="1"/>
              <a:t>{    frame s;	</a:t>
            </a:r>
            <a:r>
              <a:rPr lang="en-US" altLang="zh-CN" sz="2400"/>
              <a:t>	</a:t>
            </a:r>
          </a:p>
          <a:p>
            <a:pPr marL="0" indent="0">
              <a:buFont typeface="Wingdings" pitchFamily="2" charset="2"/>
              <a:buNone/>
            </a:pPr>
            <a:r>
              <a:rPr lang="en-US" altLang="zh-CN" sz="2400" noProof="1"/>
              <a:t>     packet buffer;</a:t>
            </a:r>
            <a:endParaRPr lang="en-US" altLang="zh-CN" sz="2400"/>
          </a:p>
          <a:p>
            <a:pPr marL="0" indent="0">
              <a:buFont typeface="Wingdings" pitchFamily="2" charset="2"/>
              <a:buNone/>
            </a:pPr>
            <a:endParaRPr lang="en-US" altLang="zh-CN" sz="2400" noProof="1"/>
          </a:p>
          <a:p>
            <a:pPr marL="0" indent="0">
              <a:buFont typeface="Wingdings" pitchFamily="2" charset="2"/>
              <a:buNone/>
            </a:pPr>
            <a:r>
              <a:rPr lang="en-US" altLang="zh-CN" sz="2400" noProof="1"/>
              <a:t>     while (true) </a:t>
            </a:r>
            <a:endParaRPr lang="en-US" altLang="zh-CN" sz="2400"/>
          </a:p>
          <a:p>
            <a:pPr marL="0" indent="0">
              <a:buFont typeface="Wingdings" pitchFamily="2" charset="2"/>
              <a:buNone/>
            </a:pPr>
            <a:r>
              <a:rPr lang="en-US" altLang="zh-CN" sz="2400" noProof="1"/>
              <a:t>     {    from_network_layer(&amp;buffer); </a:t>
            </a:r>
          </a:p>
          <a:p>
            <a:pPr marL="0" indent="0">
              <a:buFont typeface="Wingdings" pitchFamily="2" charset="2"/>
              <a:buNone/>
            </a:pPr>
            <a:r>
              <a:rPr lang="en-US" altLang="zh-CN" sz="2400" noProof="1"/>
              <a:t>           s.info = buffer; </a:t>
            </a:r>
          </a:p>
          <a:p>
            <a:pPr marL="0" indent="0">
              <a:buFont typeface="Wingdings" pitchFamily="2" charset="2"/>
              <a:buNone/>
            </a:pPr>
            <a:r>
              <a:rPr lang="en-US" altLang="zh-CN" sz="2400" noProof="1"/>
              <a:t>           to_physical_layer(&amp;s); </a:t>
            </a:r>
          </a:p>
          <a:p>
            <a:pPr marL="0" indent="0">
              <a:buFont typeface="Wingdings" pitchFamily="2" charset="2"/>
              <a:buNone/>
            </a:pPr>
            <a:r>
              <a:rPr lang="en-US" altLang="zh-CN" sz="2400" noProof="1"/>
              <a:t>     }</a:t>
            </a:r>
            <a:endParaRPr lang="en-US" altLang="zh-CN" sz="2400"/>
          </a:p>
          <a:p>
            <a:pPr marL="0" indent="0">
              <a:buFont typeface="Wingdings" pitchFamily="2" charset="2"/>
              <a:buNone/>
            </a:pPr>
            <a:r>
              <a:rPr lang="en-US" altLang="zh-CN" sz="2400" noProof="1"/>
              <a:t>}</a:t>
            </a:r>
            <a:endParaRPr lang="zh-CN" altLang="en-US" sz="2400"/>
          </a:p>
        </p:txBody>
      </p:sp>
      <p:sp>
        <p:nvSpPr>
          <p:cNvPr id="6328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328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2"/>
          <p:cNvSpPr>
            <a:spLocks noGrp="1" noChangeArrowheads="1"/>
          </p:cNvSpPr>
          <p:nvPr>
            <p:ph type="title"/>
          </p:nvPr>
        </p:nvSpPr>
        <p:spPr/>
        <p:txBody>
          <a:bodyPr/>
          <a:lstStyle/>
          <a:p>
            <a:r>
              <a:rPr lang="zh-CN" altLang="en-US"/>
              <a:t>协议</a:t>
            </a:r>
            <a:r>
              <a:rPr lang="en-US" altLang="zh-CN"/>
              <a:t>1</a:t>
            </a:r>
            <a:r>
              <a:rPr lang="en-US" altLang="zh-CN">
                <a:latin typeface="隶书" pitchFamily="49" charset="-122"/>
              </a:rPr>
              <a:t>:</a:t>
            </a:r>
            <a:r>
              <a:rPr lang="en-US" altLang="zh-CN"/>
              <a:t>receiver</a:t>
            </a:r>
          </a:p>
        </p:txBody>
      </p:sp>
      <p:sp>
        <p:nvSpPr>
          <p:cNvPr id="636931" name="Rectangle 3"/>
          <p:cNvSpPr>
            <a:spLocks noGrp="1" noChangeArrowheads="1"/>
          </p:cNvSpPr>
          <p:nvPr>
            <p:ph type="body" idx="1"/>
          </p:nvPr>
        </p:nvSpPr>
        <p:spPr/>
        <p:txBody>
          <a:bodyPr/>
          <a:lstStyle/>
          <a:p>
            <a:pPr marL="0" indent="0">
              <a:lnSpc>
                <a:spcPct val="90000"/>
              </a:lnSpc>
              <a:buFont typeface="Wingdings" pitchFamily="2" charset="2"/>
              <a:buNone/>
            </a:pPr>
            <a:r>
              <a:rPr lang="en-US" altLang="zh-CN" sz="2400" noProof="1"/>
              <a:t>typedef enum {frame_arrival} event_type;</a:t>
            </a:r>
            <a:endParaRPr lang="en-US" altLang="zh-CN" sz="2400"/>
          </a:p>
          <a:p>
            <a:pPr marL="0" indent="0">
              <a:lnSpc>
                <a:spcPct val="90000"/>
              </a:lnSpc>
              <a:buFont typeface="Wingdings" pitchFamily="2" charset="2"/>
              <a:buNone/>
            </a:pPr>
            <a:r>
              <a:rPr lang="en-US" altLang="zh-CN" sz="2400" noProof="1"/>
              <a:t>void receiver1(void)</a:t>
            </a:r>
          </a:p>
          <a:p>
            <a:pPr marL="0" indent="0">
              <a:lnSpc>
                <a:spcPct val="90000"/>
              </a:lnSpc>
              <a:buFont typeface="Wingdings" pitchFamily="2" charset="2"/>
              <a:buNone/>
            </a:pPr>
            <a:r>
              <a:rPr lang="en-US" altLang="zh-CN" sz="2400" noProof="1"/>
              <a:t>{    frame r;</a:t>
            </a:r>
          </a:p>
          <a:p>
            <a:pPr marL="0" indent="0">
              <a:lnSpc>
                <a:spcPct val="90000"/>
              </a:lnSpc>
              <a:buFont typeface="Wingdings" pitchFamily="2" charset="2"/>
              <a:buNone/>
            </a:pPr>
            <a:r>
              <a:rPr lang="en-US" altLang="zh-CN" sz="2400" noProof="1"/>
              <a:t>     event_type event;</a:t>
            </a:r>
          </a:p>
          <a:p>
            <a:pPr marL="0" indent="0">
              <a:lnSpc>
                <a:spcPct val="90000"/>
              </a:lnSpc>
              <a:buFont typeface="Wingdings" pitchFamily="2" charset="2"/>
              <a:buNone/>
            </a:pPr>
            <a:endParaRPr lang="en-US" altLang="zh-CN" sz="2400" noProof="1"/>
          </a:p>
          <a:p>
            <a:pPr marL="0" indent="0">
              <a:lnSpc>
                <a:spcPct val="90000"/>
              </a:lnSpc>
              <a:buFont typeface="Wingdings" pitchFamily="2" charset="2"/>
              <a:buNone/>
            </a:pPr>
            <a:r>
              <a:rPr lang="en-US" altLang="zh-CN" sz="2400" noProof="1"/>
              <a:t>      while (true) </a:t>
            </a:r>
            <a:endParaRPr lang="en-US" altLang="zh-CN" sz="2400"/>
          </a:p>
          <a:p>
            <a:pPr marL="0" indent="0">
              <a:lnSpc>
                <a:spcPct val="90000"/>
              </a:lnSpc>
              <a:buFont typeface="Wingdings" pitchFamily="2" charset="2"/>
              <a:buNone/>
            </a:pPr>
            <a:r>
              <a:rPr lang="en-US" altLang="zh-CN" sz="2400" noProof="1"/>
              <a:t>      {     wait_for_event(&amp;event); </a:t>
            </a:r>
          </a:p>
          <a:p>
            <a:pPr marL="0" indent="0">
              <a:lnSpc>
                <a:spcPct val="90000"/>
              </a:lnSpc>
              <a:buFont typeface="Wingdings" pitchFamily="2" charset="2"/>
              <a:buNone/>
            </a:pPr>
            <a:r>
              <a:rPr lang="en-US" altLang="zh-CN" sz="2400" noProof="1"/>
              <a:t>             from_physical_layer(&amp;r); </a:t>
            </a:r>
          </a:p>
          <a:p>
            <a:pPr marL="0" indent="0">
              <a:lnSpc>
                <a:spcPct val="90000"/>
              </a:lnSpc>
              <a:buFont typeface="Wingdings" pitchFamily="2" charset="2"/>
              <a:buNone/>
            </a:pPr>
            <a:r>
              <a:rPr lang="en-US" altLang="zh-CN" sz="2400" noProof="1"/>
              <a:t>             to_network_layer(&amp;r.info); </a:t>
            </a:r>
          </a:p>
          <a:p>
            <a:pPr marL="0" indent="0">
              <a:lnSpc>
                <a:spcPct val="90000"/>
              </a:lnSpc>
              <a:buFont typeface="Wingdings" pitchFamily="2" charset="2"/>
              <a:buNone/>
            </a:pPr>
            <a:r>
              <a:rPr lang="en-US" altLang="zh-CN" sz="2400" noProof="1"/>
              <a:t>      }</a:t>
            </a:r>
          </a:p>
          <a:p>
            <a:pPr marL="0" indent="0">
              <a:lnSpc>
                <a:spcPct val="90000"/>
              </a:lnSpc>
              <a:buFont typeface="Wingdings" pitchFamily="2" charset="2"/>
              <a:buNone/>
            </a:pPr>
            <a:r>
              <a:rPr lang="en-US" altLang="zh-CN" sz="2400" noProof="1"/>
              <a:t>}</a:t>
            </a:r>
            <a:endParaRPr lang="zh-CN" altLang="en-US" sz="2400"/>
          </a:p>
        </p:txBody>
      </p:sp>
      <p:sp>
        <p:nvSpPr>
          <p:cNvPr id="63693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3693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r>
              <a:rPr lang="zh-CN" altLang="en-US"/>
              <a:t>假  设</a:t>
            </a:r>
          </a:p>
        </p:txBody>
      </p:sp>
      <p:sp>
        <p:nvSpPr>
          <p:cNvPr id="615427" name="Rectangle 3"/>
          <p:cNvSpPr>
            <a:spLocks noGrp="1" noChangeArrowheads="1"/>
          </p:cNvSpPr>
          <p:nvPr>
            <p:ph type="body" idx="1"/>
          </p:nvPr>
        </p:nvSpPr>
        <p:spPr/>
        <p:txBody>
          <a:bodyPr/>
          <a:lstStyle/>
          <a:p>
            <a:pPr>
              <a:lnSpc>
                <a:spcPct val="150000"/>
              </a:lnSpc>
            </a:pPr>
            <a:r>
              <a:rPr lang="zh-CN" altLang="en-US" sz="2800" dirty="0">
                <a:solidFill>
                  <a:srgbClr val="FC0404"/>
                </a:solidFill>
              </a:rPr>
              <a:t>假设一：无差错控制</a:t>
            </a:r>
          </a:p>
          <a:p>
            <a:pPr>
              <a:lnSpc>
                <a:spcPct val="150000"/>
              </a:lnSpc>
              <a:buFont typeface="Wingdings" pitchFamily="2" charset="2"/>
              <a:buNone/>
            </a:pPr>
            <a:r>
              <a:rPr lang="zh-CN" altLang="en-US" sz="2800" dirty="0"/>
              <a:t>           链路是理想的传输信道，所传送的任何数据既不会出差错也不会丢失。</a:t>
            </a:r>
          </a:p>
          <a:p>
            <a:pPr>
              <a:lnSpc>
                <a:spcPct val="150000"/>
              </a:lnSpc>
            </a:pPr>
            <a:r>
              <a:rPr lang="zh-CN" altLang="en-US" sz="2800" dirty="0">
                <a:solidFill>
                  <a:srgbClr val="FC0404"/>
                </a:solidFill>
              </a:rPr>
              <a:t>假设二：无流量控制（</a:t>
            </a:r>
            <a:r>
              <a:rPr lang="zh-CN" altLang="en-US" sz="2800" dirty="0">
                <a:solidFill>
                  <a:srgbClr val="FC0404"/>
                </a:solidFill>
                <a:sym typeface="Wingdings" pitchFamily="2" charset="2"/>
              </a:rPr>
              <a:t></a:t>
            </a:r>
            <a:r>
              <a:rPr lang="zh-CN" altLang="en-US" sz="2800" dirty="0">
                <a:solidFill>
                  <a:srgbClr val="FC0404"/>
                </a:solidFill>
              </a:rPr>
              <a:t>）</a:t>
            </a:r>
          </a:p>
          <a:p>
            <a:pPr>
              <a:lnSpc>
                <a:spcPct val="150000"/>
              </a:lnSpc>
              <a:buFont typeface="Wingdings" pitchFamily="2" charset="2"/>
              <a:buNone/>
            </a:pPr>
            <a:r>
              <a:rPr lang="zh-CN" altLang="en-US" sz="2800" dirty="0"/>
              <a:t>           不管</a:t>
            </a:r>
            <a:r>
              <a:rPr lang="zh-CN" altLang="en-US" sz="2800" dirty="0" smtClean="0"/>
              <a:t>发送方</a:t>
            </a:r>
            <a:r>
              <a:rPr lang="zh-CN" altLang="en-US" sz="2800" dirty="0"/>
              <a:t>以多快的速率发送数据</a:t>
            </a:r>
            <a:r>
              <a:rPr lang="zh-CN" altLang="en-US" sz="2800" dirty="0" smtClean="0"/>
              <a:t>，接收</a:t>
            </a:r>
            <a:r>
              <a:rPr lang="zh-CN" altLang="en-US" sz="2800" dirty="0"/>
              <a:t>方总是来得及收下，并及时</a:t>
            </a:r>
            <a:r>
              <a:rPr lang="zh-CN" altLang="en-US" sz="2800" dirty="0" smtClean="0"/>
              <a:t>上交网络层。</a:t>
            </a:r>
            <a:endParaRPr lang="zh-CN" altLang="en-US" sz="2800" dirty="0"/>
          </a:p>
        </p:txBody>
      </p:sp>
      <p:sp>
        <p:nvSpPr>
          <p:cNvPr id="61542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1543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1100138" y="931863"/>
            <a:ext cx="6856412" cy="768350"/>
          </a:xfrm>
        </p:spPr>
        <p:txBody>
          <a:bodyPr/>
          <a:lstStyle/>
          <a:p>
            <a:pPr algn="ctr"/>
            <a:r>
              <a:rPr lang="zh-CN" altLang="en-US" sz="4000" dirty="0" smtClean="0"/>
              <a:t>具</a:t>
            </a:r>
            <a:r>
              <a:rPr lang="zh-CN" altLang="en-US" sz="4000" dirty="0"/>
              <a:t>有最简</a:t>
            </a:r>
            <a:r>
              <a:rPr lang="zh-CN" altLang="en-US" sz="4000" dirty="0" smtClean="0"/>
              <a:t>单量</a:t>
            </a:r>
            <a:r>
              <a:rPr lang="zh-CN" altLang="en-US" sz="4000" dirty="0"/>
              <a:t>控制的数据链路层协议</a:t>
            </a:r>
          </a:p>
        </p:txBody>
      </p:sp>
      <p:sp>
        <p:nvSpPr>
          <p:cNvPr id="133123" name="Rectangle 3"/>
          <p:cNvSpPr>
            <a:spLocks noGrp="1" noChangeArrowheads="1"/>
          </p:cNvSpPr>
          <p:nvPr>
            <p:ph type="body" idx="1"/>
          </p:nvPr>
        </p:nvSpPr>
        <p:spPr>
          <a:xfrm>
            <a:off x="971550" y="2420887"/>
            <a:ext cx="7561263" cy="4264075"/>
          </a:xfrm>
        </p:spPr>
        <p:txBody>
          <a:bodyPr/>
          <a:lstStyle/>
          <a:p>
            <a:r>
              <a:rPr lang="zh-CN" altLang="en-US" sz="2800" dirty="0"/>
              <a:t>现在去掉上述的第二个假定。但是，仍然保留第一个假定，</a:t>
            </a:r>
            <a:r>
              <a:rPr lang="zh-CN" altLang="en-US" sz="2800" dirty="0">
                <a:solidFill>
                  <a:srgbClr val="FF0000"/>
                </a:solidFill>
              </a:rPr>
              <a:t>即主机 </a:t>
            </a:r>
            <a:r>
              <a:rPr lang="en-US" altLang="zh-CN" sz="2800" dirty="0">
                <a:solidFill>
                  <a:srgbClr val="FF0000"/>
                </a:solidFill>
              </a:rPr>
              <a:t>A </a:t>
            </a:r>
            <a:r>
              <a:rPr lang="zh-CN" altLang="en-US" sz="2800" dirty="0">
                <a:solidFill>
                  <a:srgbClr val="FF0000"/>
                </a:solidFill>
              </a:rPr>
              <a:t>向主机 </a:t>
            </a:r>
            <a:r>
              <a:rPr lang="en-US" altLang="zh-CN" sz="2800" dirty="0">
                <a:solidFill>
                  <a:srgbClr val="FF0000"/>
                </a:solidFill>
              </a:rPr>
              <a:t>B</a:t>
            </a:r>
            <a:r>
              <a:rPr lang="zh-CN" altLang="en-US" sz="2800" dirty="0">
                <a:solidFill>
                  <a:srgbClr val="FF0000"/>
                </a:solidFill>
              </a:rPr>
              <a:t>传输数据的信道仍然是无差错的理想信道。</a:t>
            </a:r>
            <a:r>
              <a:rPr lang="zh-CN" altLang="en-US" sz="2800" dirty="0"/>
              <a:t>然而现在不能保证接收端向主机交付数据的速率永远不低于发送端发送数据的速率。</a:t>
            </a:r>
          </a:p>
          <a:p>
            <a:r>
              <a:rPr lang="zh-CN" altLang="en-US" sz="2800" dirty="0">
                <a:solidFill>
                  <a:srgbClr val="FF0000"/>
                </a:solidFill>
              </a:rPr>
              <a:t>由收方控制发方的数据流</a:t>
            </a:r>
            <a:r>
              <a:rPr lang="zh-CN" altLang="en-US" sz="2800" dirty="0"/>
              <a:t>，乃是计算机网络中流量控制的一个基本方法。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468313" y="549275"/>
            <a:ext cx="8229600" cy="1143000"/>
          </a:xfrm>
        </p:spPr>
        <p:txBody>
          <a:bodyPr/>
          <a:lstStyle/>
          <a:p>
            <a:r>
              <a:rPr lang="zh-CN" altLang="en-US"/>
              <a:t>一个单工的停</a:t>
            </a:r>
            <a:r>
              <a:rPr lang="en-US" altLang="zh-CN"/>
              <a:t>-</a:t>
            </a:r>
            <a:r>
              <a:rPr lang="zh-CN" altLang="en-US"/>
              <a:t>等协议</a:t>
            </a:r>
          </a:p>
        </p:txBody>
      </p:sp>
      <p:sp>
        <p:nvSpPr>
          <p:cNvPr id="220163" name="Rectangle 3"/>
          <p:cNvSpPr>
            <a:spLocks noGrp="1" noChangeArrowheads="1"/>
          </p:cNvSpPr>
          <p:nvPr>
            <p:ph type="body" idx="1"/>
          </p:nvPr>
        </p:nvSpPr>
        <p:spPr>
          <a:xfrm>
            <a:off x="468313" y="1557338"/>
            <a:ext cx="8229600" cy="4525962"/>
          </a:xfrm>
        </p:spPr>
        <p:txBody>
          <a:bodyPr/>
          <a:lstStyle/>
          <a:p>
            <a:r>
              <a:rPr lang="zh-CN" altLang="en-US"/>
              <a:t>协议</a:t>
            </a:r>
            <a:r>
              <a:rPr lang="en-US" altLang="zh-CN"/>
              <a:t>2</a:t>
            </a:r>
            <a:r>
              <a:rPr lang="zh-CN" altLang="en-US"/>
              <a:t>：一个单工的停</a:t>
            </a:r>
            <a:r>
              <a:rPr lang="en-US" altLang="zh-CN"/>
              <a:t>-</a:t>
            </a:r>
            <a:r>
              <a:rPr lang="zh-CN" altLang="en-US"/>
              <a:t>等协议</a:t>
            </a:r>
          </a:p>
          <a:p>
            <a:pPr>
              <a:buFont typeface="Wingdings" pitchFamily="2" charset="2"/>
              <a:buNone/>
            </a:pPr>
            <a:r>
              <a:rPr lang="zh-CN" altLang="en-US"/>
              <a:t>  </a:t>
            </a:r>
            <a:r>
              <a:rPr lang="en-US" altLang="zh-CN">
                <a:solidFill>
                  <a:schemeClr val="hlink"/>
                </a:solidFill>
                <a:latin typeface="Times New Roman" pitchFamily="18" charset="0"/>
              </a:rPr>
              <a:t>-</a:t>
            </a:r>
            <a:r>
              <a:rPr lang="en-US" altLang="zh-CN"/>
              <a:t>  </a:t>
            </a:r>
            <a:r>
              <a:rPr lang="zh-CN" altLang="en-US"/>
              <a:t>发送方：</a:t>
            </a:r>
          </a:p>
          <a:p>
            <a:pPr>
              <a:buFont typeface="Wingdings" pitchFamily="2" charset="2"/>
              <a:buNone/>
            </a:pPr>
            <a:r>
              <a:rPr lang="zh-CN" altLang="en-US"/>
              <a:t>     与协议</a:t>
            </a:r>
            <a:r>
              <a:rPr lang="en-US" altLang="zh-CN"/>
              <a:t>1</a:t>
            </a:r>
            <a:r>
              <a:rPr lang="zh-CN" altLang="en-US"/>
              <a:t>的区别仅在于发送完一帧后，必须等待确认帧到达，才从网络层取下一个分组。</a:t>
            </a:r>
          </a:p>
          <a:p>
            <a:pPr>
              <a:buFont typeface="Wingdings" pitchFamily="2" charset="2"/>
              <a:buNone/>
            </a:pPr>
            <a:r>
              <a:rPr lang="zh-CN" altLang="en-US"/>
              <a:t>  </a:t>
            </a:r>
            <a:r>
              <a:rPr lang="en-US" altLang="zh-CN">
                <a:solidFill>
                  <a:schemeClr val="hlink"/>
                </a:solidFill>
                <a:latin typeface="Times New Roman" pitchFamily="18" charset="0"/>
              </a:rPr>
              <a:t>-</a:t>
            </a:r>
            <a:r>
              <a:rPr lang="en-US" altLang="zh-CN"/>
              <a:t>  </a:t>
            </a:r>
            <a:r>
              <a:rPr lang="zh-CN" altLang="en-US"/>
              <a:t>接收方：</a:t>
            </a:r>
          </a:p>
          <a:p>
            <a:pPr>
              <a:buFont typeface="Wingdings" pitchFamily="2" charset="2"/>
              <a:buNone/>
            </a:pPr>
            <a:r>
              <a:rPr lang="zh-CN" altLang="en-US"/>
              <a:t>     与协议</a:t>
            </a:r>
            <a:r>
              <a:rPr lang="en-US" altLang="zh-CN"/>
              <a:t>1</a:t>
            </a:r>
            <a:r>
              <a:rPr lang="zh-CN" altLang="en-US"/>
              <a:t>的区别仅在于帧接收并将分组递交网络层后，发送确认帧。</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0163">
                                            <p:txEl>
                                              <p:pRg st="0" end="0"/>
                                            </p:txEl>
                                          </p:spTgt>
                                        </p:tgtEl>
                                        <p:attrNameLst>
                                          <p:attrName>style.visibility</p:attrName>
                                        </p:attrNameLst>
                                      </p:cBhvr>
                                      <p:to>
                                        <p:strVal val="visible"/>
                                      </p:to>
                                    </p:set>
                                    <p:animEffect transition="in" filter="blinds(horizontal)">
                                      <p:cBhvr>
                                        <p:cTn id="7" dur="500"/>
                                        <p:tgtEl>
                                          <p:spTgt spid="220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0163">
                                            <p:txEl>
                                              <p:pRg st="1" end="1"/>
                                            </p:txEl>
                                          </p:spTgt>
                                        </p:tgtEl>
                                        <p:attrNameLst>
                                          <p:attrName>style.visibility</p:attrName>
                                        </p:attrNameLst>
                                      </p:cBhvr>
                                      <p:to>
                                        <p:strVal val="visible"/>
                                      </p:to>
                                    </p:set>
                                    <p:animEffect transition="in" filter="blinds(horizontal)">
                                      <p:cBhvr>
                                        <p:cTn id="12" dur="500"/>
                                        <p:tgtEl>
                                          <p:spTgt spid="22016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20163">
                                            <p:txEl>
                                              <p:pRg st="2" end="2"/>
                                            </p:txEl>
                                          </p:spTgt>
                                        </p:tgtEl>
                                        <p:attrNameLst>
                                          <p:attrName>style.visibility</p:attrName>
                                        </p:attrNameLst>
                                      </p:cBhvr>
                                      <p:to>
                                        <p:strVal val="visible"/>
                                      </p:to>
                                    </p:set>
                                    <p:animEffect transition="in" filter="blinds(horizontal)">
                                      <p:cBhvr>
                                        <p:cTn id="15" dur="500"/>
                                        <p:tgtEl>
                                          <p:spTgt spid="22016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20163">
                                            <p:txEl>
                                              <p:pRg st="3" end="3"/>
                                            </p:txEl>
                                          </p:spTgt>
                                        </p:tgtEl>
                                        <p:attrNameLst>
                                          <p:attrName>style.visibility</p:attrName>
                                        </p:attrNameLst>
                                      </p:cBhvr>
                                      <p:to>
                                        <p:strVal val="visible"/>
                                      </p:to>
                                    </p:set>
                                    <p:animEffect transition="in" filter="blinds(horizontal)">
                                      <p:cBhvr>
                                        <p:cTn id="20" dur="500"/>
                                        <p:tgtEl>
                                          <p:spTgt spid="22016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20163">
                                            <p:txEl>
                                              <p:pRg st="4" end="4"/>
                                            </p:txEl>
                                          </p:spTgt>
                                        </p:tgtEl>
                                        <p:attrNameLst>
                                          <p:attrName>style.visibility</p:attrName>
                                        </p:attrNameLst>
                                      </p:cBhvr>
                                      <p:to>
                                        <p:strVal val="visible"/>
                                      </p:to>
                                    </p:set>
                                    <p:animEffect transition="in" filter="blinds(horizontal)">
                                      <p:cBhvr>
                                        <p:cTn id="23" dur="500"/>
                                        <p:tgtEl>
                                          <p:spTgt spid="220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1100138" y="931863"/>
            <a:ext cx="6856412" cy="768350"/>
          </a:xfrm>
        </p:spPr>
        <p:txBody>
          <a:bodyPr/>
          <a:lstStyle/>
          <a:p>
            <a:pPr algn="ctr"/>
            <a:r>
              <a:rPr lang="zh-CN" altLang="en-US" sz="4000"/>
              <a:t>具有最简单流量控制的</a:t>
            </a:r>
            <a:br>
              <a:rPr lang="zh-CN" altLang="en-US" sz="4000"/>
            </a:br>
            <a:r>
              <a:rPr lang="zh-CN" altLang="en-US" sz="4000"/>
              <a:t>数据链路层协议算法</a:t>
            </a:r>
          </a:p>
        </p:txBody>
      </p:sp>
      <p:sp>
        <p:nvSpPr>
          <p:cNvPr id="224259" name="Rectangle 3"/>
          <p:cNvSpPr>
            <a:spLocks noGrp="1" noChangeArrowheads="1"/>
          </p:cNvSpPr>
          <p:nvPr>
            <p:ph type="body" idx="1"/>
          </p:nvPr>
        </p:nvSpPr>
        <p:spPr>
          <a:xfrm>
            <a:off x="971550" y="1844675"/>
            <a:ext cx="7561263" cy="4840288"/>
          </a:xfrm>
        </p:spPr>
        <p:txBody>
          <a:bodyPr/>
          <a:lstStyle/>
          <a:p>
            <a:pPr>
              <a:buFont typeface="Wingdings" pitchFamily="2" charset="2"/>
              <a:buNone/>
            </a:pPr>
            <a:r>
              <a:rPr lang="zh-CN" altLang="en-US" sz="2800"/>
              <a:t>在发送结点：</a:t>
            </a:r>
          </a:p>
          <a:p>
            <a:pPr>
              <a:buFont typeface="Wingdings" pitchFamily="2" charset="2"/>
              <a:buNone/>
            </a:pPr>
            <a:r>
              <a:rPr lang="zh-CN" altLang="en-US" sz="2800"/>
              <a:t>    </a:t>
            </a:r>
            <a:r>
              <a:rPr lang="en-US" altLang="zh-CN" sz="2800"/>
              <a:t>(1) </a:t>
            </a:r>
            <a:r>
              <a:rPr lang="zh-CN" altLang="en-US" sz="2800"/>
              <a:t>从主机取一个数据帧。</a:t>
            </a:r>
          </a:p>
          <a:p>
            <a:pPr>
              <a:buFont typeface="Wingdings" pitchFamily="2" charset="2"/>
              <a:buNone/>
            </a:pPr>
            <a:r>
              <a:rPr lang="zh-CN" altLang="en-US" sz="2800"/>
              <a:t>    </a:t>
            </a:r>
            <a:r>
              <a:rPr lang="en-US" altLang="zh-CN" sz="2800"/>
              <a:t>(2) </a:t>
            </a:r>
            <a:r>
              <a:rPr lang="zh-CN" altLang="en-US" sz="2800"/>
              <a:t>将数据帧送到数据链路层的发送缓存。</a:t>
            </a:r>
          </a:p>
          <a:p>
            <a:pPr>
              <a:buFont typeface="Wingdings" pitchFamily="2" charset="2"/>
              <a:buNone/>
            </a:pPr>
            <a:r>
              <a:rPr lang="zh-CN" altLang="en-US" sz="2800"/>
              <a:t>    </a:t>
            </a:r>
            <a:r>
              <a:rPr lang="en-US" altLang="zh-CN" sz="2800"/>
              <a:t>(3) </a:t>
            </a:r>
            <a:r>
              <a:rPr lang="zh-CN" altLang="en-US" sz="2800"/>
              <a:t>将发送缓存中的数据帧发送出去。</a:t>
            </a:r>
          </a:p>
          <a:p>
            <a:pPr>
              <a:buFont typeface="Wingdings" pitchFamily="2" charset="2"/>
              <a:buNone/>
            </a:pPr>
            <a:r>
              <a:rPr lang="zh-CN" altLang="en-US" sz="2800"/>
              <a:t>    </a:t>
            </a:r>
            <a:r>
              <a:rPr lang="en-US" altLang="zh-CN" sz="2800"/>
              <a:t>(4) </a:t>
            </a:r>
            <a:r>
              <a:rPr lang="zh-CN" altLang="en-US" sz="2800"/>
              <a:t>等待。</a:t>
            </a:r>
          </a:p>
          <a:p>
            <a:pPr>
              <a:buFont typeface="Wingdings" pitchFamily="2" charset="2"/>
              <a:buNone/>
            </a:pPr>
            <a:r>
              <a:rPr lang="zh-CN" altLang="en-US" sz="2800"/>
              <a:t>    </a:t>
            </a:r>
            <a:r>
              <a:rPr lang="en-US" altLang="zh-CN" sz="2800"/>
              <a:t>(5) </a:t>
            </a:r>
            <a:r>
              <a:rPr lang="zh-CN" altLang="en-US" sz="2800"/>
              <a:t>若收到由接收结点发过来的信息</a:t>
            </a:r>
            <a:r>
              <a:rPr lang="en-US" altLang="zh-CN" sz="2800"/>
              <a:t>(</a:t>
            </a:r>
            <a:r>
              <a:rPr lang="zh-CN" altLang="en-US" sz="2800"/>
              <a:t>此信息</a:t>
            </a:r>
          </a:p>
          <a:p>
            <a:pPr>
              <a:spcBef>
                <a:spcPct val="0"/>
              </a:spcBef>
              <a:buFont typeface="Wingdings" pitchFamily="2" charset="2"/>
              <a:buNone/>
            </a:pPr>
            <a:r>
              <a:rPr lang="zh-CN" altLang="en-US" sz="2800"/>
              <a:t>         的格式与内容可由双方事先商定好</a:t>
            </a:r>
            <a:r>
              <a:rPr lang="en-US" altLang="zh-CN" sz="2800"/>
              <a:t>)</a:t>
            </a:r>
            <a:r>
              <a:rPr lang="zh-CN" altLang="en-US" sz="2800"/>
              <a:t>，则</a:t>
            </a:r>
          </a:p>
          <a:p>
            <a:pPr>
              <a:spcBef>
                <a:spcPct val="0"/>
              </a:spcBef>
              <a:buFont typeface="Wingdings" pitchFamily="2" charset="2"/>
              <a:buNone/>
            </a:pPr>
            <a:r>
              <a:rPr lang="zh-CN" altLang="en-US" sz="2800"/>
              <a:t>         从主机取一个新的数据帧，然后转到</a:t>
            </a:r>
            <a:r>
              <a:rPr lang="en-US" altLang="zh-CN" sz="2800"/>
              <a:t>(2)</a:t>
            </a:r>
            <a:r>
              <a:rPr lang="zh-CN" altLang="en-US" sz="2800"/>
              <a:t>。</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42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42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425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425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4259">
                                            <p:txEl>
                                              <p:pRg st="5" end="5"/>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224259">
                                            <p:txEl>
                                              <p:pRg st="6" end="6"/>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2242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1100138" y="931863"/>
            <a:ext cx="6856412" cy="768350"/>
          </a:xfrm>
        </p:spPr>
        <p:txBody>
          <a:bodyPr/>
          <a:lstStyle/>
          <a:p>
            <a:pPr algn="ctr"/>
            <a:r>
              <a:rPr lang="zh-CN" altLang="en-US" sz="4000"/>
              <a:t>具有最简单流量控制的</a:t>
            </a:r>
            <a:br>
              <a:rPr lang="zh-CN" altLang="en-US" sz="4000"/>
            </a:br>
            <a:r>
              <a:rPr lang="zh-CN" altLang="en-US" sz="4000"/>
              <a:t>数据链路层协议算法（续）</a:t>
            </a:r>
          </a:p>
        </p:txBody>
      </p:sp>
      <p:sp>
        <p:nvSpPr>
          <p:cNvPr id="225283" name="Rectangle 3"/>
          <p:cNvSpPr>
            <a:spLocks noGrp="1" noChangeArrowheads="1"/>
          </p:cNvSpPr>
          <p:nvPr>
            <p:ph type="body" idx="1"/>
          </p:nvPr>
        </p:nvSpPr>
        <p:spPr>
          <a:xfrm>
            <a:off x="971550" y="1844675"/>
            <a:ext cx="7848600" cy="4840288"/>
          </a:xfrm>
        </p:spPr>
        <p:txBody>
          <a:bodyPr/>
          <a:lstStyle/>
          <a:p>
            <a:pPr>
              <a:buFont typeface="Wingdings" pitchFamily="2" charset="2"/>
              <a:buNone/>
            </a:pPr>
            <a:r>
              <a:rPr lang="zh-CN" altLang="en-US"/>
              <a:t>在接收结点：</a:t>
            </a:r>
          </a:p>
          <a:p>
            <a:pPr>
              <a:buFont typeface="Wingdings" pitchFamily="2" charset="2"/>
              <a:buNone/>
            </a:pPr>
            <a:r>
              <a:rPr lang="zh-CN" altLang="en-US"/>
              <a:t>    </a:t>
            </a:r>
            <a:r>
              <a:rPr lang="en-US" altLang="zh-CN"/>
              <a:t>(1) </a:t>
            </a:r>
            <a:r>
              <a:rPr lang="zh-CN" altLang="en-US"/>
              <a:t>等待。</a:t>
            </a:r>
          </a:p>
          <a:p>
            <a:pPr>
              <a:buFont typeface="Wingdings" pitchFamily="2" charset="2"/>
              <a:buNone/>
            </a:pPr>
            <a:r>
              <a:rPr lang="zh-CN" altLang="en-US"/>
              <a:t>    </a:t>
            </a:r>
            <a:r>
              <a:rPr lang="en-US" altLang="zh-CN"/>
              <a:t>(2) </a:t>
            </a:r>
            <a:r>
              <a:rPr lang="zh-CN" altLang="en-US"/>
              <a:t>若收到由发送结点发过来的数据帧，</a:t>
            </a:r>
          </a:p>
          <a:p>
            <a:pPr>
              <a:spcBef>
                <a:spcPct val="0"/>
              </a:spcBef>
              <a:buFont typeface="Wingdings" pitchFamily="2" charset="2"/>
              <a:buNone/>
            </a:pPr>
            <a:r>
              <a:rPr lang="zh-CN" altLang="en-US"/>
              <a:t>          则将其放入数据链路层的接收缓存。</a:t>
            </a:r>
          </a:p>
          <a:p>
            <a:pPr>
              <a:buFont typeface="Wingdings" pitchFamily="2" charset="2"/>
              <a:buNone/>
            </a:pPr>
            <a:r>
              <a:rPr lang="zh-CN" altLang="en-US"/>
              <a:t>    </a:t>
            </a:r>
            <a:r>
              <a:rPr lang="en-US" altLang="zh-CN"/>
              <a:t>(3) </a:t>
            </a:r>
            <a:r>
              <a:rPr lang="zh-CN" altLang="en-US"/>
              <a:t>将接收缓存中的数据帧上交主机。</a:t>
            </a:r>
          </a:p>
          <a:p>
            <a:pPr>
              <a:buFont typeface="Wingdings" pitchFamily="2" charset="2"/>
              <a:buNone/>
            </a:pPr>
            <a:r>
              <a:rPr lang="zh-CN" altLang="en-US"/>
              <a:t>    </a:t>
            </a:r>
            <a:r>
              <a:rPr lang="en-US" altLang="zh-CN"/>
              <a:t>(4) </a:t>
            </a:r>
            <a:r>
              <a:rPr lang="zh-CN" altLang="en-US"/>
              <a:t>向发送结点发一信息，表示数据帧已</a:t>
            </a:r>
          </a:p>
          <a:p>
            <a:pPr>
              <a:spcBef>
                <a:spcPct val="0"/>
              </a:spcBef>
              <a:buFont typeface="Wingdings" pitchFamily="2" charset="2"/>
              <a:buNone/>
            </a:pPr>
            <a:r>
              <a:rPr lang="zh-CN" altLang="en-US"/>
              <a:t>          经上交给主机。</a:t>
            </a:r>
          </a:p>
          <a:p>
            <a:pPr>
              <a:buFont typeface="Wingdings" pitchFamily="2" charset="2"/>
              <a:buNone/>
            </a:pPr>
            <a:r>
              <a:rPr lang="zh-CN" altLang="en-US"/>
              <a:t>    </a:t>
            </a:r>
            <a:r>
              <a:rPr lang="en-US" altLang="zh-CN"/>
              <a:t>(5) </a:t>
            </a:r>
            <a:r>
              <a:rPr lang="zh-CN" altLang="en-US"/>
              <a:t>转到</a:t>
            </a:r>
            <a:r>
              <a:rPr lang="en-US" altLang="zh-CN"/>
              <a:t>(1)</a:t>
            </a:r>
            <a:r>
              <a:rPr lang="zh-CN" altLang="en-US"/>
              <a:t>。</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2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283">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25283">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25283">
                                            <p:txEl>
                                              <p:pRg st="4" end="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25283">
                                            <p:txEl>
                                              <p:pRg st="5" end="5"/>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22528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52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1100138" y="931863"/>
            <a:ext cx="7216775" cy="768350"/>
          </a:xfrm>
        </p:spPr>
        <p:txBody>
          <a:bodyPr/>
          <a:lstStyle/>
          <a:p>
            <a:pPr algn="ctr"/>
            <a:r>
              <a:rPr lang="zh-CN" altLang="en-US" sz="3600"/>
              <a:t>两种情况的对比（传输均无差错）</a:t>
            </a:r>
          </a:p>
        </p:txBody>
      </p:sp>
      <p:sp>
        <p:nvSpPr>
          <p:cNvPr id="226307" name="Freeform 3"/>
          <p:cNvSpPr>
            <a:spLocks/>
          </p:cNvSpPr>
          <p:nvPr/>
        </p:nvSpPr>
        <p:spPr bwMode="auto">
          <a:xfrm>
            <a:off x="5541963" y="3036888"/>
            <a:ext cx="1835150" cy="781050"/>
          </a:xfrm>
          <a:custGeom>
            <a:avLst/>
            <a:gdLst/>
            <a:ahLst/>
            <a:cxnLst>
              <a:cxn ang="0">
                <a:pos x="0" y="0"/>
              </a:cxn>
              <a:cxn ang="0">
                <a:pos x="1032" y="144"/>
              </a:cxn>
              <a:cxn ang="0">
                <a:pos x="1032" y="462"/>
              </a:cxn>
              <a:cxn ang="0">
                <a:pos x="0" y="318"/>
              </a:cxn>
              <a:cxn ang="0">
                <a:pos x="0" y="0"/>
              </a:cxn>
            </a:cxnLst>
            <a:rect l="0" t="0" r="r" b="b"/>
            <a:pathLst>
              <a:path w="1033" h="463">
                <a:moveTo>
                  <a:pt x="0" y="0"/>
                </a:moveTo>
                <a:lnTo>
                  <a:pt x="1032" y="144"/>
                </a:lnTo>
                <a:lnTo>
                  <a:pt x="1032" y="462"/>
                </a:lnTo>
                <a:lnTo>
                  <a:pt x="0" y="318"/>
                </a:lnTo>
                <a:lnTo>
                  <a:pt x="0" y="0"/>
                </a:lnTo>
              </a:path>
            </a:pathLst>
          </a:custGeom>
          <a:solidFill>
            <a:srgbClr val="FFFF66"/>
          </a:solidFill>
          <a:ln w="12700" cap="rnd" cmpd="sng">
            <a:noFill/>
            <a:prstDash val="solid"/>
            <a:round/>
            <a:headEnd type="none" w="med" len="med"/>
            <a:tailEnd type="none" w="med" len="med"/>
          </a:ln>
          <a:effectLst/>
        </p:spPr>
        <p:txBody>
          <a:bodyPr/>
          <a:lstStyle/>
          <a:p>
            <a:endParaRPr lang="zh-CN" altLang="en-US"/>
          </a:p>
        </p:txBody>
      </p:sp>
      <p:sp>
        <p:nvSpPr>
          <p:cNvPr id="226308" name="Line 4"/>
          <p:cNvSpPr>
            <a:spLocks noChangeShapeType="1"/>
          </p:cNvSpPr>
          <p:nvPr/>
        </p:nvSpPr>
        <p:spPr bwMode="auto">
          <a:xfrm>
            <a:off x="1212850" y="2890838"/>
            <a:ext cx="0" cy="3179762"/>
          </a:xfrm>
          <a:prstGeom prst="line">
            <a:avLst/>
          </a:prstGeom>
          <a:noFill/>
          <a:ln w="12700">
            <a:solidFill>
              <a:schemeClr val="tx1"/>
            </a:solidFill>
            <a:round/>
            <a:headEnd/>
            <a:tailEnd/>
          </a:ln>
          <a:effectLst/>
        </p:spPr>
        <p:txBody>
          <a:bodyPr wrap="none" anchor="ctr"/>
          <a:lstStyle/>
          <a:p>
            <a:endParaRPr lang="zh-CN" altLang="en-US"/>
          </a:p>
        </p:txBody>
      </p:sp>
      <p:sp>
        <p:nvSpPr>
          <p:cNvPr id="226309" name="Line 5"/>
          <p:cNvSpPr>
            <a:spLocks noChangeShapeType="1"/>
          </p:cNvSpPr>
          <p:nvPr/>
        </p:nvSpPr>
        <p:spPr bwMode="auto">
          <a:xfrm>
            <a:off x="3090863" y="2890838"/>
            <a:ext cx="0" cy="3160712"/>
          </a:xfrm>
          <a:prstGeom prst="line">
            <a:avLst/>
          </a:prstGeom>
          <a:noFill/>
          <a:ln w="12700">
            <a:solidFill>
              <a:schemeClr val="tx1"/>
            </a:solidFill>
            <a:round/>
            <a:headEnd/>
            <a:tailEnd/>
          </a:ln>
          <a:effectLst/>
        </p:spPr>
        <p:txBody>
          <a:bodyPr wrap="none" anchor="ctr"/>
          <a:lstStyle/>
          <a:p>
            <a:endParaRPr lang="zh-CN" altLang="en-US"/>
          </a:p>
        </p:txBody>
      </p:sp>
      <p:sp>
        <p:nvSpPr>
          <p:cNvPr id="226310" name="Rectangle 6"/>
          <p:cNvSpPr>
            <a:spLocks noChangeArrowheads="1"/>
          </p:cNvSpPr>
          <p:nvPr/>
        </p:nvSpPr>
        <p:spPr bwMode="auto">
          <a:xfrm>
            <a:off x="1038225" y="2579688"/>
            <a:ext cx="350838"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A</a:t>
            </a:r>
          </a:p>
        </p:txBody>
      </p:sp>
      <p:sp>
        <p:nvSpPr>
          <p:cNvPr id="226311" name="Rectangle 7"/>
          <p:cNvSpPr>
            <a:spLocks noChangeArrowheads="1"/>
          </p:cNvSpPr>
          <p:nvPr/>
        </p:nvSpPr>
        <p:spPr bwMode="auto">
          <a:xfrm>
            <a:off x="2903538" y="2579688"/>
            <a:ext cx="350837"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B</a:t>
            </a:r>
          </a:p>
        </p:txBody>
      </p:sp>
      <p:sp>
        <p:nvSpPr>
          <p:cNvPr id="226312" name="Line 8"/>
          <p:cNvSpPr>
            <a:spLocks noChangeShapeType="1"/>
          </p:cNvSpPr>
          <p:nvPr/>
        </p:nvSpPr>
        <p:spPr bwMode="auto">
          <a:xfrm>
            <a:off x="1219200" y="3043238"/>
            <a:ext cx="1862138" cy="214312"/>
          </a:xfrm>
          <a:prstGeom prst="line">
            <a:avLst/>
          </a:prstGeom>
          <a:noFill/>
          <a:ln w="12700">
            <a:solidFill>
              <a:schemeClr val="tx1"/>
            </a:solidFill>
            <a:round/>
            <a:headEnd/>
            <a:tailEnd/>
          </a:ln>
          <a:effectLst/>
        </p:spPr>
        <p:txBody>
          <a:bodyPr wrap="none" anchor="ctr"/>
          <a:lstStyle/>
          <a:p>
            <a:endParaRPr lang="zh-CN" altLang="en-US"/>
          </a:p>
        </p:txBody>
      </p:sp>
      <p:sp>
        <p:nvSpPr>
          <p:cNvPr id="226313" name="Line 9"/>
          <p:cNvSpPr>
            <a:spLocks noChangeShapeType="1"/>
          </p:cNvSpPr>
          <p:nvPr/>
        </p:nvSpPr>
        <p:spPr bwMode="auto">
          <a:xfrm>
            <a:off x="1219200" y="3584575"/>
            <a:ext cx="1862138" cy="215900"/>
          </a:xfrm>
          <a:prstGeom prst="line">
            <a:avLst/>
          </a:prstGeom>
          <a:noFill/>
          <a:ln w="12700">
            <a:solidFill>
              <a:schemeClr val="tx1"/>
            </a:solidFill>
            <a:round/>
            <a:headEnd/>
            <a:tailEnd/>
          </a:ln>
          <a:effectLst/>
        </p:spPr>
        <p:txBody>
          <a:bodyPr wrap="none" anchor="ctr"/>
          <a:lstStyle/>
          <a:p>
            <a:endParaRPr lang="zh-CN" altLang="en-US"/>
          </a:p>
        </p:txBody>
      </p:sp>
      <p:sp>
        <p:nvSpPr>
          <p:cNvPr id="226314" name="Freeform 10"/>
          <p:cNvSpPr>
            <a:spLocks/>
          </p:cNvSpPr>
          <p:nvPr/>
        </p:nvSpPr>
        <p:spPr bwMode="auto">
          <a:xfrm>
            <a:off x="1233488" y="3065463"/>
            <a:ext cx="1835150" cy="712787"/>
          </a:xfrm>
          <a:custGeom>
            <a:avLst/>
            <a:gdLst/>
            <a:ahLst/>
            <a:cxnLst>
              <a:cxn ang="0">
                <a:pos x="0" y="0"/>
              </a:cxn>
              <a:cxn ang="0">
                <a:pos x="1032" y="140"/>
              </a:cxn>
              <a:cxn ang="0">
                <a:pos x="1032" y="450"/>
              </a:cxn>
              <a:cxn ang="0">
                <a:pos x="0" y="310"/>
              </a:cxn>
              <a:cxn ang="0">
                <a:pos x="0" y="0"/>
              </a:cxn>
            </a:cxnLst>
            <a:rect l="0" t="0" r="r" b="b"/>
            <a:pathLst>
              <a:path w="1033" h="451">
                <a:moveTo>
                  <a:pt x="0" y="0"/>
                </a:moveTo>
                <a:lnTo>
                  <a:pt x="1032" y="140"/>
                </a:lnTo>
                <a:lnTo>
                  <a:pt x="1032" y="450"/>
                </a:lnTo>
                <a:lnTo>
                  <a:pt x="0" y="310"/>
                </a:lnTo>
                <a:lnTo>
                  <a:pt x="0" y="0"/>
                </a:lnTo>
              </a:path>
            </a:pathLst>
          </a:custGeom>
          <a:solidFill>
            <a:srgbClr val="FFFF66"/>
          </a:solidFill>
          <a:ln w="12700" cap="rnd" cmpd="sng">
            <a:noFill/>
            <a:prstDash val="solid"/>
            <a:round/>
            <a:headEnd type="none" w="med" len="med"/>
            <a:tailEnd type="none" w="med" len="med"/>
          </a:ln>
          <a:effectLst/>
        </p:spPr>
        <p:txBody>
          <a:bodyPr/>
          <a:lstStyle/>
          <a:p>
            <a:endParaRPr lang="zh-CN" altLang="en-US"/>
          </a:p>
        </p:txBody>
      </p:sp>
      <p:sp>
        <p:nvSpPr>
          <p:cNvPr id="226315" name="AutoShape 11"/>
          <p:cNvSpPr>
            <a:spLocks noChangeArrowheads="1"/>
          </p:cNvSpPr>
          <p:nvPr/>
        </p:nvSpPr>
        <p:spPr bwMode="auto">
          <a:xfrm rot="480000">
            <a:off x="2382838" y="3394075"/>
            <a:ext cx="496887" cy="158750"/>
          </a:xfrm>
          <a:prstGeom prst="rightArrow">
            <a:avLst>
              <a:gd name="adj1" fmla="val 50000"/>
              <a:gd name="adj2" fmla="val 156514"/>
            </a:avLst>
          </a:prstGeom>
          <a:solidFill>
            <a:schemeClr val="bg1"/>
          </a:solidFill>
          <a:ln w="12700">
            <a:solidFill>
              <a:schemeClr val="tx1"/>
            </a:solidFill>
            <a:miter lim="800000"/>
            <a:headEnd/>
            <a:tailEnd/>
          </a:ln>
          <a:effectLst/>
        </p:spPr>
        <p:txBody>
          <a:bodyPr wrap="none" anchor="ctr"/>
          <a:lstStyle/>
          <a:p>
            <a:endParaRPr lang="zh-CN" altLang="en-US"/>
          </a:p>
        </p:txBody>
      </p:sp>
      <p:sp>
        <p:nvSpPr>
          <p:cNvPr id="226316" name="Rectangle 12"/>
          <p:cNvSpPr>
            <a:spLocks noChangeArrowheads="1"/>
          </p:cNvSpPr>
          <p:nvPr/>
        </p:nvSpPr>
        <p:spPr bwMode="auto">
          <a:xfrm rot="540000">
            <a:off x="1368425" y="3159125"/>
            <a:ext cx="860425"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DATA</a:t>
            </a:r>
          </a:p>
        </p:txBody>
      </p:sp>
      <p:sp>
        <p:nvSpPr>
          <p:cNvPr id="226317" name="Line 13"/>
          <p:cNvSpPr>
            <a:spLocks noChangeShapeType="1"/>
          </p:cNvSpPr>
          <p:nvPr/>
        </p:nvSpPr>
        <p:spPr bwMode="auto">
          <a:xfrm>
            <a:off x="1219200" y="3708400"/>
            <a:ext cx="1862138" cy="215900"/>
          </a:xfrm>
          <a:prstGeom prst="line">
            <a:avLst/>
          </a:prstGeom>
          <a:noFill/>
          <a:ln w="12700">
            <a:solidFill>
              <a:schemeClr val="tx1"/>
            </a:solidFill>
            <a:round/>
            <a:headEnd/>
            <a:tailEnd/>
          </a:ln>
          <a:effectLst/>
        </p:spPr>
        <p:txBody>
          <a:bodyPr wrap="none" anchor="ctr"/>
          <a:lstStyle/>
          <a:p>
            <a:endParaRPr lang="zh-CN" altLang="en-US"/>
          </a:p>
        </p:txBody>
      </p:sp>
      <p:sp>
        <p:nvSpPr>
          <p:cNvPr id="226318" name="Line 14"/>
          <p:cNvSpPr>
            <a:spLocks noChangeShapeType="1"/>
          </p:cNvSpPr>
          <p:nvPr/>
        </p:nvSpPr>
        <p:spPr bwMode="auto">
          <a:xfrm>
            <a:off x="1219200" y="4251325"/>
            <a:ext cx="1862138" cy="214313"/>
          </a:xfrm>
          <a:prstGeom prst="line">
            <a:avLst/>
          </a:prstGeom>
          <a:noFill/>
          <a:ln w="12700">
            <a:solidFill>
              <a:schemeClr val="tx1"/>
            </a:solidFill>
            <a:round/>
            <a:headEnd/>
            <a:tailEnd/>
          </a:ln>
          <a:effectLst/>
        </p:spPr>
        <p:txBody>
          <a:bodyPr wrap="none" anchor="ctr"/>
          <a:lstStyle/>
          <a:p>
            <a:endParaRPr lang="zh-CN" altLang="en-US"/>
          </a:p>
        </p:txBody>
      </p:sp>
      <p:sp>
        <p:nvSpPr>
          <p:cNvPr id="226319" name="Freeform 15"/>
          <p:cNvSpPr>
            <a:spLocks/>
          </p:cNvSpPr>
          <p:nvPr/>
        </p:nvSpPr>
        <p:spPr bwMode="auto">
          <a:xfrm>
            <a:off x="1233488" y="3730625"/>
            <a:ext cx="1835150" cy="714375"/>
          </a:xfrm>
          <a:custGeom>
            <a:avLst/>
            <a:gdLst/>
            <a:ahLst/>
            <a:cxnLst>
              <a:cxn ang="0">
                <a:pos x="0" y="0"/>
              </a:cxn>
              <a:cxn ang="0">
                <a:pos x="1032" y="140"/>
              </a:cxn>
              <a:cxn ang="0">
                <a:pos x="1032" y="450"/>
              </a:cxn>
              <a:cxn ang="0">
                <a:pos x="0" y="310"/>
              </a:cxn>
              <a:cxn ang="0">
                <a:pos x="0" y="0"/>
              </a:cxn>
            </a:cxnLst>
            <a:rect l="0" t="0" r="r" b="b"/>
            <a:pathLst>
              <a:path w="1033" h="451">
                <a:moveTo>
                  <a:pt x="0" y="0"/>
                </a:moveTo>
                <a:lnTo>
                  <a:pt x="1032" y="140"/>
                </a:lnTo>
                <a:lnTo>
                  <a:pt x="1032" y="450"/>
                </a:lnTo>
                <a:lnTo>
                  <a:pt x="0" y="310"/>
                </a:lnTo>
                <a:lnTo>
                  <a:pt x="0" y="0"/>
                </a:lnTo>
              </a:path>
            </a:pathLst>
          </a:custGeom>
          <a:solidFill>
            <a:srgbClr val="FFFF66"/>
          </a:solidFill>
          <a:ln w="12700" cap="rnd" cmpd="sng">
            <a:noFill/>
            <a:prstDash val="solid"/>
            <a:round/>
            <a:headEnd type="none" w="med" len="med"/>
            <a:tailEnd type="none" w="med" len="med"/>
          </a:ln>
          <a:effectLst/>
        </p:spPr>
        <p:txBody>
          <a:bodyPr/>
          <a:lstStyle/>
          <a:p>
            <a:endParaRPr lang="zh-CN" altLang="en-US"/>
          </a:p>
        </p:txBody>
      </p:sp>
      <p:sp>
        <p:nvSpPr>
          <p:cNvPr id="226320" name="AutoShape 16"/>
          <p:cNvSpPr>
            <a:spLocks noChangeArrowheads="1"/>
          </p:cNvSpPr>
          <p:nvPr/>
        </p:nvSpPr>
        <p:spPr bwMode="auto">
          <a:xfrm rot="480000">
            <a:off x="2382838" y="4060825"/>
            <a:ext cx="496887" cy="157163"/>
          </a:xfrm>
          <a:prstGeom prst="rightArrow">
            <a:avLst>
              <a:gd name="adj1" fmla="val 50000"/>
              <a:gd name="adj2" fmla="val 158095"/>
            </a:avLst>
          </a:prstGeom>
          <a:solidFill>
            <a:schemeClr val="bg1"/>
          </a:solidFill>
          <a:ln w="12700">
            <a:solidFill>
              <a:schemeClr val="tx1"/>
            </a:solidFill>
            <a:miter lim="800000"/>
            <a:headEnd/>
            <a:tailEnd/>
          </a:ln>
          <a:effectLst/>
        </p:spPr>
        <p:txBody>
          <a:bodyPr wrap="none" anchor="ctr"/>
          <a:lstStyle/>
          <a:p>
            <a:endParaRPr lang="zh-CN" altLang="en-US"/>
          </a:p>
        </p:txBody>
      </p:sp>
      <p:sp>
        <p:nvSpPr>
          <p:cNvPr id="226321" name="Rectangle 17"/>
          <p:cNvSpPr>
            <a:spLocks noChangeArrowheads="1"/>
          </p:cNvSpPr>
          <p:nvPr/>
        </p:nvSpPr>
        <p:spPr bwMode="auto">
          <a:xfrm rot="540000">
            <a:off x="1365250" y="3824288"/>
            <a:ext cx="860425"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DATA</a:t>
            </a:r>
          </a:p>
        </p:txBody>
      </p:sp>
      <p:sp>
        <p:nvSpPr>
          <p:cNvPr id="226322" name="Line 18"/>
          <p:cNvSpPr>
            <a:spLocks noChangeShapeType="1"/>
          </p:cNvSpPr>
          <p:nvPr/>
        </p:nvSpPr>
        <p:spPr bwMode="auto">
          <a:xfrm>
            <a:off x="1219200" y="4373563"/>
            <a:ext cx="1862138" cy="215900"/>
          </a:xfrm>
          <a:prstGeom prst="line">
            <a:avLst/>
          </a:prstGeom>
          <a:noFill/>
          <a:ln w="12700">
            <a:solidFill>
              <a:schemeClr val="tx1"/>
            </a:solidFill>
            <a:round/>
            <a:headEnd/>
            <a:tailEnd/>
          </a:ln>
          <a:effectLst/>
        </p:spPr>
        <p:txBody>
          <a:bodyPr wrap="none" anchor="ctr"/>
          <a:lstStyle/>
          <a:p>
            <a:endParaRPr lang="zh-CN" altLang="en-US"/>
          </a:p>
        </p:txBody>
      </p:sp>
      <p:sp>
        <p:nvSpPr>
          <p:cNvPr id="226323" name="Line 19"/>
          <p:cNvSpPr>
            <a:spLocks noChangeShapeType="1"/>
          </p:cNvSpPr>
          <p:nvPr/>
        </p:nvSpPr>
        <p:spPr bwMode="auto">
          <a:xfrm>
            <a:off x="1219200" y="4916488"/>
            <a:ext cx="1862138" cy="212725"/>
          </a:xfrm>
          <a:prstGeom prst="line">
            <a:avLst/>
          </a:prstGeom>
          <a:noFill/>
          <a:ln w="12700">
            <a:solidFill>
              <a:schemeClr val="tx1"/>
            </a:solidFill>
            <a:round/>
            <a:headEnd/>
            <a:tailEnd/>
          </a:ln>
          <a:effectLst/>
        </p:spPr>
        <p:txBody>
          <a:bodyPr wrap="none" anchor="ctr"/>
          <a:lstStyle/>
          <a:p>
            <a:endParaRPr lang="zh-CN" altLang="en-US"/>
          </a:p>
        </p:txBody>
      </p:sp>
      <p:sp>
        <p:nvSpPr>
          <p:cNvPr id="226324" name="Freeform 20"/>
          <p:cNvSpPr>
            <a:spLocks/>
          </p:cNvSpPr>
          <p:nvPr/>
        </p:nvSpPr>
        <p:spPr bwMode="auto">
          <a:xfrm>
            <a:off x="1233488" y="4387850"/>
            <a:ext cx="1835150" cy="722313"/>
          </a:xfrm>
          <a:custGeom>
            <a:avLst/>
            <a:gdLst/>
            <a:ahLst/>
            <a:cxnLst>
              <a:cxn ang="0">
                <a:pos x="0" y="0"/>
              </a:cxn>
              <a:cxn ang="0">
                <a:pos x="1032" y="142"/>
              </a:cxn>
              <a:cxn ang="0">
                <a:pos x="1032" y="456"/>
              </a:cxn>
              <a:cxn ang="0">
                <a:pos x="0" y="314"/>
              </a:cxn>
              <a:cxn ang="0">
                <a:pos x="0" y="0"/>
              </a:cxn>
            </a:cxnLst>
            <a:rect l="0" t="0" r="r" b="b"/>
            <a:pathLst>
              <a:path w="1033" h="457">
                <a:moveTo>
                  <a:pt x="0" y="0"/>
                </a:moveTo>
                <a:lnTo>
                  <a:pt x="1032" y="142"/>
                </a:lnTo>
                <a:lnTo>
                  <a:pt x="1032" y="456"/>
                </a:lnTo>
                <a:lnTo>
                  <a:pt x="0" y="314"/>
                </a:lnTo>
                <a:lnTo>
                  <a:pt x="0" y="0"/>
                </a:lnTo>
              </a:path>
            </a:pathLst>
          </a:custGeom>
          <a:solidFill>
            <a:srgbClr val="FFFF66"/>
          </a:solidFill>
          <a:ln w="12700" cap="rnd" cmpd="sng">
            <a:noFill/>
            <a:prstDash val="solid"/>
            <a:round/>
            <a:headEnd type="none" w="med" len="med"/>
            <a:tailEnd type="none" w="med" len="med"/>
          </a:ln>
          <a:effectLst/>
        </p:spPr>
        <p:txBody>
          <a:bodyPr/>
          <a:lstStyle/>
          <a:p>
            <a:endParaRPr lang="zh-CN" altLang="en-US"/>
          </a:p>
        </p:txBody>
      </p:sp>
      <p:sp>
        <p:nvSpPr>
          <p:cNvPr id="226325" name="AutoShape 21"/>
          <p:cNvSpPr>
            <a:spLocks noChangeArrowheads="1"/>
          </p:cNvSpPr>
          <p:nvPr/>
        </p:nvSpPr>
        <p:spPr bwMode="auto">
          <a:xfrm rot="480000">
            <a:off x="2382838" y="4725988"/>
            <a:ext cx="496887" cy="158750"/>
          </a:xfrm>
          <a:prstGeom prst="rightArrow">
            <a:avLst>
              <a:gd name="adj1" fmla="val 50000"/>
              <a:gd name="adj2" fmla="val 156514"/>
            </a:avLst>
          </a:prstGeom>
          <a:solidFill>
            <a:schemeClr val="bg1"/>
          </a:solidFill>
          <a:ln w="12700">
            <a:solidFill>
              <a:schemeClr val="tx1"/>
            </a:solidFill>
            <a:miter lim="800000"/>
            <a:headEnd/>
            <a:tailEnd/>
          </a:ln>
          <a:effectLst/>
        </p:spPr>
        <p:txBody>
          <a:bodyPr wrap="none" anchor="ctr"/>
          <a:lstStyle/>
          <a:p>
            <a:endParaRPr lang="zh-CN" altLang="en-US"/>
          </a:p>
        </p:txBody>
      </p:sp>
      <p:sp>
        <p:nvSpPr>
          <p:cNvPr id="226326" name="Rectangle 22"/>
          <p:cNvSpPr>
            <a:spLocks noChangeArrowheads="1"/>
          </p:cNvSpPr>
          <p:nvPr/>
        </p:nvSpPr>
        <p:spPr bwMode="auto">
          <a:xfrm rot="540000">
            <a:off x="1368425" y="4487863"/>
            <a:ext cx="860425"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DATA</a:t>
            </a:r>
          </a:p>
        </p:txBody>
      </p:sp>
      <p:sp>
        <p:nvSpPr>
          <p:cNvPr id="226327" name="Line 23"/>
          <p:cNvSpPr>
            <a:spLocks noChangeShapeType="1"/>
          </p:cNvSpPr>
          <p:nvPr/>
        </p:nvSpPr>
        <p:spPr bwMode="auto">
          <a:xfrm>
            <a:off x="1219200" y="5038725"/>
            <a:ext cx="1862138" cy="214313"/>
          </a:xfrm>
          <a:prstGeom prst="line">
            <a:avLst/>
          </a:prstGeom>
          <a:noFill/>
          <a:ln w="12700">
            <a:solidFill>
              <a:schemeClr val="tx1"/>
            </a:solidFill>
            <a:round/>
            <a:headEnd/>
            <a:tailEnd/>
          </a:ln>
          <a:effectLst/>
        </p:spPr>
        <p:txBody>
          <a:bodyPr wrap="none" anchor="ctr"/>
          <a:lstStyle/>
          <a:p>
            <a:endParaRPr lang="zh-CN" altLang="en-US"/>
          </a:p>
        </p:txBody>
      </p:sp>
      <p:sp>
        <p:nvSpPr>
          <p:cNvPr id="226328" name="Line 24"/>
          <p:cNvSpPr>
            <a:spLocks noChangeShapeType="1"/>
          </p:cNvSpPr>
          <p:nvPr/>
        </p:nvSpPr>
        <p:spPr bwMode="auto">
          <a:xfrm>
            <a:off x="1219200" y="5580063"/>
            <a:ext cx="1862138" cy="215900"/>
          </a:xfrm>
          <a:prstGeom prst="line">
            <a:avLst/>
          </a:prstGeom>
          <a:noFill/>
          <a:ln w="12700">
            <a:solidFill>
              <a:schemeClr val="tx1"/>
            </a:solidFill>
            <a:round/>
            <a:headEnd/>
            <a:tailEnd/>
          </a:ln>
          <a:effectLst/>
        </p:spPr>
        <p:txBody>
          <a:bodyPr wrap="none" anchor="ctr"/>
          <a:lstStyle/>
          <a:p>
            <a:endParaRPr lang="zh-CN" altLang="en-US"/>
          </a:p>
        </p:txBody>
      </p:sp>
      <p:sp>
        <p:nvSpPr>
          <p:cNvPr id="226329" name="Freeform 25"/>
          <p:cNvSpPr>
            <a:spLocks/>
          </p:cNvSpPr>
          <p:nvPr/>
        </p:nvSpPr>
        <p:spPr bwMode="auto">
          <a:xfrm>
            <a:off x="1233488" y="5051425"/>
            <a:ext cx="1835150" cy="725488"/>
          </a:xfrm>
          <a:custGeom>
            <a:avLst/>
            <a:gdLst/>
            <a:ahLst/>
            <a:cxnLst>
              <a:cxn ang="0">
                <a:pos x="0" y="0"/>
              </a:cxn>
              <a:cxn ang="0">
                <a:pos x="1032" y="142"/>
              </a:cxn>
              <a:cxn ang="0">
                <a:pos x="1032" y="456"/>
              </a:cxn>
              <a:cxn ang="0">
                <a:pos x="0" y="314"/>
              </a:cxn>
              <a:cxn ang="0">
                <a:pos x="0" y="0"/>
              </a:cxn>
            </a:cxnLst>
            <a:rect l="0" t="0" r="r" b="b"/>
            <a:pathLst>
              <a:path w="1033" h="457">
                <a:moveTo>
                  <a:pt x="0" y="0"/>
                </a:moveTo>
                <a:lnTo>
                  <a:pt x="1032" y="142"/>
                </a:lnTo>
                <a:lnTo>
                  <a:pt x="1032" y="456"/>
                </a:lnTo>
                <a:lnTo>
                  <a:pt x="0" y="314"/>
                </a:lnTo>
                <a:lnTo>
                  <a:pt x="0" y="0"/>
                </a:lnTo>
              </a:path>
            </a:pathLst>
          </a:custGeom>
          <a:solidFill>
            <a:srgbClr val="FFFF66"/>
          </a:solidFill>
          <a:ln w="12700" cap="rnd" cmpd="sng">
            <a:noFill/>
            <a:prstDash val="solid"/>
            <a:round/>
            <a:headEnd type="none" w="med" len="med"/>
            <a:tailEnd type="none" w="med" len="med"/>
          </a:ln>
          <a:effectLst/>
        </p:spPr>
        <p:txBody>
          <a:bodyPr/>
          <a:lstStyle/>
          <a:p>
            <a:endParaRPr lang="zh-CN" altLang="en-US"/>
          </a:p>
        </p:txBody>
      </p:sp>
      <p:sp>
        <p:nvSpPr>
          <p:cNvPr id="226330" name="AutoShape 26"/>
          <p:cNvSpPr>
            <a:spLocks noChangeArrowheads="1"/>
          </p:cNvSpPr>
          <p:nvPr/>
        </p:nvSpPr>
        <p:spPr bwMode="auto">
          <a:xfrm rot="480000">
            <a:off x="2382838" y="5389563"/>
            <a:ext cx="496887" cy="158750"/>
          </a:xfrm>
          <a:prstGeom prst="rightArrow">
            <a:avLst>
              <a:gd name="adj1" fmla="val 50000"/>
              <a:gd name="adj2" fmla="val 156514"/>
            </a:avLst>
          </a:prstGeom>
          <a:solidFill>
            <a:schemeClr val="bg1"/>
          </a:solidFill>
          <a:ln w="12700">
            <a:solidFill>
              <a:schemeClr val="tx1"/>
            </a:solidFill>
            <a:miter lim="800000"/>
            <a:headEnd/>
            <a:tailEnd/>
          </a:ln>
          <a:effectLst/>
        </p:spPr>
        <p:txBody>
          <a:bodyPr wrap="none" anchor="ctr"/>
          <a:lstStyle/>
          <a:p>
            <a:endParaRPr lang="zh-CN" altLang="en-US"/>
          </a:p>
        </p:txBody>
      </p:sp>
      <p:sp>
        <p:nvSpPr>
          <p:cNvPr id="226331" name="Rectangle 27"/>
          <p:cNvSpPr>
            <a:spLocks noChangeArrowheads="1"/>
          </p:cNvSpPr>
          <p:nvPr/>
        </p:nvSpPr>
        <p:spPr bwMode="auto">
          <a:xfrm rot="540000">
            <a:off x="1365250" y="5156200"/>
            <a:ext cx="860425"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DATA</a:t>
            </a:r>
          </a:p>
        </p:txBody>
      </p:sp>
      <p:sp>
        <p:nvSpPr>
          <p:cNvPr id="226332" name="Line 28"/>
          <p:cNvSpPr>
            <a:spLocks noChangeShapeType="1"/>
          </p:cNvSpPr>
          <p:nvPr/>
        </p:nvSpPr>
        <p:spPr bwMode="auto">
          <a:xfrm>
            <a:off x="3097213" y="3844925"/>
            <a:ext cx="390525" cy="0"/>
          </a:xfrm>
          <a:prstGeom prst="line">
            <a:avLst/>
          </a:prstGeom>
          <a:noFill/>
          <a:ln w="28575">
            <a:solidFill>
              <a:srgbClr val="333399"/>
            </a:solidFill>
            <a:round/>
            <a:headEnd/>
            <a:tailEnd type="triangle" w="sm" len="lg"/>
          </a:ln>
          <a:effectLst/>
        </p:spPr>
        <p:txBody>
          <a:bodyPr wrap="none" anchor="ctr"/>
          <a:lstStyle/>
          <a:p>
            <a:endParaRPr lang="zh-CN" altLang="en-US"/>
          </a:p>
        </p:txBody>
      </p:sp>
      <p:sp>
        <p:nvSpPr>
          <p:cNvPr id="226333" name="Rectangle 29"/>
          <p:cNvSpPr>
            <a:spLocks noChangeArrowheads="1"/>
          </p:cNvSpPr>
          <p:nvPr/>
        </p:nvSpPr>
        <p:spPr bwMode="auto">
          <a:xfrm>
            <a:off x="3444875" y="3700463"/>
            <a:ext cx="1182688"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zh-CN" altLang="en-US" sz="2000">
                <a:solidFill>
                  <a:srgbClr val="333399"/>
                </a:solidFill>
                <a:ea typeface="黑体" pitchFamily="2" charset="-122"/>
              </a:rPr>
              <a:t>送主机 </a:t>
            </a:r>
            <a:r>
              <a:rPr kumimoji="1" lang="en-US" altLang="zh-CN" sz="2000">
                <a:solidFill>
                  <a:srgbClr val="333399"/>
                </a:solidFill>
                <a:ea typeface="黑体" pitchFamily="2" charset="-122"/>
              </a:rPr>
              <a:t>B</a:t>
            </a:r>
          </a:p>
        </p:txBody>
      </p:sp>
      <p:sp>
        <p:nvSpPr>
          <p:cNvPr id="226334" name="Line 30"/>
          <p:cNvSpPr>
            <a:spLocks noChangeShapeType="1"/>
          </p:cNvSpPr>
          <p:nvPr/>
        </p:nvSpPr>
        <p:spPr bwMode="auto">
          <a:xfrm>
            <a:off x="3106738" y="4527550"/>
            <a:ext cx="390525" cy="0"/>
          </a:xfrm>
          <a:prstGeom prst="line">
            <a:avLst/>
          </a:prstGeom>
          <a:noFill/>
          <a:ln w="28575">
            <a:solidFill>
              <a:srgbClr val="333399"/>
            </a:solidFill>
            <a:round/>
            <a:headEnd/>
            <a:tailEnd type="triangle" w="sm" len="lg"/>
          </a:ln>
          <a:effectLst/>
        </p:spPr>
        <p:txBody>
          <a:bodyPr wrap="none" anchor="ctr"/>
          <a:lstStyle/>
          <a:p>
            <a:endParaRPr lang="zh-CN" altLang="en-US"/>
          </a:p>
        </p:txBody>
      </p:sp>
      <p:sp>
        <p:nvSpPr>
          <p:cNvPr id="226335" name="Rectangle 31"/>
          <p:cNvSpPr>
            <a:spLocks noChangeArrowheads="1"/>
          </p:cNvSpPr>
          <p:nvPr/>
        </p:nvSpPr>
        <p:spPr bwMode="auto">
          <a:xfrm>
            <a:off x="3457575" y="4383088"/>
            <a:ext cx="1182688"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zh-CN" altLang="en-US" sz="2000">
                <a:solidFill>
                  <a:srgbClr val="333399"/>
                </a:solidFill>
                <a:ea typeface="黑体" pitchFamily="2" charset="-122"/>
              </a:rPr>
              <a:t>送主机 </a:t>
            </a:r>
            <a:r>
              <a:rPr kumimoji="1" lang="en-US" altLang="zh-CN" sz="2000">
                <a:solidFill>
                  <a:srgbClr val="333399"/>
                </a:solidFill>
                <a:ea typeface="黑体" pitchFamily="2" charset="-122"/>
              </a:rPr>
              <a:t>B</a:t>
            </a:r>
          </a:p>
        </p:txBody>
      </p:sp>
      <p:sp>
        <p:nvSpPr>
          <p:cNvPr id="226336" name="Line 32"/>
          <p:cNvSpPr>
            <a:spLocks noChangeShapeType="1"/>
          </p:cNvSpPr>
          <p:nvPr/>
        </p:nvSpPr>
        <p:spPr bwMode="auto">
          <a:xfrm>
            <a:off x="3106738" y="5194300"/>
            <a:ext cx="390525" cy="0"/>
          </a:xfrm>
          <a:prstGeom prst="line">
            <a:avLst/>
          </a:prstGeom>
          <a:noFill/>
          <a:ln w="28575">
            <a:solidFill>
              <a:srgbClr val="333399"/>
            </a:solidFill>
            <a:round/>
            <a:headEnd/>
            <a:tailEnd type="triangle" w="sm" len="lg"/>
          </a:ln>
          <a:effectLst/>
        </p:spPr>
        <p:txBody>
          <a:bodyPr wrap="none" anchor="ctr"/>
          <a:lstStyle/>
          <a:p>
            <a:endParaRPr lang="zh-CN" altLang="en-US"/>
          </a:p>
        </p:txBody>
      </p:sp>
      <p:sp>
        <p:nvSpPr>
          <p:cNvPr id="226337" name="Rectangle 33"/>
          <p:cNvSpPr>
            <a:spLocks noChangeArrowheads="1"/>
          </p:cNvSpPr>
          <p:nvPr/>
        </p:nvSpPr>
        <p:spPr bwMode="auto">
          <a:xfrm>
            <a:off x="3457575" y="5051425"/>
            <a:ext cx="1182688"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zh-CN" altLang="en-US" sz="2000">
                <a:solidFill>
                  <a:srgbClr val="333399"/>
                </a:solidFill>
                <a:ea typeface="黑体" pitchFamily="2" charset="-122"/>
              </a:rPr>
              <a:t>送主机 </a:t>
            </a:r>
            <a:r>
              <a:rPr kumimoji="1" lang="en-US" altLang="zh-CN" sz="2000">
                <a:solidFill>
                  <a:srgbClr val="333399"/>
                </a:solidFill>
                <a:ea typeface="黑体" pitchFamily="2" charset="-122"/>
              </a:rPr>
              <a:t>B</a:t>
            </a:r>
          </a:p>
        </p:txBody>
      </p:sp>
      <p:sp>
        <p:nvSpPr>
          <p:cNvPr id="226338" name="Line 34"/>
          <p:cNvSpPr>
            <a:spLocks noChangeShapeType="1"/>
          </p:cNvSpPr>
          <p:nvPr/>
        </p:nvSpPr>
        <p:spPr bwMode="auto">
          <a:xfrm>
            <a:off x="3106738" y="5859463"/>
            <a:ext cx="390525" cy="0"/>
          </a:xfrm>
          <a:prstGeom prst="line">
            <a:avLst/>
          </a:prstGeom>
          <a:noFill/>
          <a:ln w="28575">
            <a:solidFill>
              <a:srgbClr val="333399"/>
            </a:solidFill>
            <a:round/>
            <a:headEnd/>
            <a:tailEnd type="triangle" w="sm" len="lg"/>
          </a:ln>
          <a:effectLst/>
        </p:spPr>
        <p:txBody>
          <a:bodyPr wrap="none" anchor="ctr"/>
          <a:lstStyle/>
          <a:p>
            <a:endParaRPr lang="zh-CN" altLang="en-US"/>
          </a:p>
        </p:txBody>
      </p:sp>
      <p:sp>
        <p:nvSpPr>
          <p:cNvPr id="226339" name="Rectangle 35"/>
          <p:cNvSpPr>
            <a:spLocks noChangeArrowheads="1"/>
          </p:cNvSpPr>
          <p:nvPr/>
        </p:nvSpPr>
        <p:spPr bwMode="auto">
          <a:xfrm>
            <a:off x="3457575" y="5715000"/>
            <a:ext cx="1182688"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zh-CN" altLang="en-US" sz="2000">
                <a:solidFill>
                  <a:srgbClr val="333399"/>
                </a:solidFill>
                <a:ea typeface="黑体" pitchFamily="2" charset="-122"/>
              </a:rPr>
              <a:t>送主机 </a:t>
            </a:r>
            <a:r>
              <a:rPr kumimoji="1" lang="en-US" altLang="zh-CN" sz="2000">
                <a:solidFill>
                  <a:srgbClr val="333399"/>
                </a:solidFill>
                <a:ea typeface="黑体" pitchFamily="2" charset="-122"/>
              </a:rPr>
              <a:t>B</a:t>
            </a:r>
          </a:p>
        </p:txBody>
      </p:sp>
      <p:sp>
        <p:nvSpPr>
          <p:cNvPr id="226340" name="Line 36"/>
          <p:cNvSpPr>
            <a:spLocks noChangeShapeType="1"/>
          </p:cNvSpPr>
          <p:nvPr/>
        </p:nvSpPr>
        <p:spPr bwMode="auto">
          <a:xfrm>
            <a:off x="7397750" y="2909888"/>
            <a:ext cx="0" cy="3179762"/>
          </a:xfrm>
          <a:prstGeom prst="line">
            <a:avLst/>
          </a:prstGeom>
          <a:noFill/>
          <a:ln w="12700">
            <a:solidFill>
              <a:schemeClr val="tx1"/>
            </a:solidFill>
            <a:round/>
            <a:headEnd/>
            <a:tailEnd/>
          </a:ln>
          <a:effectLst/>
        </p:spPr>
        <p:txBody>
          <a:bodyPr wrap="none" anchor="ctr"/>
          <a:lstStyle/>
          <a:p>
            <a:endParaRPr lang="zh-CN" altLang="en-US"/>
          </a:p>
        </p:txBody>
      </p:sp>
      <p:sp>
        <p:nvSpPr>
          <p:cNvPr id="226341" name="Rectangle 37"/>
          <p:cNvSpPr>
            <a:spLocks noChangeArrowheads="1"/>
          </p:cNvSpPr>
          <p:nvPr/>
        </p:nvSpPr>
        <p:spPr bwMode="auto">
          <a:xfrm>
            <a:off x="5346700" y="2598738"/>
            <a:ext cx="350838"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A</a:t>
            </a:r>
          </a:p>
        </p:txBody>
      </p:sp>
      <p:sp>
        <p:nvSpPr>
          <p:cNvPr id="226342" name="Rectangle 38"/>
          <p:cNvSpPr>
            <a:spLocks noChangeArrowheads="1"/>
          </p:cNvSpPr>
          <p:nvPr/>
        </p:nvSpPr>
        <p:spPr bwMode="auto">
          <a:xfrm>
            <a:off x="7210425" y="2598738"/>
            <a:ext cx="350838"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B</a:t>
            </a:r>
          </a:p>
        </p:txBody>
      </p:sp>
      <p:sp>
        <p:nvSpPr>
          <p:cNvPr id="226343" name="Line 39"/>
          <p:cNvSpPr>
            <a:spLocks noChangeShapeType="1"/>
          </p:cNvSpPr>
          <p:nvPr/>
        </p:nvSpPr>
        <p:spPr bwMode="auto">
          <a:xfrm>
            <a:off x="5529263" y="3043238"/>
            <a:ext cx="1860550" cy="214312"/>
          </a:xfrm>
          <a:prstGeom prst="line">
            <a:avLst/>
          </a:prstGeom>
          <a:noFill/>
          <a:ln w="12700">
            <a:solidFill>
              <a:schemeClr val="tx1"/>
            </a:solidFill>
            <a:round/>
            <a:headEnd/>
            <a:tailEnd/>
          </a:ln>
          <a:effectLst/>
        </p:spPr>
        <p:txBody>
          <a:bodyPr wrap="none" anchor="ctr"/>
          <a:lstStyle/>
          <a:p>
            <a:endParaRPr lang="zh-CN" altLang="en-US"/>
          </a:p>
        </p:txBody>
      </p:sp>
      <p:sp>
        <p:nvSpPr>
          <p:cNvPr id="226344" name="Line 40"/>
          <p:cNvSpPr>
            <a:spLocks noChangeShapeType="1"/>
          </p:cNvSpPr>
          <p:nvPr/>
        </p:nvSpPr>
        <p:spPr bwMode="auto">
          <a:xfrm>
            <a:off x="5529263" y="3603625"/>
            <a:ext cx="1860550" cy="215900"/>
          </a:xfrm>
          <a:prstGeom prst="line">
            <a:avLst/>
          </a:prstGeom>
          <a:noFill/>
          <a:ln w="12700">
            <a:solidFill>
              <a:schemeClr val="tx1"/>
            </a:solidFill>
            <a:round/>
            <a:headEnd/>
            <a:tailEnd/>
          </a:ln>
          <a:effectLst/>
        </p:spPr>
        <p:txBody>
          <a:bodyPr wrap="none" anchor="ctr"/>
          <a:lstStyle/>
          <a:p>
            <a:endParaRPr lang="zh-CN" altLang="en-US"/>
          </a:p>
        </p:txBody>
      </p:sp>
      <p:sp>
        <p:nvSpPr>
          <p:cNvPr id="226345" name="AutoShape 41"/>
          <p:cNvSpPr>
            <a:spLocks noChangeArrowheads="1"/>
          </p:cNvSpPr>
          <p:nvPr/>
        </p:nvSpPr>
        <p:spPr bwMode="auto">
          <a:xfrm rot="480000">
            <a:off x="6689725" y="3414713"/>
            <a:ext cx="498475" cy="157162"/>
          </a:xfrm>
          <a:prstGeom prst="rightArrow">
            <a:avLst>
              <a:gd name="adj1" fmla="val 50000"/>
              <a:gd name="adj2" fmla="val 158601"/>
            </a:avLst>
          </a:prstGeom>
          <a:solidFill>
            <a:schemeClr val="bg1"/>
          </a:solidFill>
          <a:ln w="12700">
            <a:solidFill>
              <a:schemeClr val="tx1"/>
            </a:solidFill>
            <a:miter lim="800000"/>
            <a:headEnd/>
            <a:tailEnd/>
          </a:ln>
          <a:effectLst/>
        </p:spPr>
        <p:txBody>
          <a:bodyPr wrap="none" anchor="ctr"/>
          <a:lstStyle/>
          <a:p>
            <a:endParaRPr lang="zh-CN" altLang="en-US"/>
          </a:p>
        </p:txBody>
      </p:sp>
      <p:sp>
        <p:nvSpPr>
          <p:cNvPr id="226346" name="Rectangle 42"/>
          <p:cNvSpPr>
            <a:spLocks noChangeArrowheads="1"/>
          </p:cNvSpPr>
          <p:nvPr/>
        </p:nvSpPr>
        <p:spPr bwMode="auto">
          <a:xfrm rot="540000">
            <a:off x="5676900" y="3179763"/>
            <a:ext cx="860425"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DATA</a:t>
            </a:r>
          </a:p>
        </p:txBody>
      </p:sp>
      <p:sp>
        <p:nvSpPr>
          <p:cNvPr id="226347" name="Line 43"/>
          <p:cNvSpPr>
            <a:spLocks noChangeShapeType="1"/>
          </p:cNvSpPr>
          <p:nvPr/>
        </p:nvSpPr>
        <p:spPr bwMode="auto">
          <a:xfrm>
            <a:off x="7404100" y="3883025"/>
            <a:ext cx="390525" cy="0"/>
          </a:xfrm>
          <a:prstGeom prst="line">
            <a:avLst/>
          </a:prstGeom>
          <a:noFill/>
          <a:ln w="28575">
            <a:solidFill>
              <a:srgbClr val="333399"/>
            </a:solidFill>
            <a:round/>
            <a:headEnd/>
            <a:tailEnd type="triangle" w="sm" len="lg"/>
          </a:ln>
          <a:effectLst/>
        </p:spPr>
        <p:txBody>
          <a:bodyPr wrap="none" anchor="ctr"/>
          <a:lstStyle/>
          <a:p>
            <a:endParaRPr lang="zh-CN" altLang="en-US"/>
          </a:p>
        </p:txBody>
      </p:sp>
      <p:sp>
        <p:nvSpPr>
          <p:cNvPr id="226348" name="Rectangle 44"/>
          <p:cNvSpPr>
            <a:spLocks noChangeArrowheads="1"/>
          </p:cNvSpPr>
          <p:nvPr/>
        </p:nvSpPr>
        <p:spPr bwMode="auto">
          <a:xfrm>
            <a:off x="7754938" y="3716338"/>
            <a:ext cx="1182687"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zh-CN" altLang="en-US" sz="2000">
                <a:solidFill>
                  <a:srgbClr val="333399"/>
                </a:solidFill>
                <a:ea typeface="黑体" pitchFamily="2" charset="-122"/>
              </a:rPr>
              <a:t>送主机 </a:t>
            </a:r>
            <a:r>
              <a:rPr kumimoji="1" lang="en-US" altLang="zh-CN" sz="2000">
                <a:solidFill>
                  <a:srgbClr val="333399"/>
                </a:solidFill>
                <a:ea typeface="黑体" pitchFamily="2" charset="-122"/>
              </a:rPr>
              <a:t>B</a:t>
            </a:r>
          </a:p>
        </p:txBody>
      </p:sp>
      <p:sp>
        <p:nvSpPr>
          <p:cNvPr id="226349" name="Line 45"/>
          <p:cNvSpPr>
            <a:spLocks noChangeShapeType="1"/>
          </p:cNvSpPr>
          <p:nvPr/>
        </p:nvSpPr>
        <p:spPr bwMode="auto">
          <a:xfrm flipH="1">
            <a:off x="5513388" y="3937000"/>
            <a:ext cx="1890712" cy="215900"/>
          </a:xfrm>
          <a:prstGeom prst="line">
            <a:avLst/>
          </a:prstGeom>
          <a:noFill/>
          <a:ln w="28575">
            <a:solidFill>
              <a:srgbClr val="333399"/>
            </a:solidFill>
            <a:round/>
            <a:headEnd/>
            <a:tailEnd type="triangle" w="sm" len="lg"/>
          </a:ln>
          <a:effectLst/>
        </p:spPr>
        <p:txBody>
          <a:bodyPr wrap="none" anchor="ctr"/>
          <a:lstStyle/>
          <a:p>
            <a:endParaRPr lang="zh-CN" altLang="en-US"/>
          </a:p>
        </p:txBody>
      </p:sp>
      <p:sp>
        <p:nvSpPr>
          <p:cNvPr id="226350" name="Line 46"/>
          <p:cNvSpPr>
            <a:spLocks noChangeShapeType="1"/>
          </p:cNvSpPr>
          <p:nvPr/>
        </p:nvSpPr>
        <p:spPr bwMode="auto">
          <a:xfrm>
            <a:off x="5529263" y="4265613"/>
            <a:ext cx="1860550" cy="212725"/>
          </a:xfrm>
          <a:prstGeom prst="line">
            <a:avLst/>
          </a:prstGeom>
          <a:noFill/>
          <a:ln w="12700">
            <a:solidFill>
              <a:schemeClr val="tx1"/>
            </a:solidFill>
            <a:round/>
            <a:headEnd/>
            <a:tailEnd/>
          </a:ln>
          <a:effectLst/>
        </p:spPr>
        <p:txBody>
          <a:bodyPr wrap="none" anchor="ctr"/>
          <a:lstStyle/>
          <a:p>
            <a:endParaRPr lang="zh-CN" altLang="en-US"/>
          </a:p>
        </p:txBody>
      </p:sp>
      <p:sp>
        <p:nvSpPr>
          <p:cNvPr id="226351" name="Line 47"/>
          <p:cNvSpPr>
            <a:spLocks noChangeShapeType="1"/>
          </p:cNvSpPr>
          <p:nvPr/>
        </p:nvSpPr>
        <p:spPr bwMode="auto">
          <a:xfrm>
            <a:off x="5529263" y="4805363"/>
            <a:ext cx="1860550" cy="215900"/>
          </a:xfrm>
          <a:prstGeom prst="line">
            <a:avLst/>
          </a:prstGeom>
          <a:noFill/>
          <a:ln w="12700">
            <a:solidFill>
              <a:schemeClr val="tx1"/>
            </a:solidFill>
            <a:round/>
            <a:headEnd/>
            <a:tailEnd/>
          </a:ln>
          <a:effectLst/>
        </p:spPr>
        <p:txBody>
          <a:bodyPr wrap="none" anchor="ctr"/>
          <a:lstStyle/>
          <a:p>
            <a:endParaRPr lang="zh-CN" altLang="en-US"/>
          </a:p>
        </p:txBody>
      </p:sp>
      <p:sp>
        <p:nvSpPr>
          <p:cNvPr id="226352" name="Freeform 48"/>
          <p:cNvSpPr>
            <a:spLocks/>
          </p:cNvSpPr>
          <p:nvPr/>
        </p:nvSpPr>
        <p:spPr bwMode="auto">
          <a:xfrm>
            <a:off x="5541963" y="4271963"/>
            <a:ext cx="1835150" cy="733425"/>
          </a:xfrm>
          <a:custGeom>
            <a:avLst/>
            <a:gdLst/>
            <a:ahLst/>
            <a:cxnLst>
              <a:cxn ang="0">
                <a:pos x="0" y="0"/>
              </a:cxn>
              <a:cxn ang="0">
                <a:pos x="1032" y="144"/>
              </a:cxn>
              <a:cxn ang="0">
                <a:pos x="1032" y="462"/>
              </a:cxn>
              <a:cxn ang="0">
                <a:pos x="0" y="318"/>
              </a:cxn>
              <a:cxn ang="0">
                <a:pos x="0" y="0"/>
              </a:cxn>
            </a:cxnLst>
            <a:rect l="0" t="0" r="r" b="b"/>
            <a:pathLst>
              <a:path w="1033" h="463">
                <a:moveTo>
                  <a:pt x="0" y="0"/>
                </a:moveTo>
                <a:lnTo>
                  <a:pt x="1032" y="144"/>
                </a:lnTo>
                <a:lnTo>
                  <a:pt x="1032" y="462"/>
                </a:lnTo>
                <a:lnTo>
                  <a:pt x="0" y="318"/>
                </a:lnTo>
                <a:lnTo>
                  <a:pt x="0" y="0"/>
                </a:lnTo>
              </a:path>
            </a:pathLst>
          </a:custGeom>
          <a:solidFill>
            <a:srgbClr val="FFFF66"/>
          </a:solidFill>
          <a:ln w="12700" cap="rnd" cmpd="sng">
            <a:noFill/>
            <a:prstDash val="solid"/>
            <a:round/>
            <a:headEnd type="none" w="med" len="med"/>
            <a:tailEnd type="none" w="med" len="med"/>
          </a:ln>
          <a:effectLst/>
        </p:spPr>
        <p:txBody>
          <a:bodyPr/>
          <a:lstStyle/>
          <a:p>
            <a:endParaRPr lang="zh-CN" altLang="en-US"/>
          </a:p>
        </p:txBody>
      </p:sp>
      <p:sp>
        <p:nvSpPr>
          <p:cNvPr id="226353" name="AutoShape 49"/>
          <p:cNvSpPr>
            <a:spLocks noChangeArrowheads="1"/>
          </p:cNvSpPr>
          <p:nvPr/>
        </p:nvSpPr>
        <p:spPr bwMode="auto">
          <a:xfrm rot="480000">
            <a:off x="6689725" y="4630738"/>
            <a:ext cx="498475" cy="157162"/>
          </a:xfrm>
          <a:prstGeom prst="rightArrow">
            <a:avLst>
              <a:gd name="adj1" fmla="val 50000"/>
              <a:gd name="adj2" fmla="val 158601"/>
            </a:avLst>
          </a:prstGeom>
          <a:solidFill>
            <a:schemeClr val="bg1"/>
          </a:solidFill>
          <a:ln w="12700">
            <a:solidFill>
              <a:schemeClr val="tx1"/>
            </a:solidFill>
            <a:miter lim="800000"/>
            <a:headEnd/>
            <a:tailEnd/>
          </a:ln>
          <a:effectLst/>
        </p:spPr>
        <p:txBody>
          <a:bodyPr wrap="none" anchor="ctr"/>
          <a:lstStyle/>
          <a:p>
            <a:endParaRPr lang="zh-CN" altLang="en-US"/>
          </a:p>
        </p:txBody>
      </p:sp>
      <p:sp>
        <p:nvSpPr>
          <p:cNvPr id="226354" name="Rectangle 50"/>
          <p:cNvSpPr>
            <a:spLocks noChangeArrowheads="1"/>
          </p:cNvSpPr>
          <p:nvPr/>
        </p:nvSpPr>
        <p:spPr bwMode="auto">
          <a:xfrm rot="540000">
            <a:off x="5675313" y="4397375"/>
            <a:ext cx="860425"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en-US" altLang="zh-CN" sz="2000">
                <a:solidFill>
                  <a:srgbClr val="333399"/>
                </a:solidFill>
                <a:ea typeface="黑体" pitchFamily="2" charset="-122"/>
              </a:rPr>
              <a:t>DATA</a:t>
            </a:r>
          </a:p>
        </p:txBody>
      </p:sp>
      <p:sp>
        <p:nvSpPr>
          <p:cNvPr id="226355" name="Line 51"/>
          <p:cNvSpPr>
            <a:spLocks noChangeShapeType="1"/>
          </p:cNvSpPr>
          <p:nvPr/>
        </p:nvSpPr>
        <p:spPr bwMode="auto">
          <a:xfrm>
            <a:off x="7404100" y="5099050"/>
            <a:ext cx="390525" cy="0"/>
          </a:xfrm>
          <a:prstGeom prst="line">
            <a:avLst/>
          </a:prstGeom>
          <a:noFill/>
          <a:ln w="28575">
            <a:solidFill>
              <a:srgbClr val="333399"/>
            </a:solidFill>
            <a:round/>
            <a:headEnd/>
            <a:tailEnd type="triangle" w="sm" len="lg"/>
          </a:ln>
          <a:effectLst/>
        </p:spPr>
        <p:txBody>
          <a:bodyPr wrap="none" anchor="ctr"/>
          <a:lstStyle/>
          <a:p>
            <a:endParaRPr lang="zh-CN" altLang="en-US"/>
          </a:p>
        </p:txBody>
      </p:sp>
      <p:sp>
        <p:nvSpPr>
          <p:cNvPr id="226356" name="Rectangle 52"/>
          <p:cNvSpPr>
            <a:spLocks noChangeArrowheads="1"/>
          </p:cNvSpPr>
          <p:nvPr/>
        </p:nvSpPr>
        <p:spPr bwMode="auto">
          <a:xfrm>
            <a:off x="7753350" y="4932363"/>
            <a:ext cx="1182688" cy="3937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zh-CN" altLang="en-US" sz="2000">
                <a:solidFill>
                  <a:srgbClr val="333399"/>
                </a:solidFill>
                <a:ea typeface="黑体" pitchFamily="2" charset="-122"/>
              </a:rPr>
              <a:t>送主机 </a:t>
            </a:r>
            <a:r>
              <a:rPr kumimoji="1" lang="en-US" altLang="zh-CN" sz="2000">
                <a:solidFill>
                  <a:srgbClr val="333399"/>
                </a:solidFill>
                <a:ea typeface="黑体" pitchFamily="2" charset="-122"/>
              </a:rPr>
              <a:t>B</a:t>
            </a:r>
          </a:p>
        </p:txBody>
      </p:sp>
      <p:sp>
        <p:nvSpPr>
          <p:cNvPr id="226357" name="Line 53"/>
          <p:cNvSpPr>
            <a:spLocks noChangeShapeType="1"/>
          </p:cNvSpPr>
          <p:nvPr/>
        </p:nvSpPr>
        <p:spPr bwMode="auto">
          <a:xfrm flipH="1">
            <a:off x="5513388" y="5153025"/>
            <a:ext cx="1890712" cy="215900"/>
          </a:xfrm>
          <a:prstGeom prst="line">
            <a:avLst/>
          </a:prstGeom>
          <a:noFill/>
          <a:ln w="28575">
            <a:solidFill>
              <a:srgbClr val="333399"/>
            </a:solidFill>
            <a:round/>
            <a:headEnd/>
            <a:tailEnd type="triangle" w="sm" len="lg"/>
          </a:ln>
          <a:effectLst/>
        </p:spPr>
        <p:txBody>
          <a:bodyPr wrap="none" anchor="ctr"/>
          <a:lstStyle/>
          <a:p>
            <a:endParaRPr lang="zh-CN" altLang="en-US"/>
          </a:p>
        </p:txBody>
      </p:sp>
      <p:sp>
        <p:nvSpPr>
          <p:cNvPr id="226358" name="Line 54"/>
          <p:cNvSpPr>
            <a:spLocks noChangeShapeType="1"/>
          </p:cNvSpPr>
          <p:nvPr/>
        </p:nvSpPr>
        <p:spPr bwMode="auto">
          <a:xfrm>
            <a:off x="787400" y="3100388"/>
            <a:ext cx="0" cy="2249487"/>
          </a:xfrm>
          <a:prstGeom prst="line">
            <a:avLst/>
          </a:prstGeom>
          <a:noFill/>
          <a:ln w="28575">
            <a:solidFill>
              <a:srgbClr val="333399"/>
            </a:solidFill>
            <a:round/>
            <a:headEnd/>
            <a:tailEnd type="triangle" w="sm" len="lg"/>
          </a:ln>
          <a:effectLst/>
        </p:spPr>
        <p:txBody>
          <a:bodyPr wrap="none" anchor="ctr"/>
          <a:lstStyle/>
          <a:p>
            <a:endParaRPr lang="zh-CN" altLang="en-US"/>
          </a:p>
        </p:txBody>
      </p:sp>
      <p:sp>
        <p:nvSpPr>
          <p:cNvPr id="226359" name="Rectangle 55"/>
          <p:cNvSpPr>
            <a:spLocks noChangeArrowheads="1"/>
          </p:cNvSpPr>
          <p:nvPr/>
        </p:nvSpPr>
        <p:spPr bwMode="auto">
          <a:xfrm>
            <a:off x="555625" y="5426075"/>
            <a:ext cx="434975" cy="698500"/>
          </a:xfrm>
          <a:prstGeom prst="rect">
            <a:avLst/>
          </a:prstGeom>
          <a:noFill/>
          <a:ln w="12700">
            <a:noFill/>
            <a:miter lim="800000"/>
            <a:headEnd/>
            <a:tailEnd/>
          </a:ln>
          <a:effectLst/>
        </p:spPr>
        <p:txBody>
          <a:bodyPr wrap="none" lIns="90488" tIns="44450" rIns="90488" bIns="44450">
            <a:spAutoFit/>
          </a:bodyPr>
          <a:lstStyle/>
          <a:p>
            <a:pPr defTabSz="762000" eaLnBrk="0" hangingPunct="0"/>
            <a:r>
              <a:rPr kumimoji="1" lang="zh-CN" altLang="en-US" sz="2000">
                <a:solidFill>
                  <a:srgbClr val="333399"/>
                </a:solidFill>
                <a:ea typeface="黑体" pitchFamily="2" charset="-122"/>
              </a:rPr>
              <a:t>时</a:t>
            </a:r>
          </a:p>
          <a:p>
            <a:pPr defTabSz="762000" eaLnBrk="0" hangingPunct="0"/>
            <a:r>
              <a:rPr kumimoji="1" lang="zh-CN" altLang="en-US" sz="2000">
                <a:solidFill>
                  <a:srgbClr val="333399"/>
                </a:solidFill>
                <a:ea typeface="黑体" pitchFamily="2" charset="-122"/>
              </a:rPr>
              <a:t>间</a:t>
            </a:r>
          </a:p>
        </p:txBody>
      </p:sp>
      <p:sp>
        <p:nvSpPr>
          <p:cNvPr id="226360" name="Line 56"/>
          <p:cNvSpPr>
            <a:spLocks noChangeShapeType="1"/>
          </p:cNvSpPr>
          <p:nvPr/>
        </p:nvSpPr>
        <p:spPr bwMode="auto">
          <a:xfrm>
            <a:off x="5519738" y="2909888"/>
            <a:ext cx="0" cy="3179762"/>
          </a:xfrm>
          <a:prstGeom prst="line">
            <a:avLst/>
          </a:prstGeom>
          <a:noFill/>
          <a:ln w="12700">
            <a:solidFill>
              <a:schemeClr val="tx1"/>
            </a:solidFill>
            <a:round/>
            <a:headEnd/>
            <a:tailEnd/>
          </a:ln>
          <a:effectLst/>
        </p:spPr>
        <p:txBody>
          <a:bodyPr wrap="none" anchor="ctr"/>
          <a:lstStyle/>
          <a:p>
            <a:endParaRPr lang="zh-CN" altLang="en-US"/>
          </a:p>
        </p:txBody>
      </p:sp>
      <p:sp>
        <p:nvSpPr>
          <p:cNvPr id="226361" name="Text Box 57"/>
          <p:cNvSpPr txBox="1">
            <a:spLocks noChangeArrowheads="1"/>
          </p:cNvSpPr>
          <p:nvPr/>
        </p:nvSpPr>
        <p:spPr bwMode="auto">
          <a:xfrm>
            <a:off x="827088" y="2046288"/>
            <a:ext cx="2673350" cy="519112"/>
          </a:xfrm>
          <a:prstGeom prst="rect">
            <a:avLst/>
          </a:prstGeom>
          <a:noFill/>
          <a:ln w="9525">
            <a:noFill/>
            <a:miter lim="800000"/>
            <a:headEnd/>
            <a:tailEnd/>
          </a:ln>
          <a:effectLst/>
        </p:spPr>
        <p:txBody>
          <a:bodyPr wrap="none">
            <a:spAutoFit/>
          </a:bodyPr>
          <a:lstStyle/>
          <a:p>
            <a:r>
              <a:rPr lang="zh-CN" altLang="en-US" sz="2800">
                <a:solidFill>
                  <a:srgbClr val="333399"/>
                </a:solidFill>
                <a:latin typeface="Tahoma" pitchFamily="34" charset="0"/>
                <a:ea typeface="黑体" pitchFamily="2" charset="-122"/>
              </a:rPr>
              <a:t>不需要流量控制</a:t>
            </a:r>
          </a:p>
        </p:txBody>
      </p:sp>
      <p:sp>
        <p:nvSpPr>
          <p:cNvPr id="226362" name="Text Box 58"/>
          <p:cNvSpPr txBox="1">
            <a:spLocks noChangeArrowheads="1"/>
          </p:cNvSpPr>
          <p:nvPr/>
        </p:nvSpPr>
        <p:spPr bwMode="auto">
          <a:xfrm>
            <a:off x="5260975" y="2028825"/>
            <a:ext cx="2317750" cy="519113"/>
          </a:xfrm>
          <a:prstGeom prst="rect">
            <a:avLst/>
          </a:prstGeom>
          <a:noFill/>
          <a:ln w="9525">
            <a:noFill/>
            <a:miter lim="800000"/>
            <a:headEnd/>
            <a:tailEnd/>
          </a:ln>
          <a:effectLst/>
        </p:spPr>
        <p:txBody>
          <a:bodyPr wrap="none">
            <a:spAutoFit/>
          </a:bodyPr>
          <a:lstStyle/>
          <a:p>
            <a:r>
              <a:rPr lang="zh-CN" altLang="en-US" sz="2800">
                <a:solidFill>
                  <a:srgbClr val="333399"/>
                </a:solidFill>
                <a:latin typeface="Tahoma" pitchFamily="34" charset="0"/>
                <a:ea typeface="黑体" pitchFamily="2" charset="-122"/>
              </a:rPr>
              <a:t>需要流量控制</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Rectangle 2"/>
          <p:cNvSpPr>
            <a:spLocks noGrp="1" noChangeArrowheads="1"/>
          </p:cNvSpPr>
          <p:nvPr>
            <p:ph type="title"/>
          </p:nvPr>
        </p:nvSpPr>
        <p:spPr/>
        <p:txBody>
          <a:bodyPr/>
          <a:lstStyle/>
          <a:p>
            <a:r>
              <a:rPr lang="zh-CN" altLang="en-US"/>
              <a:t>图示流量控制</a:t>
            </a:r>
          </a:p>
        </p:txBody>
      </p:sp>
      <p:sp>
        <p:nvSpPr>
          <p:cNvPr id="640003" name="Rectangle 3"/>
          <p:cNvSpPr>
            <a:spLocks noGrp="1" noChangeArrowheads="1"/>
          </p:cNvSpPr>
          <p:nvPr>
            <p:ph type="body" idx="1"/>
          </p:nvPr>
        </p:nvSpPr>
        <p:spPr>
          <a:xfrm>
            <a:off x="899592" y="5661025"/>
            <a:ext cx="8015808" cy="503238"/>
          </a:xfrm>
        </p:spPr>
        <p:txBody>
          <a:bodyPr/>
          <a:lstStyle/>
          <a:p>
            <a:pPr algn="ctr">
              <a:lnSpc>
                <a:spcPct val="90000"/>
              </a:lnSpc>
              <a:buFont typeface="Wingdings" pitchFamily="2" charset="2"/>
              <a:buNone/>
            </a:pPr>
            <a:r>
              <a:rPr lang="zh-CN" altLang="en-US" sz="2800" dirty="0"/>
              <a:t>具有最简单</a:t>
            </a:r>
            <a:r>
              <a:rPr lang="zh-CN" altLang="en-US" sz="2800" dirty="0" smtClean="0"/>
              <a:t>流量控制（</a:t>
            </a:r>
            <a:r>
              <a:rPr lang="zh-CN" altLang="en-US" sz="2800" dirty="0" smtClean="0">
                <a:solidFill>
                  <a:srgbClr val="FF0000"/>
                </a:solidFill>
              </a:rPr>
              <a:t>停</a:t>
            </a:r>
            <a:r>
              <a:rPr lang="en-US" altLang="zh-CN" sz="2800" dirty="0" smtClean="0">
                <a:solidFill>
                  <a:srgbClr val="FF0000"/>
                </a:solidFill>
              </a:rPr>
              <a:t>-</a:t>
            </a:r>
            <a:r>
              <a:rPr lang="zh-CN" altLang="en-US" sz="2800" dirty="0" smtClean="0">
                <a:solidFill>
                  <a:srgbClr val="FF0000"/>
                </a:solidFill>
              </a:rPr>
              <a:t>等式协议</a:t>
            </a:r>
            <a:r>
              <a:rPr lang="zh-CN" altLang="en-US" sz="2800" dirty="0" smtClean="0"/>
              <a:t>）的</a:t>
            </a:r>
            <a:r>
              <a:rPr lang="zh-CN" altLang="en-US" sz="2800" dirty="0"/>
              <a:t>数据传输</a:t>
            </a:r>
          </a:p>
        </p:txBody>
      </p:sp>
      <p:sp>
        <p:nvSpPr>
          <p:cNvPr id="6400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40006" name="Line 6"/>
          <p:cNvSpPr>
            <a:spLocks noChangeShapeType="1"/>
          </p:cNvSpPr>
          <p:nvPr/>
        </p:nvSpPr>
        <p:spPr bwMode="auto">
          <a:xfrm>
            <a:off x="5132388" y="2222500"/>
            <a:ext cx="0" cy="3179763"/>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07" name="Rectangle 7"/>
          <p:cNvSpPr>
            <a:spLocks noChangeArrowheads="1"/>
          </p:cNvSpPr>
          <p:nvPr/>
        </p:nvSpPr>
        <p:spPr bwMode="auto">
          <a:xfrm>
            <a:off x="3109913" y="1790700"/>
            <a:ext cx="405561"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A</a:t>
            </a:r>
          </a:p>
        </p:txBody>
      </p:sp>
      <p:sp>
        <p:nvSpPr>
          <p:cNvPr id="640008" name="Rectangle 8"/>
          <p:cNvSpPr>
            <a:spLocks noChangeArrowheads="1"/>
          </p:cNvSpPr>
          <p:nvPr/>
        </p:nvSpPr>
        <p:spPr bwMode="auto">
          <a:xfrm>
            <a:off x="4981575" y="1790700"/>
            <a:ext cx="405561"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B</a:t>
            </a:r>
          </a:p>
        </p:txBody>
      </p:sp>
      <p:grpSp>
        <p:nvGrpSpPr>
          <p:cNvPr id="640027" name="Group 27"/>
          <p:cNvGrpSpPr>
            <a:grpSpLocks/>
          </p:cNvGrpSpPr>
          <p:nvPr/>
        </p:nvGrpSpPr>
        <p:grpSpPr bwMode="auto">
          <a:xfrm>
            <a:off x="3263900" y="2349500"/>
            <a:ext cx="1860550" cy="782638"/>
            <a:chOff x="2056" y="1480"/>
            <a:chExt cx="1172" cy="493"/>
          </a:xfrm>
        </p:grpSpPr>
        <p:sp>
          <p:nvSpPr>
            <p:cNvPr id="640005" name="Freeform 5"/>
            <p:cNvSpPr>
              <a:spLocks/>
            </p:cNvSpPr>
            <p:nvPr/>
          </p:nvSpPr>
          <p:spPr bwMode="auto">
            <a:xfrm>
              <a:off x="2064" y="1480"/>
              <a:ext cx="1156" cy="492"/>
            </a:xfrm>
            <a:custGeom>
              <a:avLst/>
              <a:gdLst>
                <a:gd name="T0" fmla="*/ 0 w 1033"/>
                <a:gd name="T1" fmla="*/ 0 h 463"/>
                <a:gd name="T2" fmla="*/ 1032 w 1033"/>
                <a:gd name="T3" fmla="*/ 144 h 463"/>
                <a:gd name="T4" fmla="*/ 1032 w 1033"/>
                <a:gd name="T5" fmla="*/ 462 h 463"/>
                <a:gd name="T6" fmla="*/ 0 w 1033"/>
                <a:gd name="T7" fmla="*/ 318 h 463"/>
                <a:gd name="T8" fmla="*/ 0 w 1033"/>
                <a:gd name="T9" fmla="*/ 0 h 463"/>
              </a:gdLst>
              <a:ahLst/>
              <a:cxnLst>
                <a:cxn ang="0">
                  <a:pos x="T0" y="T1"/>
                </a:cxn>
                <a:cxn ang="0">
                  <a:pos x="T2" y="T3"/>
                </a:cxn>
                <a:cxn ang="0">
                  <a:pos x="T4" y="T5"/>
                </a:cxn>
                <a:cxn ang="0">
                  <a:pos x="T6" y="T7"/>
                </a:cxn>
                <a:cxn ang="0">
                  <a:pos x="T8" y="T9"/>
                </a:cxn>
              </a:cxnLst>
              <a:rect l="0" t="0" r="r" b="b"/>
              <a:pathLst>
                <a:path w="1033" h="463">
                  <a:moveTo>
                    <a:pt x="0" y="0"/>
                  </a:moveTo>
                  <a:lnTo>
                    <a:pt x="1032" y="144"/>
                  </a:lnTo>
                  <a:lnTo>
                    <a:pt x="1032" y="462"/>
                  </a:lnTo>
                  <a:lnTo>
                    <a:pt x="0" y="318"/>
                  </a:lnTo>
                  <a:lnTo>
                    <a:pt x="0" y="0"/>
                  </a:lnTo>
                </a:path>
              </a:pathLst>
            </a:custGeom>
            <a:solidFill>
              <a:srgbClr val="FFFF66"/>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0009" name="Line 9"/>
            <p:cNvSpPr>
              <a:spLocks noChangeShapeType="1"/>
            </p:cNvSpPr>
            <p:nvPr/>
          </p:nvSpPr>
          <p:spPr bwMode="auto">
            <a:xfrm>
              <a:off x="2056" y="1484"/>
              <a:ext cx="1172" cy="13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10" name="Line 10"/>
            <p:cNvSpPr>
              <a:spLocks noChangeShapeType="1"/>
            </p:cNvSpPr>
            <p:nvPr/>
          </p:nvSpPr>
          <p:spPr bwMode="auto">
            <a:xfrm>
              <a:off x="2056" y="1837"/>
              <a:ext cx="1172" cy="13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11" name="AutoShape 11"/>
            <p:cNvSpPr>
              <a:spLocks noChangeArrowheads="1"/>
            </p:cNvSpPr>
            <p:nvPr/>
          </p:nvSpPr>
          <p:spPr bwMode="auto">
            <a:xfrm rot="480000">
              <a:off x="2787" y="1718"/>
              <a:ext cx="314" cy="99"/>
            </a:xfrm>
            <a:prstGeom prst="rightArrow">
              <a:avLst>
                <a:gd name="adj1" fmla="val 50000"/>
                <a:gd name="adj2" fmla="val 158601"/>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12" name="Rectangle 12"/>
            <p:cNvSpPr>
              <a:spLocks noChangeArrowheads="1"/>
            </p:cNvSpPr>
            <p:nvPr/>
          </p:nvSpPr>
          <p:spPr bwMode="auto">
            <a:xfrm rot="540000">
              <a:off x="2156" y="1574"/>
              <a:ext cx="626" cy="289"/>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solidFill>
                    <a:srgbClr val="FC0404"/>
                  </a:solidFill>
                  <a:latin typeface="+mn-lt"/>
                  <a:ea typeface="+mn-ea"/>
                </a:rPr>
                <a:t>DATA</a:t>
              </a:r>
            </a:p>
          </p:txBody>
        </p:sp>
      </p:grpSp>
      <p:grpSp>
        <p:nvGrpSpPr>
          <p:cNvPr id="640028" name="Group 28"/>
          <p:cNvGrpSpPr>
            <a:grpSpLocks/>
          </p:cNvGrpSpPr>
          <p:nvPr/>
        </p:nvGrpSpPr>
        <p:grpSpPr bwMode="auto">
          <a:xfrm>
            <a:off x="5138740" y="2943228"/>
            <a:ext cx="1762126" cy="458788"/>
            <a:chOff x="3237" y="1854"/>
            <a:chExt cx="1110" cy="289"/>
          </a:xfrm>
        </p:grpSpPr>
        <p:sp>
          <p:nvSpPr>
            <p:cNvPr id="640013" name="Line 13"/>
            <p:cNvSpPr>
              <a:spLocks noChangeShapeType="1"/>
            </p:cNvSpPr>
            <p:nvPr/>
          </p:nvSpPr>
          <p:spPr bwMode="auto">
            <a:xfrm>
              <a:off x="3237" y="2013"/>
              <a:ext cx="246" cy="0"/>
            </a:xfrm>
            <a:prstGeom prst="line">
              <a:avLst/>
            </a:prstGeom>
            <a:noFill/>
            <a:ln w="28575">
              <a:solidFill>
                <a:srgbClr val="0000FF"/>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14" name="Rectangle 14"/>
            <p:cNvSpPr>
              <a:spLocks noChangeArrowheads="1"/>
            </p:cNvSpPr>
            <p:nvPr/>
          </p:nvSpPr>
          <p:spPr bwMode="auto">
            <a:xfrm>
              <a:off x="3456" y="1854"/>
              <a:ext cx="891" cy="28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送主机 </a:t>
              </a:r>
              <a:r>
                <a:rPr lang="en-US" altLang="zh-CN" b="1">
                  <a:latin typeface="+mn-lt"/>
                  <a:ea typeface="+mn-ea"/>
                </a:rPr>
                <a:t>B</a:t>
              </a:r>
            </a:p>
          </p:txBody>
        </p:sp>
      </p:grpSp>
      <p:sp>
        <p:nvSpPr>
          <p:cNvPr id="640015" name="Line 15"/>
          <p:cNvSpPr>
            <a:spLocks noChangeShapeType="1"/>
          </p:cNvSpPr>
          <p:nvPr/>
        </p:nvSpPr>
        <p:spPr bwMode="auto">
          <a:xfrm flipH="1">
            <a:off x="3248025" y="3249613"/>
            <a:ext cx="1890713" cy="215900"/>
          </a:xfrm>
          <a:prstGeom prst="line">
            <a:avLst/>
          </a:prstGeom>
          <a:noFill/>
          <a:ln w="28575">
            <a:solidFill>
              <a:schemeClr val="tx2"/>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nvGrpSpPr>
          <p:cNvPr id="640029" name="Group 29"/>
          <p:cNvGrpSpPr>
            <a:grpSpLocks/>
          </p:cNvGrpSpPr>
          <p:nvPr/>
        </p:nvGrpSpPr>
        <p:grpSpPr bwMode="auto">
          <a:xfrm>
            <a:off x="3263900" y="3578225"/>
            <a:ext cx="1860550" cy="755650"/>
            <a:chOff x="2056" y="2254"/>
            <a:chExt cx="1172" cy="476"/>
          </a:xfrm>
        </p:grpSpPr>
        <p:sp>
          <p:nvSpPr>
            <p:cNvPr id="640016" name="Line 16"/>
            <p:cNvSpPr>
              <a:spLocks noChangeShapeType="1"/>
            </p:cNvSpPr>
            <p:nvPr/>
          </p:nvSpPr>
          <p:spPr bwMode="auto">
            <a:xfrm>
              <a:off x="2056" y="2254"/>
              <a:ext cx="1172" cy="134"/>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17" name="Line 17"/>
            <p:cNvSpPr>
              <a:spLocks noChangeShapeType="1"/>
            </p:cNvSpPr>
            <p:nvPr/>
          </p:nvSpPr>
          <p:spPr bwMode="auto">
            <a:xfrm>
              <a:off x="2056" y="2594"/>
              <a:ext cx="1172" cy="13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18" name="Freeform 18"/>
            <p:cNvSpPr>
              <a:spLocks/>
            </p:cNvSpPr>
            <p:nvPr/>
          </p:nvSpPr>
          <p:spPr bwMode="auto">
            <a:xfrm>
              <a:off x="2064" y="2258"/>
              <a:ext cx="1156" cy="462"/>
            </a:xfrm>
            <a:custGeom>
              <a:avLst/>
              <a:gdLst>
                <a:gd name="T0" fmla="*/ 0 w 1033"/>
                <a:gd name="T1" fmla="*/ 0 h 463"/>
                <a:gd name="T2" fmla="*/ 1032 w 1033"/>
                <a:gd name="T3" fmla="*/ 144 h 463"/>
                <a:gd name="T4" fmla="*/ 1032 w 1033"/>
                <a:gd name="T5" fmla="*/ 462 h 463"/>
                <a:gd name="T6" fmla="*/ 0 w 1033"/>
                <a:gd name="T7" fmla="*/ 318 h 463"/>
                <a:gd name="T8" fmla="*/ 0 w 1033"/>
                <a:gd name="T9" fmla="*/ 0 h 463"/>
              </a:gdLst>
              <a:ahLst/>
              <a:cxnLst>
                <a:cxn ang="0">
                  <a:pos x="T0" y="T1"/>
                </a:cxn>
                <a:cxn ang="0">
                  <a:pos x="T2" y="T3"/>
                </a:cxn>
                <a:cxn ang="0">
                  <a:pos x="T4" y="T5"/>
                </a:cxn>
                <a:cxn ang="0">
                  <a:pos x="T6" y="T7"/>
                </a:cxn>
                <a:cxn ang="0">
                  <a:pos x="T8" y="T9"/>
                </a:cxn>
              </a:cxnLst>
              <a:rect l="0" t="0" r="r" b="b"/>
              <a:pathLst>
                <a:path w="1033" h="463">
                  <a:moveTo>
                    <a:pt x="0" y="0"/>
                  </a:moveTo>
                  <a:lnTo>
                    <a:pt x="1032" y="144"/>
                  </a:lnTo>
                  <a:lnTo>
                    <a:pt x="1032" y="462"/>
                  </a:lnTo>
                  <a:lnTo>
                    <a:pt x="0" y="318"/>
                  </a:lnTo>
                  <a:lnTo>
                    <a:pt x="0" y="0"/>
                  </a:lnTo>
                </a:path>
              </a:pathLst>
            </a:custGeom>
            <a:solidFill>
              <a:srgbClr val="FFFF66"/>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0019" name="AutoShape 19"/>
            <p:cNvSpPr>
              <a:spLocks noChangeArrowheads="1"/>
            </p:cNvSpPr>
            <p:nvPr/>
          </p:nvSpPr>
          <p:spPr bwMode="auto">
            <a:xfrm rot="480000">
              <a:off x="2787" y="2484"/>
              <a:ext cx="314" cy="99"/>
            </a:xfrm>
            <a:prstGeom prst="rightArrow">
              <a:avLst>
                <a:gd name="adj1" fmla="val 50000"/>
                <a:gd name="adj2" fmla="val 158601"/>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20" name="Rectangle 20"/>
            <p:cNvSpPr>
              <a:spLocks noChangeArrowheads="1"/>
            </p:cNvSpPr>
            <p:nvPr/>
          </p:nvSpPr>
          <p:spPr bwMode="auto">
            <a:xfrm rot="540000">
              <a:off x="2155" y="2341"/>
              <a:ext cx="626" cy="289"/>
            </a:xfrm>
            <a:prstGeom prst="rect">
              <a:avLst/>
            </a:prstGeom>
            <a:noFill/>
            <a:ln>
              <a:noFill/>
            </a:ln>
            <a:effectLst/>
            <a:extLst>
              <a:ext uri="{909E8E84-426E-40DD-AFC4-6F175D3DCCD1}">
                <a14:hiddenFill xmlns="" xmlns:a14="http://schemas.microsoft.com/office/drawing/2010/main">
                  <a:solidFill>
                    <a:srgbClr val="DDDDDD"/>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solidFill>
                    <a:srgbClr val="FC0404"/>
                  </a:solidFill>
                  <a:latin typeface="+mn-lt"/>
                  <a:ea typeface="+mn-ea"/>
                </a:rPr>
                <a:t>DATA</a:t>
              </a:r>
            </a:p>
          </p:txBody>
        </p:sp>
      </p:grpSp>
      <p:grpSp>
        <p:nvGrpSpPr>
          <p:cNvPr id="640030" name="Group 30"/>
          <p:cNvGrpSpPr>
            <a:grpSpLocks/>
          </p:cNvGrpSpPr>
          <p:nvPr/>
        </p:nvGrpSpPr>
        <p:grpSpPr bwMode="auto">
          <a:xfrm>
            <a:off x="5138740" y="4167193"/>
            <a:ext cx="1762126" cy="458788"/>
            <a:chOff x="3237" y="2625"/>
            <a:chExt cx="1110" cy="289"/>
          </a:xfrm>
        </p:grpSpPr>
        <p:sp>
          <p:nvSpPr>
            <p:cNvPr id="640021" name="Line 21"/>
            <p:cNvSpPr>
              <a:spLocks noChangeShapeType="1"/>
            </p:cNvSpPr>
            <p:nvPr/>
          </p:nvSpPr>
          <p:spPr bwMode="auto">
            <a:xfrm>
              <a:off x="3237" y="2779"/>
              <a:ext cx="246" cy="0"/>
            </a:xfrm>
            <a:prstGeom prst="line">
              <a:avLst/>
            </a:prstGeom>
            <a:noFill/>
            <a:ln w="28575">
              <a:solidFill>
                <a:srgbClr val="0000FF"/>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22" name="Rectangle 22"/>
            <p:cNvSpPr>
              <a:spLocks noChangeArrowheads="1"/>
            </p:cNvSpPr>
            <p:nvPr/>
          </p:nvSpPr>
          <p:spPr bwMode="auto">
            <a:xfrm>
              <a:off x="3456" y="2625"/>
              <a:ext cx="891" cy="28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送主机 </a:t>
              </a:r>
              <a:r>
                <a:rPr lang="en-US" altLang="zh-CN" b="1">
                  <a:latin typeface="+mn-lt"/>
                  <a:ea typeface="+mn-ea"/>
                </a:rPr>
                <a:t>B</a:t>
              </a:r>
            </a:p>
          </p:txBody>
        </p:sp>
      </p:grpSp>
      <p:sp>
        <p:nvSpPr>
          <p:cNvPr id="640023" name="Line 23"/>
          <p:cNvSpPr>
            <a:spLocks noChangeShapeType="1"/>
          </p:cNvSpPr>
          <p:nvPr/>
        </p:nvSpPr>
        <p:spPr bwMode="auto">
          <a:xfrm flipH="1">
            <a:off x="3248025" y="4465638"/>
            <a:ext cx="1890713" cy="215900"/>
          </a:xfrm>
          <a:prstGeom prst="line">
            <a:avLst/>
          </a:prstGeom>
          <a:noFill/>
          <a:ln w="28575">
            <a:solidFill>
              <a:schemeClr val="tx2"/>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24" name="Line 24"/>
          <p:cNvSpPr>
            <a:spLocks noChangeShapeType="1"/>
          </p:cNvSpPr>
          <p:nvPr/>
        </p:nvSpPr>
        <p:spPr bwMode="auto">
          <a:xfrm>
            <a:off x="3254375" y="2222500"/>
            <a:ext cx="0" cy="3179763"/>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25" name="Line 25"/>
          <p:cNvSpPr>
            <a:spLocks noChangeShapeType="1"/>
          </p:cNvSpPr>
          <p:nvPr/>
        </p:nvSpPr>
        <p:spPr bwMode="auto">
          <a:xfrm>
            <a:off x="2965450" y="2366963"/>
            <a:ext cx="0" cy="2249487"/>
          </a:xfrm>
          <a:prstGeom prst="line">
            <a:avLst/>
          </a:prstGeom>
          <a:noFill/>
          <a:ln w="28575">
            <a:solidFill>
              <a:srgbClr val="0000FF"/>
            </a:solidFill>
            <a:round/>
            <a:headEnd/>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0026" name="Rectangle 26"/>
          <p:cNvSpPr>
            <a:spLocks noChangeArrowheads="1"/>
          </p:cNvSpPr>
          <p:nvPr/>
        </p:nvSpPr>
        <p:spPr bwMode="auto">
          <a:xfrm>
            <a:off x="2733675" y="4692650"/>
            <a:ext cx="490520" cy="8284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时</a:t>
            </a:r>
          </a:p>
          <a:p>
            <a:pPr eaLnBrk="0" hangingPunct="0">
              <a:buClrTx/>
              <a:buFontTx/>
              <a:buNone/>
            </a:pPr>
            <a:r>
              <a:rPr lang="zh-CN" altLang="en-US" b="1">
                <a:latin typeface="+mn-lt"/>
                <a:ea typeface="+mn-ea"/>
              </a:rPr>
              <a:t>间</a:t>
            </a:r>
          </a:p>
        </p:txBody>
      </p:sp>
      <p:sp>
        <p:nvSpPr>
          <p:cNvPr id="640031" name="Text Box 31"/>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0027"/>
                                        </p:tgtEl>
                                        <p:attrNameLst>
                                          <p:attrName>style.visibility</p:attrName>
                                        </p:attrNameLst>
                                      </p:cBhvr>
                                      <p:to>
                                        <p:strVal val="visible"/>
                                      </p:to>
                                    </p:set>
                                    <p:animEffect transition="in" filter="wipe(left)">
                                      <p:cBhvr>
                                        <p:cTn id="7" dur="1000"/>
                                        <p:tgtEl>
                                          <p:spTgt spid="640027"/>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40028"/>
                                        </p:tgtEl>
                                        <p:attrNameLst>
                                          <p:attrName>style.visibility</p:attrName>
                                        </p:attrNameLst>
                                      </p:cBhvr>
                                      <p:to>
                                        <p:strVal val="visible"/>
                                      </p:to>
                                    </p:set>
                                    <p:animEffect transition="in" filter="wipe(left)">
                                      <p:cBhvr>
                                        <p:cTn id="11" dur="1000"/>
                                        <p:tgtEl>
                                          <p:spTgt spid="640028"/>
                                        </p:tgtEl>
                                      </p:cBhvr>
                                    </p:animEffect>
                                  </p:childTnLst>
                                </p:cTn>
                              </p:par>
                            </p:childTnLst>
                          </p:cTn>
                        </p:par>
                        <p:par>
                          <p:cTn id="12" fill="hold" nodeType="afterGroup">
                            <p:stCondLst>
                              <p:cond delay="2000"/>
                            </p:stCondLst>
                            <p:childTnLst>
                              <p:par>
                                <p:cTn id="13" presetID="22" presetClass="entr" presetSubtype="2" fill="hold" grpId="0" nodeType="afterEffect">
                                  <p:stCondLst>
                                    <p:cond delay="0"/>
                                  </p:stCondLst>
                                  <p:childTnLst>
                                    <p:set>
                                      <p:cBhvr>
                                        <p:cTn id="14" dur="1" fill="hold">
                                          <p:stCondLst>
                                            <p:cond delay="0"/>
                                          </p:stCondLst>
                                        </p:cTn>
                                        <p:tgtEl>
                                          <p:spTgt spid="640015"/>
                                        </p:tgtEl>
                                        <p:attrNameLst>
                                          <p:attrName>style.visibility</p:attrName>
                                        </p:attrNameLst>
                                      </p:cBhvr>
                                      <p:to>
                                        <p:strVal val="visible"/>
                                      </p:to>
                                    </p:set>
                                    <p:animEffect transition="in" filter="wipe(right)">
                                      <p:cBhvr>
                                        <p:cTn id="15" dur="1000"/>
                                        <p:tgtEl>
                                          <p:spTgt spid="640015"/>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640029"/>
                                        </p:tgtEl>
                                        <p:attrNameLst>
                                          <p:attrName>style.visibility</p:attrName>
                                        </p:attrNameLst>
                                      </p:cBhvr>
                                      <p:to>
                                        <p:strVal val="visible"/>
                                      </p:to>
                                    </p:set>
                                    <p:animEffect transition="in" filter="wipe(left)">
                                      <p:cBhvr>
                                        <p:cTn id="19" dur="1000"/>
                                        <p:tgtEl>
                                          <p:spTgt spid="640029"/>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640030"/>
                                        </p:tgtEl>
                                        <p:attrNameLst>
                                          <p:attrName>style.visibility</p:attrName>
                                        </p:attrNameLst>
                                      </p:cBhvr>
                                      <p:to>
                                        <p:strVal val="visible"/>
                                      </p:to>
                                    </p:set>
                                    <p:animEffect transition="in" filter="wipe(left)">
                                      <p:cBhvr>
                                        <p:cTn id="23" dur="1000"/>
                                        <p:tgtEl>
                                          <p:spTgt spid="640030"/>
                                        </p:tgtEl>
                                      </p:cBhvr>
                                    </p:animEffect>
                                  </p:childTnLst>
                                </p:cTn>
                              </p:par>
                            </p:childTnLst>
                          </p:cTn>
                        </p:par>
                        <p:par>
                          <p:cTn id="24" fill="hold" nodeType="afterGroup">
                            <p:stCondLst>
                              <p:cond delay="5000"/>
                            </p:stCondLst>
                            <p:childTnLst>
                              <p:par>
                                <p:cTn id="25" presetID="22" presetClass="entr" presetSubtype="2" fill="hold" grpId="0" nodeType="afterEffect">
                                  <p:stCondLst>
                                    <p:cond delay="0"/>
                                  </p:stCondLst>
                                  <p:childTnLst>
                                    <p:set>
                                      <p:cBhvr>
                                        <p:cTn id="26" dur="1" fill="hold">
                                          <p:stCondLst>
                                            <p:cond delay="0"/>
                                          </p:stCondLst>
                                        </p:cTn>
                                        <p:tgtEl>
                                          <p:spTgt spid="640023"/>
                                        </p:tgtEl>
                                        <p:attrNameLst>
                                          <p:attrName>style.visibility</p:attrName>
                                        </p:attrNameLst>
                                      </p:cBhvr>
                                      <p:to>
                                        <p:strVal val="visible"/>
                                      </p:to>
                                    </p:set>
                                    <p:animEffect transition="in" filter="wipe(right)">
                                      <p:cBhvr>
                                        <p:cTn id="27" dur="1000"/>
                                        <p:tgtEl>
                                          <p:spTgt spid="640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15" grpId="0" animBg="1"/>
      <p:bldP spid="64002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Grp="1" noChangeArrowheads="1"/>
          </p:cNvSpPr>
          <p:nvPr>
            <p:ph type="title"/>
          </p:nvPr>
        </p:nvSpPr>
        <p:spPr/>
        <p:txBody>
          <a:bodyPr/>
          <a:lstStyle/>
          <a:p>
            <a:r>
              <a:rPr lang="zh-CN" altLang="en-US"/>
              <a:t>假  设</a:t>
            </a:r>
          </a:p>
        </p:txBody>
      </p:sp>
      <p:sp>
        <p:nvSpPr>
          <p:cNvPr id="616451" name="Rectangle 3"/>
          <p:cNvSpPr>
            <a:spLocks noGrp="1" noChangeArrowheads="1"/>
          </p:cNvSpPr>
          <p:nvPr>
            <p:ph type="body" idx="1"/>
          </p:nvPr>
        </p:nvSpPr>
        <p:spPr/>
        <p:txBody>
          <a:bodyPr/>
          <a:lstStyle/>
          <a:p>
            <a:pPr>
              <a:lnSpc>
                <a:spcPct val="150000"/>
              </a:lnSpc>
            </a:pPr>
            <a:r>
              <a:rPr lang="zh-CN" altLang="en-US" sz="2800" dirty="0">
                <a:solidFill>
                  <a:srgbClr val="FC0404"/>
                </a:solidFill>
              </a:rPr>
              <a:t>假设一：无差错控制（</a:t>
            </a:r>
            <a:r>
              <a:rPr lang="zh-CN" altLang="en-US" sz="2800" dirty="0">
                <a:solidFill>
                  <a:srgbClr val="FC0404"/>
                </a:solidFill>
                <a:sym typeface="Wingdings" pitchFamily="2" charset="2"/>
              </a:rPr>
              <a:t></a:t>
            </a:r>
            <a:r>
              <a:rPr lang="zh-CN" altLang="en-US" sz="2800" dirty="0">
                <a:solidFill>
                  <a:srgbClr val="FC0404"/>
                </a:solidFill>
              </a:rPr>
              <a:t>）</a:t>
            </a:r>
          </a:p>
          <a:p>
            <a:pPr>
              <a:lnSpc>
                <a:spcPct val="150000"/>
              </a:lnSpc>
              <a:buFont typeface="Wingdings" pitchFamily="2" charset="2"/>
              <a:buNone/>
            </a:pPr>
            <a:r>
              <a:rPr lang="zh-CN" altLang="en-US" sz="2800" dirty="0"/>
              <a:t>           链路是理想的传输信道，所传送的任何数据既不会出差错也不会丢失。</a:t>
            </a:r>
          </a:p>
          <a:p>
            <a:pPr>
              <a:lnSpc>
                <a:spcPct val="150000"/>
              </a:lnSpc>
            </a:pPr>
            <a:r>
              <a:rPr lang="zh-CN" altLang="en-US" sz="2800" dirty="0">
                <a:solidFill>
                  <a:srgbClr val="FC0404"/>
                </a:solidFill>
              </a:rPr>
              <a:t>假设二：无流量控制（</a:t>
            </a:r>
            <a:r>
              <a:rPr lang="zh-CN" altLang="en-US" sz="2800" dirty="0">
                <a:solidFill>
                  <a:srgbClr val="FC0404"/>
                </a:solidFill>
                <a:sym typeface="Wingdings" pitchFamily="2" charset="2"/>
              </a:rPr>
              <a:t></a:t>
            </a:r>
            <a:r>
              <a:rPr lang="zh-CN" altLang="en-US" sz="2800" dirty="0">
                <a:solidFill>
                  <a:srgbClr val="FC0404"/>
                </a:solidFill>
              </a:rPr>
              <a:t>）</a:t>
            </a:r>
          </a:p>
          <a:p>
            <a:pPr>
              <a:lnSpc>
                <a:spcPct val="150000"/>
              </a:lnSpc>
              <a:buFont typeface="Wingdings" pitchFamily="2" charset="2"/>
              <a:buNone/>
            </a:pPr>
            <a:r>
              <a:rPr lang="zh-CN" altLang="en-US" sz="2800" dirty="0"/>
              <a:t>           不管</a:t>
            </a:r>
            <a:r>
              <a:rPr lang="zh-CN" altLang="en-US" sz="2800" dirty="0" smtClean="0"/>
              <a:t>发送方</a:t>
            </a:r>
            <a:r>
              <a:rPr lang="zh-CN" altLang="en-US" sz="2800" dirty="0"/>
              <a:t>以多快的速率发送数据</a:t>
            </a:r>
            <a:r>
              <a:rPr lang="zh-CN" altLang="en-US" sz="2800" dirty="0" smtClean="0"/>
              <a:t>，接收</a:t>
            </a:r>
            <a:r>
              <a:rPr lang="zh-CN" altLang="en-US" sz="2800" dirty="0"/>
              <a:t>方总是来得及收下，并及时</a:t>
            </a:r>
            <a:r>
              <a:rPr lang="zh-CN" altLang="en-US" sz="2800" dirty="0" smtClean="0"/>
              <a:t>上交网络层。</a:t>
            </a:r>
            <a:endParaRPr lang="zh-CN" altLang="en-US" sz="2800" dirty="0"/>
          </a:p>
        </p:txBody>
      </p:sp>
      <p:sp>
        <p:nvSpPr>
          <p:cNvPr id="616453"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16454"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468313" y="620713"/>
            <a:ext cx="8229600" cy="792162"/>
          </a:xfrm>
        </p:spPr>
        <p:txBody>
          <a:bodyPr/>
          <a:lstStyle/>
          <a:p>
            <a:r>
              <a:rPr lang="en-US" altLang="zh-CN" sz="3600" dirty="0" smtClean="0"/>
              <a:t>3 </a:t>
            </a:r>
            <a:r>
              <a:rPr lang="zh-CN" altLang="en-US" sz="3600" dirty="0"/>
              <a:t>有噪声信道的单工协议</a:t>
            </a:r>
          </a:p>
        </p:txBody>
      </p:sp>
      <p:sp>
        <p:nvSpPr>
          <p:cNvPr id="221187" name="Rectangle 3"/>
          <p:cNvSpPr>
            <a:spLocks noGrp="1" noChangeArrowheads="1"/>
          </p:cNvSpPr>
          <p:nvPr>
            <p:ph type="body" idx="1"/>
          </p:nvPr>
        </p:nvSpPr>
        <p:spPr>
          <a:xfrm>
            <a:off x="358775" y="1484313"/>
            <a:ext cx="8785225" cy="4752975"/>
          </a:xfrm>
        </p:spPr>
        <p:txBody>
          <a:bodyPr/>
          <a:lstStyle/>
          <a:p>
            <a:r>
              <a:rPr lang="zh-CN" altLang="en-US" sz="2800"/>
              <a:t>协议</a:t>
            </a:r>
            <a:r>
              <a:rPr lang="en-US" altLang="zh-CN" sz="2800"/>
              <a:t>3</a:t>
            </a:r>
            <a:r>
              <a:rPr lang="zh-CN" altLang="en-US" sz="2800"/>
              <a:t>：有噪声信道的单工协议</a:t>
            </a:r>
          </a:p>
          <a:p>
            <a:pPr>
              <a:buFont typeface="Wingdings" pitchFamily="2" charset="2"/>
              <a:buNone/>
            </a:pPr>
            <a:r>
              <a:rPr lang="zh-CN" altLang="en-US" sz="2800"/>
              <a:t>  </a:t>
            </a:r>
            <a:r>
              <a:rPr lang="en-US" altLang="zh-CN" sz="2800">
                <a:solidFill>
                  <a:schemeClr val="hlink"/>
                </a:solidFill>
                <a:cs typeface="Times New Roman" pitchFamily="18" charset="0"/>
              </a:rPr>
              <a:t>•</a:t>
            </a:r>
            <a:r>
              <a:rPr lang="en-US" altLang="zh-CN" sz="2800"/>
              <a:t>  </a:t>
            </a:r>
            <a:r>
              <a:rPr lang="zh-CN" altLang="en-US" sz="2800"/>
              <a:t>引入新设施：</a:t>
            </a:r>
          </a:p>
          <a:p>
            <a:pPr>
              <a:buFont typeface="Wingdings" pitchFamily="2" charset="2"/>
              <a:buNone/>
            </a:pPr>
            <a:r>
              <a:rPr lang="zh-CN" altLang="en-US" sz="2800"/>
              <a:t>    </a:t>
            </a:r>
            <a:r>
              <a:rPr lang="zh-CN" altLang="en-US" sz="2800">
                <a:solidFill>
                  <a:schemeClr val="hlink"/>
                </a:solidFill>
                <a:latin typeface="Times New Roman" pitchFamily="18" charset="0"/>
              </a:rPr>
              <a:t>*</a:t>
            </a:r>
            <a:r>
              <a:rPr lang="zh-CN" altLang="en-US" sz="2800"/>
              <a:t>  </a:t>
            </a:r>
            <a:r>
              <a:rPr lang="zh-CN" altLang="en-US" sz="2800">
                <a:solidFill>
                  <a:srgbClr val="FF0000"/>
                </a:solidFill>
              </a:rPr>
              <a:t>发送方引入计时器。</a:t>
            </a:r>
          </a:p>
          <a:p>
            <a:pPr>
              <a:buFont typeface="Wingdings" pitchFamily="2" charset="2"/>
              <a:buNone/>
            </a:pPr>
            <a:r>
              <a:rPr lang="zh-CN" altLang="en-US" sz="2800">
                <a:solidFill>
                  <a:srgbClr val="FF0000"/>
                </a:solidFill>
                <a:cs typeface="Times New Roman" pitchFamily="18" charset="0"/>
              </a:rPr>
              <a:t>    </a:t>
            </a:r>
            <a:r>
              <a:rPr lang="zh-CN" altLang="en-US" sz="2800">
                <a:solidFill>
                  <a:srgbClr val="FF0000"/>
                </a:solidFill>
                <a:latin typeface="Times New Roman" pitchFamily="18" charset="0"/>
                <a:cs typeface="Times New Roman" pitchFamily="18" charset="0"/>
              </a:rPr>
              <a:t>*</a:t>
            </a:r>
            <a:r>
              <a:rPr lang="zh-CN" altLang="en-US" sz="2800">
                <a:solidFill>
                  <a:srgbClr val="FF0000"/>
                </a:solidFill>
                <a:cs typeface="Times New Roman" pitchFamily="18" charset="0"/>
              </a:rPr>
              <a:t>  </a:t>
            </a:r>
            <a:r>
              <a:rPr lang="zh-CN" altLang="en-US" sz="2800">
                <a:solidFill>
                  <a:srgbClr val="FF0000"/>
                </a:solidFill>
              </a:rPr>
              <a:t>引入帧序号：</a:t>
            </a:r>
          </a:p>
          <a:p>
            <a:pPr>
              <a:buFont typeface="Wingdings" pitchFamily="2" charset="2"/>
              <a:buNone/>
            </a:pPr>
            <a:r>
              <a:rPr lang="zh-CN" altLang="en-US" sz="2800">
                <a:solidFill>
                  <a:schemeClr val="tx2"/>
                </a:solidFill>
              </a:rPr>
              <a:t>      </a:t>
            </a:r>
            <a:r>
              <a:rPr lang="en-US" altLang="zh-CN" sz="2800">
                <a:solidFill>
                  <a:schemeClr val="hlink"/>
                </a:solidFill>
                <a:latin typeface="Times New Roman" pitchFamily="18" charset="0"/>
              </a:rPr>
              <a:t>-</a:t>
            </a:r>
            <a:r>
              <a:rPr lang="en-US" altLang="zh-CN" sz="2800">
                <a:solidFill>
                  <a:schemeClr val="tx2"/>
                </a:solidFill>
              </a:rPr>
              <a:t>  </a:t>
            </a:r>
            <a:r>
              <a:rPr lang="zh-CN" altLang="en-US" sz="2800"/>
              <a:t>目的：区分新帧与重发帧</a:t>
            </a:r>
          </a:p>
          <a:p>
            <a:pPr>
              <a:buFont typeface="Wingdings" pitchFamily="2" charset="2"/>
              <a:buNone/>
            </a:pPr>
            <a:r>
              <a:rPr lang="zh-CN" altLang="en-US" sz="2800"/>
              <a:t>      </a:t>
            </a:r>
            <a:r>
              <a:rPr lang="en-US" altLang="zh-CN" sz="2800">
                <a:solidFill>
                  <a:schemeClr val="hlink"/>
                </a:solidFill>
                <a:latin typeface="Times New Roman" pitchFamily="18" charset="0"/>
              </a:rPr>
              <a:t>-</a:t>
            </a:r>
            <a:r>
              <a:rPr lang="en-US" altLang="zh-CN" sz="2800"/>
              <a:t>  </a:t>
            </a:r>
            <a:r>
              <a:rPr lang="zh-CN" altLang="en-US" sz="2800"/>
              <a:t>发送方记住下一发送帧序号。</a:t>
            </a:r>
          </a:p>
          <a:p>
            <a:pPr>
              <a:buFont typeface="Wingdings" pitchFamily="2" charset="2"/>
              <a:buNone/>
            </a:pPr>
            <a:r>
              <a:rPr lang="zh-CN" altLang="en-US" sz="2800"/>
              <a:t>      </a:t>
            </a:r>
            <a:r>
              <a:rPr lang="en-US" altLang="zh-CN" sz="2800">
                <a:solidFill>
                  <a:schemeClr val="hlink"/>
                </a:solidFill>
                <a:latin typeface="Times New Roman" pitchFamily="18" charset="0"/>
              </a:rPr>
              <a:t>-</a:t>
            </a:r>
            <a:r>
              <a:rPr lang="en-US" altLang="zh-CN" sz="2800"/>
              <a:t>  </a:t>
            </a:r>
            <a:r>
              <a:rPr lang="zh-CN" altLang="en-US" sz="2800"/>
              <a:t>接收方记住期待接收帧序号。</a:t>
            </a:r>
          </a:p>
          <a:p>
            <a:pPr>
              <a:buFont typeface="Wingdings" pitchFamily="2" charset="2"/>
              <a:buNone/>
            </a:pPr>
            <a:r>
              <a:rPr lang="zh-CN" altLang="en-US" sz="2800">
                <a:solidFill>
                  <a:schemeClr val="tx2"/>
                </a:solidFill>
              </a:rPr>
              <a:t>      </a:t>
            </a:r>
            <a:r>
              <a:rPr lang="en-US" altLang="zh-CN" sz="2800">
                <a:solidFill>
                  <a:schemeClr val="hlink"/>
                </a:solidFill>
                <a:latin typeface="Times New Roman" pitchFamily="18" charset="0"/>
              </a:rPr>
              <a:t>-</a:t>
            </a:r>
            <a:r>
              <a:rPr lang="en-US" altLang="zh-CN" sz="2800">
                <a:solidFill>
                  <a:schemeClr val="tx2"/>
                </a:solidFill>
              </a:rPr>
              <a:t>  </a:t>
            </a:r>
            <a:r>
              <a:rPr lang="zh-CN" altLang="en-US" sz="2800"/>
              <a:t>帧序号的最少位数：</a:t>
            </a:r>
            <a:r>
              <a:rPr lang="en-US" altLang="zh-CN" sz="2800"/>
              <a:t>1</a:t>
            </a:r>
            <a:r>
              <a:rPr lang="zh-CN" altLang="en-US" sz="2800"/>
              <a:t>位</a:t>
            </a:r>
          </a:p>
          <a:p>
            <a:pPr>
              <a:buFont typeface="Wingdings" pitchFamily="2" charset="2"/>
              <a:buNone/>
            </a:pPr>
            <a:r>
              <a:rPr lang="zh-CN" altLang="en-US" sz="2800"/>
              <a:t>  </a:t>
            </a:r>
            <a:r>
              <a:rPr lang="en-US" altLang="zh-CN" sz="2800">
                <a:solidFill>
                  <a:schemeClr val="hlink"/>
                </a:solidFill>
                <a:cs typeface="Times New Roman" pitchFamily="18" charset="0"/>
              </a:rPr>
              <a:t>•  </a:t>
            </a:r>
            <a:r>
              <a:rPr lang="zh-CN" altLang="en-US" sz="2800"/>
              <a:t>假定确认帧是一空帧。</a:t>
            </a:r>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Effect transition="in" filter="blinds(horizontal)">
                                      <p:cBhvr>
                                        <p:cTn id="7" dur="500"/>
                                        <p:tgtEl>
                                          <p:spTgt spid="2211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1187">
                                            <p:txEl>
                                              <p:pRg st="1" end="1"/>
                                            </p:txEl>
                                          </p:spTgt>
                                        </p:tgtEl>
                                        <p:attrNameLst>
                                          <p:attrName>style.visibility</p:attrName>
                                        </p:attrNameLst>
                                      </p:cBhvr>
                                      <p:to>
                                        <p:strVal val="visible"/>
                                      </p:to>
                                    </p:set>
                                    <p:animEffect transition="in" filter="blinds(horizontal)">
                                      <p:cBhvr>
                                        <p:cTn id="12" dur="500"/>
                                        <p:tgtEl>
                                          <p:spTgt spid="2211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1187">
                                            <p:txEl>
                                              <p:pRg st="2" end="2"/>
                                            </p:txEl>
                                          </p:spTgt>
                                        </p:tgtEl>
                                        <p:attrNameLst>
                                          <p:attrName>style.visibility</p:attrName>
                                        </p:attrNameLst>
                                      </p:cBhvr>
                                      <p:to>
                                        <p:strVal val="visible"/>
                                      </p:to>
                                    </p:set>
                                    <p:animEffect transition="in" filter="blinds(horizontal)">
                                      <p:cBhvr>
                                        <p:cTn id="17" dur="500"/>
                                        <p:tgtEl>
                                          <p:spTgt spid="2211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1187">
                                            <p:txEl>
                                              <p:pRg st="3" end="3"/>
                                            </p:txEl>
                                          </p:spTgt>
                                        </p:tgtEl>
                                        <p:attrNameLst>
                                          <p:attrName>style.visibility</p:attrName>
                                        </p:attrNameLst>
                                      </p:cBhvr>
                                      <p:to>
                                        <p:strVal val="visible"/>
                                      </p:to>
                                    </p:set>
                                    <p:animEffect transition="in" filter="blinds(horizontal)">
                                      <p:cBhvr>
                                        <p:cTn id="22" dur="500"/>
                                        <p:tgtEl>
                                          <p:spTgt spid="2211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1187">
                                            <p:txEl>
                                              <p:pRg st="4" end="4"/>
                                            </p:txEl>
                                          </p:spTgt>
                                        </p:tgtEl>
                                        <p:attrNameLst>
                                          <p:attrName>style.visibility</p:attrName>
                                        </p:attrNameLst>
                                      </p:cBhvr>
                                      <p:to>
                                        <p:strVal val="visible"/>
                                      </p:to>
                                    </p:set>
                                    <p:animEffect transition="in" filter="blinds(horizontal)">
                                      <p:cBhvr>
                                        <p:cTn id="27" dur="500"/>
                                        <p:tgtEl>
                                          <p:spTgt spid="2211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1187">
                                            <p:txEl>
                                              <p:pRg st="5" end="5"/>
                                            </p:txEl>
                                          </p:spTgt>
                                        </p:tgtEl>
                                        <p:attrNameLst>
                                          <p:attrName>style.visibility</p:attrName>
                                        </p:attrNameLst>
                                      </p:cBhvr>
                                      <p:to>
                                        <p:strVal val="visible"/>
                                      </p:to>
                                    </p:set>
                                    <p:animEffect transition="in" filter="blinds(horizontal)">
                                      <p:cBhvr>
                                        <p:cTn id="32" dur="500"/>
                                        <p:tgtEl>
                                          <p:spTgt spid="22118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1187">
                                            <p:txEl>
                                              <p:pRg st="6" end="6"/>
                                            </p:txEl>
                                          </p:spTgt>
                                        </p:tgtEl>
                                        <p:attrNameLst>
                                          <p:attrName>style.visibility</p:attrName>
                                        </p:attrNameLst>
                                      </p:cBhvr>
                                      <p:to>
                                        <p:strVal val="visible"/>
                                      </p:to>
                                    </p:set>
                                    <p:animEffect transition="in" filter="blinds(horizontal)">
                                      <p:cBhvr>
                                        <p:cTn id="37" dur="500"/>
                                        <p:tgtEl>
                                          <p:spTgt spid="22118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1187">
                                            <p:txEl>
                                              <p:pRg st="7" end="7"/>
                                            </p:txEl>
                                          </p:spTgt>
                                        </p:tgtEl>
                                        <p:attrNameLst>
                                          <p:attrName>style.visibility</p:attrName>
                                        </p:attrNameLst>
                                      </p:cBhvr>
                                      <p:to>
                                        <p:strVal val="visible"/>
                                      </p:to>
                                    </p:set>
                                    <p:animEffect transition="in" filter="blinds(horizontal)">
                                      <p:cBhvr>
                                        <p:cTn id="42" dur="500"/>
                                        <p:tgtEl>
                                          <p:spTgt spid="22118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21187">
                                            <p:txEl>
                                              <p:pRg st="8" end="8"/>
                                            </p:txEl>
                                          </p:spTgt>
                                        </p:tgtEl>
                                        <p:attrNameLst>
                                          <p:attrName>style.visibility</p:attrName>
                                        </p:attrNameLst>
                                      </p:cBhvr>
                                      <p:to>
                                        <p:strVal val="visible"/>
                                      </p:to>
                                    </p:set>
                                    <p:animEffect transition="in" filter="blinds(horizontal)">
                                      <p:cBhvr>
                                        <p:cTn id="47" dur="500"/>
                                        <p:tgtEl>
                                          <p:spTgt spid="2211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468313" y="692150"/>
            <a:ext cx="8229600" cy="1143000"/>
          </a:xfrm>
        </p:spPr>
        <p:txBody>
          <a:bodyPr/>
          <a:lstStyle/>
          <a:p>
            <a:r>
              <a:rPr lang="en-US" altLang="zh-CN" sz="4000"/>
              <a:t>3.2.3 </a:t>
            </a:r>
            <a:r>
              <a:rPr lang="zh-CN" altLang="en-US" sz="4000"/>
              <a:t>有噪声信道的单工协议（续）</a:t>
            </a:r>
          </a:p>
        </p:txBody>
      </p:sp>
      <p:sp>
        <p:nvSpPr>
          <p:cNvPr id="222211" name="Rectangle 3"/>
          <p:cNvSpPr>
            <a:spLocks noGrp="1" noChangeArrowheads="1"/>
          </p:cNvSpPr>
          <p:nvPr>
            <p:ph type="body" idx="1"/>
          </p:nvPr>
        </p:nvSpPr>
        <p:spPr>
          <a:xfrm>
            <a:off x="395288" y="1989138"/>
            <a:ext cx="8229600" cy="4349750"/>
          </a:xfrm>
        </p:spPr>
        <p:txBody>
          <a:bodyPr/>
          <a:lstStyle/>
          <a:p>
            <a:pPr>
              <a:lnSpc>
                <a:spcPct val="90000"/>
              </a:lnSpc>
            </a:pPr>
            <a:r>
              <a:rPr lang="zh-CN" altLang="en-US" sz="2800"/>
              <a:t>协议</a:t>
            </a:r>
            <a:r>
              <a:rPr lang="en-US" altLang="zh-CN" sz="2800"/>
              <a:t>3</a:t>
            </a:r>
            <a:r>
              <a:rPr lang="zh-CN" altLang="en-US" sz="2800"/>
              <a:t>（续）：有噪声信道的单工协议</a:t>
            </a:r>
          </a:p>
          <a:p>
            <a:pPr>
              <a:lnSpc>
                <a:spcPct val="90000"/>
              </a:lnSpc>
              <a:buFont typeface="Wingdings" pitchFamily="2" charset="2"/>
              <a:buNone/>
            </a:pPr>
            <a:r>
              <a:rPr lang="zh-CN" altLang="en-US" sz="2800">
                <a:solidFill>
                  <a:schemeClr val="hlink"/>
                </a:solidFill>
                <a:cs typeface="Times New Roman" pitchFamily="18" charset="0"/>
              </a:rPr>
              <a:t>  </a:t>
            </a:r>
            <a:r>
              <a:rPr lang="en-US" altLang="zh-CN" sz="2800">
                <a:solidFill>
                  <a:schemeClr val="hlink"/>
                </a:solidFill>
                <a:cs typeface="Times New Roman" pitchFamily="18" charset="0"/>
              </a:rPr>
              <a:t>•  </a:t>
            </a:r>
            <a:r>
              <a:rPr lang="zh-CN" altLang="en-US" sz="2800"/>
              <a:t>协议机制：</a:t>
            </a:r>
          </a:p>
          <a:p>
            <a:pPr>
              <a:lnSpc>
                <a:spcPct val="90000"/>
              </a:lnSpc>
              <a:buFont typeface="Wingdings" pitchFamily="2" charset="2"/>
              <a:buNone/>
            </a:pPr>
            <a:r>
              <a:rPr lang="zh-CN" altLang="en-US" sz="2800">
                <a:solidFill>
                  <a:schemeClr val="tx2"/>
                </a:solidFill>
                <a:cs typeface="Times New Roman" pitchFamily="18" charset="0"/>
              </a:rPr>
              <a:t>    </a:t>
            </a:r>
            <a:r>
              <a:rPr lang="zh-CN" altLang="en-US" sz="2800" b="1">
                <a:solidFill>
                  <a:srgbClr val="FF0000"/>
                </a:solidFill>
                <a:latin typeface="Times New Roman" pitchFamily="18" charset="0"/>
                <a:cs typeface="Times New Roman" pitchFamily="18" charset="0"/>
              </a:rPr>
              <a:t>*</a:t>
            </a:r>
            <a:r>
              <a:rPr lang="zh-CN" altLang="en-US" sz="2800" b="1">
                <a:solidFill>
                  <a:srgbClr val="FF0000"/>
                </a:solidFill>
                <a:cs typeface="Times New Roman" pitchFamily="18" charset="0"/>
              </a:rPr>
              <a:t>  </a:t>
            </a:r>
            <a:r>
              <a:rPr lang="zh-CN" altLang="en-US" sz="2800" b="1">
                <a:solidFill>
                  <a:srgbClr val="FF0000"/>
                </a:solidFill>
              </a:rPr>
              <a:t>发送方：</a:t>
            </a:r>
            <a:endParaRPr lang="zh-CN" altLang="en-US" sz="2800" b="1">
              <a:solidFill>
                <a:srgbClr val="FF0000"/>
              </a:solidFill>
              <a:cs typeface="Times New Roman" pitchFamily="18" charset="0"/>
            </a:endParaRPr>
          </a:p>
          <a:p>
            <a:pPr>
              <a:lnSpc>
                <a:spcPct val="90000"/>
              </a:lnSpc>
              <a:buFont typeface="Wingdings" pitchFamily="2" charset="2"/>
              <a:buNone/>
            </a:pPr>
            <a:r>
              <a:rPr lang="zh-CN" altLang="en-US" sz="2800">
                <a:solidFill>
                  <a:schemeClr val="tx2"/>
                </a:solidFill>
              </a:rPr>
              <a:t>      </a:t>
            </a:r>
            <a:r>
              <a:rPr lang="en-US" altLang="zh-CN" sz="2800">
                <a:solidFill>
                  <a:schemeClr val="hlink"/>
                </a:solidFill>
                <a:latin typeface="Times New Roman" pitchFamily="18" charset="0"/>
              </a:rPr>
              <a:t>-</a:t>
            </a:r>
            <a:r>
              <a:rPr lang="en-US" altLang="zh-CN" sz="2800">
                <a:solidFill>
                  <a:schemeClr val="tx2"/>
                </a:solidFill>
              </a:rPr>
              <a:t>  </a:t>
            </a:r>
            <a:r>
              <a:rPr lang="zh-CN" altLang="en-US" sz="2800"/>
              <a:t>收到对前一帧的确认帧（初始帧除外）；</a:t>
            </a:r>
          </a:p>
          <a:p>
            <a:pPr>
              <a:lnSpc>
                <a:spcPct val="90000"/>
              </a:lnSpc>
              <a:buFont typeface="Wingdings" pitchFamily="2" charset="2"/>
              <a:buNone/>
            </a:pPr>
            <a:r>
              <a:rPr lang="zh-CN" altLang="en-US" sz="2800">
                <a:solidFill>
                  <a:schemeClr val="tx2"/>
                </a:solidFill>
              </a:rPr>
              <a:t>      </a:t>
            </a:r>
            <a:r>
              <a:rPr lang="en-US" altLang="zh-CN" sz="2800">
                <a:solidFill>
                  <a:schemeClr val="hlink"/>
                </a:solidFill>
                <a:latin typeface="Times New Roman" pitchFamily="18" charset="0"/>
              </a:rPr>
              <a:t>-</a:t>
            </a:r>
            <a:r>
              <a:rPr lang="en-US" altLang="zh-CN" sz="2800">
                <a:solidFill>
                  <a:schemeClr val="tx2"/>
                </a:solidFill>
              </a:rPr>
              <a:t>  </a:t>
            </a:r>
            <a:r>
              <a:rPr lang="zh-CN" altLang="en-US" sz="2800"/>
              <a:t>从网络层取待发分组；</a:t>
            </a:r>
          </a:p>
          <a:p>
            <a:pPr>
              <a:lnSpc>
                <a:spcPct val="90000"/>
              </a:lnSpc>
              <a:buFont typeface="Wingdings" pitchFamily="2" charset="2"/>
              <a:buNone/>
            </a:pPr>
            <a:r>
              <a:rPr lang="zh-CN" altLang="en-US" sz="2800">
                <a:solidFill>
                  <a:schemeClr val="hlink"/>
                </a:solidFill>
                <a:latin typeface="Times New Roman" pitchFamily="18" charset="0"/>
              </a:rPr>
              <a:t>      </a:t>
            </a:r>
            <a:r>
              <a:rPr lang="en-US" altLang="zh-CN" sz="2800">
                <a:solidFill>
                  <a:schemeClr val="hlink"/>
                </a:solidFill>
                <a:latin typeface="Times New Roman" pitchFamily="18" charset="0"/>
              </a:rPr>
              <a:t>-</a:t>
            </a:r>
            <a:r>
              <a:rPr lang="en-US" altLang="zh-CN" sz="2800">
                <a:solidFill>
                  <a:schemeClr val="tx2"/>
                </a:solidFill>
              </a:rPr>
              <a:t>  </a:t>
            </a:r>
            <a:r>
              <a:rPr lang="zh-CN" altLang="en-US" sz="2800"/>
              <a:t>发送该帧，启动计时器；</a:t>
            </a:r>
          </a:p>
          <a:p>
            <a:pPr>
              <a:lnSpc>
                <a:spcPct val="90000"/>
              </a:lnSpc>
              <a:buFont typeface="Wingdings" pitchFamily="2" charset="2"/>
              <a:buNone/>
            </a:pPr>
            <a:r>
              <a:rPr lang="zh-CN" altLang="en-US" sz="2800"/>
              <a:t>      </a:t>
            </a:r>
            <a:r>
              <a:rPr lang="en-US" altLang="zh-CN" sz="2800">
                <a:solidFill>
                  <a:schemeClr val="hlink"/>
                </a:solidFill>
                <a:latin typeface="Times New Roman" pitchFamily="18" charset="0"/>
              </a:rPr>
              <a:t>-</a:t>
            </a:r>
            <a:r>
              <a:rPr lang="en-US" altLang="zh-CN" sz="2800"/>
              <a:t>  </a:t>
            </a:r>
            <a:r>
              <a:rPr lang="zh-CN" altLang="en-US" sz="2800"/>
              <a:t>等待确认帧； </a:t>
            </a:r>
          </a:p>
          <a:p>
            <a:pPr>
              <a:lnSpc>
                <a:spcPct val="90000"/>
              </a:lnSpc>
              <a:buFont typeface="Wingdings" pitchFamily="2" charset="2"/>
              <a:buNone/>
            </a:pPr>
            <a:r>
              <a:rPr lang="zh-CN" altLang="en-US" sz="2800">
                <a:solidFill>
                  <a:schemeClr val="hlink"/>
                </a:solidFill>
                <a:latin typeface="Times New Roman" pitchFamily="18" charset="0"/>
              </a:rPr>
              <a:t>      </a:t>
            </a:r>
            <a:r>
              <a:rPr lang="en-US" altLang="zh-CN" sz="2800">
                <a:solidFill>
                  <a:schemeClr val="hlink"/>
                </a:solidFill>
                <a:latin typeface="Times New Roman" pitchFamily="18" charset="0"/>
              </a:rPr>
              <a:t>-</a:t>
            </a:r>
            <a:r>
              <a:rPr lang="en-US" altLang="zh-CN" sz="2800">
                <a:solidFill>
                  <a:schemeClr val="tx2"/>
                </a:solidFill>
              </a:rPr>
              <a:t>  </a:t>
            </a:r>
            <a:r>
              <a:rPr lang="zh-CN" altLang="en-US" sz="2800"/>
              <a:t>若计时器超时，则重发该帧。</a:t>
            </a:r>
          </a:p>
          <a:p>
            <a:pPr>
              <a:lnSpc>
                <a:spcPct val="90000"/>
              </a:lnSpc>
              <a:buFont typeface="Wingdings" pitchFamily="2" charset="2"/>
              <a:buNone/>
            </a:pPr>
            <a:r>
              <a:rPr lang="zh-CN" altLang="en-US" sz="2800">
                <a:solidFill>
                  <a:schemeClr val="hlink"/>
                </a:solidFill>
                <a:latin typeface="Times New Roman" pitchFamily="18" charset="0"/>
              </a:rPr>
              <a:t>      </a:t>
            </a:r>
            <a:r>
              <a:rPr lang="en-US" altLang="zh-CN" sz="2800">
                <a:solidFill>
                  <a:schemeClr val="hlink"/>
                </a:solidFill>
                <a:latin typeface="Times New Roman" pitchFamily="18" charset="0"/>
              </a:rPr>
              <a:t>-</a:t>
            </a:r>
            <a:r>
              <a:rPr lang="en-US" altLang="zh-CN" sz="2800">
                <a:solidFill>
                  <a:schemeClr val="tx2"/>
                </a:solidFill>
              </a:rPr>
              <a:t>  </a:t>
            </a:r>
            <a:r>
              <a:rPr lang="zh-CN" altLang="en-US" sz="2800"/>
              <a:t>若正确收到确认帧，则帧序号</a:t>
            </a:r>
            <a:r>
              <a:rPr lang="en-US" altLang="zh-CN" sz="2800"/>
              <a:t>+1</a:t>
            </a:r>
            <a:r>
              <a:rPr lang="zh-CN" altLang="en-US" sz="2800"/>
              <a:t>；</a:t>
            </a:r>
            <a:endParaRPr lang="zh-CN" altLang="en-US" sz="2800">
              <a:solidFill>
                <a:schemeClr val="tx2"/>
              </a:solidFill>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Effect transition="in" filter="blinds(horizontal)">
                                      <p:cBhvr>
                                        <p:cTn id="7" dur="500"/>
                                        <p:tgtEl>
                                          <p:spTgt spid="222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2211">
                                            <p:txEl>
                                              <p:pRg st="1" end="1"/>
                                            </p:txEl>
                                          </p:spTgt>
                                        </p:tgtEl>
                                        <p:attrNameLst>
                                          <p:attrName>style.visibility</p:attrName>
                                        </p:attrNameLst>
                                      </p:cBhvr>
                                      <p:to>
                                        <p:strVal val="visible"/>
                                      </p:to>
                                    </p:set>
                                    <p:animEffect transition="in" filter="blinds(horizontal)">
                                      <p:cBhvr>
                                        <p:cTn id="12" dur="500"/>
                                        <p:tgtEl>
                                          <p:spTgt spid="2222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2211">
                                            <p:txEl>
                                              <p:pRg st="2" end="2"/>
                                            </p:txEl>
                                          </p:spTgt>
                                        </p:tgtEl>
                                        <p:attrNameLst>
                                          <p:attrName>style.visibility</p:attrName>
                                        </p:attrNameLst>
                                      </p:cBhvr>
                                      <p:to>
                                        <p:strVal val="visible"/>
                                      </p:to>
                                    </p:set>
                                    <p:animEffect transition="in" filter="blinds(horizontal)">
                                      <p:cBhvr>
                                        <p:cTn id="17" dur="500"/>
                                        <p:tgtEl>
                                          <p:spTgt spid="2222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2211">
                                            <p:txEl>
                                              <p:pRg st="3" end="3"/>
                                            </p:txEl>
                                          </p:spTgt>
                                        </p:tgtEl>
                                        <p:attrNameLst>
                                          <p:attrName>style.visibility</p:attrName>
                                        </p:attrNameLst>
                                      </p:cBhvr>
                                      <p:to>
                                        <p:strVal val="visible"/>
                                      </p:to>
                                    </p:set>
                                    <p:animEffect transition="in" filter="blinds(horizontal)">
                                      <p:cBhvr>
                                        <p:cTn id="22" dur="500"/>
                                        <p:tgtEl>
                                          <p:spTgt spid="2222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2211">
                                            <p:txEl>
                                              <p:pRg st="4" end="4"/>
                                            </p:txEl>
                                          </p:spTgt>
                                        </p:tgtEl>
                                        <p:attrNameLst>
                                          <p:attrName>style.visibility</p:attrName>
                                        </p:attrNameLst>
                                      </p:cBhvr>
                                      <p:to>
                                        <p:strVal val="visible"/>
                                      </p:to>
                                    </p:set>
                                    <p:animEffect transition="in" filter="blinds(horizontal)">
                                      <p:cBhvr>
                                        <p:cTn id="27" dur="500"/>
                                        <p:tgtEl>
                                          <p:spTgt spid="2222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2211">
                                            <p:txEl>
                                              <p:pRg st="5" end="5"/>
                                            </p:txEl>
                                          </p:spTgt>
                                        </p:tgtEl>
                                        <p:attrNameLst>
                                          <p:attrName>style.visibility</p:attrName>
                                        </p:attrNameLst>
                                      </p:cBhvr>
                                      <p:to>
                                        <p:strVal val="visible"/>
                                      </p:to>
                                    </p:set>
                                    <p:animEffect transition="in" filter="blinds(horizontal)">
                                      <p:cBhvr>
                                        <p:cTn id="32" dur="500"/>
                                        <p:tgtEl>
                                          <p:spTgt spid="2222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2211">
                                            <p:txEl>
                                              <p:pRg st="6" end="6"/>
                                            </p:txEl>
                                          </p:spTgt>
                                        </p:tgtEl>
                                        <p:attrNameLst>
                                          <p:attrName>style.visibility</p:attrName>
                                        </p:attrNameLst>
                                      </p:cBhvr>
                                      <p:to>
                                        <p:strVal val="visible"/>
                                      </p:to>
                                    </p:set>
                                    <p:animEffect transition="in" filter="blinds(horizontal)">
                                      <p:cBhvr>
                                        <p:cTn id="37" dur="500"/>
                                        <p:tgtEl>
                                          <p:spTgt spid="2222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2211">
                                            <p:txEl>
                                              <p:pRg st="7" end="7"/>
                                            </p:txEl>
                                          </p:spTgt>
                                        </p:tgtEl>
                                        <p:attrNameLst>
                                          <p:attrName>style.visibility</p:attrName>
                                        </p:attrNameLst>
                                      </p:cBhvr>
                                      <p:to>
                                        <p:strVal val="visible"/>
                                      </p:to>
                                    </p:set>
                                    <p:animEffect transition="in" filter="blinds(horizontal)">
                                      <p:cBhvr>
                                        <p:cTn id="42" dur="500"/>
                                        <p:tgtEl>
                                          <p:spTgt spid="2222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22211">
                                            <p:txEl>
                                              <p:pRg st="8" end="8"/>
                                            </p:txEl>
                                          </p:spTgt>
                                        </p:tgtEl>
                                        <p:attrNameLst>
                                          <p:attrName>style.visibility</p:attrName>
                                        </p:attrNameLst>
                                      </p:cBhvr>
                                      <p:to>
                                        <p:strVal val="visible"/>
                                      </p:to>
                                    </p:set>
                                    <p:animEffect transition="in" filter="blinds(horizontal)">
                                      <p:cBhvr>
                                        <p:cTn id="47" dur="500"/>
                                        <p:tgtEl>
                                          <p:spTgt spid="2222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468313" y="981075"/>
            <a:ext cx="8229600" cy="777875"/>
          </a:xfrm>
        </p:spPr>
        <p:txBody>
          <a:bodyPr/>
          <a:lstStyle/>
          <a:p>
            <a:r>
              <a:rPr lang="en-US" altLang="zh-CN" sz="3600"/>
              <a:t>3.2.3 </a:t>
            </a:r>
            <a:r>
              <a:rPr lang="zh-CN" altLang="en-US" sz="3600"/>
              <a:t>有噪声信道的单工协议（续）</a:t>
            </a:r>
          </a:p>
        </p:txBody>
      </p:sp>
      <p:sp>
        <p:nvSpPr>
          <p:cNvPr id="223235" name="Rectangle 3"/>
          <p:cNvSpPr>
            <a:spLocks noGrp="1" noChangeArrowheads="1"/>
          </p:cNvSpPr>
          <p:nvPr>
            <p:ph type="body" idx="1"/>
          </p:nvPr>
        </p:nvSpPr>
        <p:spPr>
          <a:xfrm>
            <a:off x="395288" y="1916113"/>
            <a:ext cx="8229600" cy="3959225"/>
          </a:xfrm>
        </p:spPr>
        <p:txBody>
          <a:bodyPr/>
          <a:lstStyle/>
          <a:p>
            <a:r>
              <a:rPr lang="zh-CN" altLang="en-US">
                <a:latin typeface="Times New Roman" pitchFamily="18" charset="0"/>
              </a:rPr>
              <a:t>协议</a:t>
            </a:r>
            <a:r>
              <a:rPr lang="en-US" altLang="zh-CN">
                <a:latin typeface="Times New Roman" pitchFamily="18" charset="0"/>
              </a:rPr>
              <a:t>3</a:t>
            </a:r>
            <a:r>
              <a:rPr lang="zh-CN" altLang="en-US">
                <a:latin typeface="Times New Roman" pitchFamily="18" charset="0"/>
              </a:rPr>
              <a:t>（续）：有噪声信道的单工协议</a:t>
            </a:r>
          </a:p>
          <a:p>
            <a:pPr>
              <a:buFont typeface="Wingdings" pitchFamily="2" charset="2"/>
              <a:buNone/>
            </a:pPr>
            <a:r>
              <a:rPr lang="zh-CN" altLang="en-US">
                <a:solidFill>
                  <a:schemeClr val="hlink"/>
                </a:solidFill>
                <a:latin typeface="Times New Roman" pitchFamily="18" charset="0"/>
                <a:cs typeface="Times New Roman" pitchFamily="18" charset="0"/>
              </a:rPr>
              <a:t>  </a:t>
            </a:r>
            <a:r>
              <a:rPr lang="en-US" altLang="zh-CN">
                <a:solidFill>
                  <a:schemeClr val="hlink"/>
                </a:solidFill>
                <a:latin typeface="Times New Roman" pitchFamily="18" charset="0"/>
                <a:cs typeface="Times New Roman" pitchFamily="18" charset="0"/>
              </a:rPr>
              <a:t>•  </a:t>
            </a:r>
            <a:r>
              <a:rPr lang="zh-CN" altLang="en-US">
                <a:latin typeface="Times New Roman" pitchFamily="18" charset="0"/>
              </a:rPr>
              <a:t>协议机制（续） ：</a:t>
            </a:r>
          </a:p>
          <a:p>
            <a:pPr>
              <a:buFont typeface="Wingdings" pitchFamily="2" charset="2"/>
              <a:buNone/>
            </a:pPr>
            <a:r>
              <a:rPr lang="zh-CN" altLang="en-US">
                <a:solidFill>
                  <a:schemeClr val="hlink"/>
                </a:solidFill>
                <a:latin typeface="Times New Roman" pitchFamily="18" charset="0"/>
                <a:cs typeface="Times New Roman" pitchFamily="18" charset="0"/>
              </a:rPr>
              <a:t>    </a:t>
            </a:r>
            <a:r>
              <a:rPr lang="zh-CN" altLang="en-US" b="1">
                <a:solidFill>
                  <a:srgbClr val="FF0000"/>
                </a:solidFill>
                <a:latin typeface="Times New Roman" pitchFamily="18" charset="0"/>
                <a:cs typeface="Times New Roman" pitchFamily="18" charset="0"/>
              </a:rPr>
              <a:t>*  </a:t>
            </a:r>
            <a:r>
              <a:rPr lang="zh-CN" altLang="en-US" b="1">
                <a:solidFill>
                  <a:srgbClr val="FF0000"/>
                </a:solidFill>
                <a:latin typeface="Times New Roman" pitchFamily="18" charset="0"/>
              </a:rPr>
              <a:t>接收方：</a:t>
            </a:r>
          </a:p>
          <a:p>
            <a:pPr>
              <a:buFont typeface="Wingdings" pitchFamily="2" charset="2"/>
              <a:buNone/>
            </a:pPr>
            <a:r>
              <a:rPr lang="zh-CN" altLang="en-US">
                <a:solidFill>
                  <a:schemeClr val="tx2"/>
                </a:solidFill>
                <a:latin typeface="Times New Roman" pitchFamily="18" charset="0"/>
              </a:rPr>
              <a:t>      </a:t>
            </a:r>
            <a:r>
              <a:rPr lang="en-US" altLang="zh-CN">
                <a:solidFill>
                  <a:schemeClr val="hlink"/>
                </a:solidFill>
                <a:latin typeface="Times New Roman" pitchFamily="18" charset="0"/>
              </a:rPr>
              <a:t>-</a:t>
            </a:r>
            <a:r>
              <a:rPr lang="en-US" altLang="zh-CN">
                <a:latin typeface="Times New Roman" pitchFamily="18" charset="0"/>
              </a:rPr>
              <a:t>  </a:t>
            </a:r>
            <a:r>
              <a:rPr lang="zh-CN" altLang="en-US">
                <a:latin typeface="Times New Roman" pitchFamily="18" charset="0"/>
              </a:rPr>
              <a:t>对接收到的帧进行校验和检查，不正确丢弃；</a:t>
            </a:r>
          </a:p>
          <a:p>
            <a:pPr>
              <a:buFont typeface="Wingdings" pitchFamily="2" charset="2"/>
              <a:buNone/>
            </a:pPr>
            <a:r>
              <a:rPr lang="zh-CN" altLang="en-US">
                <a:solidFill>
                  <a:schemeClr val="tx2"/>
                </a:solidFill>
                <a:latin typeface="Times New Roman" pitchFamily="18" charset="0"/>
              </a:rPr>
              <a:t>      </a:t>
            </a:r>
            <a:r>
              <a:rPr lang="en-US" altLang="zh-CN">
                <a:solidFill>
                  <a:schemeClr val="hlink"/>
                </a:solidFill>
                <a:latin typeface="Times New Roman" pitchFamily="18" charset="0"/>
              </a:rPr>
              <a:t>-</a:t>
            </a:r>
            <a:r>
              <a:rPr lang="en-US" altLang="zh-CN">
                <a:solidFill>
                  <a:schemeClr val="tx2"/>
                </a:solidFill>
                <a:latin typeface="Times New Roman" pitchFamily="18" charset="0"/>
              </a:rPr>
              <a:t>  </a:t>
            </a:r>
            <a:r>
              <a:rPr lang="zh-CN" altLang="en-US">
                <a:latin typeface="Times New Roman" pitchFamily="18" charset="0"/>
              </a:rPr>
              <a:t>若正确，则将分组递交网络层，且发确认帧。</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Effect transition="in" filter="blinds(horizontal)">
                                      <p:cBhvr>
                                        <p:cTn id="7" dur="500"/>
                                        <p:tgtEl>
                                          <p:spTgt spid="2232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3235">
                                            <p:txEl>
                                              <p:pRg st="1" end="1"/>
                                            </p:txEl>
                                          </p:spTgt>
                                        </p:tgtEl>
                                        <p:attrNameLst>
                                          <p:attrName>style.visibility</p:attrName>
                                        </p:attrNameLst>
                                      </p:cBhvr>
                                      <p:to>
                                        <p:strVal val="visible"/>
                                      </p:to>
                                    </p:set>
                                    <p:animEffect transition="in" filter="blinds(horizontal)">
                                      <p:cBhvr>
                                        <p:cTn id="12" dur="500"/>
                                        <p:tgtEl>
                                          <p:spTgt spid="2232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3235">
                                            <p:txEl>
                                              <p:pRg st="2" end="2"/>
                                            </p:txEl>
                                          </p:spTgt>
                                        </p:tgtEl>
                                        <p:attrNameLst>
                                          <p:attrName>style.visibility</p:attrName>
                                        </p:attrNameLst>
                                      </p:cBhvr>
                                      <p:to>
                                        <p:strVal val="visible"/>
                                      </p:to>
                                    </p:set>
                                    <p:animEffect transition="in" filter="blinds(horizontal)">
                                      <p:cBhvr>
                                        <p:cTn id="17" dur="500"/>
                                        <p:tgtEl>
                                          <p:spTgt spid="2232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3235">
                                            <p:txEl>
                                              <p:pRg st="3" end="3"/>
                                            </p:txEl>
                                          </p:spTgt>
                                        </p:tgtEl>
                                        <p:attrNameLst>
                                          <p:attrName>style.visibility</p:attrName>
                                        </p:attrNameLst>
                                      </p:cBhvr>
                                      <p:to>
                                        <p:strVal val="visible"/>
                                      </p:to>
                                    </p:set>
                                    <p:animEffect transition="in" filter="blinds(horizontal)">
                                      <p:cBhvr>
                                        <p:cTn id="22" dur="500"/>
                                        <p:tgtEl>
                                          <p:spTgt spid="2232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3235">
                                            <p:txEl>
                                              <p:pRg st="4" end="4"/>
                                            </p:txEl>
                                          </p:spTgt>
                                        </p:tgtEl>
                                        <p:attrNameLst>
                                          <p:attrName>style.visibility</p:attrName>
                                        </p:attrNameLst>
                                      </p:cBhvr>
                                      <p:to>
                                        <p:strVal val="visible"/>
                                      </p:to>
                                    </p:set>
                                    <p:animEffect transition="in" filter="blinds(horizontal)">
                                      <p:cBhvr>
                                        <p:cTn id="27" dur="500"/>
                                        <p:tgtEl>
                                          <p:spTgt spid="2232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p:txBody>
          <a:bodyPr/>
          <a:lstStyle/>
          <a:p>
            <a:r>
              <a:rPr lang="zh-CN" altLang="en-US" dirty="0"/>
              <a:t>图示差错控制</a:t>
            </a:r>
            <a:r>
              <a:rPr lang="zh-CN" altLang="en-US" sz="4000" dirty="0"/>
              <a:t/>
            </a:r>
            <a:br>
              <a:rPr lang="zh-CN" altLang="en-US" sz="4000" dirty="0"/>
            </a:br>
            <a:r>
              <a:rPr lang="zh-CN" altLang="en-US" sz="2800" dirty="0" smtClean="0">
                <a:latin typeface="+mj-ea"/>
              </a:rPr>
              <a:t>（停</a:t>
            </a:r>
            <a:r>
              <a:rPr lang="en-US" altLang="zh-CN" sz="2800" dirty="0" smtClean="0">
                <a:latin typeface="+mj-ea"/>
              </a:rPr>
              <a:t>-</a:t>
            </a:r>
            <a:r>
              <a:rPr lang="zh-CN" altLang="en-US" sz="2800" dirty="0" smtClean="0">
                <a:latin typeface="+mj-ea"/>
              </a:rPr>
              <a:t>等式协议）</a:t>
            </a:r>
            <a:endParaRPr lang="zh-CN" altLang="en-US" sz="2800" dirty="0">
              <a:latin typeface="+mj-ea"/>
            </a:endParaRPr>
          </a:p>
        </p:txBody>
      </p:sp>
      <p:sp>
        <p:nvSpPr>
          <p:cNvPr id="64102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41029" name="Freeform 5"/>
          <p:cNvSpPr>
            <a:spLocks/>
          </p:cNvSpPr>
          <p:nvPr/>
        </p:nvSpPr>
        <p:spPr bwMode="auto">
          <a:xfrm>
            <a:off x="985838" y="2124075"/>
            <a:ext cx="1096962" cy="696913"/>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Lst>
            <a:ahLst/>
            <a:cxnLst>
              <a:cxn ang="0">
                <a:pos x="T0" y="T1"/>
              </a:cxn>
              <a:cxn ang="0">
                <a:pos x="T2" y="T3"/>
              </a:cxn>
              <a:cxn ang="0">
                <a:pos x="T4" y="T5"/>
              </a:cxn>
              <a:cxn ang="0">
                <a:pos x="T6" y="T7"/>
              </a:cxn>
              <a:cxn ang="0">
                <a:pos x="T8" y="T9"/>
              </a:cxn>
            </a:cxnLst>
            <a:rect l="0" t="0" r="r" b="b"/>
            <a:pathLst>
              <a:path w="769" h="466">
                <a:moveTo>
                  <a:pt x="0" y="0"/>
                </a:moveTo>
                <a:lnTo>
                  <a:pt x="768" y="145"/>
                </a:lnTo>
                <a:lnTo>
                  <a:pt x="768" y="465"/>
                </a:lnTo>
                <a:lnTo>
                  <a:pt x="0" y="320"/>
                </a:lnTo>
                <a:lnTo>
                  <a:pt x="0"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030" name="Freeform 6"/>
          <p:cNvSpPr>
            <a:spLocks/>
          </p:cNvSpPr>
          <p:nvPr/>
        </p:nvSpPr>
        <p:spPr bwMode="auto">
          <a:xfrm>
            <a:off x="981075" y="3459163"/>
            <a:ext cx="1106488" cy="681037"/>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Lst>
            <a:ahLst/>
            <a:cxnLst>
              <a:cxn ang="0">
                <a:pos x="T0" y="T1"/>
              </a:cxn>
              <a:cxn ang="0">
                <a:pos x="T2" y="T3"/>
              </a:cxn>
              <a:cxn ang="0">
                <a:pos x="T4" y="T5"/>
              </a:cxn>
              <a:cxn ang="0">
                <a:pos x="T6" y="T7"/>
              </a:cxn>
              <a:cxn ang="0">
                <a:pos x="T8" y="T9"/>
              </a:cxn>
            </a:cxnLst>
            <a:rect l="0" t="0" r="r" b="b"/>
            <a:pathLst>
              <a:path w="769" h="466">
                <a:moveTo>
                  <a:pt x="0" y="0"/>
                </a:moveTo>
                <a:lnTo>
                  <a:pt x="768" y="145"/>
                </a:lnTo>
                <a:lnTo>
                  <a:pt x="768" y="465"/>
                </a:lnTo>
                <a:lnTo>
                  <a:pt x="0" y="320"/>
                </a:lnTo>
                <a:lnTo>
                  <a:pt x="0"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031" name="Line 7"/>
          <p:cNvSpPr>
            <a:spLocks noChangeShapeType="1"/>
          </p:cNvSpPr>
          <p:nvPr/>
        </p:nvSpPr>
        <p:spPr bwMode="auto">
          <a:xfrm>
            <a:off x="706438" y="2233613"/>
            <a:ext cx="0" cy="2082800"/>
          </a:xfrm>
          <a:prstGeom prst="line">
            <a:avLst/>
          </a:prstGeom>
          <a:noFill/>
          <a:ln w="12700">
            <a:solidFill>
              <a:schemeClr val="tx1"/>
            </a:solidFill>
            <a:round/>
            <a:headEnd type="non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32" name="Rectangle 8"/>
          <p:cNvSpPr>
            <a:spLocks noChangeArrowheads="1"/>
          </p:cNvSpPr>
          <p:nvPr/>
        </p:nvSpPr>
        <p:spPr bwMode="auto">
          <a:xfrm>
            <a:off x="533400" y="4381500"/>
            <a:ext cx="412750"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时</a:t>
            </a:r>
          </a:p>
          <a:p>
            <a:pPr eaLnBrk="0" hangingPunct="0">
              <a:buClrTx/>
              <a:buFontTx/>
              <a:buNone/>
            </a:pPr>
            <a:r>
              <a:rPr lang="zh-CN" altLang="en-US" sz="1800" b="1">
                <a:latin typeface="+mn-lt"/>
                <a:ea typeface="+mn-ea"/>
              </a:rPr>
              <a:t>间</a:t>
            </a:r>
          </a:p>
        </p:txBody>
      </p:sp>
      <p:sp>
        <p:nvSpPr>
          <p:cNvPr id="641033" name="Line 9"/>
          <p:cNvSpPr>
            <a:spLocks noChangeShapeType="1"/>
          </p:cNvSpPr>
          <p:nvPr/>
        </p:nvSpPr>
        <p:spPr bwMode="auto">
          <a:xfrm>
            <a:off x="971550" y="1989138"/>
            <a:ext cx="0" cy="2940050"/>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34" name="Line 10"/>
          <p:cNvSpPr>
            <a:spLocks noChangeShapeType="1"/>
          </p:cNvSpPr>
          <p:nvPr/>
        </p:nvSpPr>
        <p:spPr bwMode="auto">
          <a:xfrm>
            <a:off x="2093913" y="1979613"/>
            <a:ext cx="0" cy="2940050"/>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35" name="Rectangle 11"/>
          <p:cNvSpPr>
            <a:spLocks noChangeArrowheads="1"/>
          </p:cNvSpPr>
          <p:nvPr/>
        </p:nvSpPr>
        <p:spPr bwMode="auto">
          <a:xfrm>
            <a:off x="803275" y="1679575"/>
            <a:ext cx="3492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a:t>
            </a:r>
          </a:p>
        </p:txBody>
      </p:sp>
      <p:sp>
        <p:nvSpPr>
          <p:cNvPr id="641036" name="Rectangle 12"/>
          <p:cNvSpPr>
            <a:spLocks noChangeArrowheads="1"/>
          </p:cNvSpPr>
          <p:nvPr/>
        </p:nvSpPr>
        <p:spPr bwMode="auto">
          <a:xfrm>
            <a:off x="1928813" y="1679575"/>
            <a:ext cx="352661" cy="36997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B</a:t>
            </a:r>
          </a:p>
        </p:txBody>
      </p:sp>
      <p:sp>
        <p:nvSpPr>
          <p:cNvPr id="641037" name="Line 13"/>
          <p:cNvSpPr>
            <a:spLocks noChangeShapeType="1"/>
          </p:cNvSpPr>
          <p:nvPr/>
        </p:nvSpPr>
        <p:spPr bwMode="auto">
          <a:xfrm>
            <a:off x="971550" y="2111375"/>
            <a:ext cx="1119188" cy="206375"/>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38" name="Line 14"/>
          <p:cNvSpPr>
            <a:spLocks noChangeShapeType="1"/>
          </p:cNvSpPr>
          <p:nvPr/>
        </p:nvSpPr>
        <p:spPr bwMode="auto">
          <a:xfrm>
            <a:off x="985838" y="2632075"/>
            <a:ext cx="1104900" cy="192088"/>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1039" name="Group 15"/>
          <p:cNvGrpSpPr>
            <a:grpSpLocks/>
          </p:cNvGrpSpPr>
          <p:nvPr/>
        </p:nvGrpSpPr>
        <p:grpSpPr bwMode="auto">
          <a:xfrm>
            <a:off x="1105459" y="2321047"/>
            <a:ext cx="804870" cy="369646"/>
            <a:chOff x="444" y="772"/>
            <a:chExt cx="564" cy="252"/>
          </a:xfrm>
        </p:grpSpPr>
        <p:sp>
          <p:nvSpPr>
            <p:cNvPr id="641040" name="Freeform 16"/>
            <p:cNvSpPr>
              <a:spLocks/>
            </p:cNvSpPr>
            <p:nvPr/>
          </p:nvSpPr>
          <p:spPr bwMode="auto">
            <a:xfrm>
              <a:off x="444" y="774"/>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Lst>
              <a:ahLst/>
              <a:cxnLst>
                <a:cxn ang="0">
                  <a:pos x="T0" y="T1"/>
                </a:cxn>
                <a:cxn ang="0">
                  <a:pos x="T2" y="T3"/>
                </a:cxn>
                <a:cxn ang="0">
                  <a:pos x="T4" y="T5"/>
                </a:cxn>
                <a:cxn ang="0">
                  <a:pos x="T6" y="T7"/>
                </a:cxn>
                <a:cxn ang="0">
                  <a:pos x="T8" y="T9"/>
                </a:cxn>
              </a:cxnLst>
              <a:rect l="0" t="0" r="r" b="b"/>
              <a:pathLst>
                <a:path w="445" h="187">
                  <a:moveTo>
                    <a:pt x="6" y="0"/>
                  </a:moveTo>
                  <a:lnTo>
                    <a:pt x="444" y="60"/>
                  </a:lnTo>
                  <a:lnTo>
                    <a:pt x="444" y="186"/>
                  </a:lnTo>
                  <a:lnTo>
                    <a:pt x="0" y="120"/>
                  </a:lnTo>
                  <a:lnTo>
                    <a:pt x="6"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041" name="Rectangle 17"/>
            <p:cNvSpPr>
              <a:spLocks noChangeArrowheads="1"/>
            </p:cNvSpPr>
            <p:nvPr/>
          </p:nvSpPr>
          <p:spPr bwMode="auto">
            <a:xfrm rot="540000">
              <a:off x="452" y="772"/>
              <a:ext cx="556" cy="252"/>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smtClean="0">
                  <a:latin typeface="+mn-lt"/>
                  <a:ea typeface="+mn-ea"/>
                </a:rPr>
                <a:t>DATA</a:t>
              </a:r>
              <a:endParaRPr lang="en-US" altLang="zh-CN" sz="1800" b="1" dirty="0">
                <a:latin typeface="+mn-lt"/>
                <a:ea typeface="+mn-ea"/>
              </a:endParaRPr>
            </a:p>
          </p:txBody>
        </p:sp>
      </p:grpSp>
      <p:sp>
        <p:nvSpPr>
          <p:cNvPr id="641042" name="AutoShape 18"/>
          <p:cNvSpPr>
            <a:spLocks noChangeArrowheads="1"/>
          </p:cNvSpPr>
          <p:nvPr/>
        </p:nvSpPr>
        <p:spPr bwMode="auto">
          <a:xfrm rot="480000">
            <a:off x="1866900" y="2525713"/>
            <a:ext cx="292100" cy="96837"/>
          </a:xfrm>
          <a:prstGeom prst="rightArrow">
            <a:avLst>
              <a:gd name="adj1" fmla="val 50000"/>
              <a:gd name="adj2" fmla="val 125223"/>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43" name="Line 19"/>
          <p:cNvSpPr>
            <a:spLocks noChangeShapeType="1"/>
          </p:cNvSpPr>
          <p:nvPr/>
        </p:nvSpPr>
        <p:spPr bwMode="auto">
          <a:xfrm>
            <a:off x="2116138" y="2849563"/>
            <a:ext cx="227012" cy="0"/>
          </a:xfrm>
          <a:prstGeom prst="line">
            <a:avLst/>
          </a:prstGeom>
          <a:noFill/>
          <a:ln w="12700">
            <a:solidFill>
              <a:schemeClr val="tx1"/>
            </a:solidFill>
            <a:round/>
            <a:headEnd type="non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44" name="Rectangle 20"/>
          <p:cNvSpPr>
            <a:spLocks noChangeArrowheads="1"/>
          </p:cNvSpPr>
          <p:nvPr/>
        </p:nvSpPr>
        <p:spPr bwMode="auto">
          <a:xfrm>
            <a:off x="2184400" y="2820988"/>
            <a:ext cx="412750" cy="9159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送</a:t>
            </a:r>
          </a:p>
          <a:p>
            <a:pPr eaLnBrk="0" hangingPunct="0">
              <a:buClrTx/>
              <a:buFontTx/>
              <a:buNone/>
            </a:pPr>
            <a:r>
              <a:rPr lang="zh-CN" altLang="en-US" sz="1800" b="1">
                <a:latin typeface="+mn-lt"/>
                <a:ea typeface="+mn-ea"/>
              </a:rPr>
              <a:t>主</a:t>
            </a:r>
          </a:p>
          <a:p>
            <a:pPr eaLnBrk="0" hangingPunct="0">
              <a:buClrTx/>
              <a:buFontTx/>
              <a:buNone/>
            </a:pPr>
            <a:r>
              <a:rPr lang="zh-CN" altLang="en-US" sz="1800" b="1">
                <a:latin typeface="+mn-lt"/>
                <a:ea typeface="+mn-ea"/>
              </a:rPr>
              <a:t>机</a:t>
            </a:r>
          </a:p>
        </p:txBody>
      </p:sp>
      <p:sp>
        <p:nvSpPr>
          <p:cNvPr id="641045" name="Line 21"/>
          <p:cNvSpPr>
            <a:spLocks noChangeShapeType="1"/>
          </p:cNvSpPr>
          <p:nvPr/>
        </p:nvSpPr>
        <p:spPr bwMode="auto">
          <a:xfrm flipH="1">
            <a:off x="981075" y="2938463"/>
            <a:ext cx="1109663" cy="206375"/>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46" name="Line 22"/>
          <p:cNvSpPr>
            <a:spLocks noChangeShapeType="1"/>
          </p:cNvSpPr>
          <p:nvPr/>
        </p:nvSpPr>
        <p:spPr bwMode="auto">
          <a:xfrm flipH="1">
            <a:off x="981075" y="3157538"/>
            <a:ext cx="1117600" cy="22225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47" name="Rectangle 23"/>
          <p:cNvSpPr>
            <a:spLocks noChangeArrowheads="1"/>
          </p:cNvSpPr>
          <p:nvPr/>
        </p:nvSpPr>
        <p:spPr bwMode="auto">
          <a:xfrm rot="21060000">
            <a:off x="1419225" y="2917825"/>
            <a:ext cx="6794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ACK</a:t>
            </a:r>
          </a:p>
        </p:txBody>
      </p:sp>
      <p:sp>
        <p:nvSpPr>
          <p:cNvPr id="641048" name="Line 24"/>
          <p:cNvSpPr>
            <a:spLocks noChangeShapeType="1"/>
          </p:cNvSpPr>
          <p:nvPr/>
        </p:nvSpPr>
        <p:spPr bwMode="auto">
          <a:xfrm>
            <a:off x="966788" y="3446463"/>
            <a:ext cx="1117600" cy="204787"/>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49" name="Line 25"/>
          <p:cNvSpPr>
            <a:spLocks noChangeShapeType="1"/>
          </p:cNvSpPr>
          <p:nvPr/>
        </p:nvSpPr>
        <p:spPr bwMode="auto">
          <a:xfrm>
            <a:off x="981075" y="3967163"/>
            <a:ext cx="1103313" cy="192087"/>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1050" name="Group 26"/>
          <p:cNvGrpSpPr>
            <a:grpSpLocks/>
          </p:cNvGrpSpPr>
          <p:nvPr/>
        </p:nvGrpSpPr>
        <p:grpSpPr bwMode="auto">
          <a:xfrm>
            <a:off x="1099099" y="3659314"/>
            <a:ext cx="799927" cy="369635"/>
            <a:chOff x="441" y="1688"/>
            <a:chExt cx="558" cy="253"/>
          </a:xfrm>
        </p:grpSpPr>
        <p:sp>
          <p:nvSpPr>
            <p:cNvPr id="641051" name="Freeform 27"/>
            <p:cNvSpPr>
              <a:spLocks/>
            </p:cNvSpPr>
            <p:nvPr/>
          </p:nvSpPr>
          <p:spPr bwMode="auto">
            <a:xfrm>
              <a:off x="441" y="1689"/>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Lst>
              <a:ahLst/>
              <a:cxnLst>
                <a:cxn ang="0">
                  <a:pos x="T0" y="T1"/>
                </a:cxn>
                <a:cxn ang="0">
                  <a:pos x="T2" y="T3"/>
                </a:cxn>
                <a:cxn ang="0">
                  <a:pos x="T4" y="T5"/>
                </a:cxn>
                <a:cxn ang="0">
                  <a:pos x="T6" y="T7"/>
                </a:cxn>
                <a:cxn ang="0">
                  <a:pos x="T8" y="T9"/>
                </a:cxn>
              </a:cxnLst>
              <a:rect l="0" t="0" r="r" b="b"/>
              <a:pathLst>
                <a:path w="445" h="187">
                  <a:moveTo>
                    <a:pt x="6" y="0"/>
                  </a:moveTo>
                  <a:lnTo>
                    <a:pt x="444" y="60"/>
                  </a:lnTo>
                  <a:lnTo>
                    <a:pt x="444" y="186"/>
                  </a:lnTo>
                  <a:lnTo>
                    <a:pt x="0" y="120"/>
                  </a:lnTo>
                  <a:lnTo>
                    <a:pt x="6"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052" name="Rectangle 28"/>
            <p:cNvSpPr>
              <a:spLocks noChangeArrowheads="1"/>
            </p:cNvSpPr>
            <p:nvPr/>
          </p:nvSpPr>
          <p:spPr bwMode="auto">
            <a:xfrm rot="540000">
              <a:off x="446" y="1688"/>
              <a:ext cx="553" cy="253"/>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smtClean="0">
                  <a:latin typeface="+mn-lt"/>
                  <a:ea typeface="+mn-ea"/>
                </a:rPr>
                <a:t>DATA</a:t>
              </a:r>
              <a:endParaRPr lang="en-US" altLang="zh-CN" sz="1800" b="1" dirty="0">
                <a:latin typeface="+mn-lt"/>
                <a:ea typeface="+mn-ea"/>
              </a:endParaRPr>
            </a:p>
          </p:txBody>
        </p:sp>
      </p:grpSp>
      <p:sp>
        <p:nvSpPr>
          <p:cNvPr id="641053" name="AutoShape 29"/>
          <p:cNvSpPr>
            <a:spLocks noChangeArrowheads="1"/>
          </p:cNvSpPr>
          <p:nvPr/>
        </p:nvSpPr>
        <p:spPr bwMode="auto">
          <a:xfrm rot="480000">
            <a:off x="1868488" y="3898900"/>
            <a:ext cx="290512" cy="96838"/>
          </a:xfrm>
          <a:prstGeom prst="rightArrow">
            <a:avLst>
              <a:gd name="adj1" fmla="val 50000"/>
              <a:gd name="adj2" fmla="val 124541"/>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54" name="Line 30"/>
          <p:cNvSpPr>
            <a:spLocks noChangeShapeType="1"/>
          </p:cNvSpPr>
          <p:nvPr/>
        </p:nvSpPr>
        <p:spPr bwMode="auto">
          <a:xfrm>
            <a:off x="2111375" y="4186238"/>
            <a:ext cx="227013" cy="0"/>
          </a:xfrm>
          <a:prstGeom prst="line">
            <a:avLst/>
          </a:prstGeom>
          <a:noFill/>
          <a:ln w="12700">
            <a:solidFill>
              <a:schemeClr val="tx1"/>
            </a:solidFill>
            <a:round/>
            <a:headEnd type="non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55" name="Rectangle 31"/>
          <p:cNvSpPr>
            <a:spLocks noChangeArrowheads="1"/>
          </p:cNvSpPr>
          <p:nvPr/>
        </p:nvSpPr>
        <p:spPr bwMode="auto">
          <a:xfrm>
            <a:off x="2185988" y="4152900"/>
            <a:ext cx="412750" cy="9159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送</a:t>
            </a:r>
          </a:p>
          <a:p>
            <a:pPr eaLnBrk="0" hangingPunct="0">
              <a:buClrTx/>
              <a:buFontTx/>
              <a:buNone/>
            </a:pPr>
            <a:r>
              <a:rPr lang="zh-CN" altLang="en-US" sz="1800" b="1">
                <a:latin typeface="+mn-lt"/>
                <a:ea typeface="+mn-ea"/>
              </a:rPr>
              <a:t>主</a:t>
            </a:r>
          </a:p>
          <a:p>
            <a:pPr eaLnBrk="0" hangingPunct="0">
              <a:buClrTx/>
              <a:buFontTx/>
              <a:buNone/>
            </a:pPr>
            <a:r>
              <a:rPr lang="zh-CN" altLang="en-US" sz="1800" b="1">
                <a:latin typeface="+mn-lt"/>
                <a:ea typeface="+mn-ea"/>
              </a:rPr>
              <a:t>机</a:t>
            </a:r>
          </a:p>
        </p:txBody>
      </p:sp>
      <p:sp>
        <p:nvSpPr>
          <p:cNvPr id="641056" name="Line 32"/>
          <p:cNvSpPr>
            <a:spLocks noChangeShapeType="1"/>
          </p:cNvSpPr>
          <p:nvPr/>
        </p:nvSpPr>
        <p:spPr bwMode="auto">
          <a:xfrm flipH="1">
            <a:off x="974725" y="4273550"/>
            <a:ext cx="1109663" cy="206375"/>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57" name="Line 33"/>
          <p:cNvSpPr>
            <a:spLocks noChangeShapeType="1"/>
          </p:cNvSpPr>
          <p:nvPr/>
        </p:nvSpPr>
        <p:spPr bwMode="auto">
          <a:xfrm flipH="1">
            <a:off x="974725" y="4491038"/>
            <a:ext cx="1119188" cy="223837"/>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58" name="Rectangle 34"/>
          <p:cNvSpPr>
            <a:spLocks noChangeArrowheads="1"/>
          </p:cNvSpPr>
          <p:nvPr/>
        </p:nvSpPr>
        <p:spPr bwMode="auto">
          <a:xfrm rot="21060000">
            <a:off x="1452563" y="4256088"/>
            <a:ext cx="6794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ACK</a:t>
            </a:r>
          </a:p>
        </p:txBody>
      </p:sp>
      <p:sp>
        <p:nvSpPr>
          <p:cNvPr id="641059" name="Line 35"/>
          <p:cNvSpPr>
            <a:spLocks noChangeShapeType="1"/>
          </p:cNvSpPr>
          <p:nvPr/>
        </p:nvSpPr>
        <p:spPr bwMode="auto">
          <a:xfrm flipV="1">
            <a:off x="1100138" y="3152775"/>
            <a:ext cx="373062" cy="79375"/>
          </a:xfrm>
          <a:prstGeom prst="line">
            <a:avLst/>
          </a:prstGeom>
          <a:noFill/>
          <a:ln w="12700">
            <a:solidFill>
              <a:schemeClr val="tx1"/>
            </a:solidFill>
            <a:round/>
            <a:headEnd type="triangle" w="sm" len="lg"/>
            <a:tailEnd type="non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60" name="Line 36"/>
          <p:cNvSpPr>
            <a:spLocks noChangeShapeType="1"/>
          </p:cNvSpPr>
          <p:nvPr/>
        </p:nvSpPr>
        <p:spPr bwMode="auto">
          <a:xfrm flipV="1">
            <a:off x="1122363" y="4491038"/>
            <a:ext cx="388937" cy="76200"/>
          </a:xfrm>
          <a:prstGeom prst="line">
            <a:avLst/>
          </a:prstGeom>
          <a:noFill/>
          <a:ln w="12700">
            <a:solidFill>
              <a:schemeClr val="tx1"/>
            </a:solidFill>
            <a:round/>
            <a:headEnd type="triangle" w="sm" len="lg"/>
            <a:tailEnd type="non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61" name="Rectangle 37"/>
          <p:cNvSpPr>
            <a:spLocks noChangeArrowheads="1"/>
          </p:cNvSpPr>
          <p:nvPr/>
        </p:nvSpPr>
        <p:spPr bwMode="auto">
          <a:xfrm>
            <a:off x="803275" y="5187950"/>
            <a:ext cx="144780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a:latin typeface="+mn-lt"/>
                <a:ea typeface="+mn-ea"/>
              </a:rPr>
              <a:t>(a) </a:t>
            </a:r>
            <a:r>
              <a:rPr lang="zh-CN" altLang="en-US" sz="1800" b="1" dirty="0">
                <a:latin typeface="+mn-lt"/>
                <a:ea typeface="+mn-ea"/>
              </a:rPr>
              <a:t>正常情况</a:t>
            </a:r>
          </a:p>
        </p:txBody>
      </p:sp>
      <p:grpSp>
        <p:nvGrpSpPr>
          <p:cNvPr id="641062" name="Group 38"/>
          <p:cNvGrpSpPr>
            <a:grpSpLocks/>
          </p:cNvGrpSpPr>
          <p:nvPr/>
        </p:nvGrpSpPr>
        <p:grpSpPr bwMode="auto">
          <a:xfrm>
            <a:off x="4924427" y="1700213"/>
            <a:ext cx="2065338" cy="3844925"/>
            <a:chOff x="2980" y="1299"/>
            <a:chExt cx="1301" cy="2422"/>
          </a:xfrm>
        </p:grpSpPr>
        <p:sp>
          <p:nvSpPr>
            <p:cNvPr id="641063" name="Freeform 39"/>
            <p:cNvSpPr>
              <a:spLocks/>
            </p:cNvSpPr>
            <p:nvPr/>
          </p:nvSpPr>
          <p:spPr bwMode="auto">
            <a:xfrm>
              <a:off x="3249" y="1574"/>
              <a:ext cx="697" cy="444"/>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Lst>
              <a:ahLst/>
              <a:cxnLst>
                <a:cxn ang="0">
                  <a:pos x="T0" y="T1"/>
                </a:cxn>
                <a:cxn ang="0">
                  <a:pos x="T2" y="T3"/>
                </a:cxn>
                <a:cxn ang="0">
                  <a:pos x="T4" y="T5"/>
                </a:cxn>
                <a:cxn ang="0">
                  <a:pos x="T6" y="T7"/>
                </a:cxn>
                <a:cxn ang="0">
                  <a:pos x="T8" y="T9"/>
                </a:cxn>
              </a:cxnLst>
              <a:rect l="0" t="0" r="r" b="b"/>
              <a:pathLst>
                <a:path w="769" h="466">
                  <a:moveTo>
                    <a:pt x="0" y="0"/>
                  </a:moveTo>
                  <a:lnTo>
                    <a:pt x="768" y="145"/>
                  </a:lnTo>
                  <a:lnTo>
                    <a:pt x="768" y="465"/>
                  </a:lnTo>
                  <a:lnTo>
                    <a:pt x="0" y="320"/>
                  </a:lnTo>
                  <a:lnTo>
                    <a:pt x="0"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064" name="Freeform 40"/>
            <p:cNvSpPr>
              <a:spLocks/>
            </p:cNvSpPr>
            <p:nvPr/>
          </p:nvSpPr>
          <p:spPr bwMode="auto">
            <a:xfrm>
              <a:off x="3252" y="2420"/>
              <a:ext cx="696" cy="434"/>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Lst>
              <a:ahLst/>
              <a:cxnLst>
                <a:cxn ang="0">
                  <a:pos x="T0" y="T1"/>
                </a:cxn>
                <a:cxn ang="0">
                  <a:pos x="T2" y="T3"/>
                </a:cxn>
                <a:cxn ang="0">
                  <a:pos x="T4" y="T5"/>
                </a:cxn>
                <a:cxn ang="0">
                  <a:pos x="T6" y="T7"/>
                </a:cxn>
                <a:cxn ang="0">
                  <a:pos x="T8" y="T9"/>
                </a:cxn>
              </a:cxnLst>
              <a:rect l="0" t="0" r="r" b="b"/>
              <a:pathLst>
                <a:path w="769" h="466">
                  <a:moveTo>
                    <a:pt x="0" y="0"/>
                  </a:moveTo>
                  <a:lnTo>
                    <a:pt x="768" y="145"/>
                  </a:lnTo>
                  <a:lnTo>
                    <a:pt x="768" y="465"/>
                  </a:lnTo>
                  <a:lnTo>
                    <a:pt x="0" y="320"/>
                  </a:lnTo>
                  <a:lnTo>
                    <a:pt x="0"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065" name="Rectangle 41"/>
            <p:cNvSpPr>
              <a:spLocks noChangeArrowheads="1"/>
            </p:cNvSpPr>
            <p:nvPr/>
          </p:nvSpPr>
          <p:spPr bwMode="auto">
            <a:xfrm>
              <a:off x="3134" y="1299"/>
              <a:ext cx="22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a:t>
              </a:r>
            </a:p>
          </p:txBody>
        </p:sp>
        <p:sp>
          <p:nvSpPr>
            <p:cNvPr id="641066" name="Rectangle 42"/>
            <p:cNvSpPr>
              <a:spLocks noChangeArrowheads="1"/>
            </p:cNvSpPr>
            <p:nvPr/>
          </p:nvSpPr>
          <p:spPr bwMode="auto">
            <a:xfrm>
              <a:off x="3849" y="1299"/>
              <a:ext cx="222"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B</a:t>
              </a:r>
            </a:p>
          </p:txBody>
        </p:sp>
        <p:sp>
          <p:nvSpPr>
            <p:cNvPr id="641067" name="Line 43"/>
            <p:cNvSpPr>
              <a:spLocks noChangeShapeType="1"/>
            </p:cNvSpPr>
            <p:nvPr/>
          </p:nvSpPr>
          <p:spPr bwMode="auto">
            <a:xfrm>
              <a:off x="3246" y="1571"/>
              <a:ext cx="705" cy="130"/>
            </a:xfrm>
            <a:prstGeom prst="line">
              <a:avLst/>
            </a:prstGeom>
            <a:noFill/>
            <a:ln w="12700">
              <a:solidFill>
                <a:schemeClr val="tx1"/>
              </a:solidFill>
              <a:round/>
              <a:headEnd type="none" w="sm" len="sm"/>
              <a:tailEnd type="none" w="sm" len="sm"/>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68" name="Line 44"/>
            <p:cNvSpPr>
              <a:spLocks noChangeShapeType="1"/>
            </p:cNvSpPr>
            <p:nvPr/>
          </p:nvSpPr>
          <p:spPr bwMode="auto">
            <a:xfrm>
              <a:off x="3255" y="1899"/>
              <a:ext cx="696" cy="121"/>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69" name="Freeform 45"/>
            <p:cNvSpPr>
              <a:spLocks/>
            </p:cNvSpPr>
            <p:nvPr/>
          </p:nvSpPr>
          <p:spPr bwMode="auto">
            <a:xfrm>
              <a:off x="3330" y="1706"/>
              <a:ext cx="401" cy="173"/>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Lst>
              <a:ahLst/>
              <a:cxnLst>
                <a:cxn ang="0">
                  <a:pos x="T0" y="T1"/>
                </a:cxn>
                <a:cxn ang="0">
                  <a:pos x="T2" y="T3"/>
                </a:cxn>
                <a:cxn ang="0">
                  <a:pos x="T4" y="T5"/>
                </a:cxn>
                <a:cxn ang="0">
                  <a:pos x="T6" y="T7"/>
                </a:cxn>
                <a:cxn ang="0">
                  <a:pos x="T8" y="T9"/>
                </a:cxn>
              </a:cxnLst>
              <a:rect l="0" t="0" r="r" b="b"/>
              <a:pathLst>
                <a:path w="445" h="187">
                  <a:moveTo>
                    <a:pt x="6" y="0"/>
                  </a:moveTo>
                  <a:lnTo>
                    <a:pt x="444" y="60"/>
                  </a:lnTo>
                  <a:lnTo>
                    <a:pt x="444" y="186"/>
                  </a:lnTo>
                  <a:lnTo>
                    <a:pt x="0" y="120"/>
                  </a:lnTo>
                  <a:lnTo>
                    <a:pt x="6" y="0"/>
                  </a:lnTo>
                </a:path>
              </a:pathLst>
            </a:custGeom>
            <a:solidFill>
              <a:srgbClr val="EAEAEA"/>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070" name="Rectangle 46"/>
            <p:cNvSpPr>
              <a:spLocks noChangeArrowheads="1"/>
            </p:cNvSpPr>
            <p:nvPr/>
          </p:nvSpPr>
          <p:spPr bwMode="auto">
            <a:xfrm rot="540000">
              <a:off x="3297" y="1672"/>
              <a:ext cx="499" cy="233"/>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smtClean="0">
                  <a:latin typeface="+mn-lt"/>
                  <a:ea typeface="+mn-ea"/>
                </a:rPr>
                <a:t>DATA</a:t>
              </a:r>
              <a:endParaRPr lang="en-US" altLang="zh-CN" sz="1800" b="1" dirty="0">
                <a:latin typeface="+mn-lt"/>
                <a:ea typeface="+mn-ea"/>
              </a:endParaRPr>
            </a:p>
          </p:txBody>
        </p:sp>
        <p:sp>
          <p:nvSpPr>
            <p:cNvPr id="641071" name="Line 47"/>
            <p:cNvSpPr>
              <a:spLocks noChangeShapeType="1"/>
            </p:cNvSpPr>
            <p:nvPr/>
          </p:nvSpPr>
          <p:spPr bwMode="auto">
            <a:xfrm>
              <a:off x="3244" y="2412"/>
              <a:ext cx="704" cy="129"/>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72" name="Line 48"/>
            <p:cNvSpPr>
              <a:spLocks noChangeShapeType="1"/>
            </p:cNvSpPr>
            <p:nvPr/>
          </p:nvSpPr>
          <p:spPr bwMode="auto">
            <a:xfrm>
              <a:off x="3252" y="2740"/>
              <a:ext cx="696" cy="121"/>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1073" name="Group 49"/>
            <p:cNvGrpSpPr>
              <a:grpSpLocks/>
            </p:cNvGrpSpPr>
            <p:nvPr/>
          </p:nvGrpSpPr>
          <p:grpSpPr bwMode="auto">
            <a:xfrm>
              <a:off x="3314" y="2526"/>
              <a:ext cx="505" cy="233"/>
              <a:chOff x="3297" y="1689"/>
              <a:chExt cx="562" cy="253"/>
            </a:xfrm>
          </p:grpSpPr>
          <p:sp>
            <p:nvSpPr>
              <p:cNvPr id="641074" name="Freeform 50"/>
              <p:cNvSpPr>
                <a:spLocks/>
              </p:cNvSpPr>
              <p:nvPr/>
            </p:nvSpPr>
            <p:spPr bwMode="auto">
              <a:xfrm>
                <a:off x="3297" y="1689"/>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Lst>
                <a:ahLst/>
                <a:cxnLst>
                  <a:cxn ang="0">
                    <a:pos x="T0" y="T1"/>
                  </a:cxn>
                  <a:cxn ang="0">
                    <a:pos x="T2" y="T3"/>
                  </a:cxn>
                  <a:cxn ang="0">
                    <a:pos x="T4" y="T5"/>
                  </a:cxn>
                  <a:cxn ang="0">
                    <a:pos x="T6" y="T7"/>
                  </a:cxn>
                  <a:cxn ang="0">
                    <a:pos x="T8" y="T9"/>
                  </a:cxn>
                </a:cxnLst>
                <a:rect l="0" t="0" r="r" b="b"/>
                <a:pathLst>
                  <a:path w="445" h="187">
                    <a:moveTo>
                      <a:pt x="6" y="0"/>
                    </a:moveTo>
                    <a:lnTo>
                      <a:pt x="444" y="60"/>
                    </a:lnTo>
                    <a:lnTo>
                      <a:pt x="444" y="186"/>
                    </a:lnTo>
                    <a:lnTo>
                      <a:pt x="0" y="120"/>
                    </a:lnTo>
                    <a:lnTo>
                      <a:pt x="6"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075" name="Rectangle 51"/>
              <p:cNvSpPr>
                <a:spLocks noChangeArrowheads="1"/>
              </p:cNvSpPr>
              <p:nvPr/>
            </p:nvSpPr>
            <p:spPr bwMode="auto">
              <a:xfrm rot="540000">
                <a:off x="3303" y="1689"/>
                <a:ext cx="556" cy="253"/>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smtClean="0">
                    <a:latin typeface="+mn-lt"/>
                    <a:ea typeface="+mn-ea"/>
                  </a:rPr>
                  <a:t>DATA</a:t>
                </a:r>
                <a:endParaRPr lang="en-US" altLang="zh-CN" sz="1800" b="1" dirty="0">
                  <a:latin typeface="+mn-lt"/>
                  <a:ea typeface="+mn-ea"/>
                </a:endParaRPr>
              </a:p>
            </p:txBody>
          </p:sp>
        </p:grpSp>
        <p:sp>
          <p:nvSpPr>
            <p:cNvPr id="641076" name="AutoShape 52"/>
            <p:cNvSpPr>
              <a:spLocks noChangeArrowheads="1"/>
            </p:cNvSpPr>
            <p:nvPr/>
          </p:nvSpPr>
          <p:spPr bwMode="auto">
            <a:xfrm rot="480000">
              <a:off x="3791" y="2697"/>
              <a:ext cx="184" cy="61"/>
            </a:xfrm>
            <a:prstGeom prst="rightArrow">
              <a:avLst>
                <a:gd name="adj1" fmla="val 50000"/>
                <a:gd name="adj2" fmla="val 125222"/>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77" name="Line 53"/>
            <p:cNvSpPr>
              <a:spLocks noChangeShapeType="1"/>
            </p:cNvSpPr>
            <p:nvPr/>
          </p:nvSpPr>
          <p:spPr bwMode="auto">
            <a:xfrm>
              <a:off x="3964" y="2875"/>
              <a:ext cx="143" cy="0"/>
            </a:xfrm>
            <a:prstGeom prst="line">
              <a:avLst/>
            </a:prstGeom>
            <a:noFill/>
            <a:ln w="12700">
              <a:solidFill>
                <a:schemeClr val="tx1"/>
              </a:solidFill>
              <a:round/>
              <a:headEnd type="none" w="sm" len="sm"/>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78" name="Rectangle 54"/>
            <p:cNvSpPr>
              <a:spLocks noChangeArrowheads="1"/>
            </p:cNvSpPr>
            <p:nvPr/>
          </p:nvSpPr>
          <p:spPr bwMode="auto">
            <a:xfrm>
              <a:off x="3982" y="2871"/>
              <a:ext cx="261" cy="57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送</a:t>
              </a:r>
            </a:p>
            <a:p>
              <a:pPr eaLnBrk="0" hangingPunct="0">
                <a:buClrTx/>
                <a:buFontTx/>
                <a:buNone/>
              </a:pPr>
              <a:r>
                <a:rPr lang="zh-CN" altLang="en-US" sz="1800" b="1">
                  <a:latin typeface="+mn-lt"/>
                  <a:ea typeface="+mn-ea"/>
                </a:rPr>
                <a:t>主</a:t>
              </a:r>
            </a:p>
            <a:p>
              <a:pPr eaLnBrk="0" hangingPunct="0">
                <a:buClrTx/>
                <a:buFontTx/>
                <a:buNone/>
              </a:pPr>
              <a:r>
                <a:rPr lang="zh-CN" altLang="en-US" sz="1800" b="1">
                  <a:latin typeface="+mn-lt"/>
                  <a:ea typeface="+mn-ea"/>
                </a:rPr>
                <a:t>机</a:t>
              </a:r>
            </a:p>
          </p:txBody>
        </p:sp>
        <p:sp>
          <p:nvSpPr>
            <p:cNvPr id="641079" name="Line 55"/>
            <p:cNvSpPr>
              <a:spLocks noChangeShapeType="1"/>
            </p:cNvSpPr>
            <p:nvPr/>
          </p:nvSpPr>
          <p:spPr bwMode="auto">
            <a:xfrm flipH="1">
              <a:off x="3249" y="2933"/>
              <a:ext cx="699" cy="13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80" name="Line 56"/>
            <p:cNvSpPr>
              <a:spLocks noChangeShapeType="1"/>
            </p:cNvSpPr>
            <p:nvPr/>
          </p:nvSpPr>
          <p:spPr bwMode="auto">
            <a:xfrm flipH="1">
              <a:off x="3249" y="3070"/>
              <a:ext cx="705" cy="141"/>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81" name="Rectangle 57"/>
            <p:cNvSpPr>
              <a:spLocks noChangeArrowheads="1"/>
            </p:cNvSpPr>
            <p:nvPr/>
          </p:nvSpPr>
          <p:spPr bwMode="auto">
            <a:xfrm rot="21060000">
              <a:off x="3555" y="2915"/>
              <a:ext cx="428"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ACK</a:t>
              </a:r>
            </a:p>
          </p:txBody>
        </p:sp>
        <p:sp>
          <p:nvSpPr>
            <p:cNvPr id="641082" name="Line 58"/>
            <p:cNvSpPr>
              <a:spLocks noChangeShapeType="1"/>
            </p:cNvSpPr>
            <p:nvPr/>
          </p:nvSpPr>
          <p:spPr bwMode="auto">
            <a:xfrm>
              <a:off x="3954" y="1488"/>
              <a:ext cx="0" cy="1852"/>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83" name="Line 59"/>
            <p:cNvSpPr>
              <a:spLocks noChangeShapeType="1"/>
            </p:cNvSpPr>
            <p:nvPr/>
          </p:nvSpPr>
          <p:spPr bwMode="auto">
            <a:xfrm flipV="1">
              <a:off x="3341" y="3070"/>
              <a:ext cx="245" cy="48"/>
            </a:xfrm>
            <a:prstGeom prst="line">
              <a:avLst/>
            </a:prstGeom>
            <a:noFill/>
            <a:ln w="12700">
              <a:solidFill>
                <a:schemeClr val="tx1"/>
              </a:solidFill>
              <a:round/>
              <a:headEnd type="triangle" w="sm" len="lg"/>
              <a:tailEnd type="non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84" name="Rectangle 60"/>
            <p:cNvSpPr>
              <a:spLocks noChangeArrowheads="1"/>
            </p:cNvSpPr>
            <p:nvPr/>
          </p:nvSpPr>
          <p:spPr bwMode="auto">
            <a:xfrm>
              <a:off x="3057" y="3490"/>
              <a:ext cx="1052"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(c) </a:t>
              </a:r>
              <a:r>
                <a:rPr lang="zh-CN" altLang="en-US" sz="1800" b="1">
                  <a:latin typeface="+mn-lt"/>
                  <a:ea typeface="+mn-ea"/>
                </a:rPr>
                <a:t>数据帧丢失</a:t>
              </a:r>
            </a:p>
          </p:txBody>
        </p:sp>
        <p:sp>
          <p:nvSpPr>
            <p:cNvPr id="641085" name="Rectangle 61"/>
            <p:cNvSpPr>
              <a:spLocks noChangeArrowheads="1"/>
            </p:cNvSpPr>
            <p:nvPr/>
          </p:nvSpPr>
          <p:spPr bwMode="auto">
            <a:xfrm>
              <a:off x="3029" y="2428"/>
              <a:ext cx="260" cy="4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重</a:t>
              </a:r>
            </a:p>
            <a:p>
              <a:pPr eaLnBrk="0" hangingPunct="0">
                <a:buClrTx/>
                <a:buFontTx/>
                <a:buNone/>
              </a:pPr>
              <a:r>
                <a:rPr lang="zh-CN" altLang="en-US" sz="1800" b="1">
                  <a:latin typeface="+mn-lt"/>
                  <a:ea typeface="+mn-ea"/>
                </a:rPr>
                <a:t>传</a:t>
              </a:r>
            </a:p>
          </p:txBody>
        </p:sp>
        <p:sp>
          <p:nvSpPr>
            <p:cNvPr id="641086" name="Line 62"/>
            <p:cNvSpPr>
              <a:spLocks noChangeShapeType="1"/>
            </p:cNvSpPr>
            <p:nvPr/>
          </p:nvSpPr>
          <p:spPr bwMode="auto">
            <a:xfrm>
              <a:off x="3094" y="1899"/>
              <a:ext cx="129" cy="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87" name="Line 63"/>
            <p:cNvSpPr>
              <a:spLocks noChangeShapeType="1"/>
            </p:cNvSpPr>
            <p:nvPr/>
          </p:nvSpPr>
          <p:spPr bwMode="auto">
            <a:xfrm flipH="1">
              <a:off x="3076" y="2418"/>
              <a:ext cx="146" cy="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88" name="Line 64"/>
            <p:cNvSpPr>
              <a:spLocks noChangeShapeType="1"/>
            </p:cNvSpPr>
            <p:nvPr/>
          </p:nvSpPr>
          <p:spPr bwMode="auto">
            <a:xfrm>
              <a:off x="3141" y="1893"/>
              <a:ext cx="0" cy="525"/>
            </a:xfrm>
            <a:prstGeom prst="line">
              <a:avLst/>
            </a:prstGeom>
            <a:noFill/>
            <a:ln w="12700">
              <a:solidFill>
                <a:schemeClr val="tx1"/>
              </a:solidFill>
              <a:round/>
              <a:headEnd type="triangl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1089" name="Group 65"/>
            <p:cNvGrpSpPr>
              <a:grpSpLocks/>
            </p:cNvGrpSpPr>
            <p:nvPr/>
          </p:nvGrpSpPr>
          <p:grpSpPr bwMode="auto">
            <a:xfrm>
              <a:off x="2980" y="2017"/>
              <a:ext cx="317" cy="235"/>
              <a:chOff x="2916" y="1112"/>
              <a:chExt cx="353" cy="256"/>
            </a:xfrm>
          </p:grpSpPr>
          <p:sp>
            <p:nvSpPr>
              <p:cNvPr id="641090" name="Rectangle 66"/>
              <p:cNvSpPr>
                <a:spLocks noChangeArrowheads="1"/>
              </p:cNvSpPr>
              <p:nvPr/>
            </p:nvSpPr>
            <p:spPr bwMode="auto">
              <a:xfrm>
                <a:off x="2958" y="1176"/>
                <a:ext cx="252" cy="192"/>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91" name="Rectangle 67"/>
              <p:cNvSpPr>
                <a:spLocks noChangeArrowheads="1"/>
              </p:cNvSpPr>
              <p:nvPr/>
            </p:nvSpPr>
            <p:spPr bwMode="auto">
              <a:xfrm>
                <a:off x="2916" y="1112"/>
                <a:ext cx="353" cy="254"/>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i="1" dirty="0">
                    <a:latin typeface="+mn-lt"/>
                    <a:ea typeface="+mn-ea"/>
                  </a:rPr>
                  <a:t>t</a:t>
                </a:r>
                <a:r>
                  <a:rPr lang="en-US" altLang="zh-CN" sz="1800" b="1" i="1" baseline="-12000" dirty="0">
                    <a:latin typeface="+mn-lt"/>
                    <a:ea typeface="+mn-ea"/>
                  </a:rPr>
                  <a:t>out</a:t>
                </a:r>
              </a:p>
            </p:txBody>
          </p:sp>
        </p:grpSp>
        <p:sp>
          <p:nvSpPr>
            <p:cNvPr id="641092" name="AutoShape 68"/>
            <p:cNvSpPr>
              <a:spLocks noChangeArrowheads="1"/>
            </p:cNvSpPr>
            <p:nvPr/>
          </p:nvSpPr>
          <p:spPr bwMode="auto">
            <a:xfrm>
              <a:off x="3719" y="1480"/>
              <a:ext cx="562" cy="794"/>
            </a:xfrm>
            <a:prstGeom prst="irregularSeal2">
              <a:avLst/>
            </a:prstGeom>
            <a:solidFill>
              <a:srgbClr val="FC0404"/>
            </a:solidFill>
            <a:ln w="12700">
              <a:solidFill>
                <a:srgbClr val="FC0404"/>
              </a:solidFill>
              <a:miter lim="800000"/>
              <a:headEnd type="none" w="sm" len="sm"/>
              <a:tailEnd type="none" w="sm" len="sm"/>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93" name="Rectangle 69"/>
            <p:cNvSpPr>
              <a:spLocks noChangeArrowheads="1"/>
            </p:cNvSpPr>
            <p:nvPr/>
          </p:nvSpPr>
          <p:spPr bwMode="auto">
            <a:xfrm rot="1060178">
              <a:off x="3829" y="1603"/>
              <a:ext cx="300" cy="5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dirty="0">
                  <a:solidFill>
                    <a:srgbClr val="FFFF00"/>
                  </a:solidFill>
                  <a:latin typeface="+mn-lt"/>
                  <a:ea typeface="+mn-ea"/>
                </a:rPr>
                <a:t>丢</a:t>
              </a:r>
            </a:p>
            <a:p>
              <a:pPr eaLnBrk="0" hangingPunct="0">
                <a:buClrTx/>
                <a:buFontTx/>
                <a:buNone/>
              </a:pPr>
              <a:r>
                <a:rPr lang="zh-CN" altLang="en-US" sz="1800" b="1" dirty="0">
                  <a:solidFill>
                    <a:srgbClr val="FFFF00"/>
                  </a:solidFill>
                  <a:latin typeface="+mn-lt"/>
                  <a:ea typeface="+mn-ea"/>
                </a:rPr>
                <a:t>失</a:t>
              </a:r>
            </a:p>
            <a:p>
              <a:pPr eaLnBrk="0" hangingPunct="0">
                <a:buClrTx/>
                <a:buFontTx/>
                <a:buNone/>
              </a:pPr>
              <a:r>
                <a:rPr lang="zh-CN" altLang="en-US" sz="1800" b="1" dirty="0">
                  <a:solidFill>
                    <a:srgbClr val="FFFF00"/>
                  </a:solidFill>
                  <a:latin typeface="+mn-lt"/>
                  <a:ea typeface="+mn-ea"/>
                </a:rPr>
                <a:t> ！</a:t>
              </a:r>
            </a:p>
          </p:txBody>
        </p:sp>
        <p:sp>
          <p:nvSpPr>
            <p:cNvPr id="641094" name="Line 70"/>
            <p:cNvSpPr>
              <a:spLocks noChangeShapeType="1"/>
            </p:cNvSpPr>
            <p:nvPr/>
          </p:nvSpPr>
          <p:spPr bwMode="auto">
            <a:xfrm>
              <a:off x="3241" y="1494"/>
              <a:ext cx="5" cy="1875"/>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1095" name="Group 71"/>
          <p:cNvGrpSpPr>
            <a:grpSpLocks/>
          </p:cNvGrpSpPr>
          <p:nvPr/>
        </p:nvGrpSpPr>
        <p:grpSpPr bwMode="auto">
          <a:xfrm>
            <a:off x="7046916" y="1701800"/>
            <a:ext cx="2033589" cy="3844925"/>
            <a:chOff x="4483" y="1299"/>
            <a:chExt cx="1281" cy="2422"/>
          </a:xfrm>
        </p:grpSpPr>
        <p:sp>
          <p:nvSpPr>
            <p:cNvPr id="641096" name="Freeform 72"/>
            <p:cNvSpPr>
              <a:spLocks/>
            </p:cNvSpPr>
            <p:nvPr/>
          </p:nvSpPr>
          <p:spPr bwMode="auto">
            <a:xfrm>
              <a:off x="4756" y="2420"/>
              <a:ext cx="702" cy="439"/>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Lst>
              <a:ahLst/>
              <a:cxnLst>
                <a:cxn ang="0">
                  <a:pos x="T0" y="T1"/>
                </a:cxn>
                <a:cxn ang="0">
                  <a:pos x="T2" y="T3"/>
                </a:cxn>
                <a:cxn ang="0">
                  <a:pos x="T4" y="T5"/>
                </a:cxn>
                <a:cxn ang="0">
                  <a:pos x="T6" y="T7"/>
                </a:cxn>
                <a:cxn ang="0">
                  <a:pos x="T8" y="T9"/>
                </a:cxn>
              </a:cxnLst>
              <a:rect l="0" t="0" r="r" b="b"/>
              <a:pathLst>
                <a:path w="769" h="466">
                  <a:moveTo>
                    <a:pt x="0" y="0"/>
                  </a:moveTo>
                  <a:lnTo>
                    <a:pt x="768" y="145"/>
                  </a:lnTo>
                  <a:lnTo>
                    <a:pt x="768" y="465"/>
                  </a:lnTo>
                  <a:lnTo>
                    <a:pt x="0" y="320"/>
                  </a:lnTo>
                  <a:lnTo>
                    <a:pt x="0"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097" name="Line 73"/>
            <p:cNvSpPr>
              <a:spLocks noChangeShapeType="1"/>
            </p:cNvSpPr>
            <p:nvPr/>
          </p:nvSpPr>
          <p:spPr bwMode="auto">
            <a:xfrm>
              <a:off x="5458" y="1488"/>
              <a:ext cx="0" cy="1852"/>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098" name="Rectangle 74"/>
            <p:cNvSpPr>
              <a:spLocks noChangeArrowheads="1"/>
            </p:cNvSpPr>
            <p:nvPr/>
          </p:nvSpPr>
          <p:spPr bwMode="auto">
            <a:xfrm>
              <a:off x="4645" y="1299"/>
              <a:ext cx="22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a:t>
              </a:r>
            </a:p>
          </p:txBody>
        </p:sp>
        <p:sp>
          <p:nvSpPr>
            <p:cNvPr id="641099" name="Rectangle 75"/>
            <p:cNvSpPr>
              <a:spLocks noChangeArrowheads="1"/>
            </p:cNvSpPr>
            <p:nvPr/>
          </p:nvSpPr>
          <p:spPr bwMode="auto">
            <a:xfrm>
              <a:off x="5358" y="1299"/>
              <a:ext cx="222"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B</a:t>
              </a:r>
            </a:p>
          </p:txBody>
        </p:sp>
        <p:sp>
          <p:nvSpPr>
            <p:cNvPr id="641100" name="Line 76"/>
            <p:cNvSpPr>
              <a:spLocks noChangeShapeType="1"/>
            </p:cNvSpPr>
            <p:nvPr/>
          </p:nvSpPr>
          <p:spPr bwMode="auto">
            <a:xfrm>
              <a:off x="4751" y="1571"/>
              <a:ext cx="704" cy="13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01" name="Freeform 77"/>
            <p:cNvSpPr>
              <a:spLocks/>
            </p:cNvSpPr>
            <p:nvPr/>
          </p:nvSpPr>
          <p:spPr bwMode="auto">
            <a:xfrm>
              <a:off x="4759" y="1579"/>
              <a:ext cx="692" cy="439"/>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Lst>
              <a:ahLst/>
              <a:cxnLst>
                <a:cxn ang="0">
                  <a:pos x="T0" y="T1"/>
                </a:cxn>
                <a:cxn ang="0">
                  <a:pos x="T2" y="T3"/>
                </a:cxn>
                <a:cxn ang="0">
                  <a:pos x="T4" y="T5"/>
                </a:cxn>
                <a:cxn ang="0">
                  <a:pos x="T6" y="T7"/>
                </a:cxn>
                <a:cxn ang="0">
                  <a:pos x="T8" y="T9"/>
                </a:cxn>
              </a:cxnLst>
              <a:rect l="0" t="0" r="r" b="b"/>
              <a:pathLst>
                <a:path w="769" h="466">
                  <a:moveTo>
                    <a:pt x="0" y="0"/>
                  </a:moveTo>
                  <a:lnTo>
                    <a:pt x="768" y="145"/>
                  </a:lnTo>
                  <a:lnTo>
                    <a:pt x="768" y="465"/>
                  </a:lnTo>
                  <a:lnTo>
                    <a:pt x="0" y="320"/>
                  </a:lnTo>
                  <a:lnTo>
                    <a:pt x="0"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nvGrpSpPr>
            <p:cNvPr id="641102" name="Group 78"/>
            <p:cNvGrpSpPr>
              <a:grpSpLocks/>
            </p:cNvGrpSpPr>
            <p:nvPr/>
          </p:nvGrpSpPr>
          <p:grpSpPr bwMode="auto">
            <a:xfrm>
              <a:off x="4781" y="1678"/>
              <a:ext cx="596" cy="231"/>
              <a:chOff x="4659" y="774"/>
              <a:chExt cx="661" cy="249"/>
            </a:xfrm>
          </p:grpSpPr>
          <p:sp>
            <p:nvSpPr>
              <p:cNvPr id="641103" name="Freeform 79"/>
              <p:cNvSpPr>
                <a:spLocks/>
              </p:cNvSpPr>
              <p:nvPr/>
            </p:nvSpPr>
            <p:spPr bwMode="auto">
              <a:xfrm>
                <a:off x="4704" y="774"/>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Lst>
                <a:ahLst/>
                <a:cxnLst>
                  <a:cxn ang="0">
                    <a:pos x="T0" y="T1"/>
                  </a:cxn>
                  <a:cxn ang="0">
                    <a:pos x="T2" y="T3"/>
                  </a:cxn>
                  <a:cxn ang="0">
                    <a:pos x="T4" y="T5"/>
                  </a:cxn>
                  <a:cxn ang="0">
                    <a:pos x="T6" y="T7"/>
                  </a:cxn>
                  <a:cxn ang="0">
                    <a:pos x="T8" y="T9"/>
                  </a:cxn>
                </a:cxnLst>
                <a:rect l="0" t="0" r="r" b="b"/>
                <a:pathLst>
                  <a:path w="445" h="187">
                    <a:moveTo>
                      <a:pt x="6" y="0"/>
                    </a:moveTo>
                    <a:lnTo>
                      <a:pt x="444" y="60"/>
                    </a:lnTo>
                    <a:lnTo>
                      <a:pt x="444" y="186"/>
                    </a:lnTo>
                    <a:lnTo>
                      <a:pt x="0" y="120"/>
                    </a:lnTo>
                    <a:lnTo>
                      <a:pt x="6"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104" name="Rectangle 80"/>
              <p:cNvSpPr>
                <a:spLocks noChangeArrowheads="1"/>
              </p:cNvSpPr>
              <p:nvPr/>
            </p:nvSpPr>
            <p:spPr bwMode="auto">
              <a:xfrm rot="540000">
                <a:off x="4659" y="774"/>
                <a:ext cx="661" cy="249"/>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DATA0</a:t>
                </a:r>
              </a:p>
            </p:txBody>
          </p:sp>
        </p:grpSp>
        <p:sp>
          <p:nvSpPr>
            <p:cNvPr id="641105" name="AutoShape 81"/>
            <p:cNvSpPr>
              <a:spLocks noChangeArrowheads="1"/>
            </p:cNvSpPr>
            <p:nvPr/>
          </p:nvSpPr>
          <p:spPr bwMode="auto">
            <a:xfrm rot="480000">
              <a:off x="5307" y="1832"/>
              <a:ext cx="184" cy="61"/>
            </a:xfrm>
            <a:prstGeom prst="rightArrow">
              <a:avLst>
                <a:gd name="adj1" fmla="val 50000"/>
                <a:gd name="adj2" fmla="val 125222"/>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06" name="Line 82"/>
            <p:cNvSpPr>
              <a:spLocks noChangeShapeType="1"/>
            </p:cNvSpPr>
            <p:nvPr/>
          </p:nvSpPr>
          <p:spPr bwMode="auto">
            <a:xfrm>
              <a:off x="5455" y="2020"/>
              <a:ext cx="143" cy="0"/>
            </a:xfrm>
            <a:prstGeom prst="line">
              <a:avLst/>
            </a:prstGeom>
            <a:noFill/>
            <a:ln w="12700">
              <a:solidFill>
                <a:schemeClr val="tx1"/>
              </a:solidFill>
              <a:round/>
              <a:headEnd type="none" w="sm" len="sm"/>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07" name="Rectangle 83"/>
            <p:cNvSpPr>
              <a:spLocks noChangeArrowheads="1"/>
            </p:cNvSpPr>
            <p:nvPr/>
          </p:nvSpPr>
          <p:spPr bwMode="auto">
            <a:xfrm>
              <a:off x="5501" y="2001"/>
              <a:ext cx="263" cy="5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送</a:t>
              </a:r>
            </a:p>
            <a:p>
              <a:pPr eaLnBrk="0" hangingPunct="0">
                <a:buClrTx/>
                <a:buFontTx/>
                <a:buNone/>
              </a:pPr>
              <a:r>
                <a:rPr lang="zh-CN" altLang="en-US" sz="1800" b="1">
                  <a:latin typeface="+mn-lt"/>
                  <a:ea typeface="+mn-ea"/>
                </a:rPr>
                <a:t>主</a:t>
              </a:r>
            </a:p>
            <a:p>
              <a:pPr eaLnBrk="0" hangingPunct="0">
                <a:buClrTx/>
                <a:buFontTx/>
                <a:buNone/>
              </a:pPr>
              <a:r>
                <a:rPr lang="zh-CN" altLang="en-US" sz="1800" b="1">
                  <a:latin typeface="+mn-lt"/>
                  <a:ea typeface="+mn-ea"/>
                </a:rPr>
                <a:t>机</a:t>
              </a:r>
            </a:p>
          </p:txBody>
        </p:sp>
        <p:sp>
          <p:nvSpPr>
            <p:cNvPr id="641108" name="Line 84"/>
            <p:cNvSpPr>
              <a:spLocks noChangeShapeType="1"/>
            </p:cNvSpPr>
            <p:nvPr/>
          </p:nvSpPr>
          <p:spPr bwMode="auto">
            <a:xfrm flipH="1">
              <a:off x="5082" y="2092"/>
              <a:ext cx="373" cy="66"/>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09" name="Line 85"/>
            <p:cNvSpPr>
              <a:spLocks noChangeShapeType="1"/>
            </p:cNvSpPr>
            <p:nvPr/>
          </p:nvSpPr>
          <p:spPr bwMode="auto">
            <a:xfrm flipH="1">
              <a:off x="5077" y="2230"/>
              <a:ext cx="383" cy="77"/>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10" name="Rectangle 86"/>
            <p:cNvSpPr>
              <a:spLocks noChangeArrowheads="1"/>
            </p:cNvSpPr>
            <p:nvPr/>
          </p:nvSpPr>
          <p:spPr bwMode="auto">
            <a:xfrm rot="21060000">
              <a:off x="5127" y="2062"/>
              <a:ext cx="428"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ACK</a:t>
              </a:r>
            </a:p>
          </p:txBody>
        </p:sp>
        <p:sp>
          <p:nvSpPr>
            <p:cNvPr id="641111" name="Line 87"/>
            <p:cNvSpPr>
              <a:spLocks noChangeShapeType="1"/>
            </p:cNvSpPr>
            <p:nvPr/>
          </p:nvSpPr>
          <p:spPr bwMode="auto">
            <a:xfrm>
              <a:off x="4756" y="2740"/>
              <a:ext cx="696" cy="121"/>
            </a:xfrm>
            <a:prstGeom prst="line">
              <a:avLst/>
            </a:prstGeom>
            <a:noFill/>
            <a:ln w="12700">
              <a:solidFill>
                <a:schemeClr val="tx1"/>
              </a:solidFill>
              <a:round/>
              <a:headEnd type="none" w="sm" len="sm"/>
              <a:tailEnd type="none" w="sm" len="sm"/>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1112" name="Group 88"/>
            <p:cNvGrpSpPr>
              <a:grpSpLocks/>
            </p:cNvGrpSpPr>
            <p:nvPr/>
          </p:nvGrpSpPr>
          <p:grpSpPr bwMode="auto">
            <a:xfrm>
              <a:off x="4777" y="2519"/>
              <a:ext cx="596" cy="231"/>
              <a:chOff x="4655" y="1687"/>
              <a:chExt cx="661" cy="252"/>
            </a:xfrm>
          </p:grpSpPr>
          <p:sp>
            <p:nvSpPr>
              <p:cNvPr id="641113" name="Freeform 89"/>
              <p:cNvSpPr>
                <a:spLocks/>
              </p:cNvSpPr>
              <p:nvPr/>
            </p:nvSpPr>
            <p:spPr bwMode="auto">
              <a:xfrm>
                <a:off x="4701" y="1689"/>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Lst>
                <a:ahLst/>
                <a:cxnLst>
                  <a:cxn ang="0">
                    <a:pos x="T0" y="T1"/>
                  </a:cxn>
                  <a:cxn ang="0">
                    <a:pos x="T2" y="T3"/>
                  </a:cxn>
                  <a:cxn ang="0">
                    <a:pos x="T4" y="T5"/>
                  </a:cxn>
                  <a:cxn ang="0">
                    <a:pos x="T6" y="T7"/>
                  </a:cxn>
                  <a:cxn ang="0">
                    <a:pos x="T8" y="T9"/>
                  </a:cxn>
                </a:cxnLst>
                <a:rect l="0" t="0" r="r" b="b"/>
                <a:pathLst>
                  <a:path w="445" h="187">
                    <a:moveTo>
                      <a:pt x="6" y="0"/>
                    </a:moveTo>
                    <a:lnTo>
                      <a:pt x="444" y="60"/>
                    </a:lnTo>
                    <a:lnTo>
                      <a:pt x="444" y="186"/>
                    </a:lnTo>
                    <a:lnTo>
                      <a:pt x="0" y="120"/>
                    </a:lnTo>
                    <a:lnTo>
                      <a:pt x="6"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114" name="Rectangle 90"/>
              <p:cNvSpPr>
                <a:spLocks noChangeArrowheads="1"/>
              </p:cNvSpPr>
              <p:nvPr/>
            </p:nvSpPr>
            <p:spPr bwMode="auto">
              <a:xfrm rot="540000">
                <a:off x="4655" y="1687"/>
                <a:ext cx="661" cy="252"/>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DATA0</a:t>
                </a:r>
              </a:p>
            </p:txBody>
          </p:sp>
        </p:grpSp>
        <p:sp>
          <p:nvSpPr>
            <p:cNvPr id="641115" name="AutoShape 91"/>
            <p:cNvSpPr>
              <a:spLocks noChangeArrowheads="1"/>
            </p:cNvSpPr>
            <p:nvPr/>
          </p:nvSpPr>
          <p:spPr bwMode="auto">
            <a:xfrm rot="480000">
              <a:off x="5308" y="2697"/>
              <a:ext cx="183" cy="61"/>
            </a:xfrm>
            <a:prstGeom prst="rightArrow">
              <a:avLst>
                <a:gd name="adj1" fmla="val 50000"/>
                <a:gd name="adj2" fmla="val 124542"/>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16" name="Rectangle 92"/>
            <p:cNvSpPr>
              <a:spLocks noChangeArrowheads="1"/>
            </p:cNvSpPr>
            <p:nvPr/>
          </p:nvSpPr>
          <p:spPr bwMode="auto">
            <a:xfrm>
              <a:off x="5487" y="2749"/>
              <a:ext cx="260" cy="4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丢</a:t>
              </a:r>
            </a:p>
            <a:p>
              <a:pPr eaLnBrk="0" hangingPunct="0">
                <a:buClrTx/>
                <a:buFontTx/>
                <a:buNone/>
              </a:pPr>
              <a:r>
                <a:rPr lang="zh-CN" altLang="en-US" sz="1800" b="1">
                  <a:latin typeface="+mn-lt"/>
                  <a:ea typeface="+mn-ea"/>
                </a:rPr>
                <a:t>弃</a:t>
              </a:r>
            </a:p>
          </p:txBody>
        </p:sp>
        <p:sp>
          <p:nvSpPr>
            <p:cNvPr id="641117" name="Line 93"/>
            <p:cNvSpPr>
              <a:spLocks noChangeShapeType="1"/>
            </p:cNvSpPr>
            <p:nvPr/>
          </p:nvSpPr>
          <p:spPr bwMode="auto">
            <a:xfrm flipH="1">
              <a:off x="4754" y="2933"/>
              <a:ext cx="698" cy="13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18" name="Line 94"/>
            <p:cNvSpPr>
              <a:spLocks noChangeShapeType="1"/>
            </p:cNvSpPr>
            <p:nvPr/>
          </p:nvSpPr>
          <p:spPr bwMode="auto">
            <a:xfrm flipH="1">
              <a:off x="4754" y="3070"/>
              <a:ext cx="704" cy="141"/>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19" name="Rectangle 95"/>
            <p:cNvSpPr>
              <a:spLocks noChangeArrowheads="1"/>
            </p:cNvSpPr>
            <p:nvPr/>
          </p:nvSpPr>
          <p:spPr bwMode="auto">
            <a:xfrm rot="21060000">
              <a:off x="5047" y="2923"/>
              <a:ext cx="428"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ACK</a:t>
              </a:r>
            </a:p>
          </p:txBody>
        </p:sp>
        <p:sp>
          <p:nvSpPr>
            <p:cNvPr id="641120" name="Line 96"/>
            <p:cNvSpPr>
              <a:spLocks noChangeShapeType="1"/>
            </p:cNvSpPr>
            <p:nvPr/>
          </p:nvSpPr>
          <p:spPr bwMode="auto">
            <a:xfrm flipV="1">
              <a:off x="4845" y="3070"/>
              <a:ext cx="246" cy="48"/>
            </a:xfrm>
            <a:prstGeom prst="line">
              <a:avLst/>
            </a:prstGeom>
            <a:noFill/>
            <a:ln w="12700">
              <a:solidFill>
                <a:schemeClr val="tx1"/>
              </a:solidFill>
              <a:round/>
              <a:headEnd type="triangle" w="sm" len="lg"/>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21" name="Rectangle 97"/>
            <p:cNvSpPr>
              <a:spLocks noChangeArrowheads="1"/>
            </p:cNvSpPr>
            <p:nvPr/>
          </p:nvSpPr>
          <p:spPr bwMode="auto">
            <a:xfrm>
              <a:off x="4600" y="3490"/>
              <a:ext cx="106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(d) </a:t>
              </a:r>
              <a:r>
                <a:rPr lang="zh-CN" altLang="en-US" sz="1800" b="1">
                  <a:latin typeface="+mn-lt"/>
                  <a:ea typeface="+mn-ea"/>
                </a:rPr>
                <a:t>确认帧丢失</a:t>
              </a:r>
            </a:p>
          </p:txBody>
        </p:sp>
        <p:sp>
          <p:nvSpPr>
            <p:cNvPr id="641122" name="Rectangle 98"/>
            <p:cNvSpPr>
              <a:spLocks noChangeArrowheads="1"/>
            </p:cNvSpPr>
            <p:nvPr/>
          </p:nvSpPr>
          <p:spPr bwMode="auto">
            <a:xfrm>
              <a:off x="4534" y="2422"/>
              <a:ext cx="260" cy="4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重</a:t>
              </a:r>
            </a:p>
            <a:p>
              <a:pPr eaLnBrk="0" hangingPunct="0">
                <a:buClrTx/>
                <a:buFontTx/>
                <a:buNone/>
              </a:pPr>
              <a:r>
                <a:rPr lang="zh-CN" altLang="en-US" sz="1800" b="1">
                  <a:latin typeface="+mn-lt"/>
                  <a:ea typeface="+mn-ea"/>
                </a:rPr>
                <a:t>传</a:t>
              </a:r>
            </a:p>
          </p:txBody>
        </p:sp>
        <p:sp>
          <p:nvSpPr>
            <p:cNvPr id="641123" name="Line 99"/>
            <p:cNvSpPr>
              <a:spLocks noChangeShapeType="1"/>
            </p:cNvSpPr>
            <p:nvPr/>
          </p:nvSpPr>
          <p:spPr bwMode="auto">
            <a:xfrm>
              <a:off x="4586" y="1893"/>
              <a:ext cx="130" cy="0"/>
            </a:xfrm>
            <a:prstGeom prst="line">
              <a:avLst/>
            </a:prstGeom>
            <a:noFill/>
            <a:ln w="12700">
              <a:solidFill>
                <a:schemeClr val="tx1"/>
              </a:solidFill>
              <a:round/>
              <a:headEnd type="none" w="sm" len="lg"/>
              <a:tailEnd type="non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24" name="Line 100"/>
            <p:cNvSpPr>
              <a:spLocks noChangeShapeType="1"/>
            </p:cNvSpPr>
            <p:nvPr/>
          </p:nvSpPr>
          <p:spPr bwMode="auto">
            <a:xfrm flipH="1">
              <a:off x="4581" y="2412"/>
              <a:ext cx="145" cy="0"/>
            </a:xfrm>
            <a:prstGeom prst="line">
              <a:avLst/>
            </a:prstGeom>
            <a:noFill/>
            <a:ln w="12700">
              <a:solidFill>
                <a:schemeClr val="tx1"/>
              </a:solidFill>
              <a:round/>
              <a:headEnd type="none" w="sm" len="lg"/>
              <a:tailEnd type="non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25" name="Line 101"/>
            <p:cNvSpPr>
              <a:spLocks noChangeShapeType="1"/>
            </p:cNvSpPr>
            <p:nvPr/>
          </p:nvSpPr>
          <p:spPr bwMode="auto">
            <a:xfrm>
              <a:off x="4645" y="1888"/>
              <a:ext cx="0" cy="524"/>
            </a:xfrm>
            <a:prstGeom prst="line">
              <a:avLst/>
            </a:prstGeom>
            <a:noFill/>
            <a:ln w="12700">
              <a:solidFill>
                <a:schemeClr val="tx1"/>
              </a:solidFill>
              <a:round/>
              <a:headEnd type="triangl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1126" name="Group 102"/>
            <p:cNvGrpSpPr>
              <a:grpSpLocks/>
            </p:cNvGrpSpPr>
            <p:nvPr/>
          </p:nvGrpSpPr>
          <p:grpSpPr bwMode="auto">
            <a:xfrm>
              <a:off x="4483" y="2017"/>
              <a:ext cx="317" cy="235"/>
              <a:chOff x="4322" y="1112"/>
              <a:chExt cx="353" cy="256"/>
            </a:xfrm>
          </p:grpSpPr>
          <p:sp>
            <p:nvSpPr>
              <p:cNvPr id="641127" name="Rectangle 103"/>
              <p:cNvSpPr>
                <a:spLocks noChangeArrowheads="1"/>
              </p:cNvSpPr>
              <p:nvPr/>
            </p:nvSpPr>
            <p:spPr bwMode="auto">
              <a:xfrm>
                <a:off x="4362" y="1176"/>
                <a:ext cx="252" cy="192"/>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28" name="Rectangle 104"/>
              <p:cNvSpPr>
                <a:spLocks noChangeArrowheads="1"/>
              </p:cNvSpPr>
              <p:nvPr/>
            </p:nvSpPr>
            <p:spPr bwMode="auto">
              <a:xfrm>
                <a:off x="4322" y="1112"/>
                <a:ext cx="353" cy="2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i="1" dirty="0">
                    <a:latin typeface="+mn-lt"/>
                    <a:ea typeface="+mn-ea"/>
                  </a:rPr>
                  <a:t>t</a:t>
                </a:r>
                <a:r>
                  <a:rPr lang="en-US" altLang="zh-CN" sz="1800" b="1" i="1" baseline="-12000" dirty="0">
                    <a:latin typeface="+mn-lt"/>
                    <a:ea typeface="+mn-ea"/>
                  </a:rPr>
                  <a:t>out</a:t>
                </a:r>
              </a:p>
            </p:txBody>
          </p:sp>
        </p:grpSp>
        <p:sp>
          <p:nvSpPr>
            <p:cNvPr id="641129" name="Freeform 105"/>
            <p:cNvSpPr>
              <a:spLocks/>
            </p:cNvSpPr>
            <p:nvPr/>
          </p:nvSpPr>
          <p:spPr bwMode="auto">
            <a:xfrm>
              <a:off x="5066" y="2153"/>
              <a:ext cx="17" cy="155"/>
            </a:xfrm>
            <a:custGeom>
              <a:avLst/>
              <a:gdLst>
                <a:gd name="T0" fmla="*/ 18 w 19"/>
                <a:gd name="T1" fmla="*/ 0 h 169"/>
                <a:gd name="T2" fmla="*/ 14 w 19"/>
                <a:gd name="T3" fmla="*/ 19 h 169"/>
                <a:gd name="T4" fmla="*/ 14 w 19"/>
                <a:gd name="T5" fmla="*/ 37 h 169"/>
                <a:gd name="T6" fmla="*/ 14 w 19"/>
                <a:gd name="T7" fmla="*/ 56 h 169"/>
                <a:gd name="T8" fmla="*/ 14 w 19"/>
                <a:gd name="T9" fmla="*/ 75 h 169"/>
                <a:gd name="T10" fmla="*/ 14 w 19"/>
                <a:gd name="T11" fmla="*/ 93 h 169"/>
                <a:gd name="T12" fmla="*/ 9 w 19"/>
                <a:gd name="T13" fmla="*/ 112 h 169"/>
                <a:gd name="T14" fmla="*/ 5 w 19"/>
                <a:gd name="T15" fmla="*/ 131 h 169"/>
                <a:gd name="T16" fmla="*/ 0 w 19"/>
                <a:gd name="T17" fmla="*/ 149 h 169"/>
                <a:gd name="T18" fmla="*/ 0 w 19"/>
                <a:gd name="T19" fmla="*/ 16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169">
                  <a:moveTo>
                    <a:pt x="18" y="0"/>
                  </a:moveTo>
                  <a:lnTo>
                    <a:pt x="14" y="19"/>
                  </a:lnTo>
                  <a:lnTo>
                    <a:pt x="14" y="37"/>
                  </a:lnTo>
                  <a:lnTo>
                    <a:pt x="14" y="56"/>
                  </a:lnTo>
                  <a:lnTo>
                    <a:pt x="14" y="75"/>
                  </a:lnTo>
                  <a:lnTo>
                    <a:pt x="14" y="93"/>
                  </a:lnTo>
                  <a:lnTo>
                    <a:pt x="9" y="112"/>
                  </a:lnTo>
                  <a:lnTo>
                    <a:pt x="5" y="131"/>
                  </a:lnTo>
                  <a:lnTo>
                    <a:pt x="0" y="149"/>
                  </a:lnTo>
                  <a:lnTo>
                    <a:pt x="0" y="168"/>
                  </a:lnTo>
                </a:path>
              </a:pathLst>
            </a:custGeom>
            <a:noFill/>
            <a:ln w="25400" cap="rnd" cmpd="sng">
              <a:solidFill>
                <a:schemeClr val="tx1"/>
              </a:solidFill>
              <a:prstDash val="solid"/>
              <a:round/>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130" name="Line 106"/>
            <p:cNvSpPr>
              <a:spLocks noChangeShapeType="1"/>
            </p:cNvSpPr>
            <p:nvPr/>
          </p:nvSpPr>
          <p:spPr bwMode="auto">
            <a:xfrm>
              <a:off x="4751" y="1494"/>
              <a:ext cx="0" cy="1852"/>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31" name="Line 107"/>
            <p:cNvSpPr>
              <a:spLocks noChangeShapeType="1"/>
            </p:cNvSpPr>
            <p:nvPr/>
          </p:nvSpPr>
          <p:spPr bwMode="auto">
            <a:xfrm>
              <a:off x="4747" y="2412"/>
              <a:ext cx="705" cy="129"/>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32" name="Line 108"/>
            <p:cNvSpPr>
              <a:spLocks noChangeShapeType="1"/>
            </p:cNvSpPr>
            <p:nvPr/>
          </p:nvSpPr>
          <p:spPr bwMode="auto">
            <a:xfrm>
              <a:off x="5513" y="2671"/>
              <a:ext cx="87" cy="88"/>
            </a:xfrm>
            <a:prstGeom prst="line">
              <a:avLst/>
            </a:prstGeom>
            <a:noFill/>
            <a:ln w="28575">
              <a:solidFill>
                <a:srgbClr val="FF0000"/>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33" name="Line 109"/>
            <p:cNvSpPr>
              <a:spLocks noChangeShapeType="1"/>
            </p:cNvSpPr>
            <p:nvPr/>
          </p:nvSpPr>
          <p:spPr bwMode="auto">
            <a:xfrm rot="16200000">
              <a:off x="5513" y="2671"/>
              <a:ext cx="88" cy="87"/>
            </a:xfrm>
            <a:prstGeom prst="line">
              <a:avLst/>
            </a:prstGeom>
            <a:noFill/>
            <a:ln w="28575">
              <a:solidFill>
                <a:srgbClr val="FF0000"/>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34" name="Line 110"/>
            <p:cNvSpPr>
              <a:spLocks noChangeShapeType="1"/>
            </p:cNvSpPr>
            <p:nvPr/>
          </p:nvSpPr>
          <p:spPr bwMode="auto">
            <a:xfrm>
              <a:off x="4759" y="1893"/>
              <a:ext cx="696" cy="122"/>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35" name="AutoShape 111"/>
            <p:cNvSpPr>
              <a:spLocks noChangeArrowheads="1"/>
            </p:cNvSpPr>
            <p:nvPr/>
          </p:nvSpPr>
          <p:spPr bwMode="auto">
            <a:xfrm rot="1163935">
              <a:off x="4736" y="1885"/>
              <a:ext cx="488" cy="661"/>
            </a:xfrm>
            <a:prstGeom prst="irregularSeal2">
              <a:avLst/>
            </a:prstGeom>
            <a:solidFill>
              <a:srgbClr val="FC0404"/>
            </a:solidFill>
            <a:ln w="12700">
              <a:solidFill>
                <a:srgbClr val="FC0404"/>
              </a:solidFill>
              <a:miter lim="800000"/>
              <a:headEnd type="none" w="sm" len="sm"/>
              <a:tailEnd type="none" w="sm" len="sm"/>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36" name="Rectangle 112"/>
            <p:cNvSpPr>
              <a:spLocks noChangeArrowheads="1"/>
            </p:cNvSpPr>
            <p:nvPr/>
          </p:nvSpPr>
          <p:spPr bwMode="auto">
            <a:xfrm rot="2372077">
              <a:off x="4828" y="1963"/>
              <a:ext cx="300" cy="5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dirty="0">
                  <a:solidFill>
                    <a:srgbClr val="FFFF00"/>
                  </a:solidFill>
                  <a:latin typeface="+mn-lt"/>
                  <a:ea typeface="+mn-ea"/>
                </a:rPr>
                <a:t>丢</a:t>
              </a:r>
            </a:p>
            <a:p>
              <a:pPr eaLnBrk="0" hangingPunct="0">
                <a:buClrTx/>
                <a:buFontTx/>
                <a:buNone/>
              </a:pPr>
              <a:r>
                <a:rPr lang="zh-CN" altLang="en-US" sz="1800" b="1" dirty="0">
                  <a:solidFill>
                    <a:srgbClr val="FFFF00"/>
                  </a:solidFill>
                  <a:latin typeface="+mn-lt"/>
                  <a:ea typeface="+mn-ea"/>
                </a:rPr>
                <a:t>失</a:t>
              </a:r>
            </a:p>
            <a:p>
              <a:pPr eaLnBrk="0" hangingPunct="0">
                <a:buClrTx/>
                <a:buFontTx/>
                <a:buNone/>
              </a:pPr>
              <a:r>
                <a:rPr lang="zh-CN" altLang="en-US" sz="1800" b="1" dirty="0">
                  <a:solidFill>
                    <a:srgbClr val="FFFF00"/>
                  </a:solidFill>
                  <a:latin typeface="+mn-lt"/>
                  <a:ea typeface="+mn-ea"/>
                </a:rPr>
                <a:t> ！</a:t>
              </a:r>
            </a:p>
          </p:txBody>
        </p:sp>
      </p:grpSp>
      <p:sp>
        <p:nvSpPr>
          <p:cNvPr id="641171" name="Text Box 147"/>
          <p:cNvSpPr txBox="1">
            <a:spLocks noChangeArrowheads="1"/>
          </p:cNvSpPr>
          <p:nvPr/>
        </p:nvSpPr>
        <p:spPr bwMode="auto">
          <a:xfrm>
            <a:off x="755650" y="5516563"/>
            <a:ext cx="15843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en-US" altLang="zh-CN" sz="1800" b="1">
                <a:solidFill>
                  <a:schemeClr val="tx2"/>
                </a:solidFill>
                <a:latin typeface="+mn-lt"/>
                <a:ea typeface="+mn-ea"/>
              </a:rPr>
              <a:t>ACK</a:t>
            </a:r>
            <a:r>
              <a:rPr lang="zh-CN" altLang="en-US" sz="1800" b="1">
                <a:solidFill>
                  <a:schemeClr val="tx2"/>
                </a:solidFill>
                <a:latin typeface="+mn-lt"/>
                <a:ea typeface="+mn-ea"/>
              </a:rPr>
              <a:t>确认帧</a:t>
            </a:r>
          </a:p>
        </p:txBody>
      </p:sp>
      <p:sp>
        <p:nvSpPr>
          <p:cNvPr id="641173" name="Text Box 149"/>
          <p:cNvSpPr txBox="1">
            <a:spLocks noChangeArrowheads="1"/>
          </p:cNvSpPr>
          <p:nvPr/>
        </p:nvSpPr>
        <p:spPr bwMode="auto">
          <a:xfrm>
            <a:off x="5148263" y="5510559"/>
            <a:ext cx="15843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zh-CN" altLang="en-US" sz="1800" b="1" dirty="0">
                <a:solidFill>
                  <a:schemeClr val="tx2"/>
                </a:solidFill>
                <a:latin typeface="+mn-lt"/>
                <a:ea typeface="+mn-ea"/>
              </a:rPr>
              <a:t>定时器</a:t>
            </a:r>
          </a:p>
        </p:txBody>
      </p:sp>
      <p:sp>
        <p:nvSpPr>
          <p:cNvPr id="641174" name="Text Box 150"/>
          <p:cNvSpPr txBox="1">
            <a:spLocks noChangeArrowheads="1"/>
          </p:cNvSpPr>
          <p:nvPr/>
        </p:nvSpPr>
        <p:spPr bwMode="auto">
          <a:xfrm>
            <a:off x="7164388" y="5516563"/>
            <a:ext cx="18002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zh-CN" altLang="en-US" sz="1800" b="1">
                <a:solidFill>
                  <a:schemeClr val="tx2"/>
                </a:solidFill>
                <a:latin typeface="+mn-lt"/>
                <a:ea typeface="+mn-ea"/>
              </a:rPr>
              <a:t>定时器</a:t>
            </a:r>
            <a:r>
              <a:rPr lang="en-US" altLang="zh-CN" sz="1800" b="1">
                <a:solidFill>
                  <a:schemeClr val="tx2"/>
                </a:solidFill>
                <a:latin typeface="+mn-lt"/>
                <a:ea typeface="+mn-ea"/>
              </a:rPr>
              <a:t>+ </a:t>
            </a:r>
            <a:r>
              <a:rPr lang="zh-CN" altLang="en-US" sz="1800" b="1">
                <a:solidFill>
                  <a:schemeClr val="tx2"/>
                </a:solidFill>
                <a:latin typeface="+mn-lt"/>
                <a:ea typeface="+mn-ea"/>
              </a:rPr>
              <a:t>帧序号</a:t>
            </a:r>
          </a:p>
        </p:txBody>
      </p:sp>
      <p:sp>
        <p:nvSpPr>
          <p:cNvPr id="641175" name="Text Box 151"/>
          <p:cNvSpPr txBox="1">
            <a:spLocks noChangeArrowheads="1"/>
          </p:cNvSpPr>
          <p:nvPr/>
        </p:nvSpPr>
        <p:spPr bwMode="auto">
          <a:xfrm>
            <a:off x="2483768" y="5949950"/>
            <a:ext cx="4930091" cy="400110"/>
          </a:xfrm>
          <a:prstGeom prst="rect">
            <a:avLst/>
          </a:prstGeom>
          <a:solidFill>
            <a:srgbClr val="FFFF99"/>
          </a:solidFill>
          <a:ln w="28575">
            <a:solidFill>
              <a:schemeClr val="tx1"/>
            </a:solidFill>
            <a:miter lim="800000"/>
            <a:headEnd/>
            <a:tailEnd type="none" w="sm" len="lg"/>
          </a:ln>
          <a:effectLst>
            <a:outerShdw dist="107763" dir="2700000" algn="ctr" rotWithShape="0">
              <a:srgbClr val="00002E">
                <a:alpha val="50000"/>
              </a:srgbClr>
            </a:outerShdw>
          </a:effectLst>
        </p:spPr>
        <p:txBody>
          <a:bodyPr wrap="square">
            <a:spAutoFit/>
          </a:bodyPr>
          <a:lstStyle/>
          <a:p>
            <a:pPr algn="ctr">
              <a:spcBef>
                <a:spcPct val="50000"/>
              </a:spcBef>
              <a:buClrTx/>
              <a:buSzPct val="100000"/>
              <a:buFontTx/>
              <a:buNone/>
            </a:pPr>
            <a:r>
              <a:rPr lang="zh-CN" altLang="en-US" sz="2000" b="1" dirty="0" smtClean="0">
                <a:solidFill>
                  <a:srgbClr val="FF0000"/>
                </a:solidFill>
                <a:latin typeface="+mn-lt"/>
                <a:ea typeface="+mn-ea"/>
              </a:rPr>
              <a:t>停</a:t>
            </a:r>
            <a:r>
              <a:rPr lang="en-US" altLang="zh-CN" sz="2000" b="1" dirty="0" smtClean="0">
                <a:solidFill>
                  <a:srgbClr val="FF0000"/>
                </a:solidFill>
                <a:latin typeface="+mn-lt"/>
                <a:ea typeface="+mn-ea"/>
              </a:rPr>
              <a:t>-</a:t>
            </a:r>
            <a:r>
              <a:rPr lang="zh-CN" altLang="en-US" sz="2000" b="1" dirty="0" smtClean="0">
                <a:solidFill>
                  <a:srgbClr val="FF0000"/>
                </a:solidFill>
                <a:latin typeface="+mn-lt"/>
                <a:ea typeface="+mn-ea"/>
              </a:rPr>
              <a:t>等式协议：肯定确认</a:t>
            </a:r>
            <a:r>
              <a:rPr lang="en-US" altLang="zh-CN" sz="2000" b="1" dirty="0">
                <a:solidFill>
                  <a:srgbClr val="FF0000"/>
                </a:solidFill>
                <a:latin typeface="+mn-lt"/>
                <a:ea typeface="+mn-ea"/>
              </a:rPr>
              <a:t>+</a:t>
            </a:r>
            <a:r>
              <a:rPr lang="zh-CN" altLang="en-US" sz="2000" b="1" dirty="0">
                <a:solidFill>
                  <a:srgbClr val="FF0000"/>
                </a:solidFill>
                <a:latin typeface="+mn-lt"/>
                <a:ea typeface="+mn-ea"/>
              </a:rPr>
              <a:t>定时器</a:t>
            </a:r>
            <a:r>
              <a:rPr lang="en-US" altLang="zh-CN" sz="2000" b="1" dirty="0">
                <a:solidFill>
                  <a:srgbClr val="FF0000"/>
                </a:solidFill>
                <a:latin typeface="+mn-lt"/>
                <a:ea typeface="+mn-ea"/>
              </a:rPr>
              <a:t>+</a:t>
            </a:r>
            <a:r>
              <a:rPr lang="zh-CN" altLang="en-US" sz="2000" b="1" dirty="0">
                <a:solidFill>
                  <a:srgbClr val="FF0000"/>
                </a:solidFill>
                <a:latin typeface="+mn-lt"/>
                <a:ea typeface="+mn-ea"/>
              </a:rPr>
              <a:t>帧序号</a:t>
            </a:r>
          </a:p>
        </p:txBody>
      </p:sp>
      <p:sp>
        <p:nvSpPr>
          <p:cNvPr id="641176" name="Text Box 152"/>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
        <p:nvSpPr>
          <p:cNvPr id="152" name="AutoShape 6"/>
          <p:cNvSpPr>
            <a:spLocks noChangeArrowheads="1"/>
          </p:cNvSpPr>
          <p:nvPr/>
        </p:nvSpPr>
        <p:spPr bwMode="auto">
          <a:xfrm>
            <a:off x="5771472" y="836712"/>
            <a:ext cx="3024188" cy="576262"/>
          </a:xfrm>
          <a:prstGeom prst="wedgeEllipseCallout">
            <a:avLst>
              <a:gd name="adj1" fmla="val -68809"/>
              <a:gd name="adj2" fmla="val 20746"/>
            </a:avLst>
          </a:prstGeom>
          <a:solidFill>
            <a:srgbClr val="FFFF99"/>
          </a:solidFill>
          <a:ln w="9525">
            <a:solidFill>
              <a:schemeClr val="tx1"/>
            </a:solidFill>
            <a:miter lim="800000"/>
            <a:headEnd/>
            <a:tailEnd/>
          </a:ln>
          <a:effectLst>
            <a:outerShdw dist="107763" dir="2700000" algn="ctr" rotWithShape="0">
              <a:srgbClr val="00002E">
                <a:alpha val="50000"/>
              </a:srgbClr>
            </a:outerShdw>
          </a:effec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b="1" dirty="0" smtClean="0">
                <a:solidFill>
                  <a:srgbClr val="FF0000"/>
                </a:solidFill>
                <a:latin typeface="+mn-lt"/>
                <a:ea typeface="+mn-ea"/>
              </a:rPr>
              <a:t>也是</a:t>
            </a:r>
            <a:r>
              <a:rPr lang="en-US" altLang="zh-CN" b="1" dirty="0" smtClean="0">
                <a:solidFill>
                  <a:srgbClr val="FF0000"/>
                </a:solidFill>
                <a:latin typeface="+mn-lt"/>
                <a:ea typeface="+mn-ea"/>
              </a:rPr>
              <a:t>ARQ</a:t>
            </a:r>
            <a:r>
              <a:rPr lang="zh-CN" altLang="en-US" b="1" dirty="0" smtClean="0">
                <a:solidFill>
                  <a:srgbClr val="FF0000"/>
                </a:solidFill>
                <a:latin typeface="+mn-lt"/>
                <a:ea typeface="+mn-ea"/>
              </a:rPr>
              <a:t>协议！</a:t>
            </a:r>
            <a:endParaRPr lang="zh-CN" altLang="en-US" b="1" dirty="0">
              <a:solidFill>
                <a:srgbClr val="FF0000"/>
              </a:solidFill>
              <a:latin typeface="+mn-lt"/>
              <a:ea typeface="+mn-ea"/>
            </a:endParaRPr>
          </a:p>
        </p:txBody>
      </p:sp>
      <p:sp>
        <p:nvSpPr>
          <p:cNvPr id="153" name="Text Box 149"/>
          <p:cNvSpPr txBox="1">
            <a:spLocks noChangeArrowheads="1"/>
          </p:cNvSpPr>
          <p:nvPr/>
        </p:nvSpPr>
        <p:spPr bwMode="auto">
          <a:xfrm>
            <a:off x="2857502" y="5510559"/>
            <a:ext cx="15843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zh-CN" altLang="en-US" sz="1800" b="1" dirty="0">
                <a:solidFill>
                  <a:schemeClr val="tx2"/>
                </a:solidFill>
                <a:latin typeface="+mn-lt"/>
                <a:ea typeface="+mn-ea"/>
              </a:rPr>
              <a:t>定时器</a:t>
            </a:r>
          </a:p>
        </p:txBody>
      </p:sp>
      <p:grpSp>
        <p:nvGrpSpPr>
          <p:cNvPr id="2" name="组合 1"/>
          <p:cNvGrpSpPr/>
          <p:nvPr/>
        </p:nvGrpSpPr>
        <p:grpSpPr>
          <a:xfrm>
            <a:off x="2575720" y="1700213"/>
            <a:ext cx="2182019" cy="3844926"/>
            <a:chOff x="2575720" y="1700213"/>
            <a:chExt cx="2182019" cy="3844926"/>
          </a:xfrm>
        </p:grpSpPr>
        <p:sp>
          <p:nvSpPr>
            <p:cNvPr id="641138" name="Freeform 114"/>
            <p:cNvSpPr>
              <a:spLocks/>
            </p:cNvSpPr>
            <p:nvPr/>
          </p:nvSpPr>
          <p:spPr bwMode="auto">
            <a:xfrm>
              <a:off x="3041652" y="2136776"/>
              <a:ext cx="1096963" cy="714375"/>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Lst>
              <a:ahLst/>
              <a:cxnLst>
                <a:cxn ang="0">
                  <a:pos x="T0" y="T1"/>
                </a:cxn>
                <a:cxn ang="0">
                  <a:pos x="T2" y="T3"/>
                </a:cxn>
                <a:cxn ang="0">
                  <a:pos x="T4" y="T5"/>
                </a:cxn>
                <a:cxn ang="0">
                  <a:pos x="T6" y="T7"/>
                </a:cxn>
                <a:cxn ang="0">
                  <a:pos x="T8" y="T9"/>
                </a:cxn>
              </a:cxnLst>
              <a:rect l="0" t="0" r="r" b="b"/>
              <a:pathLst>
                <a:path w="769" h="466">
                  <a:moveTo>
                    <a:pt x="0" y="0"/>
                  </a:moveTo>
                  <a:lnTo>
                    <a:pt x="768" y="145"/>
                  </a:lnTo>
                  <a:lnTo>
                    <a:pt x="768" y="465"/>
                  </a:lnTo>
                  <a:lnTo>
                    <a:pt x="0" y="320"/>
                  </a:lnTo>
                  <a:lnTo>
                    <a:pt x="0"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139" name="Freeform 115"/>
            <p:cNvSpPr>
              <a:spLocks/>
            </p:cNvSpPr>
            <p:nvPr/>
          </p:nvSpPr>
          <p:spPr bwMode="auto">
            <a:xfrm>
              <a:off x="3038477" y="3479801"/>
              <a:ext cx="1114425" cy="696913"/>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Lst>
              <a:ahLst/>
              <a:cxnLst>
                <a:cxn ang="0">
                  <a:pos x="T0" y="T1"/>
                </a:cxn>
                <a:cxn ang="0">
                  <a:pos x="T2" y="T3"/>
                </a:cxn>
                <a:cxn ang="0">
                  <a:pos x="T4" y="T5"/>
                </a:cxn>
                <a:cxn ang="0">
                  <a:pos x="T6" y="T7"/>
                </a:cxn>
                <a:cxn ang="0">
                  <a:pos x="T8" y="T9"/>
                </a:cxn>
              </a:cxnLst>
              <a:rect l="0" t="0" r="r" b="b"/>
              <a:pathLst>
                <a:path w="769" h="466">
                  <a:moveTo>
                    <a:pt x="0" y="0"/>
                  </a:moveTo>
                  <a:lnTo>
                    <a:pt x="768" y="145"/>
                  </a:lnTo>
                  <a:lnTo>
                    <a:pt x="768" y="465"/>
                  </a:lnTo>
                  <a:lnTo>
                    <a:pt x="0" y="320"/>
                  </a:lnTo>
                  <a:lnTo>
                    <a:pt x="0"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140" name="Line 116"/>
            <p:cNvSpPr>
              <a:spLocks noChangeShapeType="1"/>
            </p:cNvSpPr>
            <p:nvPr/>
          </p:nvSpPr>
          <p:spPr bwMode="auto">
            <a:xfrm>
              <a:off x="4151314" y="2000251"/>
              <a:ext cx="0" cy="2940050"/>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41" name="Rectangle 117"/>
            <p:cNvSpPr>
              <a:spLocks noChangeArrowheads="1"/>
            </p:cNvSpPr>
            <p:nvPr/>
          </p:nvSpPr>
          <p:spPr bwMode="auto">
            <a:xfrm>
              <a:off x="2857502" y="1700213"/>
              <a:ext cx="3492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a:t>
              </a:r>
            </a:p>
          </p:txBody>
        </p:sp>
        <p:sp>
          <p:nvSpPr>
            <p:cNvPr id="641142" name="Rectangle 118"/>
            <p:cNvSpPr>
              <a:spLocks noChangeArrowheads="1"/>
            </p:cNvSpPr>
            <p:nvPr/>
          </p:nvSpPr>
          <p:spPr bwMode="auto">
            <a:xfrm>
              <a:off x="3998914" y="1700213"/>
              <a:ext cx="352425" cy="369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B</a:t>
              </a:r>
            </a:p>
          </p:txBody>
        </p:sp>
        <p:sp>
          <p:nvSpPr>
            <p:cNvPr id="641143" name="Line 119"/>
            <p:cNvSpPr>
              <a:spLocks noChangeShapeType="1"/>
            </p:cNvSpPr>
            <p:nvPr/>
          </p:nvSpPr>
          <p:spPr bwMode="auto">
            <a:xfrm>
              <a:off x="3028952" y="2132013"/>
              <a:ext cx="1119188" cy="206375"/>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44" name="Line 120"/>
            <p:cNvSpPr>
              <a:spLocks noChangeShapeType="1"/>
            </p:cNvSpPr>
            <p:nvPr/>
          </p:nvSpPr>
          <p:spPr bwMode="auto">
            <a:xfrm>
              <a:off x="3041652" y="2652713"/>
              <a:ext cx="1106488" cy="192088"/>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1145" name="Group 121"/>
            <p:cNvGrpSpPr>
              <a:grpSpLocks/>
            </p:cNvGrpSpPr>
            <p:nvPr/>
          </p:nvGrpSpPr>
          <p:grpSpPr bwMode="auto">
            <a:xfrm>
              <a:off x="3125789" y="2324101"/>
              <a:ext cx="804863" cy="369888"/>
              <a:chOff x="1836" y="772"/>
              <a:chExt cx="561" cy="252"/>
            </a:xfrm>
          </p:grpSpPr>
          <p:sp>
            <p:nvSpPr>
              <p:cNvPr id="641146" name="Freeform 122"/>
              <p:cNvSpPr>
                <a:spLocks/>
              </p:cNvSpPr>
              <p:nvPr/>
            </p:nvSpPr>
            <p:spPr bwMode="auto">
              <a:xfrm>
                <a:off x="1836" y="774"/>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Lst>
                <a:ahLst/>
                <a:cxnLst>
                  <a:cxn ang="0">
                    <a:pos x="T0" y="T1"/>
                  </a:cxn>
                  <a:cxn ang="0">
                    <a:pos x="T2" y="T3"/>
                  </a:cxn>
                  <a:cxn ang="0">
                    <a:pos x="T4" y="T5"/>
                  </a:cxn>
                  <a:cxn ang="0">
                    <a:pos x="T6" y="T7"/>
                  </a:cxn>
                  <a:cxn ang="0">
                    <a:pos x="T8" y="T9"/>
                  </a:cxn>
                </a:cxnLst>
                <a:rect l="0" t="0" r="r" b="b"/>
                <a:pathLst>
                  <a:path w="445" h="187">
                    <a:moveTo>
                      <a:pt x="6" y="0"/>
                    </a:moveTo>
                    <a:lnTo>
                      <a:pt x="444" y="60"/>
                    </a:lnTo>
                    <a:lnTo>
                      <a:pt x="444" y="186"/>
                    </a:lnTo>
                    <a:lnTo>
                      <a:pt x="0" y="120"/>
                    </a:lnTo>
                    <a:lnTo>
                      <a:pt x="6"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147" name="Rectangle 123"/>
              <p:cNvSpPr>
                <a:spLocks noChangeArrowheads="1"/>
              </p:cNvSpPr>
              <p:nvPr/>
            </p:nvSpPr>
            <p:spPr bwMode="auto">
              <a:xfrm rot="540000">
                <a:off x="1844" y="772"/>
                <a:ext cx="553" cy="252"/>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smtClean="0">
                    <a:latin typeface="+mn-lt"/>
                    <a:ea typeface="+mn-ea"/>
                  </a:rPr>
                  <a:t>DATA</a:t>
                </a:r>
                <a:endParaRPr lang="en-US" altLang="zh-CN" sz="1800" b="1" dirty="0">
                  <a:latin typeface="+mn-lt"/>
                  <a:ea typeface="+mn-ea"/>
                </a:endParaRPr>
              </a:p>
            </p:txBody>
          </p:sp>
        </p:grpSp>
        <p:sp>
          <p:nvSpPr>
            <p:cNvPr id="641148" name="AutoShape 124"/>
            <p:cNvSpPr>
              <a:spLocks noChangeArrowheads="1"/>
            </p:cNvSpPr>
            <p:nvPr/>
          </p:nvSpPr>
          <p:spPr bwMode="auto">
            <a:xfrm rot="480000">
              <a:off x="3862389" y="2546351"/>
              <a:ext cx="292100" cy="96838"/>
            </a:xfrm>
            <a:prstGeom prst="rightArrow">
              <a:avLst>
                <a:gd name="adj1" fmla="val 50000"/>
                <a:gd name="adj2" fmla="val 125222"/>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52" name="Line 128"/>
            <p:cNvSpPr>
              <a:spLocks noChangeShapeType="1"/>
            </p:cNvSpPr>
            <p:nvPr/>
          </p:nvSpPr>
          <p:spPr bwMode="auto">
            <a:xfrm>
              <a:off x="3024189" y="3467101"/>
              <a:ext cx="1119188" cy="204788"/>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53" name="Line 129"/>
            <p:cNvSpPr>
              <a:spLocks noChangeShapeType="1"/>
            </p:cNvSpPr>
            <p:nvPr/>
          </p:nvSpPr>
          <p:spPr bwMode="auto">
            <a:xfrm>
              <a:off x="3038477" y="3987801"/>
              <a:ext cx="1104900" cy="192088"/>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1154" name="Group 130"/>
            <p:cNvGrpSpPr>
              <a:grpSpLocks/>
            </p:cNvGrpSpPr>
            <p:nvPr/>
          </p:nvGrpSpPr>
          <p:grpSpPr bwMode="auto">
            <a:xfrm>
              <a:off x="3136902" y="3621088"/>
              <a:ext cx="803275" cy="369888"/>
              <a:chOff x="1821" y="1686"/>
              <a:chExt cx="563" cy="252"/>
            </a:xfrm>
          </p:grpSpPr>
          <p:sp>
            <p:nvSpPr>
              <p:cNvPr id="641155" name="Freeform 131"/>
              <p:cNvSpPr>
                <a:spLocks/>
              </p:cNvSpPr>
              <p:nvPr/>
            </p:nvSpPr>
            <p:spPr bwMode="auto">
              <a:xfrm>
                <a:off x="1821" y="1689"/>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Lst>
                <a:ahLst/>
                <a:cxnLst>
                  <a:cxn ang="0">
                    <a:pos x="T0" y="T1"/>
                  </a:cxn>
                  <a:cxn ang="0">
                    <a:pos x="T2" y="T3"/>
                  </a:cxn>
                  <a:cxn ang="0">
                    <a:pos x="T4" y="T5"/>
                  </a:cxn>
                  <a:cxn ang="0">
                    <a:pos x="T6" y="T7"/>
                  </a:cxn>
                  <a:cxn ang="0">
                    <a:pos x="T8" y="T9"/>
                  </a:cxn>
                </a:cxnLst>
                <a:rect l="0" t="0" r="r" b="b"/>
                <a:pathLst>
                  <a:path w="445" h="187">
                    <a:moveTo>
                      <a:pt x="6" y="0"/>
                    </a:moveTo>
                    <a:lnTo>
                      <a:pt x="444" y="60"/>
                    </a:lnTo>
                    <a:lnTo>
                      <a:pt x="444" y="186"/>
                    </a:lnTo>
                    <a:lnTo>
                      <a:pt x="0" y="120"/>
                    </a:lnTo>
                    <a:lnTo>
                      <a:pt x="6" y="0"/>
                    </a:lnTo>
                  </a:path>
                </a:pathLst>
              </a:custGeom>
              <a:solidFill>
                <a:srgbClr val="DDDDDD"/>
              </a:solidFill>
              <a:ln>
                <a:noFill/>
              </a:ln>
              <a:effectLst/>
              <a:extLst>
                <a:ext uri="{91240B29-F687-4F45-9708-019B960494DF}">
                  <a14:hiddenLine xmlns="" xmlns:a14="http://schemas.microsoft.com/office/drawing/2010/main" w="9525" cap="rnd">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41156" name="Rectangle 132"/>
              <p:cNvSpPr>
                <a:spLocks noChangeArrowheads="1"/>
              </p:cNvSpPr>
              <p:nvPr/>
            </p:nvSpPr>
            <p:spPr bwMode="auto">
              <a:xfrm rot="540000">
                <a:off x="1828" y="1686"/>
                <a:ext cx="556" cy="252"/>
              </a:xfrm>
              <a:prstGeom prst="rect">
                <a:avLst/>
              </a:prstGeom>
              <a:solidFill>
                <a:srgbClr val="DDDDDD"/>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smtClean="0">
                    <a:latin typeface="+mn-lt"/>
                    <a:ea typeface="+mn-ea"/>
                  </a:rPr>
                  <a:t>DATA</a:t>
                </a:r>
                <a:endParaRPr lang="en-US" altLang="zh-CN" sz="1800" b="1" dirty="0">
                  <a:latin typeface="+mn-lt"/>
                  <a:ea typeface="+mn-ea"/>
                </a:endParaRPr>
              </a:p>
            </p:txBody>
          </p:sp>
        </p:grpSp>
        <p:sp>
          <p:nvSpPr>
            <p:cNvPr id="641157" name="AutoShape 133"/>
            <p:cNvSpPr>
              <a:spLocks noChangeArrowheads="1"/>
            </p:cNvSpPr>
            <p:nvPr/>
          </p:nvSpPr>
          <p:spPr bwMode="auto">
            <a:xfrm rot="480000">
              <a:off x="3857627" y="3862388"/>
              <a:ext cx="292100" cy="96838"/>
            </a:xfrm>
            <a:prstGeom prst="rightArrow">
              <a:avLst>
                <a:gd name="adj1" fmla="val 50000"/>
                <a:gd name="adj2" fmla="val 125222"/>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58" name="Line 134"/>
            <p:cNvSpPr>
              <a:spLocks noChangeShapeType="1"/>
            </p:cNvSpPr>
            <p:nvPr/>
          </p:nvSpPr>
          <p:spPr bwMode="auto">
            <a:xfrm>
              <a:off x="4167189" y="4206876"/>
              <a:ext cx="228600" cy="0"/>
            </a:xfrm>
            <a:prstGeom prst="line">
              <a:avLst/>
            </a:prstGeom>
            <a:noFill/>
            <a:ln w="12700">
              <a:solidFill>
                <a:schemeClr val="tx1"/>
              </a:solidFill>
              <a:round/>
              <a:headEnd type="non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59" name="Rectangle 135"/>
            <p:cNvSpPr>
              <a:spLocks noChangeArrowheads="1"/>
            </p:cNvSpPr>
            <p:nvPr/>
          </p:nvSpPr>
          <p:spPr bwMode="auto">
            <a:xfrm>
              <a:off x="4210052" y="4195763"/>
              <a:ext cx="412750" cy="917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送</a:t>
              </a:r>
            </a:p>
            <a:p>
              <a:pPr eaLnBrk="0" hangingPunct="0">
                <a:buClrTx/>
                <a:buFontTx/>
                <a:buNone/>
              </a:pPr>
              <a:r>
                <a:rPr lang="zh-CN" altLang="en-US" sz="1800" b="1">
                  <a:latin typeface="+mn-lt"/>
                  <a:ea typeface="+mn-ea"/>
                </a:rPr>
                <a:t>主</a:t>
              </a:r>
            </a:p>
            <a:p>
              <a:pPr eaLnBrk="0" hangingPunct="0">
                <a:buClrTx/>
                <a:buFontTx/>
                <a:buNone/>
              </a:pPr>
              <a:r>
                <a:rPr lang="zh-CN" altLang="en-US" sz="1800" b="1">
                  <a:latin typeface="+mn-lt"/>
                  <a:ea typeface="+mn-ea"/>
                </a:rPr>
                <a:t>机</a:t>
              </a:r>
            </a:p>
          </p:txBody>
        </p:sp>
        <p:sp>
          <p:nvSpPr>
            <p:cNvPr id="641160" name="Line 136"/>
            <p:cNvSpPr>
              <a:spLocks noChangeShapeType="1"/>
            </p:cNvSpPr>
            <p:nvPr/>
          </p:nvSpPr>
          <p:spPr bwMode="auto">
            <a:xfrm flipH="1">
              <a:off x="3032127" y="4294188"/>
              <a:ext cx="1111250" cy="206375"/>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61" name="Line 137"/>
            <p:cNvSpPr>
              <a:spLocks noChangeShapeType="1"/>
            </p:cNvSpPr>
            <p:nvPr/>
          </p:nvSpPr>
          <p:spPr bwMode="auto">
            <a:xfrm flipH="1">
              <a:off x="3032127" y="4511676"/>
              <a:ext cx="1119188" cy="223838"/>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62" name="Rectangle 138"/>
            <p:cNvSpPr>
              <a:spLocks noChangeArrowheads="1"/>
            </p:cNvSpPr>
            <p:nvPr/>
          </p:nvSpPr>
          <p:spPr bwMode="auto">
            <a:xfrm rot="21060000">
              <a:off x="3478214" y="4279901"/>
              <a:ext cx="6794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ACK</a:t>
              </a:r>
            </a:p>
          </p:txBody>
        </p:sp>
        <p:sp>
          <p:nvSpPr>
            <p:cNvPr id="641164" name="Line 140"/>
            <p:cNvSpPr>
              <a:spLocks noChangeShapeType="1"/>
            </p:cNvSpPr>
            <p:nvPr/>
          </p:nvSpPr>
          <p:spPr bwMode="auto">
            <a:xfrm flipV="1">
              <a:off x="3179764" y="4511676"/>
              <a:ext cx="388938" cy="76200"/>
            </a:xfrm>
            <a:prstGeom prst="line">
              <a:avLst/>
            </a:prstGeom>
            <a:noFill/>
            <a:ln w="12700">
              <a:solidFill>
                <a:schemeClr val="tx1"/>
              </a:solidFill>
              <a:round/>
              <a:headEnd type="triangle" w="sm" len="lg"/>
              <a:tailEnd type="non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65" name="Rectangle 141"/>
            <p:cNvSpPr>
              <a:spLocks noChangeArrowheads="1"/>
            </p:cNvSpPr>
            <p:nvPr/>
          </p:nvSpPr>
          <p:spPr bwMode="auto">
            <a:xfrm>
              <a:off x="2752727" y="5178426"/>
              <a:ext cx="16827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(b) </a:t>
              </a:r>
              <a:r>
                <a:rPr lang="zh-CN" altLang="en-US" sz="1800" b="1">
                  <a:latin typeface="+mn-lt"/>
                  <a:ea typeface="+mn-ea"/>
                </a:rPr>
                <a:t>数据帧出错</a:t>
              </a:r>
            </a:p>
          </p:txBody>
        </p:sp>
        <p:sp>
          <p:nvSpPr>
            <p:cNvPr id="641166" name="Rectangle 142"/>
            <p:cNvSpPr>
              <a:spLocks noChangeArrowheads="1"/>
            </p:cNvSpPr>
            <p:nvPr/>
          </p:nvSpPr>
          <p:spPr bwMode="auto">
            <a:xfrm>
              <a:off x="2700339" y="3465513"/>
              <a:ext cx="412750"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重</a:t>
              </a:r>
            </a:p>
            <a:p>
              <a:pPr eaLnBrk="0" hangingPunct="0">
                <a:buClrTx/>
                <a:buFontTx/>
                <a:buNone/>
              </a:pPr>
              <a:r>
                <a:rPr lang="zh-CN" altLang="en-US" sz="1800" b="1">
                  <a:latin typeface="+mn-lt"/>
                  <a:ea typeface="+mn-ea"/>
                </a:rPr>
                <a:t>传</a:t>
              </a:r>
            </a:p>
          </p:txBody>
        </p:sp>
        <p:grpSp>
          <p:nvGrpSpPr>
            <p:cNvPr id="641167" name="Group 143"/>
            <p:cNvGrpSpPr>
              <a:grpSpLocks/>
            </p:cNvGrpSpPr>
            <p:nvPr/>
          </p:nvGrpSpPr>
          <p:grpSpPr bwMode="auto">
            <a:xfrm>
              <a:off x="4068764" y="2044701"/>
              <a:ext cx="688975" cy="941388"/>
              <a:chOff x="2493" y="624"/>
              <a:chExt cx="483" cy="645"/>
            </a:xfrm>
          </p:grpSpPr>
          <p:sp>
            <p:nvSpPr>
              <p:cNvPr id="641168" name="AutoShape 144"/>
              <p:cNvSpPr>
                <a:spLocks noChangeArrowheads="1"/>
              </p:cNvSpPr>
              <p:nvPr/>
            </p:nvSpPr>
            <p:spPr bwMode="auto">
              <a:xfrm rot="1506054">
                <a:off x="2496" y="624"/>
                <a:ext cx="480" cy="645"/>
              </a:xfrm>
              <a:prstGeom prst="irregularSeal2">
                <a:avLst/>
              </a:prstGeom>
              <a:solidFill>
                <a:srgbClr val="FC0404"/>
              </a:solidFill>
              <a:ln w="12700">
                <a:solidFill>
                  <a:srgbClr val="FC0404"/>
                </a:solidFill>
                <a:miter lim="800000"/>
                <a:headEnd type="none" w="sm" len="sm"/>
                <a:tailEnd type="none" w="sm" len="sm"/>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1169" name="Rectangle 145"/>
              <p:cNvSpPr>
                <a:spLocks noChangeArrowheads="1"/>
              </p:cNvSpPr>
              <p:nvPr/>
            </p:nvSpPr>
            <p:spPr bwMode="auto">
              <a:xfrm rot="19189146">
                <a:off x="2493" y="823"/>
                <a:ext cx="454" cy="25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dirty="0">
                    <a:solidFill>
                      <a:srgbClr val="FFFF00"/>
                    </a:solidFill>
                    <a:latin typeface="+mn-lt"/>
                    <a:ea typeface="+mn-ea"/>
                  </a:rPr>
                  <a:t>出错</a:t>
                </a:r>
              </a:p>
            </p:txBody>
          </p:sp>
        </p:grpSp>
        <p:sp>
          <p:nvSpPr>
            <p:cNvPr id="641170" name="Line 146"/>
            <p:cNvSpPr>
              <a:spLocks noChangeShapeType="1"/>
            </p:cNvSpPr>
            <p:nvPr/>
          </p:nvSpPr>
          <p:spPr bwMode="auto">
            <a:xfrm>
              <a:off x="3028952" y="2009776"/>
              <a:ext cx="0" cy="2940050"/>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154" name="Line 62"/>
            <p:cNvSpPr>
              <a:spLocks noChangeShapeType="1"/>
            </p:cNvSpPr>
            <p:nvPr/>
          </p:nvSpPr>
          <p:spPr bwMode="auto">
            <a:xfrm>
              <a:off x="2827339" y="2656576"/>
              <a:ext cx="204788" cy="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155" name="Line 62"/>
            <p:cNvSpPr>
              <a:spLocks noChangeShapeType="1"/>
            </p:cNvSpPr>
            <p:nvPr/>
          </p:nvSpPr>
          <p:spPr bwMode="auto">
            <a:xfrm>
              <a:off x="2804320" y="3471863"/>
              <a:ext cx="204788" cy="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156" name="Line 64"/>
            <p:cNvSpPr>
              <a:spLocks noChangeShapeType="1"/>
            </p:cNvSpPr>
            <p:nvPr/>
          </p:nvSpPr>
          <p:spPr bwMode="auto">
            <a:xfrm>
              <a:off x="2893735" y="2658070"/>
              <a:ext cx="0" cy="833438"/>
            </a:xfrm>
            <a:prstGeom prst="line">
              <a:avLst/>
            </a:prstGeom>
            <a:noFill/>
            <a:ln w="12700">
              <a:solidFill>
                <a:schemeClr val="tx1"/>
              </a:solidFill>
              <a:round/>
              <a:headEnd type="triangl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157" name="Rectangle 67"/>
            <p:cNvSpPr>
              <a:spLocks noChangeArrowheads="1"/>
            </p:cNvSpPr>
            <p:nvPr/>
          </p:nvSpPr>
          <p:spPr bwMode="auto">
            <a:xfrm>
              <a:off x="2575720" y="2852936"/>
              <a:ext cx="503238" cy="370148"/>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i="1" dirty="0">
                  <a:latin typeface="+mn-lt"/>
                  <a:ea typeface="+mn-ea"/>
                </a:rPr>
                <a:t>t</a:t>
              </a:r>
              <a:r>
                <a:rPr lang="en-US" altLang="zh-CN" sz="1800" b="1" i="1" baseline="-12000" dirty="0">
                  <a:latin typeface="+mn-lt"/>
                  <a:ea typeface="+mn-ea"/>
                </a:rPr>
                <a:t>out</a:t>
              </a:r>
            </a:p>
          </p:txBody>
        </p:sp>
      </p:gr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1171"/>
                                        </p:tgtEl>
                                        <p:attrNameLst>
                                          <p:attrName>style.visibility</p:attrName>
                                        </p:attrNameLst>
                                      </p:cBhvr>
                                      <p:to>
                                        <p:strVal val="visible"/>
                                      </p:to>
                                    </p:set>
                                    <p:animEffect transition="in" filter="dissolve">
                                      <p:cBhvr>
                                        <p:cTn id="7" dur="500"/>
                                        <p:tgtEl>
                                          <p:spTgt spid="64117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3"/>
                                        </p:tgtEl>
                                        <p:attrNameLst>
                                          <p:attrName>style.visibility</p:attrName>
                                        </p:attrNameLst>
                                      </p:cBhvr>
                                      <p:to>
                                        <p:strVal val="visible"/>
                                      </p:to>
                                    </p:set>
                                    <p:animEffect transition="in" filter="dissolve">
                                      <p:cBhvr>
                                        <p:cTn id="17" dur="500"/>
                                        <p:tgtEl>
                                          <p:spTgt spid="1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64106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641173"/>
                                        </p:tgtEl>
                                        <p:attrNameLst>
                                          <p:attrName>style.visibility</p:attrName>
                                        </p:attrNameLst>
                                      </p:cBhvr>
                                      <p:to>
                                        <p:strVal val="visible"/>
                                      </p:to>
                                    </p:set>
                                    <p:animEffect transition="in" filter="dissolve">
                                      <p:cBhvr>
                                        <p:cTn id="26" dur="500"/>
                                        <p:tgtEl>
                                          <p:spTgt spid="6411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4109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641174"/>
                                        </p:tgtEl>
                                        <p:attrNameLst>
                                          <p:attrName>style.visibility</p:attrName>
                                        </p:attrNameLst>
                                      </p:cBhvr>
                                      <p:to>
                                        <p:strVal val="visible"/>
                                      </p:to>
                                    </p:set>
                                    <p:animEffect transition="in" filter="dissolve">
                                      <p:cBhvr>
                                        <p:cTn id="35" dur="500"/>
                                        <p:tgtEl>
                                          <p:spTgt spid="641174"/>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52"/>
                                        </p:tgtEl>
                                        <p:attrNameLst>
                                          <p:attrName>style.visibility</p:attrName>
                                        </p:attrNameLst>
                                      </p:cBhvr>
                                      <p:to>
                                        <p:strVal val="visible"/>
                                      </p:to>
                                    </p:set>
                                    <p:animEffect transition="in" filter="dissolve">
                                      <p:cBhvr>
                                        <p:cTn id="40"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171" grpId="0"/>
      <p:bldP spid="641173" grpId="0"/>
      <p:bldP spid="641174" grpId="0"/>
      <p:bldP spid="152" grpId="0" animBg="1"/>
      <p:bldP spid="15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lgn="ctr"/>
            <a:r>
              <a:rPr lang="zh-CN" altLang="en-US"/>
              <a:t>超时计时器的作用</a:t>
            </a:r>
          </a:p>
        </p:txBody>
      </p:sp>
      <p:sp>
        <p:nvSpPr>
          <p:cNvPr id="46083" name="Rectangle 3"/>
          <p:cNvSpPr>
            <a:spLocks noGrp="1" noChangeArrowheads="1"/>
          </p:cNvSpPr>
          <p:nvPr>
            <p:ph type="body" idx="1"/>
          </p:nvPr>
        </p:nvSpPr>
        <p:spPr>
          <a:xfrm>
            <a:off x="1042988" y="1835150"/>
            <a:ext cx="7772400" cy="4618038"/>
          </a:xfrm>
        </p:spPr>
        <p:txBody>
          <a:bodyPr/>
          <a:lstStyle/>
          <a:p>
            <a:r>
              <a:rPr lang="zh-CN" altLang="en-US"/>
              <a:t>结点</a:t>
            </a:r>
            <a:r>
              <a:rPr lang="en-US" altLang="zh-CN"/>
              <a:t>A</a:t>
            </a:r>
            <a:r>
              <a:rPr lang="zh-CN" altLang="en-US"/>
              <a:t>发送完一个数据帧时，就启动一个</a:t>
            </a:r>
            <a:r>
              <a:rPr lang="zh-CN" altLang="en-US">
                <a:solidFill>
                  <a:schemeClr val="hlink"/>
                </a:solidFill>
              </a:rPr>
              <a:t>超时计时器</a:t>
            </a:r>
            <a:r>
              <a:rPr lang="en-US" altLang="zh-CN"/>
              <a:t>(timeout timer)</a:t>
            </a:r>
            <a:r>
              <a:rPr lang="zh-CN" altLang="en-US"/>
              <a:t>。</a:t>
            </a:r>
          </a:p>
          <a:p>
            <a:pPr lvl="1"/>
            <a:r>
              <a:rPr lang="zh-CN" altLang="en-US">
                <a:solidFill>
                  <a:srgbClr val="333399"/>
                </a:solidFill>
                <a:ea typeface="黑体" pitchFamily="2" charset="-122"/>
              </a:rPr>
              <a:t>计时器又称为</a:t>
            </a:r>
            <a:r>
              <a:rPr lang="zh-CN" altLang="en-US">
                <a:solidFill>
                  <a:srgbClr val="FF0000"/>
                </a:solidFill>
                <a:ea typeface="黑体" pitchFamily="2" charset="-122"/>
              </a:rPr>
              <a:t>定时器</a:t>
            </a:r>
            <a:r>
              <a:rPr lang="zh-CN" altLang="en-US">
                <a:solidFill>
                  <a:srgbClr val="333399"/>
                </a:solidFill>
                <a:ea typeface="黑体" pitchFamily="2" charset="-122"/>
              </a:rPr>
              <a:t>。</a:t>
            </a:r>
          </a:p>
          <a:p>
            <a:r>
              <a:rPr lang="zh-CN" altLang="en-US"/>
              <a:t>若到了超时计时器所设置的重传时间 </a:t>
            </a:r>
            <a:r>
              <a:rPr lang="en-US" altLang="zh-CN" i="1"/>
              <a:t>t</a:t>
            </a:r>
            <a:r>
              <a:rPr lang="en-US" altLang="zh-CN" i="1" baseline="-25000"/>
              <a:t>out</a:t>
            </a:r>
            <a:r>
              <a:rPr lang="zh-CN" altLang="en-US"/>
              <a:t>而仍收不到结点 </a:t>
            </a:r>
            <a:r>
              <a:rPr lang="en-US" altLang="zh-CN"/>
              <a:t>B </a:t>
            </a:r>
            <a:r>
              <a:rPr lang="zh-CN" altLang="en-US"/>
              <a:t>的任何确认帧，则结点 </a:t>
            </a:r>
            <a:r>
              <a:rPr lang="en-US" altLang="zh-CN"/>
              <a:t>A </a:t>
            </a:r>
            <a:r>
              <a:rPr lang="zh-CN" altLang="en-US"/>
              <a:t>就重传前面所发送的这一数据帧。</a:t>
            </a:r>
          </a:p>
          <a:p>
            <a:r>
              <a:rPr lang="zh-CN" altLang="en-US"/>
              <a:t>一般可将重传时间选为略大于“从发完数据帧到收到确认帧所需的平均时间”。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algn="ctr"/>
            <a:r>
              <a:rPr lang="zh-CN" altLang="en-US"/>
              <a:t>解决重复帧的问题 </a:t>
            </a:r>
          </a:p>
        </p:txBody>
      </p:sp>
      <p:sp>
        <p:nvSpPr>
          <p:cNvPr id="140291" name="Rectangle 3"/>
          <p:cNvSpPr>
            <a:spLocks noGrp="1" noChangeArrowheads="1"/>
          </p:cNvSpPr>
          <p:nvPr>
            <p:ph type="body" idx="1"/>
          </p:nvPr>
        </p:nvSpPr>
        <p:spPr>
          <a:xfrm>
            <a:off x="1042988" y="1906588"/>
            <a:ext cx="7772400" cy="4114800"/>
          </a:xfrm>
        </p:spPr>
        <p:txBody>
          <a:bodyPr/>
          <a:lstStyle/>
          <a:p>
            <a:r>
              <a:rPr lang="zh-CN" altLang="en-US" sz="2800">
                <a:solidFill>
                  <a:srgbClr val="FF0000"/>
                </a:solidFill>
              </a:rPr>
              <a:t>使每一个数据帧带上不同的发送序号</a:t>
            </a:r>
            <a:r>
              <a:rPr lang="zh-CN" altLang="en-US" sz="2800"/>
              <a:t>。每发送一个新的数据帧就把它的发送序号加 </a:t>
            </a:r>
            <a:r>
              <a:rPr lang="en-US" altLang="zh-CN" sz="2800"/>
              <a:t>1</a:t>
            </a:r>
            <a:r>
              <a:rPr lang="zh-CN" altLang="en-US" sz="2800"/>
              <a:t>。 </a:t>
            </a:r>
          </a:p>
          <a:p>
            <a:r>
              <a:rPr lang="zh-CN" altLang="en-US" sz="2800"/>
              <a:t>若结点 </a:t>
            </a:r>
            <a:r>
              <a:rPr lang="en-US" altLang="zh-CN" sz="2800"/>
              <a:t>B </a:t>
            </a:r>
            <a:r>
              <a:rPr lang="zh-CN" altLang="en-US" sz="2800"/>
              <a:t>收到发送序号相同的数据帧，就表明出现了</a:t>
            </a:r>
            <a:r>
              <a:rPr lang="zh-CN" altLang="en-US" sz="2800">
                <a:solidFill>
                  <a:srgbClr val="FF0000"/>
                </a:solidFill>
              </a:rPr>
              <a:t>重复帧</a:t>
            </a:r>
            <a:r>
              <a:rPr lang="zh-CN" altLang="en-US" sz="2800"/>
              <a:t>。这时应丢弃重复帧，因为已经收到过同样的数据帧并且也交给了主机 </a:t>
            </a:r>
            <a:r>
              <a:rPr lang="en-US" altLang="zh-CN" sz="2800"/>
              <a:t>B</a:t>
            </a:r>
            <a:r>
              <a:rPr lang="zh-CN" altLang="en-US" sz="2800"/>
              <a:t>。</a:t>
            </a:r>
          </a:p>
          <a:p>
            <a:r>
              <a:rPr lang="zh-CN" altLang="en-US" sz="2800"/>
              <a:t>但此时结点 </a:t>
            </a:r>
            <a:r>
              <a:rPr lang="en-US" altLang="zh-CN" sz="2800"/>
              <a:t>B </a:t>
            </a:r>
            <a:r>
              <a:rPr lang="zh-CN" altLang="en-US" sz="2800"/>
              <a:t>还必须向 </a:t>
            </a:r>
            <a:r>
              <a:rPr lang="en-US" altLang="zh-CN" sz="2800"/>
              <a:t>A </a:t>
            </a:r>
            <a:r>
              <a:rPr lang="zh-CN" altLang="en-US" sz="2800"/>
              <a:t>发送确认帧 </a:t>
            </a:r>
            <a:r>
              <a:rPr lang="en-US" altLang="zh-CN" sz="2800"/>
              <a:t>ACK</a:t>
            </a:r>
            <a:r>
              <a:rPr lang="zh-CN" altLang="en-US" sz="2800"/>
              <a:t>，因为 </a:t>
            </a:r>
            <a:r>
              <a:rPr lang="en-US" altLang="zh-CN" sz="2800"/>
              <a:t>B </a:t>
            </a:r>
            <a:r>
              <a:rPr lang="zh-CN" altLang="en-US" sz="2800"/>
              <a:t>已经知道 </a:t>
            </a:r>
            <a:r>
              <a:rPr lang="en-US" altLang="zh-CN" sz="2800"/>
              <a:t>A </a:t>
            </a:r>
            <a:r>
              <a:rPr lang="zh-CN" altLang="en-US" sz="2800"/>
              <a:t>还没有收到上一次发过去的确认帧 </a:t>
            </a:r>
            <a:r>
              <a:rPr lang="en-US" altLang="zh-CN" sz="2800"/>
              <a:t>ACK</a:t>
            </a:r>
            <a:r>
              <a:rPr lang="zh-CN" altLang="en-US" sz="2800"/>
              <a:t>。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02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algn="ctr"/>
            <a:r>
              <a:rPr lang="zh-CN" altLang="en-US"/>
              <a:t>帧的编号问题 </a:t>
            </a:r>
          </a:p>
        </p:txBody>
      </p:sp>
      <p:sp>
        <p:nvSpPr>
          <p:cNvPr id="142339" name="Rectangle 3"/>
          <p:cNvSpPr>
            <a:spLocks noGrp="1" noChangeArrowheads="1"/>
          </p:cNvSpPr>
          <p:nvPr>
            <p:ph type="body" idx="1"/>
          </p:nvPr>
        </p:nvSpPr>
        <p:spPr>
          <a:xfrm>
            <a:off x="1042988" y="1906588"/>
            <a:ext cx="7772400" cy="4114800"/>
          </a:xfrm>
        </p:spPr>
        <p:txBody>
          <a:bodyPr/>
          <a:lstStyle/>
          <a:p>
            <a:r>
              <a:rPr lang="zh-CN" altLang="en-US" sz="2800"/>
              <a:t>任何一个编号系统的序号所占用的比特数一定是有限的。因此，经过一段时间后，发送序号就会重复。 </a:t>
            </a:r>
          </a:p>
          <a:p>
            <a:r>
              <a:rPr lang="zh-CN" altLang="en-US" sz="2800"/>
              <a:t>序号占用的比特数越少，数据传输的额外开销就越小。 </a:t>
            </a:r>
          </a:p>
          <a:p>
            <a:r>
              <a:rPr lang="zh-CN" altLang="en-US" sz="2800"/>
              <a:t>对于停止等待协议，由于每发送一个数据帧就停止等待，因此用一个比特来编号就够了。</a:t>
            </a:r>
          </a:p>
          <a:p>
            <a:pPr lvl="1"/>
            <a:r>
              <a:rPr lang="zh-CN" altLang="en-US" sz="2400">
                <a:solidFill>
                  <a:srgbClr val="333399"/>
                </a:solidFill>
                <a:ea typeface="黑体" pitchFamily="2" charset="-122"/>
              </a:rPr>
              <a:t>一个比特可表示 </a:t>
            </a:r>
            <a:r>
              <a:rPr lang="en-US" altLang="zh-CN" sz="2400">
                <a:solidFill>
                  <a:srgbClr val="333399"/>
                </a:solidFill>
                <a:ea typeface="黑体" pitchFamily="2" charset="-122"/>
              </a:rPr>
              <a:t>0 </a:t>
            </a:r>
            <a:r>
              <a:rPr lang="zh-CN" altLang="en-US" sz="2400">
                <a:solidFill>
                  <a:srgbClr val="333399"/>
                </a:solidFill>
                <a:ea typeface="黑体" pitchFamily="2" charset="-122"/>
              </a:rPr>
              <a:t>和 </a:t>
            </a:r>
            <a:r>
              <a:rPr lang="en-US" altLang="zh-CN" sz="2400">
                <a:solidFill>
                  <a:srgbClr val="333399"/>
                </a:solidFill>
                <a:ea typeface="黑体" pitchFamily="2" charset="-122"/>
              </a:rPr>
              <a:t>1 </a:t>
            </a:r>
            <a:r>
              <a:rPr lang="zh-CN" altLang="en-US" sz="2400">
                <a:solidFill>
                  <a:srgbClr val="333399"/>
                </a:solidFill>
                <a:ea typeface="黑体" pitchFamily="2" charset="-122"/>
              </a:rPr>
              <a:t>两种不同的序号。</a:t>
            </a:r>
            <a:r>
              <a:rPr lang="zh-CN" altLang="en-US" sz="2400"/>
              <a:t>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900113" y="214313"/>
            <a:ext cx="8243887" cy="1462087"/>
          </a:xfrm>
        </p:spPr>
        <p:txBody>
          <a:bodyPr/>
          <a:lstStyle/>
          <a:p>
            <a:pPr algn="ctr"/>
            <a:r>
              <a:rPr lang="zh-CN" altLang="en-US"/>
              <a:t>停止等待协议的要点</a:t>
            </a:r>
          </a:p>
        </p:txBody>
      </p:sp>
      <p:sp>
        <p:nvSpPr>
          <p:cNvPr id="153603" name="Rectangle 3"/>
          <p:cNvSpPr>
            <a:spLocks noGrp="1" noChangeArrowheads="1"/>
          </p:cNvSpPr>
          <p:nvPr>
            <p:ph type="body" idx="1"/>
          </p:nvPr>
        </p:nvSpPr>
        <p:spPr>
          <a:xfrm>
            <a:off x="971550" y="1989138"/>
            <a:ext cx="7772400" cy="4392612"/>
          </a:xfrm>
        </p:spPr>
        <p:txBody>
          <a:bodyPr/>
          <a:lstStyle/>
          <a:p>
            <a:pPr algn="just"/>
            <a:r>
              <a:rPr lang="zh-CN" altLang="en-US" sz="2800"/>
              <a:t>只有收到序号正确的确认帧</a:t>
            </a:r>
            <a:r>
              <a:rPr lang="zh-CN" altLang="en-US" sz="1600"/>
              <a:t> </a:t>
            </a:r>
            <a:r>
              <a:rPr lang="en-US" altLang="zh-CN" sz="2800"/>
              <a:t>ACK</a:t>
            </a:r>
            <a:r>
              <a:rPr lang="en-US" altLang="zh-CN" sz="2800" i="1"/>
              <a:t>n</a:t>
            </a:r>
            <a:r>
              <a:rPr lang="en-US" altLang="zh-CN" sz="1600" i="1"/>
              <a:t> </a:t>
            </a:r>
            <a:r>
              <a:rPr lang="zh-CN" altLang="en-US" sz="2800"/>
              <a:t>后，才更新发送状态变量</a:t>
            </a:r>
            <a:r>
              <a:rPr lang="zh-CN" altLang="en-US" sz="1600"/>
              <a:t> </a:t>
            </a:r>
            <a:r>
              <a:rPr lang="en-US" altLang="zh-CN" sz="2800"/>
              <a:t>V(S)</a:t>
            </a:r>
            <a:r>
              <a:rPr lang="zh-CN" altLang="en-US" sz="2800"/>
              <a:t>一次，并发送新的数据帧。</a:t>
            </a:r>
          </a:p>
          <a:p>
            <a:pPr algn="just"/>
            <a:r>
              <a:rPr lang="zh-CN" altLang="en-US" sz="2800"/>
              <a:t>接收端接收到数据帧时，就要将发送序号</a:t>
            </a:r>
            <a:r>
              <a:rPr lang="zh-CN" altLang="en-US" sz="1600"/>
              <a:t> </a:t>
            </a:r>
            <a:r>
              <a:rPr lang="en-US" altLang="zh-CN" sz="2800"/>
              <a:t>N(S)</a:t>
            </a:r>
            <a:r>
              <a:rPr lang="en-US" altLang="zh-CN" sz="1400"/>
              <a:t> </a:t>
            </a:r>
            <a:r>
              <a:rPr lang="zh-CN" altLang="en-US" sz="2800"/>
              <a:t>与本地的接收状态变量</a:t>
            </a:r>
            <a:r>
              <a:rPr lang="zh-CN" altLang="en-US" sz="1600"/>
              <a:t> </a:t>
            </a:r>
            <a:r>
              <a:rPr lang="en-US" altLang="zh-CN" sz="2800"/>
              <a:t>V(R)</a:t>
            </a:r>
            <a:r>
              <a:rPr lang="en-US" altLang="zh-CN" sz="1600"/>
              <a:t> </a:t>
            </a:r>
            <a:r>
              <a:rPr lang="zh-CN" altLang="en-US" sz="2800"/>
              <a:t>相比较。</a:t>
            </a:r>
          </a:p>
          <a:p>
            <a:pPr lvl="1" algn="just"/>
            <a:r>
              <a:rPr lang="zh-CN" altLang="en-US" sz="2400">
                <a:solidFill>
                  <a:srgbClr val="333399"/>
                </a:solidFill>
                <a:ea typeface="黑体" pitchFamily="2" charset="-122"/>
              </a:rPr>
              <a:t>若二者相等就表明是</a:t>
            </a:r>
            <a:r>
              <a:rPr lang="zh-CN" altLang="en-US" sz="2400">
                <a:solidFill>
                  <a:srgbClr val="FF0000"/>
                </a:solidFill>
                <a:ea typeface="黑体" pitchFamily="2" charset="-122"/>
              </a:rPr>
              <a:t>新的数据帧</a:t>
            </a:r>
            <a:r>
              <a:rPr lang="zh-CN" altLang="en-US" sz="2400">
                <a:solidFill>
                  <a:srgbClr val="333399"/>
                </a:solidFill>
                <a:ea typeface="黑体" pitchFamily="2" charset="-122"/>
              </a:rPr>
              <a:t>，就收下，并发送确认。</a:t>
            </a:r>
          </a:p>
          <a:p>
            <a:pPr lvl="1" algn="just"/>
            <a:r>
              <a:rPr lang="zh-CN" altLang="en-US" sz="2400">
                <a:solidFill>
                  <a:srgbClr val="333399"/>
                </a:solidFill>
                <a:ea typeface="黑体" pitchFamily="2" charset="-122"/>
              </a:rPr>
              <a:t>否则为</a:t>
            </a:r>
            <a:r>
              <a:rPr lang="zh-CN" altLang="en-US" sz="2400">
                <a:solidFill>
                  <a:srgbClr val="FF0000"/>
                </a:solidFill>
                <a:ea typeface="黑体" pitchFamily="2" charset="-122"/>
              </a:rPr>
              <a:t>重复帧</a:t>
            </a:r>
            <a:r>
              <a:rPr lang="zh-CN" altLang="en-US" sz="2400">
                <a:solidFill>
                  <a:srgbClr val="333399"/>
                </a:solidFill>
                <a:ea typeface="黑体" pitchFamily="2" charset="-122"/>
              </a:rPr>
              <a:t>，就必须丢弃。但这时</a:t>
            </a:r>
            <a:r>
              <a:rPr lang="zh-CN" altLang="en-US" sz="2400">
                <a:solidFill>
                  <a:srgbClr val="FF0000"/>
                </a:solidFill>
                <a:ea typeface="黑体" pitchFamily="2" charset="-122"/>
              </a:rPr>
              <a:t>仍须向发送端发送确认帧</a:t>
            </a:r>
            <a:r>
              <a:rPr lang="zh-CN" altLang="en-US" sz="1400">
                <a:solidFill>
                  <a:srgbClr val="FF0000"/>
                </a:solidFill>
                <a:ea typeface="黑体" pitchFamily="2" charset="-122"/>
              </a:rPr>
              <a:t> </a:t>
            </a:r>
            <a:r>
              <a:rPr lang="en-US" altLang="zh-CN" sz="2400">
                <a:solidFill>
                  <a:srgbClr val="FF0000"/>
                </a:solidFill>
                <a:ea typeface="黑体" pitchFamily="2" charset="-122"/>
              </a:rPr>
              <a:t>ACK</a:t>
            </a:r>
            <a:r>
              <a:rPr lang="en-US" altLang="zh-CN" sz="2400" i="1">
                <a:solidFill>
                  <a:srgbClr val="FF0000"/>
                </a:solidFill>
                <a:ea typeface="黑体" pitchFamily="2" charset="-122"/>
              </a:rPr>
              <a:t>n</a:t>
            </a:r>
            <a:r>
              <a:rPr lang="zh-CN" altLang="en-US" sz="2400">
                <a:solidFill>
                  <a:srgbClr val="333399"/>
                </a:solidFill>
                <a:ea typeface="黑体" pitchFamily="2" charset="-122"/>
              </a:rPr>
              <a:t>，而接收状态变量</a:t>
            </a:r>
            <a:r>
              <a:rPr lang="zh-CN" altLang="en-US" sz="1400">
                <a:solidFill>
                  <a:srgbClr val="333399"/>
                </a:solidFill>
                <a:ea typeface="黑体" pitchFamily="2" charset="-122"/>
              </a:rPr>
              <a:t> </a:t>
            </a:r>
            <a:r>
              <a:rPr lang="en-US" altLang="zh-CN" sz="2400">
                <a:solidFill>
                  <a:srgbClr val="333399"/>
                </a:solidFill>
                <a:ea typeface="黑体" pitchFamily="2" charset="-122"/>
              </a:rPr>
              <a:t>V(R)</a:t>
            </a:r>
            <a:r>
              <a:rPr lang="en-US" altLang="zh-CN" sz="1400">
                <a:solidFill>
                  <a:srgbClr val="333399"/>
                </a:solidFill>
                <a:ea typeface="黑体" pitchFamily="2" charset="-122"/>
              </a:rPr>
              <a:t> </a:t>
            </a:r>
            <a:r>
              <a:rPr lang="zh-CN" altLang="en-US" sz="2400">
                <a:solidFill>
                  <a:srgbClr val="333399"/>
                </a:solidFill>
                <a:ea typeface="黑体" pitchFamily="2" charset="-122"/>
              </a:rPr>
              <a:t>和确认序号</a:t>
            </a:r>
            <a:r>
              <a:rPr lang="zh-CN" altLang="en-US" sz="1400">
                <a:solidFill>
                  <a:srgbClr val="333399"/>
                </a:solidFill>
                <a:ea typeface="黑体" pitchFamily="2" charset="-122"/>
              </a:rPr>
              <a:t> </a:t>
            </a:r>
            <a:r>
              <a:rPr lang="en-US" altLang="zh-CN" sz="2400" i="1">
                <a:solidFill>
                  <a:srgbClr val="333399"/>
                </a:solidFill>
                <a:ea typeface="黑体" pitchFamily="2" charset="-122"/>
              </a:rPr>
              <a:t>n</a:t>
            </a:r>
            <a:r>
              <a:rPr lang="en-US" altLang="zh-CN" sz="1600" i="1">
                <a:solidFill>
                  <a:srgbClr val="333399"/>
                </a:solidFill>
                <a:ea typeface="黑体" pitchFamily="2" charset="-122"/>
              </a:rPr>
              <a:t> </a:t>
            </a:r>
            <a:r>
              <a:rPr lang="zh-CN" altLang="en-US" sz="2400">
                <a:solidFill>
                  <a:srgbClr val="333399"/>
                </a:solidFill>
                <a:ea typeface="黑体" pitchFamily="2" charset="-122"/>
              </a:rPr>
              <a:t>都不变。</a:t>
            </a:r>
            <a:r>
              <a:rPr lang="zh-CN" altLang="en-US" sz="2400"/>
              <a:t>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0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900113" y="214313"/>
            <a:ext cx="8243887" cy="1462087"/>
          </a:xfrm>
        </p:spPr>
        <p:txBody>
          <a:bodyPr/>
          <a:lstStyle/>
          <a:p>
            <a:pPr algn="ctr"/>
            <a:r>
              <a:rPr lang="zh-CN" altLang="en-US"/>
              <a:t>停止等待协议的要点（续）</a:t>
            </a:r>
          </a:p>
        </p:txBody>
      </p:sp>
      <p:sp>
        <p:nvSpPr>
          <p:cNvPr id="155651" name="Rectangle 3"/>
          <p:cNvSpPr>
            <a:spLocks noGrp="1" noChangeArrowheads="1"/>
          </p:cNvSpPr>
          <p:nvPr>
            <p:ph type="body" idx="1"/>
          </p:nvPr>
        </p:nvSpPr>
        <p:spPr>
          <a:xfrm>
            <a:off x="971550" y="1989138"/>
            <a:ext cx="7772400" cy="4392612"/>
          </a:xfrm>
        </p:spPr>
        <p:txBody>
          <a:bodyPr/>
          <a:lstStyle/>
          <a:p>
            <a:pPr algn="just">
              <a:lnSpc>
                <a:spcPct val="90000"/>
              </a:lnSpc>
            </a:pPr>
            <a:r>
              <a:rPr lang="zh-CN" altLang="en-US"/>
              <a:t>连续出现相同发送序号的数据帧，表明发送端进行了</a:t>
            </a:r>
            <a:r>
              <a:rPr lang="zh-CN" altLang="en-US">
                <a:solidFill>
                  <a:srgbClr val="FF0000"/>
                </a:solidFill>
              </a:rPr>
              <a:t>超时重传</a:t>
            </a:r>
            <a:r>
              <a:rPr lang="zh-CN" altLang="en-US"/>
              <a:t>。连续出现相同序号的确认帧，表明接收端收到了</a:t>
            </a:r>
            <a:r>
              <a:rPr lang="zh-CN" altLang="en-US">
                <a:solidFill>
                  <a:srgbClr val="FF0000"/>
                </a:solidFill>
              </a:rPr>
              <a:t>重复帧</a:t>
            </a:r>
            <a:r>
              <a:rPr lang="zh-CN" altLang="en-US"/>
              <a:t>。 </a:t>
            </a:r>
          </a:p>
          <a:p>
            <a:pPr algn="just">
              <a:lnSpc>
                <a:spcPct val="90000"/>
              </a:lnSpc>
            </a:pPr>
            <a:r>
              <a:rPr lang="zh-CN" altLang="en-US"/>
              <a:t>发送端在发送完数据帧时，必须在其发送缓存中暂时保留这个数据帧的</a:t>
            </a:r>
            <a:r>
              <a:rPr lang="zh-CN" altLang="en-US">
                <a:solidFill>
                  <a:srgbClr val="FF0000"/>
                </a:solidFill>
              </a:rPr>
              <a:t>副本</a:t>
            </a:r>
            <a:r>
              <a:rPr lang="zh-CN" altLang="en-US"/>
              <a:t>。这样才能在出差错时进行重传。只有确认对方已经收到这个数据帧时，才可以清除这个副本。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56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900113" y="214313"/>
            <a:ext cx="8243887" cy="1462087"/>
          </a:xfrm>
        </p:spPr>
        <p:txBody>
          <a:bodyPr/>
          <a:lstStyle/>
          <a:p>
            <a:pPr algn="ctr"/>
            <a:r>
              <a:rPr lang="zh-CN" altLang="en-US"/>
              <a:t>停止等待协议的要点（续）</a:t>
            </a:r>
          </a:p>
        </p:txBody>
      </p:sp>
      <p:sp>
        <p:nvSpPr>
          <p:cNvPr id="156675" name="Rectangle 3"/>
          <p:cNvSpPr>
            <a:spLocks noGrp="1" noChangeArrowheads="1"/>
          </p:cNvSpPr>
          <p:nvPr>
            <p:ph type="body" idx="1"/>
          </p:nvPr>
        </p:nvSpPr>
        <p:spPr>
          <a:xfrm>
            <a:off x="971550" y="1989138"/>
            <a:ext cx="7772400" cy="4392612"/>
          </a:xfrm>
        </p:spPr>
        <p:txBody>
          <a:bodyPr/>
          <a:lstStyle/>
          <a:p>
            <a:pPr algn="just">
              <a:lnSpc>
                <a:spcPct val="90000"/>
              </a:lnSpc>
            </a:pPr>
            <a:r>
              <a:rPr lang="zh-CN" altLang="en-US"/>
              <a:t>实用的</a:t>
            </a:r>
            <a:r>
              <a:rPr lang="zh-CN" altLang="en-US" sz="1600"/>
              <a:t> </a:t>
            </a:r>
            <a:r>
              <a:rPr lang="en-US" altLang="zh-CN"/>
              <a:t>CRC</a:t>
            </a:r>
            <a:r>
              <a:rPr lang="en-US" altLang="zh-CN" sz="1800"/>
              <a:t> </a:t>
            </a:r>
            <a:r>
              <a:rPr lang="zh-CN" altLang="en-US"/>
              <a:t>检验器都是用</a:t>
            </a:r>
            <a:r>
              <a:rPr lang="zh-CN" altLang="en-US">
                <a:solidFill>
                  <a:srgbClr val="FF0000"/>
                </a:solidFill>
              </a:rPr>
              <a:t>硬件</a:t>
            </a:r>
            <a:r>
              <a:rPr lang="zh-CN" altLang="en-US"/>
              <a:t>完成的。</a:t>
            </a:r>
          </a:p>
          <a:p>
            <a:pPr algn="just">
              <a:lnSpc>
                <a:spcPct val="90000"/>
              </a:lnSpc>
            </a:pPr>
            <a:r>
              <a:rPr lang="en-US" altLang="zh-CN"/>
              <a:t>CRC </a:t>
            </a:r>
            <a:r>
              <a:rPr lang="zh-CN" altLang="en-US"/>
              <a:t>检验器能够自动丢弃检测到的出错帧。因此所谓的“丢弃出错帧”，对上层软件或用户来说都是</a:t>
            </a:r>
            <a:r>
              <a:rPr lang="zh-CN" altLang="en-US">
                <a:solidFill>
                  <a:srgbClr val="FF0000"/>
                </a:solidFill>
              </a:rPr>
              <a:t>感觉不到</a:t>
            </a:r>
            <a:r>
              <a:rPr lang="zh-CN" altLang="en-US"/>
              <a:t>的。</a:t>
            </a:r>
          </a:p>
          <a:p>
            <a:pPr algn="just">
              <a:lnSpc>
                <a:spcPct val="90000"/>
              </a:lnSpc>
            </a:pPr>
            <a:r>
              <a:rPr lang="zh-CN" altLang="en-US"/>
              <a:t>发送端对出错的数据帧进行重传是自动进行的，因而这种差错控制体制常简称为 </a:t>
            </a:r>
            <a:r>
              <a:rPr lang="en-US" altLang="zh-CN">
                <a:solidFill>
                  <a:srgbClr val="FF0000"/>
                </a:solidFill>
              </a:rPr>
              <a:t>ARQ</a:t>
            </a:r>
            <a:r>
              <a:rPr lang="en-US" altLang="zh-CN"/>
              <a:t> (Automatic Repeat reQuest)</a:t>
            </a:r>
            <a:r>
              <a:rPr lang="zh-CN" altLang="en-US"/>
              <a:t>，直译是</a:t>
            </a:r>
            <a:r>
              <a:rPr lang="zh-CN" altLang="en-US">
                <a:solidFill>
                  <a:srgbClr val="FF0000"/>
                </a:solidFill>
              </a:rPr>
              <a:t>自动重传请求</a:t>
            </a:r>
            <a:r>
              <a:rPr lang="zh-CN" altLang="en-US"/>
              <a:t>，但意思是</a:t>
            </a:r>
            <a:r>
              <a:rPr lang="zh-CN" altLang="en-US">
                <a:solidFill>
                  <a:srgbClr val="FF0000"/>
                </a:solidFill>
              </a:rPr>
              <a:t>自动请求重传</a:t>
            </a:r>
            <a:r>
              <a:rPr lang="zh-CN" altLang="en-US"/>
              <a:t>。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6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6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900113" y="214313"/>
            <a:ext cx="8243887" cy="1462087"/>
          </a:xfrm>
        </p:spPr>
        <p:txBody>
          <a:bodyPr/>
          <a:lstStyle/>
          <a:p>
            <a:pPr algn="ctr"/>
            <a:r>
              <a:rPr lang="zh-CN" altLang="en-US"/>
              <a:t>停止等待协议 </a:t>
            </a:r>
            <a:r>
              <a:rPr lang="en-US" altLang="zh-CN"/>
              <a:t>ARQ </a:t>
            </a:r>
            <a:r>
              <a:rPr lang="zh-CN" altLang="en-US"/>
              <a:t>的优缺点 </a:t>
            </a:r>
          </a:p>
        </p:txBody>
      </p:sp>
      <p:sp>
        <p:nvSpPr>
          <p:cNvPr id="165891" name="Rectangle 3"/>
          <p:cNvSpPr>
            <a:spLocks noGrp="1" noChangeArrowheads="1"/>
          </p:cNvSpPr>
          <p:nvPr>
            <p:ph type="body" idx="1"/>
          </p:nvPr>
        </p:nvSpPr>
        <p:spPr>
          <a:xfrm>
            <a:off x="793750" y="1917700"/>
            <a:ext cx="7666038" cy="4464050"/>
          </a:xfrm>
        </p:spPr>
        <p:txBody>
          <a:bodyPr/>
          <a:lstStyle/>
          <a:p>
            <a:pPr>
              <a:lnSpc>
                <a:spcPct val="120000"/>
              </a:lnSpc>
              <a:spcAft>
                <a:spcPct val="20000"/>
              </a:spcAft>
            </a:pPr>
            <a:r>
              <a:rPr lang="zh-CN" altLang="en-US" sz="2800">
                <a:latin typeface="Times New Roman" pitchFamily="18" charset="0"/>
              </a:rPr>
              <a:t>优点：</a:t>
            </a:r>
            <a:r>
              <a:rPr lang="zh-CN" altLang="en-US" sz="2800"/>
              <a:t>比较简单 。</a:t>
            </a:r>
          </a:p>
          <a:p>
            <a:pPr>
              <a:lnSpc>
                <a:spcPct val="120000"/>
              </a:lnSpc>
              <a:spcAft>
                <a:spcPct val="20000"/>
              </a:spcAft>
            </a:pPr>
            <a:r>
              <a:rPr lang="zh-CN" altLang="en-US" sz="2800"/>
              <a:t>缺点：通信信道的利用率不高，也就是说，信道还远远没有被数据比特填满。</a:t>
            </a:r>
          </a:p>
          <a:p>
            <a:pPr>
              <a:lnSpc>
                <a:spcPct val="120000"/>
              </a:lnSpc>
              <a:spcAft>
                <a:spcPct val="20000"/>
              </a:spcAft>
            </a:pPr>
            <a:r>
              <a:rPr lang="zh-CN" altLang="en-US" sz="2800"/>
              <a:t>为了克服这一缺点，就产生了另外两种协议，即连续 </a:t>
            </a:r>
            <a:r>
              <a:rPr lang="en-US" altLang="zh-CN" sz="2800"/>
              <a:t>ARQ </a:t>
            </a:r>
            <a:r>
              <a:rPr lang="zh-CN" altLang="en-US" sz="2800"/>
              <a:t>和选择重传 </a:t>
            </a:r>
            <a:r>
              <a:rPr lang="en-US" altLang="zh-CN" sz="2800"/>
              <a:t>ARQ</a:t>
            </a:r>
            <a:r>
              <a:rPr lang="zh-CN" altLang="en-US" sz="2800"/>
              <a:t>。这将在后面进一步讨论。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8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8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2"/>
          <p:cNvSpPr>
            <a:spLocks noGrp="1" noChangeArrowheads="1"/>
          </p:cNvSpPr>
          <p:nvPr>
            <p:ph type="title"/>
          </p:nvPr>
        </p:nvSpPr>
        <p:spPr/>
        <p:txBody>
          <a:bodyPr/>
          <a:lstStyle/>
          <a:p>
            <a:r>
              <a:rPr lang="zh-CN" altLang="en-US"/>
              <a:t>协议</a:t>
            </a:r>
            <a:r>
              <a:rPr lang="en-US" altLang="zh-CN"/>
              <a:t>3</a:t>
            </a:r>
            <a:r>
              <a:rPr lang="en-US" altLang="zh-CN">
                <a:latin typeface="隶书" pitchFamily="49" charset="-122"/>
              </a:rPr>
              <a:t>:</a:t>
            </a:r>
            <a:r>
              <a:rPr lang="en-US" altLang="zh-CN"/>
              <a:t>sender</a:t>
            </a:r>
            <a:endParaRPr lang="zh-CN" altLang="en-US"/>
          </a:p>
        </p:txBody>
      </p:sp>
      <p:sp>
        <p:nvSpPr>
          <p:cNvPr id="644099" name="Rectangle 3"/>
          <p:cNvSpPr>
            <a:spLocks noGrp="1" noChangeArrowheads="1"/>
          </p:cNvSpPr>
          <p:nvPr>
            <p:ph type="body" idx="1"/>
          </p:nvPr>
        </p:nvSpPr>
        <p:spPr/>
        <p:txBody>
          <a:bodyPr/>
          <a:lstStyle/>
          <a:p>
            <a:pPr marL="0" indent="0">
              <a:lnSpc>
                <a:spcPct val="80000"/>
              </a:lnSpc>
              <a:buFont typeface="Wingdings" pitchFamily="2" charset="2"/>
              <a:buNone/>
            </a:pPr>
            <a:r>
              <a:rPr lang="en-US" altLang="zh-CN" sz="1800" noProof="1"/>
              <a:t>typedef enum  {frame_arrival, </a:t>
            </a:r>
            <a:r>
              <a:rPr lang="en-US" altLang="zh-CN" sz="1800" noProof="1">
                <a:solidFill>
                  <a:srgbClr val="0000FF"/>
                </a:solidFill>
              </a:rPr>
              <a:t>cksum_err, timeout</a:t>
            </a:r>
            <a:r>
              <a:rPr lang="en-US" altLang="zh-CN" sz="1800" noProof="1"/>
              <a:t>} event_type;</a:t>
            </a:r>
            <a:endParaRPr lang="en-US" altLang="zh-CN" sz="1800" dirty="0"/>
          </a:p>
          <a:p>
            <a:pPr marL="0" indent="0">
              <a:lnSpc>
                <a:spcPct val="80000"/>
              </a:lnSpc>
              <a:buFont typeface="Wingdings" pitchFamily="2" charset="2"/>
              <a:buNone/>
            </a:pPr>
            <a:r>
              <a:rPr lang="en-US" altLang="zh-CN" sz="1800" noProof="1"/>
              <a:t>void sender3(void)</a:t>
            </a:r>
          </a:p>
          <a:p>
            <a:pPr marL="0" indent="0">
              <a:lnSpc>
                <a:spcPct val="80000"/>
              </a:lnSpc>
              <a:buFont typeface="Wingdings" pitchFamily="2" charset="2"/>
              <a:buNone/>
            </a:pPr>
            <a:r>
              <a:rPr lang="en-US" altLang="zh-CN" sz="1800" noProof="1"/>
              <a:t>{     </a:t>
            </a:r>
            <a:r>
              <a:rPr lang="en-US" altLang="zh-CN" sz="1800" noProof="1">
                <a:solidFill>
                  <a:srgbClr val="0000FF"/>
                </a:solidFill>
              </a:rPr>
              <a:t>seq_nr next_frame_to_send=0; </a:t>
            </a:r>
          </a:p>
          <a:p>
            <a:pPr marL="0" indent="0">
              <a:lnSpc>
                <a:spcPct val="80000"/>
              </a:lnSpc>
              <a:buFont typeface="Wingdings" pitchFamily="2" charset="2"/>
              <a:buNone/>
            </a:pPr>
            <a:r>
              <a:rPr lang="en-US" altLang="zh-CN" sz="1800" noProof="1"/>
              <a:t>       frame s;        packet buffer;        event_type event;</a:t>
            </a:r>
          </a:p>
          <a:p>
            <a:pPr marL="0" indent="0">
              <a:lnSpc>
                <a:spcPct val="80000"/>
              </a:lnSpc>
              <a:buFont typeface="Wingdings" pitchFamily="2" charset="2"/>
              <a:buNone/>
            </a:pPr>
            <a:r>
              <a:rPr lang="en-US" altLang="zh-CN" sz="1800" noProof="1"/>
              <a:t>       from_network_layer(&amp;buffer); </a:t>
            </a:r>
          </a:p>
          <a:p>
            <a:pPr marL="0" indent="0">
              <a:lnSpc>
                <a:spcPct val="80000"/>
              </a:lnSpc>
              <a:buFont typeface="Wingdings" pitchFamily="2" charset="2"/>
              <a:buNone/>
            </a:pPr>
            <a:r>
              <a:rPr lang="en-US" altLang="zh-CN" sz="1800" noProof="1"/>
              <a:t>       while (true)</a:t>
            </a:r>
            <a:endParaRPr lang="en-US" altLang="zh-CN" sz="1800" dirty="0"/>
          </a:p>
          <a:p>
            <a:pPr marL="0" indent="0">
              <a:lnSpc>
                <a:spcPct val="80000"/>
              </a:lnSpc>
              <a:buFont typeface="Wingdings" pitchFamily="2" charset="2"/>
              <a:buNone/>
            </a:pPr>
            <a:r>
              <a:rPr lang="en-US" altLang="zh-CN" sz="1800" noProof="1"/>
              <a:t>       {     s.info = buffer;              s.seq = next_frame_to_send; </a:t>
            </a:r>
          </a:p>
          <a:p>
            <a:pPr marL="0" indent="0">
              <a:lnSpc>
                <a:spcPct val="80000"/>
              </a:lnSpc>
              <a:buFont typeface="Wingdings" pitchFamily="2" charset="2"/>
              <a:buNone/>
            </a:pPr>
            <a:r>
              <a:rPr lang="en-US" altLang="zh-CN" sz="1800" noProof="1"/>
              <a:t>             to_physical_layer(&amp;s);              start_timer(s.seq);	</a:t>
            </a:r>
          </a:p>
          <a:p>
            <a:pPr marL="0" indent="0">
              <a:lnSpc>
                <a:spcPct val="80000"/>
              </a:lnSpc>
              <a:buFont typeface="Wingdings" pitchFamily="2" charset="2"/>
              <a:buNone/>
            </a:pPr>
            <a:r>
              <a:rPr lang="en-US" altLang="zh-CN" sz="1800" noProof="1"/>
              <a:t>             wait_for_event(&amp;event); </a:t>
            </a:r>
          </a:p>
          <a:p>
            <a:pPr marL="0" indent="0">
              <a:lnSpc>
                <a:spcPct val="80000"/>
              </a:lnSpc>
              <a:buFont typeface="Wingdings" pitchFamily="2" charset="2"/>
              <a:buNone/>
            </a:pPr>
            <a:r>
              <a:rPr lang="en-US" altLang="zh-CN" sz="1800" noProof="1"/>
              <a:t>             </a:t>
            </a:r>
            <a:r>
              <a:rPr lang="en-US" altLang="zh-CN" sz="1800" noProof="1">
                <a:solidFill>
                  <a:srgbClr val="FF0000"/>
                </a:solidFill>
              </a:rPr>
              <a:t>if (event == frame_arrival)</a:t>
            </a:r>
            <a:endParaRPr lang="en-US" altLang="zh-CN" sz="1800" dirty="0">
              <a:solidFill>
                <a:srgbClr val="FF0000"/>
              </a:solidFill>
            </a:endParaRPr>
          </a:p>
          <a:p>
            <a:pPr marL="0" indent="0">
              <a:lnSpc>
                <a:spcPct val="80000"/>
              </a:lnSpc>
              <a:buFont typeface="Wingdings" pitchFamily="2" charset="2"/>
              <a:buNone/>
            </a:pPr>
            <a:r>
              <a:rPr lang="en-US" altLang="zh-CN" sz="1800" noProof="1"/>
              <a:t>             {     from_physical_layer(&amp;s); </a:t>
            </a:r>
          </a:p>
          <a:p>
            <a:pPr marL="0" indent="0">
              <a:lnSpc>
                <a:spcPct val="80000"/>
              </a:lnSpc>
              <a:buFont typeface="Wingdings" pitchFamily="2" charset="2"/>
              <a:buNone/>
            </a:pPr>
            <a:r>
              <a:rPr lang="en-US" altLang="zh-CN" sz="1800" noProof="1"/>
              <a:t>                   if (s.ack == next_frame_to_send) </a:t>
            </a:r>
            <a:endParaRPr lang="en-US" altLang="zh-CN" sz="1800" dirty="0"/>
          </a:p>
          <a:p>
            <a:pPr marL="0" indent="0">
              <a:lnSpc>
                <a:spcPct val="80000"/>
              </a:lnSpc>
              <a:buFont typeface="Wingdings" pitchFamily="2" charset="2"/>
              <a:buNone/>
            </a:pPr>
            <a:r>
              <a:rPr lang="en-US" altLang="zh-CN" sz="1800" noProof="1"/>
              <a:t>                   {   stop_timer(s.ack);</a:t>
            </a:r>
          </a:p>
          <a:p>
            <a:pPr marL="0" indent="0">
              <a:lnSpc>
                <a:spcPct val="80000"/>
              </a:lnSpc>
              <a:buFont typeface="Wingdings" pitchFamily="2" charset="2"/>
              <a:buNone/>
            </a:pPr>
            <a:r>
              <a:rPr lang="en-US" altLang="zh-CN" sz="1800" noProof="1"/>
              <a:t>                        from_network_layer(&amp;buffer); </a:t>
            </a:r>
          </a:p>
          <a:p>
            <a:pPr marL="0" indent="0">
              <a:lnSpc>
                <a:spcPct val="80000"/>
              </a:lnSpc>
              <a:buFont typeface="Wingdings" pitchFamily="2" charset="2"/>
              <a:buNone/>
            </a:pPr>
            <a:r>
              <a:rPr lang="en-US" altLang="zh-CN" sz="1800" noProof="1"/>
              <a:t>                        inc(next_frame_to_send); </a:t>
            </a:r>
          </a:p>
          <a:p>
            <a:pPr marL="0" indent="0">
              <a:lnSpc>
                <a:spcPct val="80000"/>
              </a:lnSpc>
              <a:buFont typeface="Wingdings" pitchFamily="2" charset="2"/>
              <a:buNone/>
            </a:pPr>
            <a:r>
              <a:rPr lang="en-US" altLang="zh-CN" sz="1800" noProof="1"/>
              <a:t>                   }      }     }    }</a:t>
            </a:r>
            <a:endParaRPr lang="zh-CN" altLang="en-US" sz="1800" dirty="0"/>
          </a:p>
        </p:txBody>
      </p:sp>
      <p:sp>
        <p:nvSpPr>
          <p:cNvPr id="64410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4410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
        <p:nvSpPr>
          <p:cNvPr id="6" name="AutoShape 6"/>
          <p:cNvSpPr>
            <a:spLocks noChangeArrowheads="1"/>
          </p:cNvSpPr>
          <p:nvPr/>
        </p:nvSpPr>
        <p:spPr bwMode="auto">
          <a:xfrm>
            <a:off x="5076056" y="4077072"/>
            <a:ext cx="1440160" cy="504056"/>
          </a:xfrm>
          <a:prstGeom prst="wedgeEllipseCallout">
            <a:avLst>
              <a:gd name="adj1" fmla="val -92746"/>
              <a:gd name="adj2" fmla="val 2662"/>
            </a:avLst>
          </a:prstGeom>
          <a:solidFill>
            <a:srgbClr val="FFFF99"/>
          </a:solidFill>
          <a:ln w="9525">
            <a:solidFill>
              <a:schemeClr val="tx1"/>
            </a:solidFill>
            <a:miter lim="800000"/>
            <a:headEnd/>
            <a:tailEnd/>
          </a:ln>
          <a:effectLst>
            <a:outerShdw dist="107763" dir="2700000" algn="ctr" rotWithShape="0">
              <a:srgbClr val="00002E">
                <a:alpha val="50000"/>
              </a:srgbClr>
            </a:outerShdw>
          </a:effec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b="1" dirty="0" smtClean="0">
                <a:solidFill>
                  <a:srgbClr val="FF0000"/>
                </a:solidFill>
                <a:latin typeface="+mn-lt"/>
                <a:ea typeface="+mn-ea"/>
              </a:rPr>
              <a:t>ACK</a:t>
            </a:r>
            <a:r>
              <a:rPr lang="zh-CN" altLang="en-US" sz="2000" b="1" dirty="0" smtClean="0">
                <a:solidFill>
                  <a:srgbClr val="FF0000"/>
                </a:solidFill>
                <a:latin typeface="+mn-lt"/>
                <a:ea typeface="+mn-ea"/>
              </a:rPr>
              <a:t>帧</a:t>
            </a:r>
            <a:endParaRPr lang="zh-CN" altLang="en-US" sz="2000" b="1" dirty="0">
              <a:solidFill>
                <a:srgbClr val="FF0000"/>
              </a:solidFill>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p:nvPr>
        </p:nvSpPr>
        <p:spPr/>
        <p:txBody>
          <a:bodyPr/>
          <a:lstStyle/>
          <a:p>
            <a:r>
              <a:rPr lang="zh-CN" altLang="en-US"/>
              <a:t>协议</a:t>
            </a:r>
            <a:r>
              <a:rPr lang="en-US" altLang="zh-CN"/>
              <a:t>3</a:t>
            </a:r>
            <a:r>
              <a:rPr lang="en-US" altLang="zh-CN">
                <a:latin typeface="隶书" pitchFamily="49" charset="-122"/>
              </a:rPr>
              <a:t>:</a:t>
            </a:r>
            <a:r>
              <a:rPr lang="en-US" altLang="zh-CN"/>
              <a:t>receiver</a:t>
            </a:r>
            <a:endParaRPr lang="zh-CN" altLang="en-US"/>
          </a:p>
        </p:txBody>
      </p:sp>
      <p:sp>
        <p:nvSpPr>
          <p:cNvPr id="645123" name="Rectangle 3"/>
          <p:cNvSpPr>
            <a:spLocks noGrp="1" noChangeArrowheads="1"/>
          </p:cNvSpPr>
          <p:nvPr>
            <p:ph type="body" idx="1"/>
          </p:nvPr>
        </p:nvSpPr>
        <p:spPr>
          <a:xfrm>
            <a:off x="809625" y="1773238"/>
            <a:ext cx="7958138" cy="4608512"/>
          </a:xfrm>
        </p:spPr>
        <p:txBody>
          <a:bodyPr/>
          <a:lstStyle/>
          <a:p>
            <a:pPr marL="0" indent="0">
              <a:lnSpc>
                <a:spcPct val="90000"/>
              </a:lnSpc>
              <a:buFont typeface="Wingdings" pitchFamily="2" charset="2"/>
              <a:buNone/>
            </a:pPr>
            <a:r>
              <a:rPr lang="en-US" altLang="zh-CN" sz="1800" noProof="1"/>
              <a:t>void receiver3(void)</a:t>
            </a:r>
          </a:p>
          <a:p>
            <a:pPr marL="0" indent="0">
              <a:lnSpc>
                <a:spcPct val="90000"/>
              </a:lnSpc>
              <a:buFont typeface="Wingdings" pitchFamily="2" charset="2"/>
              <a:buNone/>
            </a:pPr>
            <a:r>
              <a:rPr lang="en-US" altLang="zh-CN" sz="1800" noProof="1"/>
              <a:t>{     </a:t>
            </a:r>
            <a:r>
              <a:rPr lang="en-US" altLang="zh-CN" sz="1800" noProof="1">
                <a:solidFill>
                  <a:srgbClr val="0000FF"/>
                </a:solidFill>
              </a:rPr>
              <a:t>seq_nr frame_expected=0;</a:t>
            </a:r>
          </a:p>
          <a:p>
            <a:pPr marL="0" indent="0">
              <a:lnSpc>
                <a:spcPct val="90000"/>
              </a:lnSpc>
              <a:buFont typeface="Wingdings" pitchFamily="2" charset="2"/>
              <a:buNone/>
            </a:pPr>
            <a:r>
              <a:rPr lang="en-US" altLang="zh-CN" sz="1800" noProof="1"/>
              <a:t>       frame r, s;</a:t>
            </a:r>
          </a:p>
          <a:p>
            <a:pPr marL="0" indent="0">
              <a:lnSpc>
                <a:spcPct val="90000"/>
              </a:lnSpc>
              <a:buFont typeface="Wingdings" pitchFamily="2" charset="2"/>
              <a:buNone/>
            </a:pPr>
            <a:r>
              <a:rPr lang="en-US" altLang="zh-CN" sz="1800" noProof="1"/>
              <a:t>       event_type event;</a:t>
            </a:r>
          </a:p>
          <a:p>
            <a:pPr marL="0" indent="0">
              <a:lnSpc>
                <a:spcPct val="90000"/>
              </a:lnSpc>
              <a:buFont typeface="Wingdings" pitchFamily="2" charset="2"/>
              <a:buNone/>
            </a:pPr>
            <a:r>
              <a:rPr lang="en-US" altLang="zh-CN" sz="1800" noProof="1"/>
              <a:t>       while (true) </a:t>
            </a:r>
            <a:endParaRPr lang="en-US" altLang="zh-CN" sz="1800" dirty="0"/>
          </a:p>
          <a:p>
            <a:pPr marL="0" indent="0">
              <a:lnSpc>
                <a:spcPct val="90000"/>
              </a:lnSpc>
              <a:buFont typeface="Wingdings" pitchFamily="2" charset="2"/>
              <a:buNone/>
            </a:pPr>
            <a:r>
              <a:rPr lang="en-US" altLang="zh-CN" sz="1800" noProof="1"/>
              <a:t>       {      wait_for_event(&amp;event);</a:t>
            </a:r>
          </a:p>
          <a:p>
            <a:pPr marL="0" indent="0">
              <a:lnSpc>
                <a:spcPct val="90000"/>
              </a:lnSpc>
              <a:buFont typeface="Wingdings" pitchFamily="2" charset="2"/>
              <a:buNone/>
            </a:pPr>
            <a:r>
              <a:rPr lang="en-US" altLang="zh-CN" sz="1800" noProof="1"/>
              <a:t>              </a:t>
            </a:r>
            <a:r>
              <a:rPr lang="en-US" altLang="zh-CN" sz="1800" noProof="1">
                <a:solidFill>
                  <a:srgbClr val="FF0000"/>
                </a:solidFill>
              </a:rPr>
              <a:t>if (event == frame_arrival)</a:t>
            </a:r>
            <a:endParaRPr lang="en-US" altLang="zh-CN" sz="1800" dirty="0">
              <a:solidFill>
                <a:srgbClr val="FF0000"/>
              </a:solidFill>
            </a:endParaRPr>
          </a:p>
          <a:p>
            <a:pPr marL="0" indent="0">
              <a:lnSpc>
                <a:spcPct val="90000"/>
              </a:lnSpc>
              <a:buFont typeface="Wingdings" pitchFamily="2" charset="2"/>
              <a:buNone/>
            </a:pPr>
            <a:r>
              <a:rPr lang="en-US" altLang="zh-CN" sz="1800" noProof="1"/>
              <a:t>              {       from_physical_layer(&amp;r); </a:t>
            </a:r>
          </a:p>
          <a:p>
            <a:pPr marL="0" indent="0">
              <a:lnSpc>
                <a:spcPct val="90000"/>
              </a:lnSpc>
              <a:buFont typeface="Wingdings" pitchFamily="2" charset="2"/>
              <a:buNone/>
            </a:pPr>
            <a:r>
              <a:rPr lang="en-US" altLang="zh-CN" sz="1800" noProof="1"/>
              <a:t>                      if (r.seq == frame_expected) </a:t>
            </a:r>
            <a:endParaRPr lang="en-US" altLang="zh-CN" sz="1800" dirty="0"/>
          </a:p>
          <a:p>
            <a:pPr marL="0" indent="0">
              <a:lnSpc>
                <a:spcPct val="90000"/>
              </a:lnSpc>
              <a:buFont typeface="Wingdings" pitchFamily="2" charset="2"/>
              <a:buNone/>
            </a:pPr>
            <a:r>
              <a:rPr lang="en-US" altLang="zh-CN" sz="1800" noProof="1"/>
              <a:t>                      {       to_network_layer(&amp;r.info); </a:t>
            </a:r>
          </a:p>
          <a:p>
            <a:pPr marL="0" indent="0">
              <a:lnSpc>
                <a:spcPct val="90000"/>
              </a:lnSpc>
              <a:buFont typeface="Wingdings" pitchFamily="2" charset="2"/>
              <a:buNone/>
            </a:pPr>
            <a:r>
              <a:rPr lang="en-US" altLang="zh-CN" sz="1800" noProof="1"/>
              <a:t>                              inc(frame_expected); </a:t>
            </a:r>
          </a:p>
          <a:p>
            <a:pPr marL="0" indent="0">
              <a:lnSpc>
                <a:spcPct val="90000"/>
              </a:lnSpc>
              <a:buFont typeface="Wingdings" pitchFamily="2" charset="2"/>
              <a:buNone/>
            </a:pPr>
            <a:r>
              <a:rPr lang="en-US" altLang="zh-CN" sz="1800" noProof="1"/>
              <a:t>                      }</a:t>
            </a:r>
          </a:p>
          <a:p>
            <a:pPr marL="0" indent="0">
              <a:lnSpc>
                <a:spcPct val="90000"/>
              </a:lnSpc>
              <a:buFont typeface="Wingdings" pitchFamily="2" charset="2"/>
              <a:buNone/>
            </a:pPr>
            <a:r>
              <a:rPr lang="en-US" altLang="zh-CN" sz="1800" noProof="1"/>
              <a:t>                     s.ack = 1 - frame_expected;	</a:t>
            </a:r>
          </a:p>
          <a:p>
            <a:pPr marL="0" indent="0">
              <a:lnSpc>
                <a:spcPct val="90000"/>
              </a:lnSpc>
              <a:buFont typeface="Wingdings" pitchFamily="2" charset="2"/>
              <a:buNone/>
            </a:pPr>
            <a:r>
              <a:rPr lang="en-US" altLang="zh-CN" sz="1800" noProof="1"/>
              <a:t>                     to_physical_layer(&amp;s); </a:t>
            </a:r>
          </a:p>
          <a:p>
            <a:pPr marL="0" indent="0">
              <a:lnSpc>
                <a:spcPct val="90000"/>
              </a:lnSpc>
              <a:buFont typeface="Wingdings" pitchFamily="2" charset="2"/>
              <a:buNone/>
            </a:pPr>
            <a:r>
              <a:rPr lang="en-US" altLang="zh-CN" sz="1800" noProof="1"/>
              <a:t>               }   }   }</a:t>
            </a:r>
            <a:endParaRPr lang="zh-CN" altLang="en-US" sz="1800" dirty="0"/>
          </a:p>
        </p:txBody>
      </p:sp>
      <p:sp>
        <p:nvSpPr>
          <p:cNvPr id="64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4512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
        <p:nvSpPr>
          <p:cNvPr id="7" name="AutoShape 6"/>
          <p:cNvSpPr>
            <a:spLocks noChangeArrowheads="1"/>
          </p:cNvSpPr>
          <p:nvPr/>
        </p:nvSpPr>
        <p:spPr bwMode="auto">
          <a:xfrm>
            <a:off x="5004048" y="3068960"/>
            <a:ext cx="1673448" cy="576163"/>
          </a:xfrm>
          <a:prstGeom prst="wedgeEllipseCallout">
            <a:avLst>
              <a:gd name="adj1" fmla="val -83242"/>
              <a:gd name="adj2" fmla="val 69562"/>
            </a:avLst>
          </a:prstGeom>
          <a:solidFill>
            <a:srgbClr val="FFFF99"/>
          </a:solidFill>
          <a:ln w="9525">
            <a:solidFill>
              <a:schemeClr val="tx1"/>
            </a:solidFill>
            <a:miter lim="800000"/>
            <a:headEnd/>
            <a:tailEnd/>
          </a:ln>
          <a:effectLst>
            <a:outerShdw dist="107763" dir="2700000" algn="ctr" rotWithShape="0">
              <a:srgbClr val="00002E">
                <a:alpha val="50000"/>
              </a:srgbClr>
            </a:outerShdw>
          </a:effec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b="1" dirty="0" smtClean="0">
                <a:solidFill>
                  <a:srgbClr val="FF0000"/>
                </a:solidFill>
                <a:latin typeface="+mn-lt"/>
                <a:ea typeface="+mn-ea"/>
              </a:rPr>
              <a:t>数据帧</a:t>
            </a:r>
            <a:endParaRPr lang="zh-CN" altLang="en-US" b="1" dirty="0">
              <a:solidFill>
                <a:srgbClr val="FF0000"/>
              </a:solidFill>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r>
              <a:rPr lang="zh-CN" altLang="en-US"/>
              <a:t>停</a:t>
            </a:r>
            <a:r>
              <a:rPr lang="en-US" altLang="zh-CN"/>
              <a:t>-</a:t>
            </a:r>
            <a:r>
              <a:rPr lang="zh-CN" altLang="en-US"/>
              <a:t>等协议中的时间</a:t>
            </a:r>
          </a:p>
        </p:txBody>
      </p:sp>
      <p:sp>
        <p:nvSpPr>
          <p:cNvPr id="617477"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17478" name="Text Box 6"/>
          <p:cNvSpPr txBox="1">
            <a:spLocks noChangeArrowheads="1"/>
          </p:cNvSpPr>
          <p:nvPr/>
        </p:nvSpPr>
        <p:spPr bwMode="auto">
          <a:xfrm>
            <a:off x="3108325" y="1900238"/>
            <a:ext cx="3683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a:t>
            </a:r>
          </a:p>
        </p:txBody>
      </p:sp>
      <p:sp>
        <p:nvSpPr>
          <p:cNvPr id="617479" name="Text Box 7"/>
          <p:cNvSpPr txBox="1">
            <a:spLocks noChangeArrowheads="1"/>
          </p:cNvSpPr>
          <p:nvPr/>
        </p:nvSpPr>
        <p:spPr bwMode="auto">
          <a:xfrm>
            <a:off x="6299200" y="1914525"/>
            <a:ext cx="370614"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B</a:t>
            </a:r>
          </a:p>
        </p:txBody>
      </p:sp>
      <p:sp>
        <p:nvSpPr>
          <p:cNvPr id="617480" name="AutoShape 8"/>
          <p:cNvSpPr>
            <a:spLocks noChangeArrowheads="1"/>
          </p:cNvSpPr>
          <p:nvPr/>
        </p:nvSpPr>
        <p:spPr bwMode="auto">
          <a:xfrm rot="16200000" flipH="1" flipV="1">
            <a:off x="4343400" y="1282700"/>
            <a:ext cx="1066800" cy="3200400"/>
          </a:xfrm>
          <a:prstGeom prst="parallelogram">
            <a:avLst>
              <a:gd name="adj" fmla="val 30056"/>
            </a:avLst>
          </a:prstGeom>
          <a:solidFill>
            <a:srgbClr val="FFFF66"/>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17481" name="AutoShape 9"/>
          <p:cNvSpPr>
            <a:spLocks noChangeArrowheads="1"/>
          </p:cNvSpPr>
          <p:nvPr/>
        </p:nvSpPr>
        <p:spPr bwMode="auto">
          <a:xfrm rot="5400000" flipV="1">
            <a:off x="4572000" y="2501900"/>
            <a:ext cx="609600" cy="3200400"/>
          </a:xfrm>
          <a:prstGeom prst="parallelogram">
            <a:avLst>
              <a:gd name="adj" fmla="val 49218"/>
            </a:avLst>
          </a:prstGeom>
          <a:solidFill>
            <a:srgbClr val="00FF00"/>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17482" name="AutoShape 10"/>
          <p:cNvSpPr>
            <a:spLocks noChangeArrowheads="1"/>
          </p:cNvSpPr>
          <p:nvPr/>
        </p:nvSpPr>
        <p:spPr bwMode="auto">
          <a:xfrm rot="16200000" flipH="1" flipV="1">
            <a:off x="4343400" y="3721100"/>
            <a:ext cx="1066800" cy="3200400"/>
          </a:xfrm>
          <a:prstGeom prst="parallelogram">
            <a:avLst>
              <a:gd name="adj" fmla="val 30056"/>
            </a:avLst>
          </a:prstGeom>
          <a:solidFill>
            <a:srgbClr val="FFFF66"/>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17483" name="Line 11"/>
          <p:cNvSpPr>
            <a:spLocks noChangeShapeType="1"/>
          </p:cNvSpPr>
          <p:nvPr/>
        </p:nvSpPr>
        <p:spPr bwMode="auto">
          <a:xfrm>
            <a:off x="3276600" y="2273300"/>
            <a:ext cx="0" cy="365760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484" name="Line 12"/>
          <p:cNvSpPr>
            <a:spLocks noChangeShapeType="1"/>
          </p:cNvSpPr>
          <p:nvPr/>
        </p:nvSpPr>
        <p:spPr bwMode="auto">
          <a:xfrm>
            <a:off x="6477000" y="2273300"/>
            <a:ext cx="0" cy="365760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485" name="Line 13"/>
          <p:cNvSpPr>
            <a:spLocks noChangeShapeType="1"/>
          </p:cNvSpPr>
          <p:nvPr/>
        </p:nvSpPr>
        <p:spPr bwMode="auto">
          <a:xfrm>
            <a:off x="3276600" y="2349500"/>
            <a:ext cx="3200400" cy="0"/>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486" name="Text Box 14"/>
          <p:cNvSpPr txBox="1">
            <a:spLocks noChangeArrowheads="1"/>
          </p:cNvSpPr>
          <p:nvPr/>
        </p:nvSpPr>
        <p:spPr bwMode="auto">
          <a:xfrm>
            <a:off x="3581400" y="2524125"/>
            <a:ext cx="8921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DATA</a:t>
            </a:r>
          </a:p>
        </p:txBody>
      </p:sp>
      <p:sp>
        <p:nvSpPr>
          <p:cNvPr id="617487" name="Text Box 15"/>
          <p:cNvSpPr txBox="1">
            <a:spLocks noChangeArrowheads="1"/>
          </p:cNvSpPr>
          <p:nvPr/>
        </p:nvSpPr>
        <p:spPr bwMode="auto">
          <a:xfrm>
            <a:off x="3581400" y="5006975"/>
            <a:ext cx="8921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DATA</a:t>
            </a:r>
          </a:p>
        </p:txBody>
      </p:sp>
      <p:sp>
        <p:nvSpPr>
          <p:cNvPr id="617488" name="Text Box 16"/>
          <p:cNvSpPr txBox="1">
            <a:spLocks noChangeArrowheads="1"/>
          </p:cNvSpPr>
          <p:nvPr/>
        </p:nvSpPr>
        <p:spPr bwMode="auto">
          <a:xfrm>
            <a:off x="5562600" y="3787775"/>
            <a:ext cx="7366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ACK</a:t>
            </a:r>
          </a:p>
        </p:txBody>
      </p:sp>
      <p:sp>
        <p:nvSpPr>
          <p:cNvPr id="617489" name="AutoShape 17"/>
          <p:cNvSpPr>
            <a:spLocks noChangeArrowheads="1"/>
          </p:cNvSpPr>
          <p:nvPr/>
        </p:nvSpPr>
        <p:spPr bwMode="auto">
          <a:xfrm rot="322333">
            <a:off x="4419600" y="2806700"/>
            <a:ext cx="1066800" cy="152400"/>
          </a:xfrm>
          <a:prstGeom prst="rightArrow">
            <a:avLst>
              <a:gd name="adj1" fmla="val 50000"/>
              <a:gd name="adj2" fmla="val 17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17490" name="AutoShape 18"/>
          <p:cNvSpPr>
            <a:spLocks noChangeArrowheads="1"/>
          </p:cNvSpPr>
          <p:nvPr/>
        </p:nvSpPr>
        <p:spPr bwMode="auto">
          <a:xfrm rot="322333">
            <a:off x="4419600" y="5245100"/>
            <a:ext cx="1066800" cy="152400"/>
          </a:xfrm>
          <a:prstGeom prst="rightArrow">
            <a:avLst>
              <a:gd name="adj1" fmla="val 50000"/>
              <a:gd name="adj2" fmla="val 17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17491" name="AutoShape 19"/>
          <p:cNvSpPr>
            <a:spLocks noChangeArrowheads="1"/>
          </p:cNvSpPr>
          <p:nvPr/>
        </p:nvSpPr>
        <p:spPr bwMode="auto">
          <a:xfrm rot="21277667" flipH="1">
            <a:off x="4343400" y="4025900"/>
            <a:ext cx="1066800" cy="152400"/>
          </a:xfrm>
          <a:prstGeom prst="rightArrow">
            <a:avLst>
              <a:gd name="adj1" fmla="val 50000"/>
              <a:gd name="adj2" fmla="val 17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17492" name="Line 20"/>
          <p:cNvSpPr>
            <a:spLocks noChangeShapeType="1"/>
          </p:cNvSpPr>
          <p:nvPr/>
        </p:nvSpPr>
        <p:spPr bwMode="auto">
          <a:xfrm flipV="1">
            <a:off x="2347913" y="2349500"/>
            <a:ext cx="852487" cy="17463"/>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493" name="Line 21"/>
          <p:cNvSpPr>
            <a:spLocks noChangeShapeType="1"/>
          </p:cNvSpPr>
          <p:nvPr/>
        </p:nvSpPr>
        <p:spPr bwMode="auto">
          <a:xfrm flipV="1">
            <a:off x="2905125" y="3082925"/>
            <a:ext cx="29527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494" name="Line 22"/>
          <p:cNvSpPr>
            <a:spLocks noChangeShapeType="1"/>
          </p:cNvSpPr>
          <p:nvPr/>
        </p:nvSpPr>
        <p:spPr bwMode="auto">
          <a:xfrm>
            <a:off x="3059113" y="2349500"/>
            <a:ext cx="0" cy="215900"/>
          </a:xfrm>
          <a:prstGeom prst="line">
            <a:avLst/>
          </a:prstGeom>
          <a:noFill/>
          <a:ln w="9525">
            <a:solidFill>
              <a:schemeClr val="tx1"/>
            </a:solidFill>
            <a:round/>
            <a:headEnd type="triangle" w="sm" len="med"/>
            <a:tailEnd type="non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495" name="Line 23"/>
          <p:cNvSpPr>
            <a:spLocks noChangeShapeType="1"/>
          </p:cNvSpPr>
          <p:nvPr/>
        </p:nvSpPr>
        <p:spPr bwMode="auto">
          <a:xfrm>
            <a:off x="6553200" y="23495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496" name="Line 24"/>
          <p:cNvSpPr>
            <a:spLocks noChangeShapeType="1"/>
          </p:cNvSpPr>
          <p:nvPr/>
        </p:nvSpPr>
        <p:spPr bwMode="auto">
          <a:xfrm>
            <a:off x="6553200" y="26543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497" name="Line 25"/>
          <p:cNvSpPr>
            <a:spLocks noChangeShapeType="1"/>
          </p:cNvSpPr>
          <p:nvPr/>
        </p:nvSpPr>
        <p:spPr bwMode="auto">
          <a:xfrm>
            <a:off x="6705600" y="2349500"/>
            <a:ext cx="0" cy="304800"/>
          </a:xfrm>
          <a:prstGeom prst="line">
            <a:avLst/>
          </a:prstGeom>
          <a:noFill/>
          <a:ln w="9525">
            <a:solidFill>
              <a:schemeClr val="tx1"/>
            </a:solidFill>
            <a:round/>
            <a:headEnd type="triangl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498" name="Text Box 26"/>
          <p:cNvSpPr txBox="1">
            <a:spLocks noChangeArrowheads="1"/>
          </p:cNvSpPr>
          <p:nvPr/>
        </p:nvSpPr>
        <p:spPr bwMode="auto">
          <a:xfrm>
            <a:off x="6705600" y="2286000"/>
            <a:ext cx="14620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传播时延 </a:t>
            </a:r>
            <a:r>
              <a:rPr lang="en-US" altLang="zh-CN" sz="2000" b="1" i="1">
                <a:latin typeface="+mn-lt"/>
                <a:ea typeface="+mn-ea"/>
              </a:rPr>
              <a:t>t</a:t>
            </a:r>
            <a:r>
              <a:rPr lang="en-US" altLang="zh-CN" sz="2000" b="1" i="1" baseline="-25000">
                <a:latin typeface="+mn-lt"/>
                <a:ea typeface="+mn-ea"/>
              </a:rPr>
              <a:t>p</a:t>
            </a:r>
          </a:p>
        </p:txBody>
      </p:sp>
      <p:sp>
        <p:nvSpPr>
          <p:cNvPr id="617499" name="Line 27"/>
          <p:cNvSpPr>
            <a:spLocks noChangeShapeType="1"/>
          </p:cNvSpPr>
          <p:nvPr/>
        </p:nvSpPr>
        <p:spPr bwMode="auto">
          <a:xfrm>
            <a:off x="6705600" y="3416300"/>
            <a:ext cx="0" cy="381000"/>
          </a:xfrm>
          <a:prstGeom prst="line">
            <a:avLst/>
          </a:prstGeom>
          <a:noFill/>
          <a:ln w="9525">
            <a:solidFill>
              <a:schemeClr val="tx1"/>
            </a:solidFill>
            <a:round/>
            <a:headEnd type="triangl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00" name="Line 28"/>
          <p:cNvSpPr>
            <a:spLocks noChangeShapeType="1"/>
          </p:cNvSpPr>
          <p:nvPr/>
        </p:nvSpPr>
        <p:spPr bwMode="auto">
          <a:xfrm>
            <a:off x="6553200" y="34163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01" name="Line 29"/>
          <p:cNvSpPr>
            <a:spLocks noChangeShapeType="1"/>
          </p:cNvSpPr>
          <p:nvPr/>
        </p:nvSpPr>
        <p:spPr bwMode="auto">
          <a:xfrm>
            <a:off x="6553200" y="37973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02" name="Line 30"/>
          <p:cNvSpPr>
            <a:spLocks noChangeShapeType="1"/>
          </p:cNvSpPr>
          <p:nvPr/>
        </p:nvSpPr>
        <p:spPr bwMode="auto">
          <a:xfrm>
            <a:off x="6553200" y="41021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03" name="Line 31"/>
          <p:cNvSpPr>
            <a:spLocks noChangeShapeType="1"/>
          </p:cNvSpPr>
          <p:nvPr/>
        </p:nvSpPr>
        <p:spPr bwMode="auto">
          <a:xfrm>
            <a:off x="6705600" y="3797300"/>
            <a:ext cx="0" cy="304800"/>
          </a:xfrm>
          <a:prstGeom prst="line">
            <a:avLst/>
          </a:prstGeom>
          <a:noFill/>
          <a:ln w="9525">
            <a:solidFill>
              <a:schemeClr val="tx1"/>
            </a:solidFill>
            <a:round/>
            <a:headEnd type="triangl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04" name="Text Box 32"/>
          <p:cNvSpPr txBox="1">
            <a:spLocks noChangeArrowheads="1"/>
          </p:cNvSpPr>
          <p:nvPr/>
        </p:nvSpPr>
        <p:spPr bwMode="auto">
          <a:xfrm>
            <a:off x="6715125" y="3406775"/>
            <a:ext cx="15255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处理时间 </a:t>
            </a:r>
            <a:r>
              <a:rPr lang="en-US" altLang="zh-CN" sz="2000" b="1" i="1">
                <a:latin typeface="+mn-lt"/>
                <a:ea typeface="+mn-ea"/>
              </a:rPr>
              <a:t>t</a:t>
            </a:r>
            <a:r>
              <a:rPr lang="en-US" altLang="zh-CN" sz="2000" b="1" i="1" baseline="-25000">
                <a:latin typeface="+mn-lt"/>
                <a:ea typeface="+mn-ea"/>
              </a:rPr>
              <a:t>pr</a:t>
            </a:r>
          </a:p>
        </p:txBody>
      </p:sp>
      <p:sp>
        <p:nvSpPr>
          <p:cNvPr id="617505" name="Text Box 33"/>
          <p:cNvSpPr txBox="1">
            <a:spLocks noChangeArrowheads="1"/>
          </p:cNvSpPr>
          <p:nvPr/>
        </p:nvSpPr>
        <p:spPr bwMode="auto">
          <a:xfrm>
            <a:off x="6705600" y="3743325"/>
            <a:ext cx="22193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确认帧发送时间 </a:t>
            </a:r>
            <a:r>
              <a:rPr lang="en-US" altLang="zh-CN" sz="2000" b="1" i="1">
                <a:latin typeface="+mn-lt"/>
                <a:ea typeface="+mn-ea"/>
              </a:rPr>
              <a:t>t</a:t>
            </a:r>
            <a:r>
              <a:rPr lang="en-US" altLang="zh-CN" sz="2000" b="1" i="1" baseline="-25000">
                <a:latin typeface="+mn-lt"/>
                <a:ea typeface="+mn-ea"/>
              </a:rPr>
              <a:t>a</a:t>
            </a:r>
          </a:p>
        </p:txBody>
      </p:sp>
      <p:sp>
        <p:nvSpPr>
          <p:cNvPr id="617506" name="Line 34"/>
          <p:cNvSpPr>
            <a:spLocks noChangeShapeType="1"/>
          </p:cNvSpPr>
          <p:nvPr/>
        </p:nvSpPr>
        <p:spPr bwMode="auto">
          <a:xfrm flipV="1">
            <a:off x="2406650" y="4787900"/>
            <a:ext cx="784225" cy="793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07" name="Line 35"/>
          <p:cNvSpPr>
            <a:spLocks noChangeShapeType="1"/>
          </p:cNvSpPr>
          <p:nvPr/>
        </p:nvSpPr>
        <p:spPr bwMode="auto">
          <a:xfrm>
            <a:off x="6705600" y="4406900"/>
            <a:ext cx="0" cy="381000"/>
          </a:xfrm>
          <a:prstGeom prst="line">
            <a:avLst/>
          </a:prstGeom>
          <a:noFill/>
          <a:ln w="9525">
            <a:solidFill>
              <a:schemeClr val="tx1"/>
            </a:solidFill>
            <a:round/>
            <a:headEnd type="triangl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08" name="Line 36"/>
          <p:cNvSpPr>
            <a:spLocks noChangeShapeType="1"/>
          </p:cNvSpPr>
          <p:nvPr/>
        </p:nvSpPr>
        <p:spPr bwMode="auto">
          <a:xfrm>
            <a:off x="3276600" y="4406900"/>
            <a:ext cx="3200400" cy="0"/>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09" name="Line 37"/>
          <p:cNvSpPr>
            <a:spLocks noChangeShapeType="1"/>
          </p:cNvSpPr>
          <p:nvPr/>
        </p:nvSpPr>
        <p:spPr bwMode="auto">
          <a:xfrm>
            <a:off x="6705600" y="4102100"/>
            <a:ext cx="0" cy="304800"/>
          </a:xfrm>
          <a:prstGeom prst="line">
            <a:avLst/>
          </a:prstGeom>
          <a:noFill/>
          <a:ln w="9525">
            <a:solidFill>
              <a:schemeClr val="tx1"/>
            </a:solidFill>
            <a:round/>
            <a:headEnd type="triangl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10" name="Line 38"/>
          <p:cNvSpPr>
            <a:spLocks noChangeShapeType="1"/>
          </p:cNvSpPr>
          <p:nvPr/>
        </p:nvSpPr>
        <p:spPr bwMode="auto">
          <a:xfrm>
            <a:off x="6553200" y="44069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11" name="Text Box 39"/>
          <p:cNvSpPr txBox="1">
            <a:spLocks noChangeArrowheads="1"/>
          </p:cNvSpPr>
          <p:nvPr/>
        </p:nvSpPr>
        <p:spPr bwMode="auto">
          <a:xfrm>
            <a:off x="6705600" y="4038600"/>
            <a:ext cx="14620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传播时延 </a:t>
            </a:r>
            <a:r>
              <a:rPr lang="en-US" altLang="zh-CN" sz="2000" b="1" i="1">
                <a:latin typeface="+mn-lt"/>
                <a:ea typeface="+mn-ea"/>
              </a:rPr>
              <a:t>t</a:t>
            </a:r>
            <a:r>
              <a:rPr lang="en-US" altLang="zh-CN" sz="2000" b="1" i="1" baseline="-25000">
                <a:latin typeface="+mn-lt"/>
                <a:ea typeface="+mn-ea"/>
              </a:rPr>
              <a:t>p</a:t>
            </a:r>
          </a:p>
        </p:txBody>
      </p:sp>
      <p:sp>
        <p:nvSpPr>
          <p:cNvPr id="617512" name="Line 40"/>
          <p:cNvSpPr>
            <a:spLocks noChangeShapeType="1"/>
          </p:cNvSpPr>
          <p:nvPr/>
        </p:nvSpPr>
        <p:spPr bwMode="auto">
          <a:xfrm>
            <a:off x="3276600" y="4787900"/>
            <a:ext cx="3200400" cy="0"/>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13" name="Line 41"/>
          <p:cNvSpPr>
            <a:spLocks noChangeShapeType="1"/>
          </p:cNvSpPr>
          <p:nvPr/>
        </p:nvSpPr>
        <p:spPr bwMode="auto">
          <a:xfrm flipV="1">
            <a:off x="6562725" y="4787900"/>
            <a:ext cx="29527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14" name="Text Box 42"/>
          <p:cNvSpPr txBox="1">
            <a:spLocks noChangeArrowheads="1"/>
          </p:cNvSpPr>
          <p:nvPr/>
        </p:nvSpPr>
        <p:spPr bwMode="auto">
          <a:xfrm>
            <a:off x="6696075" y="4352925"/>
            <a:ext cx="15255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处理时间 </a:t>
            </a:r>
            <a:r>
              <a:rPr lang="en-US" altLang="zh-CN" sz="2000" b="1" i="1">
                <a:latin typeface="+mn-lt"/>
                <a:ea typeface="+mn-ea"/>
              </a:rPr>
              <a:t>t</a:t>
            </a:r>
            <a:r>
              <a:rPr lang="en-US" altLang="zh-CN" sz="2000" b="1" i="1" baseline="-25000">
                <a:latin typeface="+mn-lt"/>
                <a:ea typeface="+mn-ea"/>
              </a:rPr>
              <a:t>pr</a:t>
            </a:r>
          </a:p>
        </p:txBody>
      </p:sp>
      <p:sp>
        <p:nvSpPr>
          <p:cNvPr id="617515" name="Line 43"/>
          <p:cNvSpPr>
            <a:spLocks noChangeShapeType="1"/>
          </p:cNvSpPr>
          <p:nvPr/>
        </p:nvSpPr>
        <p:spPr bwMode="auto">
          <a:xfrm>
            <a:off x="3059113" y="3068638"/>
            <a:ext cx="0" cy="576262"/>
          </a:xfrm>
          <a:prstGeom prst="line">
            <a:avLst/>
          </a:prstGeom>
          <a:noFill/>
          <a:ln w="9525">
            <a:solidFill>
              <a:schemeClr val="tx1"/>
            </a:solidFill>
            <a:round/>
            <a:headEnd type="triangle" w="sm" len="med"/>
            <a:tailEnd type="non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18" name="Line 46"/>
          <p:cNvSpPr>
            <a:spLocks noChangeShapeType="1"/>
          </p:cNvSpPr>
          <p:nvPr/>
        </p:nvSpPr>
        <p:spPr bwMode="auto">
          <a:xfrm flipH="1">
            <a:off x="2555875" y="2349500"/>
            <a:ext cx="0" cy="1079500"/>
          </a:xfrm>
          <a:prstGeom prst="line">
            <a:avLst/>
          </a:prstGeom>
          <a:noFill/>
          <a:ln w="9525">
            <a:solidFill>
              <a:schemeClr val="tx1"/>
            </a:solidFill>
            <a:round/>
            <a:headEnd type="triangle" w="sm" len="med"/>
            <a:tailEnd type="non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20" name="Text Box 48"/>
          <p:cNvSpPr txBox="1">
            <a:spLocks noChangeArrowheads="1"/>
          </p:cNvSpPr>
          <p:nvPr/>
        </p:nvSpPr>
        <p:spPr bwMode="auto">
          <a:xfrm>
            <a:off x="2339975" y="3357563"/>
            <a:ext cx="373820" cy="40011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i="1">
                <a:latin typeface="+mn-lt"/>
                <a:ea typeface="+mn-ea"/>
              </a:rPr>
              <a:t>t</a:t>
            </a:r>
            <a:r>
              <a:rPr lang="en-US" altLang="zh-CN" sz="2000" b="1" i="1" baseline="-25000">
                <a:latin typeface="+mn-lt"/>
                <a:ea typeface="+mn-ea"/>
              </a:rPr>
              <a:t>T</a:t>
            </a:r>
          </a:p>
        </p:txBody>
      </p:sp>
      <p:sp>
        <p:nvSpPr>
          <p:cNvPr id="617521" name="Line 49"/>
          <p:cNvSpPr>
            <a:spLocks noChangeShapeType="1"/>
          </p:cNvSpPr>
          <p:nvPr/>
        </p:nvSpPr>
        <p:spPr bwMode="auto">
          <a:xfrm>
            <a:off x="7042150" y="4787900"/>
            <a:ext cx="0" cy="1143000"/>
          </a:xfrm>
          <a:prstGeom prst="line">
            <a:avLst/>
          </a:prstGeom>
          <a:noFill/>
          <a:ln w="28575">
            <a:solidFill>
              <a:srgbClr val="0000FF"/>
            </a:solidFill>
            <a:round/>
            <a:headEnd type="non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22" name="Text Box 50"/>
          <p:cNvSpPr txBox="1">
            <a:spLocks noChangeArrowheads="1"/>
          </p:cNvSpPr>
          <p:nvPr/>
        </p:nvSpPr>
        <p:spPr bwMode="auto">
          <a:xfrm>
            <a:off x="7032625" y="5072063"/>
            <a:ext cx="6953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时间</a:t>
            </a:r>
            <a:endParaRPr lang="zh-CN" altLang="en-US" sz="2000" b="1" i="1" baseline="-25000">
              <a:latin typeface="+mn-lt"/>
              <a:ea typeface="+mn-ea"/>
            </a:endParaRPr>
          </a:p>
        </p:txBody>
      </p:sp>
      <p:sp>
        <p:nvSpPr>
          <p:cNvPr id="617523" name="Text Box 51"/>
          <p:cNvSpPr txBox="1">
            <a:spLocks noChangeArrowheads="1"/>
          </p:cNvSpPr>
          <p:nvPr/>
        </p:nvSpPr>
        <p:spPr bwMode="auto">
          <a:xfrm>
            <a:off x="582613" y="2906713"/>
            <a:ext cx="1973262" cy="1006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lang="zh-CN" altLang="en-US" sz="2000" b="1">
                <a:latin typeface="+mn-lt"/>
                <a:ea typeface="+mn-ea"/>
              </a:rPr>
              <a:t>两个成功发送的</a:t>
            </a:r>
          </a:p>
          <a:p>
            <a:pPr algn="ctr">
              <a:spcBef>
                <a:spcPct val="0"/>
              </a:spcBef>
              <a:buClrTx/>
              <a:buFontTx/>
              <a:buNone/>
            </a:pPr>
            <a:r>
              <a:rPr lang="zh-CN" altLang="en-US" sz="2000" b="1">
                <a:latin typeface="+mn-lt"/>
                <a:ea typeface="+mn-ea"/>
              </a:rPr>
              <a:t>数据帧之间的</a:t>
            </a:r>
          </a:p>
          <a:p>
            <a:pPr algn="ctr">
              <a:spcBef>
                <a:spcPct val="0"/>
              </a:spcBef>
              <a:buClrTx/>
              <a:buFontTx/>
              <a:buNone/>
            </a:pPr>
            <a:r>
              <a:rPr lang="zh-CN" altLang="en-US" sz="2000" b="1">
                <a:latin typeface="+mn-lt"/>
                <a:ea typeface="+mn-ea"/>
              </a:rPr>
              <a:t>最小时间间隔</a:t>
            </a:r>
            <a:endParaRPr lang="zh-CN" altLang="en-US" sz="2000" b="1" i="1" baseline="-25000">
              <a:latin typeface="+mn-lt"/>
              <a:ea typeface="+mn-ea"/>
            </a:endParaRPr>
          </a:p>
        </p:txBody>
      </p:sp>
      <p:sp>
        <p:nvSpPr>
          <p:cNvPr id="617524" name="Text Box 52"/>
          <p:cNvSpPr txBox="1">
            <a:spLocks noChangeArrowheads="1"/>
          </p:cNvSpPr>
          <p:nvPr/>
        </p:nvSpPr>
        <p:spPr bwMode="auto">
          <a:xfrm>
            <a:off x="900113" y="1773238"/>
            <a:ext cx="1200150"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数据帧的</a:t>
            </a:r>
          </a:p>
          <a:p>
            <a:pPr>
              <a:spcBef>
                <a:spcPct val="0"/>
              </a:spcBef>
              <a:buClrTx/>
              <a:buFontTx/>
              <a:buNone/>
            </a:pPr>
            <a:r>
              <a:rPr lang="zh-CN" altLang="en-US" sz="2000" b="1">
                <a:latin typeface="+mn-lt"/>
                <a:ea typeface="+mn-ea"/>
              </a:rPr>
              <a:t>发送时间</a:t>
            </a:r>
          </a:p>
        </p:txBody>
      </p:sp>
      <p:sp>
        <p:nvSpPr>
          <p:cNvPr id="617526" name="Text Box 54"/>
          <p:cNvSpPr txBox="1">
            <a:spLocks noChangeArrowheads="1"/>
          </p:cNvSpPr>
          <p:nvPr/>
        </p:nvSpPr>
        <p:spPr bwMode="auto">
          <a:xfrm>
            <a:off x="2916238" y="2492375"/>
            <a:ext cx="327334"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i="1">
                <a:latin typeface="+mn-lt"/>
                <a:ea typeface="+mn-ea"/>
              </a:rPr>
              <a:t>t</a:t>
            </a:r>
            <a:r>
              <a:rPr lang="en-US" altLang="zh-CN" sz="2000" b="1" i="1" baseline="-25000">
                <a:latin typeface="+mn-lt"/>
                <a:ea typeface="+mn-ea"/>
              </a:rPr>
              <a:t>f</a:t>
            </a:r>
          </a:p>
        </p:txBody>
      </p:sp>
      <p:sp>
        <p:nvSpPr>
          <p:cNvPr id="617527" name="Text Box 55"/>
          <p:cNvSpPr txBox="1">
            <a:spLocks noChangeArrowheads="1"/>
          </p:cNvSpPr>
          <p:nvPr/>
        </p:nvSpPr>
        <p:spPr bwMode="auto">
          <a:xfrm>
            <a:off x="903288" y="4508500"/>
            <a:ext cx="1200150"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lang="zh-CN" altLang="en-US" sz="2000" b="1">
                <a:latin typeface="+mn-lt"/>
                <a:ea typeface="+mn-ea"/>
              </a:rPr>
              <a:t>设置的</a:t>
            </a:r>
          </a:p>
          <a:p>
            <a:pPr algn="ctr">
              <a:spcBef>
                <a:spcPct val="0"/>
              </a:spcBef>
              <a:buClrTx/>
              <a:buFontTx/>
              <a:buNone/>
            </a:pPr>
            <a:r>
              <a:rPr lang="zh-CN" altLang="en-US" sz="2000" b="1">
                <a:latin typeface="+mn-lt"/>
                <a:ea typeface="+mn-ea"/>
              </a:rPr>
              <a:t>重传时间</a:t>
            </a:r>
          </a:p>
        </p:txBody>
      </p:sp>
      <p:sp>
        <p:nvSpPr>
          <p:cNvPr id="617528" name="Text Box 56"/>
          <p:cNvSpPr txBox="1">
            <a:spLocks noChangeArrowheads="1"/>
          </p:cNvSpPr>
          <p:nvPr/>
        </p:nvSpPr>
        <p:spPr bwMode="auto">
          <a:xfrm>
            <a:off x="2771775" y="3573463"/>
            <a:ext cx="535724"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i="1">
                <a:latin typeface="+mn-lt"/>
                <a:ea typeface="+mn-ea"/>
              </a:rPr>
              <a:t>t</a:t>
            </a:r>
            <a:r>
              <a:rPr lang="en-US" altLang="zh-CN" sz="2000" b="1" i="1" baseline="-25000">
                <a:latin typeface="+mn-lt"/>
                <a:ea typeface="+mn-ea"/>
              </a:rPr>
              <a:t>out</a:t>
            </a:r>
          </a:p>
        </p:txBody>
      </p:sp>
      <p:sp>
        <p:nvSpPr>
          <p:cNvPr id="617529" name="Line 57"/>
          <p:cNvSpPr>
            <a:spLocks noChangeShapeType="1"/>
          </p:cNvSpPr>
          <p:nvPr/>
        </p:nvSpPr>
        <p:spPr bwMode="auto">
          <a:xfrm>
            <a:off x="2051050" y="2205038"/>
            <a:ext cx="930275" cy="485775"/>
          </a:xfrm>
          <a:prstGeom prst="line">
            <a:avLst/>
          </a:prstGeom>
          <a:noFill/>
          <a:ln w="19050">
            <a:solidFill>
              <a:srgbClr val="FC0404"/>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30" name="Line 58"/>
          <p:cNvSpPr>
            <a:spLocks noChangeShapeType="1"/>
          </p:cNvSpPr>
          <p:nvPr/>
        </p:nvSpPr>
        <p:spPr bwMode="auto">
          <a:xfrm flipV="1">
            <a:off x="2051050" y="3933825"/>
            <a:ext cx="865188" cy="935038"/>
          </a:xfrm>
          <a:prstGeom prst="line">
            <a:avLst/>
          </a:prstGeom>
          <a:noFill/>
          <a:ln w="19050">
            <a:solidFill>
              <a:srgbClr val="FC0404"/>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31" name="Line 59"/>
          <p:cNvSpPr>
            <a:spLocks noChangeShapeType="1"/>
          </p:cNvSpPr>
          <p:nvPr/>
        </p:nvSpPr>
        <p:spPr bwMode="auto">
          <a:xfrm flipH="1">
            <a:off x="2555875" y="3789363"/>
            <a:ext cx="0" cy="1008062"/>
          </a:xfrm>
          <a:prstGeom prst="line">
            <a:avLst/>
          </a:prstGeom>
          <a:noFill/>
          <a:ln w="9525">
            <a:solidFill>
              <a:schemeClr val="tx1"/>
            </a:solidFill>
            <a:round/>
            <a:headEnd type="non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32" name="Line 60"/>
          <p:cNvSpPr>
            <a:spLocks noChangeShapeType="1"/>
          </p:cNvSpPr>
          <p:nvPr/>
        </p:nvSpPr>
        <p:spPr bwMode="auto">
          <a:xfrm>
            <a:off x="3059113" y="2852738"/>
            <a:ext cx="0" cy="215900"/>
          </a:xfrm>
          <a:prstGeom prst="line">
            <a:avLst/>
          </a:prstGeom>
          <a:noFill/>
          <a:ln w="9525">
            <a:solidFill>
              <a:schemeClr val="tx1"/>
            </a:solidFill>
            <a:round/>
            <a:headEnd type="non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33" name="Line 61"/>
          <p:cNvSpPr>
            <a:spLocks noChangeShapeType="1"/>
          </p:cNvSpPr>
          <p:nvPr/>
        </p:nvSpPr>
        <p:spPr bwMode="auto">
          <a:xfrm>
            <a:off x="3059113" y="4005263"/>
            <a:ext cx="0" cy="792162"/>
          </a:xfrm>
          <a:prstGeom prst="line">
            <a:avLst/>
          </a:prstGeom>
          <a:noFill/>
          <a:ln w="9525">
            <a:solidFill>
              <a:schemeClr val="tx1"/>
            </a:solidFill>
            <a:round/>
            <a:headEnd type="non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7534"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zh-CN" altLang="en-US"/>
              <a:t>重传时间</a:t>
            </a:r>
            <a:r>
              <a:rPr lang="en-US" altLang="zh-CN">
                <a:latin typeface="华文新魏" pitchFamily="2" charset="-122"/>
                <a:ea typeface="华文新魏" pitchFamily="2" charset="-122"/>
              </a:rPr>
              <a:t>t</a:t>
            </a:r>
            <a:r>
              <a:rPr lang="en-US" altLang="zh-CN" baseline="-25000">
                <a:latin typeface="华文新魏" pitchFamily="2" charset="-122"/>
                <a:ea typeface="华文新魏" pitchFamily="2" charset="-122"/>
              </a:rPr>
              <a:t>out</a:t>
            </a:r>
            <a:endParaRPr lang="zh-CN" altLang="en-US" baseline="-25000">
              <a:latin typeface="华文新魏" pitchFamily="2" charset="-122"/>
              <a:ea typeface="华文新魏" pitchFamily="2" charset="-122"/>
            </a:endParaRPr>
          </a:p>
        </p:txBody>
      </p:sp>
      <p:sp>
        <p:nvSpPr>
          <p:cNvPr id="648195" name="Rectangle 3"/>
          <p:cNvSpPr>
            <a:spLocks noGrp="1" noChangeArrowheads="1"/>
          </p:cNvSpPr>
          <p:nvPr>
            <p:ph type="body" idx="1"/>
          </p:nvPr>
        </p:nvSpPr>
        <p:spPr/>
        <p:txBody>
          <a:bodyPr/>
          <a:lstStyle/>
          <a:p>
            <a:r>
              <a:rPr lang="zh-CN" altLang="en-US" sz="2800">
                <a:solidFill>
                  <a:srgbClr val="FC0404"/>
                </a:solidFill>
              </a:rPr>
              <a:t>作用</a:t>
            </a:r>
          </a:p>
          <a:p>
            <a:pPr>
              <a:buFont typeface="Wingdings" pitchFamily="2" charset="2"/>
              <a:buNone/>
            </a:pPr>
            <a:r>
              <a:rPr lang="zh-CN" altLang="en-US" sz="2800"/>
              <a:t>            数据帧发送完毕后若经过了这样长的时间还没有收到确认帧，就重传这个数据帧。 </a:t>
            </a:r>
          </a:p>
          <a:p>
            <a:r>
              <a:rPr lang="zh-CN" altLang="en-US" sz="2800">
                <a:solidFill>
                  <a:srgbClr val="FC0404"/>
                </a:solidFill>
              </a:rPr>
              <a:t>设置</a:t>
            </a:r>
          </a:p>
          <a:p>
            <a:pPr algn="ctr">
              <a:buFont typeface="Wingdings" pitchFamily="2" charset="2"/>
              <a:buNone/>
            </a:pPr>
            <a:r>
              <a:rPr lang="en-US" altLang="zh-CN" sz="2800"/>
              <a:t>t</a:t>
            </a:r>
            <a:r>
              <a:rPr lang="en-US" altLang="zh-CN" sz="2800" baseline="-25000"/>
              <a:t>out</a:t>
            </a:r>
            <a:r>
              <a:rPr lang="en-US" altLang="zh-CN" sz="2800"/>
              <a:t> = t</a:t>
            </a:r>
            <a:r>
              <a:rPr lang="en-US" altLang="zh-CN" sz="2800" baseline="-25000"/>
              <a:t>p</a:t>
            </a:r>
            <a:r>
              <a:rPr lang="en-US" altLang="zh-CN" sz="2800"/>
              <a:t> + t</a:t>
            </a:r>
            <a:r>
              <a:rPr lang="en-US" altLang="zh-CN" sz="2800" baseline="-25000"/>
              <a:t>pr</a:t>
            </a:r>
            <a:r>
              <a:rPr lang="en-US" altLang="zh-CN" sz="2800"/>
              <a:t>+ t</a:t>
            </a:r>
            <a:r>
              <a:rPr lang="en-US" altLang="zh-CN" sz="2800" baseline="-25000"/>
              <a:t>a</a:t>
            </a:r>
            <a:r>
              <a:rPr lang="en-US" altLang="zh-CN" sz="2800"/>
              <a:t> + t</a:t>
            </a:r>
            <a:r>
              <a:rPr lang="en-US" altLang="zh-CN" sz="2800" baseline="-25000"/>
              <a:t>p</a:t>
            </a:r>
            <a:r>
              <a:rPr lang="en-US" altLang="zh-CN" sz="2800"/>
              <a:t> + t</a:t>
            </a:r>
            <a:r>
              <a:rPr lang="en-US" altLang="zh-CN" sz="2800" baseline="-25000"/>
              <a:t>pr</a:t>
            </a:r>
            <a:r>
              <a:rPr lang="en-US" altLang="zh-CN" sz="2800"/>
              <a:t> </a:t>
            </a:r>
          </a:p>
          <a:p>
            <a:pPr>
              <a:buFont typeface="Wingdings" pitchFamily="2" charset="2"/>
              <a:buNone/>
            </a:pPr>
            <a:r>
              <a:rPr lang="zh-CN" altLang="en-US" sz="2800"/>
              <a:t>            设上式右端的处理时间</a:t>
            </a:r>
            <a:r>
              <a:rPr lang="en-US" altLang="zh-CN" sz="2800"/>
              <a:t>t</a:t>
            </a:r>
            <a:r>
              <a:rPr lang="en-US" altLang="zh-CN" sz="2800" baseline="-25000"/>
              <a:t>pr</a:t>
            </a:r>
            <a:r>
              <a:rPr lang="zh-CN" altLang="en-US" sz="2800"/>
              <a:t>和确认帧的发送时间</a:t>
            </a:r>
            <a:r>
              <a:rPr lang="en-US" altLang="zh-CN" sz="2800"/>
              <a:t>t</a:t>
            </a:r>
            <a:r>
              <a:rPr lang="en-US" altLang="zh-CN" sz="2800" baseline="-25000"/>
              <a:t>a</a:t>
            </a:r>
            <a:r>
              <a:rPr lang="zh-CN" altLang="en-US" sz="2800"/>
              <a:t>都远小于传播时延</a:t>
            </a:r>
            <a:r>
              <a:rPr lang="en-US" altLang="zh-CN" sz="2800"/>
              <a:t>t</a:t>
            </a:r>
            <a:r>
              <a:rPr lang="en-US" altLang="zh-CN" sz="2800" baseline="-25000"/>
              <a:t>p</a:t>
            </a:r>
            <a:r>
              <a:rPr lang="zh-CN" altLang="en-US" sz="2800"/>
              <a:t>，因此可将重传时间取为两倍的传播时延，即：</a:t>
            </a:r>
          </a:p>
          <a:p>
            <a:pPr algn="ctr">
              <a:buFont typeface="Wingdings" pitchFamily="2" charset="2"/>
              <a:buNone/>
            </a:pPr>
            <a:r>
              <a:rPr lang="en-US" altLang="zh-CN" sz="2800"/>
              <a:t>t</a:t>
            </a:r>
            <a:r>
              <a:rPr lang="en-US" altLang="zh-CN" sz="2800" baseline="-25000"/>
              <a:t>out</a:t>
            </a:r>
            <a:r>
              <a:rPr lang="en-US" altLang="zh-CN" sz="2800"/>
              <a:t> = 2t</a:t>
            </a:r>
            <a:r>
              <a:rPr lang="en-US" altLang="zh-CN" sz="2800" baseline="-25000"/>
              <a:t>p</a:t>
            </a:r>
            <a:r>
              <a:rPr lang="en-US" altLang="zh-CN" sz="2800"/>
              <a:t> </a:t>
            </a:r>
            <a:endParaRPr lang="zh-CN" altLang="en-US" sz="2800"/>
          </a:p>
        </p:txBody>
      </p:sp>
      <p:sp>
        <p:nvSpPr>
          <p:cNvPr id="6481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基本数据链路协议</a:t>
            </a:r>
            <a:endParaRPr lang="en-US" altLang="zh-CN" sz="1200">
              <a:ea typeface="幼圆" pitchFamily="49" charset="-122"/>
            </a:endParaRPr>
          </a:p>
        </p:txBody>
      </p:sp>
      <p:sp>
        <p:nvSpPr>
          <p:cNvPr id="6481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Rectangle 2"/>
          <p:cNvSpPr>
            <a:spLocks noGrp="1" noChangeArrowheads="1"/>
          </p:cNvSpPr>
          <p:nvPr>
            <p:ph type="title"/>
          </p:nvPr>
        </p:nvSpPr>
        <p:spPr/>
        <p:txBody>
          <a:bodyPr/>
          <a:lstStyle/>
          <a:p>
            <a:r>
              <a:rPr lang="zh-CN" altLang="en-US"/>
              <a:t>滑动窗口协议 </a:t>
            </a:r>
          </a:p>
        </p:txBody>
      </p:sp>
      <p:sp>
        <p:nvSpPr>
          <p:cNvPr id="627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endParaRPr lang="en-US" altLang="zh-CN" sz="1200">
              <a:ea typeface="幼圆" pitchFamily="49" charset="-122"/>
            </a:endParaRPr>
          </a:p>
        </p:txBody>
      </p:sp>
      <p:sp>
        <p:nvSpPr>
          <p:cNvPr id="627716" name="Rectangle 4"/>
          <p:cNvSpPr>
            <a:spLocks noGrp="1" noChangeArrowheads="1"/>
          </p:cNvSpPr>
          <p:nvPr>
            <p:ph type="body" idx="1"/>
          </p:nvPr>
        </p:nvSpPr>
        <p:spPr>
          <a:xfrm>
            <a:off x="1763713" y="1844824"/>
            <a:ext cx="6192837" cy="4465215"/>
          </a:xfrm>
        </p:spPr>
        <p:txBody>
          <a:bodyPr/>
          <a:lstStyle/>
          <a:p>
            <a:pPr>
              <a:lnSpc>
                <a:spcPct val="125000"/>
              </a:lnSpc>
            </a:pPr>
            <a:r>
              <a:rPr lang="zh-CN" altLang="en-US" dirty="0">
                <a:hlinkClick r:id="rId5" action="ppaction://hlinksldjump"/>
              </a:rPr>
              <a:t>一些约定</a:t>
            </a:r>
            <a:endParaRPr lang="zh-CN" altLang="en-US" dirty="0"/>
          </a:p>
          <a:p>
            <a:pPr>
              <a:lnSpc>
                <a:spcPct val="125000"/>
              </a:lnSpc>
            </a:pPr>
            <a:r>
              <a:rPr lang="zh-CN" altLang="en-US" dirty="0">
                <a:hlinkClick r:id="rId6" action="ppaction://hlinksldjump"/>
              </a:rPr>
              <a:t>滑动窗口协议 </a:t>
            </a:r>
            <a:endParaRPr lang="en-US" altLang="zh-CN" dirty="0" smtClean="0">
              <a:hlinkClick r:id="rId6" action="ppaction://hlinksldjump"/>
            </a:endParaRPr>
          </a:p>
          <a:p>
            <a:pPr>
              <a:lnSpc>
                <a:spcPct val="125000"/>
              </a:lnSpc>
            </a:pPr>
            <a:r>
              <a:rPr lang="zh-CN" altLang="en-US" dirty="0" smtClean="0">
                <a:hlinkClick r:id="rId7" action="ppaction://hlinksldjump"/>
              </a:rPr>
              <a:t>一</a:t>
            </a:r>
            <a:r>
              <a:rPr lang="zh-CN" altLang="en-US" dirty="0">
                <a:hlinkClick r:id="rId7" action="ppaction://hlinksldjump"/>
              </a:rPr>
              <a:t>个</a:t>
            </a:r>
            <a:r>
              <a:rPr lang="en-US" altLang="zh-CN" dirty="0">
                <a:hlinkClick r:id="rId7" action="ppaction://hlinksldjump"/>
              </a:rPr>
              <a:t>1bit</a:t>
            </a:r>
            <a:r>
              <a:rPr lang="zh-CN" altLang="en-US" dirty="0">
                <a:hlinkClick r:id="rId7" action="ppaction://hlinksldjump"/>
              </a:rPr>
              <a:t>滑动窗口协议 </a:t>
            </a:r>
            <a:endParaRPr lang="zh-CN" altLang="en-US" dirty="0"/>
          </a:p>
          <a:p>
            <a:pPr>
              <a:lnSpc>
                <a:spcPct val="125000"/>
              </a:lnSpc>
            </a:pPr>
            <a:r>
              <a:rPr lang="zh-CN" altLang="en-US" dirty="0">
                <a:hlinkClick r:id="rId8" action="ppaction://hlinksldjump"/>
              </a:rPr>
              <a:t>使用后退</a:t>
            </a:r>
            <a:r>
              <a:rPr lang="en-US" altLang="zh-CN" dirty="0">
                <a:hlinkClick r:id="rId8" action="ppaction://hlinksldjump"/>
              </a:rPr>
              <a:t>n</a:t>
            </a:r>
            <a:r>
              <a:rPr lang="zh-CN" altLang="en-US" dirty="0">
                <a:hlinkClick r:id="rId8" action="ppaction://hlinksldjump"/>
              </a:rPr>
              <a:t>帧的滑动窗口协议 </a:t>
            </a:r>
            <a:endParaRPr lang="zh-CN" altLang="en-US" dirty="0"/>
          </a:p>
          <a:p>
            <a:pPr>
              <a:lnSpc>
                <a:spcPct val="125000"/>
              </a:lnSpc>
            </a:pPr>
            <a:r>
              <a:rPr lang="zh-CN" altLang="en-US" dirty="0">
                <a:hlinkClick r:id="rId9" action="ppaction://hlinksldjump"/>
              </a:rPr>
              <a:t>使用选择重发的滑动窗口协议 </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Rectangle 2"/>
          <p:cNvSpPr>
            <a:spLocks noGrp="1" noChangeArrowheads="1"/>
          </p:cNvSpPr>
          <p:nvPr>
            <p:ph type="title"/>
          </p:nvPr>
        </p:nvSpPr>
        <p:spPr/>
        <p:txBody>
          <a:bodyPr/>
          <a:lstStyle/>
          <a:p>
            <a:r>
              <a:rPr lang="zh-CN" altLang="en-US"/>
              <a:t>简化的通信模型</a:t>
            </a:r>
          </a:p>
        </p:txBody>
      </p:sp>
      <p:sp>
        <p:nvSpPr>
          <p:cNvPr id="633859" name="Rectangle 3"/>
          <p:cNvSpPr>
            <a:spLocks noGrp="1" noChangeArrowheads="1"/>
          </p:cNvSpPr>
          <p:nvPr>
            <p:ph type="body" idx="1"/>
          </p:nvPr>
        </p:nvSpPr>
        <p:spPr>
          <a:xfrm>
            <a:off x="755650" y="1700213"/>
            <a:ext cx="7958138" cy="1728787"/>
          </a:xfrm>
        </p:spPr>
        <p:txBody>
          <a:bodyPr/>
          <a:lstStyle/>
          <a:p>
            <a:r>
              <a:rPr lang="zh-CN" altLang="en-US" sz="2000" dirty="0"/>
              <a:t>假设物理层、数据链路层和网络层都是</a:t>
            </a:r>
            <a:r>
              <a:rPr lang="zh-CN" altLang="en-US" sz="2000" dirty="0">
                <a:solidFill>
                  <a:schemeClr val="tx1"/>
                </a:solidFill>
              </a:rPr>
              <a:t>独立的进程</a:t>
            </a:r>
            <a:r>
              <a:rPr lang="zh-CN" altLang="en-US" sz="2000" dirty="0"/>
              <a:t>；</a:t>
            </a:r>
            <a:endParaRPr lang="en-US" altLang="zh-CN" sz="2000" dirty="0"/>
          </a:p>
          <a:p>
            <a:r>
              <a:rPr lang="zh-CN" altLang="en-US" sz="2000" dirty="0"/>
              <a:t>假设主机</a:t>
            </a:r>
            <a:r>
              <a:rPr lang="en-US" altLang="zh-CN" sz="2000" dirty="0" smtClean="0"/>
              <a:t>A</a:t>
            </a:r>
            <a:r>
              <a:rPr lang="zh-CN" altLang="en-US" sz="2000" dirty="0" smtClean="0"/>
              <a:t>和主机</a:t>
            </a:r>
            <a:r>
              <a:rPr lang="en-US" altLang="zh-CN" sz="2000" dirty="0" smtClean="0"/>
              <a:t>B</a:t>
            </a:r>
            <a:r>
              <a:rPr lang="zh-CN" altLang="en-US" sz="2000" dirty="0" smtClean="0"/>
              <a:t>通过一</a:t>
            </a:r>
            <a:r>
              <a:rPr lang="zh-CN" altLang="en-US" sz="2000" dirty="0"/>
              <a:t>个可靠的、面向连接的</a:t>
            </a:r>
            <a:r>
              <a:rPr lang="zh-CN" altLang="en-US" sz="2000" dirty="0" smtClean="0"/>
              <a:t>服务互相发送数据流（</a:t>
            </a:r>
            <a:r>
              <a:rPr lang="zh-CN" altLang="en-US" sz="2000" dirty="0" smtClean="0">
                <a:solidFill>
                  <a:srgbClr val="FF0000"/>
                </a:solidFill>
              </a:rPr>
              <a:t>全双工</a:t>
            </a:r>
            <a:r>
              <a:rPr lang="zh-CN" altLang="en-US" sz="2000" dirty="0"/>
              <a:t>）；且准备发送的</a:t>
            </a:r>
            <a:r>
              <a:rPr lang="zh-CN" altLang="en-US" sz="2000" dirty="0" smtClean="0"/>
              <a:t>数据</a:t>
            </a:r>
            <a:r>
              <a:rPr lang="zh-CN" altLang="en-US" sz="2000" dirty="0" smtClean="0">
                <a:solidFill>
                  <a:srgbClr val="FF0000"/>
                </a:solidFill>
              </a:rPr>
              <a:t>不是</a:t>
            </a:r>
            <a:r>
              <a:rPr lang="zh-CN" altLang="en-US" sz="2000" dirty="0">
                <a:solidFill>
                  <a:srgbClr val="FF0000"/>
                </a:solidFill>
              </a:rPr>
              <a:t>无限</a:t>
            </a:r>
            <a:r>
              <a:rPr lang="zh-CN" altLang="en-US" sz="2000" dirty="0"/>
              <a:t>的；</a:t>
            </a:r>
          </a:p>
          <a:p>
            <a:r>
              <a:rPr lang="zh-CN" altLang="en-US" sz="2000" dirty="0"/>
              <a:t>假设主机不会崩溃；</a:t>
            </a:r>
          </a:p>
          <a:p>
            <a:r>
              <a:rPr lang="zh-CN" altLang="en-US" sz="2000" dirty="0"/>
              <a:t>硬件计算帧校验和</a:t>
            </a:r>
            <a:r>
              <a:rPr lang="zh-CN" altLang="en-US" sz="2000" dirty="0" smtClean="0"/>
              <a:t>。</a:t>
            </a:r>
            <a:endParaRPr lang="zh-CN" altLang="en-US" sz="2000" dirty="0"/>
          </a:p>
        </p:txBody>
      </p:sp>
      <p:sp>
        <p:nvSpPr>
          <p:cNvPr id="633861" name="Line 5"/>
          <p:cNvSpPr>
            <a:spLocks noChangeShapeType="1"/>
          </p:cNvSpPr>
          <p:nvPr/>
        </p:nvSpPr>
        <p:spPr bwMode="auto">
          <a:xfrm>
            <a:off x="8053388" y="4730750"/>
            <a:ext cx="0" cy="500063"/>
          </a:xfrm>
          <a:prstGeom prst="line">
            <a:avLst/>
          </a:prstGeom>
          <a:noFill/>
          <a:ln w="28575">
            <a:solidFill>
              <a:schemeClr val="tx2"/>
            </a:solidFill>
            <a:round/>
            <a:headEnd type="triangle" w="sm" len="med"/>
            <a:tailEnd type="non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863" name="Rectangle 7"/>
          <p:cNvSpPr>
            <a:spLocks noChangeArrowheads="1"/>
          </p:cNvSpPr>
          <p:nvPr/>
        </p:nvSpPr>
        <p:spPr bwMode="auto">
          <a:xfrm>
            <a:off x="763588" y="3479800"/>
            <a:ext cx="1831975" cy="2513013"/>
          </a:xfrm>
          <a:prstGeom prst="rect">
            <a:avLst/>
          </a:prstGeom>
          <a:solidFill>
            <a:srgbClr val="FFFF66"/>
          </a:solidFill>
          <a:ln w="12700">
            <a:solidFill>
              <a:schemeClr val="tx1"/>
            </a:solidFill>
            <a:miter lim="800000"/>
            <a:headEnd/>
            <a:tailEnd/>
          </a:ln>
          <a:effectLst>
            <a:outerShdw dist="53882" dir="2700000" algn="ctr" rotWithShape="0">
              <a:srgbClr val="00002E"/>
            </a:outerShdw>
          </a:effectLst>
        </p:spPr>
        <p:txBody>
          <a:bodyPr wrap="none" anchor="ctr"/>
          <a:lstStyle/>
          <a:p>
            <a:endParaRPr lang="zh-CN" altLang="en-US">
              <a:latin typeface="+mn-lt"/>
              <a:ea typeface="+mn-ea"/>
            </a:endParaRPr>
          </a:p>
        </p:txBody>
      </p:sp>
      <p:sp>
        <p:nvSpPr>
          <p:cNvPr id="633864" name="Rectangle 8"/>
          <p:cNvSpPr>
            <a:spLocks noChangeArrowheads="1"/>
          </p:cNvSpPr>
          <p:nvPr/>
        </p:nvSpPr>
        <p:spPr bwMode="auto">
          <a:xfrm>
            <a:off x="763588" y="3479800"/>
            <a:ext cx="439224" cy="8745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85000"/>
              </a:lnSpc>
              <a:buClrTx/>
              <a:buFontTx/>
              <a:buNone/>
            </a:pPr>
            <a:r>
              <a:rPr lang="zh-CN" altLang="en-US" sz="2000" b="1">
                <a:solidFill>
                  <a:srgbClr val="080808"/>
                </a:solidFill>
                <a:latin typeface="+mn-lt"/>
                <a:ea typeface="+mn-ea"/>
              </a:rPr>
              <a:t>主</a:t>
            </a:r>
          </a:p>
          <a:p>
            <a:pPr eaLnBrk="0" hangingPunct="0">
              <a:lnSpc>
                <a:spcPct val="85000"/>
              </a:lnSpc>
              <a:buClrTx/>
              <a:buFontTx/>
              <a:buNone/>
            </a:pPr>
            <a:r>
              <a:rPr lang="zh-CN" altLang="en-US" sz="2000" b="1">
                <a:solidFill>
                  <a:srgbClr val="080808"/>
                </a:solidFill>
                <a:latin typeface="+mn-lt"/>
                <a:ea typeface="+mn-ea"/>
              </a:rPr>
              <a:t>机</a:t>
            </a:r>
          </a:p>
          <a:p>
            <a:pPr eaLnBrk="0" hangingPunct="0">
              <a:lnSpc>
                <a:spcPct val="85000"/>
              </a:lnSpc>
              <a:buClrTx/>
              <a:buFontTx/>
              <a:buNone/>
            </a:pPr>
            <a:r>
              <a:rPr lang="zh-CN" altLang="en-US" sz="2000" b="1">
                <a:solidFill>
                  <a:srgbClr val="080808"/>
                </a:solidFill>
                <a:latin typeface="+mn-lt"/>
                <a:ea typeface="+mn-ea"/>
              </a:rPr>
              <a:t> </a:t>
            </a:r>
            <a:r>
              <a:rPr lang="en-US" altLang="zh-CN" sz="2000" b="1">
                <a:solidFill>
                  <a:srgbClr val="080808"/>
                </a:solidFill>
                <a:latin typeface="+mn-lt"/>
                <a:ea typeface="+mn-ea"/>
              </a:rPr>
              <a:t>A</a:t>
            </a:r>
          </a:p>
        </p:txBody>
      </p:sp>
      <p:sp>
        <p:nvSpPr>
          <p:cNvPr id="633865" name="Line 9"/>
          <p:cNvSpPr>
            <a:spLocks noChangeShapeType="1"/>
          </p:cNvSpPr>
          <p:nvPr/>
        </p:nvSpPr>
        <p:spPr bwMode="auto">
          <a:xfrm>
            <a:off x="768350" y="4703763"/>
            <a:ext cx="1795463" cy="1587"/>
          </a:xfrm>
          <a:prstGeom prst="line">
            <a:avLst/>
          </a:prstGeom>
          <a:noFill/>
          <a:ln w="12700">
            <a:solidFill>
              <a:srgbClr val="080808"/>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33866" name="Rectangle 10"/>
          <p:cNvSpPr>
            <a:spLocks noChangeArrowheads="1"/>
          </p:cNvSpPr>
          <p:nvPr/>
        </p:nvSpPr>
        <p:spPr bwMode="auto">
          <a:xfrm>
            <a:off x="925513" y="4943475"/>
            <a:ext cx="1579562" cy="457200"/>
          </a:xfrm>
          <a:prstGeom prst="rect">
            <a:avLst/>
          </a:prstGeom>
          <a:solidFill>
            <a:srgbClr val="00FFCC"/>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solidFill>
                  <a:srgbClr val="080808"/>
                </a:solidFill>
                <a:latin typeface="+mn-lt"/>
                <a:ea typeface="+mn-ea"/>
              </a:rPr>
              <a:t>缓存</a:t>
            </a:r>
          </a:p>
        </p:txBody>
      </p:sp>
      <p:sp>
        <p:nvSpPr>
          <p:cNvPr id="633867" name="Rectangle 11"/>
          <p:cNvSpPr>
            <a:spLocks noChangeArrowheads="1"/>
          </p:cNvSpPr>
          <p:nvPr/>
        </p:nvSpPr>
        <p:spPr bwMode="auto">
          <a:xfrm>
            <a:off x="5508625" y="3502025"/>
            <a:ext cx="1830388" cy="2513013"/>
          </a:xfrm>
          <a:prstGeom prst="rect">
            <a:avLst/>
          </a:prstGeom>
          <a:solidFill>
            <a:srgbClr val="FFFF66"/>
          </a:solidFill>
          <a:ln w="12700">
            <a:solidFill>
              <a:schemeClr val="tx1"/>
            </a:solidFill>
            <a:miter lim="800000"/>
            <a:headEnd/>
            <a:tailEnd/>
          </a:ln>
          <a:effectLst>
            <a:outerShdw dist="53882" dir="2700000" algn="ctr" rotWithShape="0">
              <a:srgbClr val="00002E"/>
            </a:outerShdw>
          </a:effectLst>
        </p:spPr>
        <p:txBody>
          <a:bodyPr wrap="none" anchor="ctr"/>
          <a:lstStyle/>
          <a:p>
            <a:endParaRPr lang="zh-CN" altLang="en-US">
              <a:latin typeface="+mn-lt"/>
              <a:ea typeface="+mn-ea"/>
            </a:endParaRPr>
          </a:p>
        </p:txBody>
      </p:sp>
      <p:sp>
        <p:nvSpPr>
          <p:cNvPr id="633868" name="Rectangle 12"/>
          <p:cNvSpPr>
            <a:spLocks noChangeArrowheads="1"/>
          </p:cNvSpPr>
          <p:nvPr/>
        </p:nvSpPr>
        <p:spPr bwMode="auto">
          <a:xfrm>
            <a:off x="6829425" y="3502025"/>
            <a:ext cx="439224" cy="8745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85000"/>
              </a:lnSpc>
              <a:buClrTx/>
              <a:buFontTx/>
              <a:buNone/>
            </a:pPr>
            <a:r>
              <a:rPr lang="zh-CN" altLang="en-US" sz="2000" b="1">
                <a:solidFill>
                  <a:srgbClr val="080808"/>
                </a:solidFill>
                <a:latin typeface="+mn-lt"/>
                <a:ea typeface="+mn-ea"/>
              </a:rPr>
              <a:t>主</a:t>
            </a:r>
          </a:p>
          <a:p>
            <a:pPr eaLnBrk="0" hangingPunct="0">
              <a:lnSpc>
                <a:spcPct val="85000"/>
              </a:lnSpc>
              <a:buClrTx/>
              <a:buFontTx/>
              <a:buNone/>
            </a:pPr>
            <a:r>
              <a:rPr lang="zh-CN" altLang="en-US" sz="2000" b="1">
                <a:solidFill>
                  <a:srgbClr val="080808"/>
                </a:solidFill>
                <a:latin typeface="+mn-lt"/>
                <a:ea typeface="+mn-ea"/>
              </a:rPr>
              <a:t>机</a:t>
            </a:r>
          </a:p>
          <a:p>
            <a:pPr eaLnBrk="0" hangingPunct="0">
              <a:lnSpc>
                <a:spcPct val="85000"/>
              </a:lnSpc>
              <a:buClrTx/>
              <a:buFontTx/>
              <a:buNone/>
            </a:pPr>
            <a:r>
              <a:rPr lang="zh-CN" altLang="en-US" sz="2000" b="1">
                <a:solidFill>
                  <a:srgbClr val="080808"/>
                </a:solidFill>
                <a:latin typeface="+mn-lt"/>
                <a:ea typeface="+mn-ea"/>
              </a:rPr>
              <a:t> </a:t>
            </a:r>
            <a:r>
              <a:rPr lang="en-US" altLang="zh-CN" sz="2000" b="1">
                <a:solidFill>
                  <a:srgbClr val="080808"/>
                </a:solidFill>
                <a:latin typeface="+mn-lt"/>
                <a:ea typeface="+mn-ea"/>
              </a:rPr>
              <a:t>B</a:t>
            </a:r>
          </a:p>
        </p:txBody>
      </p:sp>
      <p:sp>
        <p:nvSpPr>
          <p:cNvPr id="633869" name="Line 13"/>
          <p:cNvSpPr>
            <a:spLocks noChangeShapeType="1"/>
          </p:cNvSpPr>
          <p:nvPr/>
        </p:nvSpPr>
        <p:spPr bwMode="auto">
          <a:xfrm flipV="1">
            <a:off x="5502275" y="4727575"/>
            <a:ext cx="1831975" cy="11113"/>
          </a:xfrm>
          <a:prstGeom prst="line">
            <a:avLst/>
          </a:prstGeom>
          <a:noFill/>
          <a:ln w="12700">
            <a:solidFill>
              <a:srgbClr val="080808"/>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33870" name="Rectangle 14"/>
          <p:cNvSpPr>
            <a:spLocks noChangeArrowheads="1"/>
          </p:cNvSpPr>
          <p:nvPr/>
        </p:nvSpPr>
        <p:spPr bwMode="auto">
          <a:xfrm>
            <a:off x="3444875" y="5878513"/>
            <a:ext cx="1203325"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数据链路</a:t>
            </a:r>
          </a:p>
        </p:txBody>
      </p:sp>
      <p:sp>
        <p:nvSpPr>
          <p:cNvPr id="633871" name="Freeform 15"/>
          <p:cNvSpPr>
            <a:spLocks/>
          </p:cNvSpPr>
          <p:nvPr/>
        </p:nvSpPr>
        <p:spPr bwMode="auto">
          <a:xfrm>
            <a:off x="1717675" y="5437188"/>
            <a:ext cx="4713288" cy="404812"/>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57150" cap="flat" cmpd="sng">
            <a:solidFill>
              <a:srgbClr val="FF0000"/>
            </a:solidFill>
            <a:prstDash val="sysDot"/>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33872" name="Group 16"/>
          <p:cNvGrpSpPr>
            <a:grpSpLocks/>
          </p:cNvGrpSpPr>
          <p:nvPr/>
        </p:nvGrpSpPr>
        <p:grpSpPr bwMode="auto">
          <a:xfrm>
            <a:off x="1581150" y="5078413"/>
            <a:ext cx="309563" cy="173037"/>
            <a:chOff x="2544" y="864"/>
            <a:chExt cx="192" cy="96"/>
          </a:xfrm>
        </p:grpSpPr>
        <p:sp>
          <p:nvSpPr>
            <p:cNvPr id="633873" name="Rectangle 17"/>
            <p:cNvSpPr>
              <a:spLocks noChangeArrowheads="1"/>
            </p:cNvSpPr>
            <p:nvPr/>
          </p:nvSpPr>
          <p:spPr bwMode="auto">
            <a:xfrm>
              <a:off x="2544" y="864"/>
              <a:ext cx="192" cy="96"/>
            </a:xfrm>
            <a:prstGeom prst="rect">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33874" name="Line 18"/>
            <p:cNvSpPr>
              <a:spLocks noChangeShapeType="1"/>
            </p:cNvSpPr>
            <p:nvPr/>
          </p:nvSpPr>
          <p:spPr bwMode="auto">
            <a:xfrm>
              <a:off x="2592"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875" name="Line 19"/>
            <p:cNvSpPr>
              <a:spLocks noChangeShapeType="1"/>
            </p:cNvSpPr>
            <p:nvPr/>
          </p:nvSpPr>
          <p:spPr bwMode="auto">
            <a:xfrm>
              <a:off x="2640"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876" name="Line 20"/>
            <p:cNvSpPr>
              <a:spLocks noChangeShapeType="1"/>
            </p:cNvSpPr>
            <p:nvPr/>
          </p:nvSpPr>
          <p:spPr bwMode="auto">
            <a:xfrm>
              <a:off x="2688"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633877" name="Group 21"/>
          <p:cNvGrpSpPr>
            <a:grpSpLocks/>
          </p:cNvGrpSpPr>
          <p:nvPr/>
        </p:nvGrpSpPr>
        <p:grpSpPr bwMode="auto">
          <a:xfrm>
            <a:off x="1843088" y="4432300"/>
            <a:ext cx="307975" cy="173038"/>
            <a:chOff x="2544" y="864"/>
            <a:chExt cx="192" cy="96"/>
          </a:xfrm>
        </p:grpSpPr>
        <p:sp>
          <p:nvSpPr>
            <p:cNvPr id="633878" name="Rectangle 22"/>
            <p:cNvSpPr>
              <a:spLocks noChangeArrowheads="1"/>
            </p:cNvSpPr>
            <p:nvPr/>
          </p:nvSpPr>
          <p:spPr bwMode="auto">
            <a:xfrm>
              <a:off x="2544" y="864"/>
              <a:ext cx="192" cy="96"/>
            </a:xfrm>
            <a:prstGeom prst="rect">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33879" name="Line 23"/>
            <p:cNvSpPr>
              <a:spLocks noChangeShapeType="1"/>
            </p:cNvSpPr>
            <p:nvPr/>
          </p:nvSpPr>
          <p:spPr bwMode="auto">
            <a:xfrm>
              <a:off x="2592"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880" name="Line 24"/>
            <p:cNvSpPr>
              <a:spLocks noChangeShapeType="1"/>
            </p:cNvSpPr>
            <p:nvPr/>
          </p:nvSpPr>
          <p:spPr bwMode="auto">
            <a:xfrm>
              <a:off x="2640"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881" name="Line 25"/>
            <p:cNvSpPr>
              <a:spLocks noChangeShapeType="1"/>
            </p:cNvSpPr>
            <p:nvPr/>
          </p:nvSpPr>
          <p:spPr bwMode="auto">
            <a:xfrm>
              <a:off x="2688"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633882" name="Group 26"/>
          <p:cNvGrpSpPr>
            <a:grpSpLocks/>
          </p:cNvGrpSpPr>
          <p:nvPr/>
        </p:nvGrpSpPr>
        <p:grpSpPr bwMode="auto">
          <a:xfrm>
            <a:off x="6045200" y="4454525"/>
            <a:ext cx="309563" cy="173038"/>
            <a:chOff x="2544" y="864"/>
            <a:chExt cx="192" cy="96"/>
          </a:xfrm>
        </p:grpSpPr>
        <p:sp>
          <p:nvSpPr>
            <p:cNvPr id="633883" name="Rectangle 27"/>
            <p:cNvSpPr>
              <a:spLocks noChangeArrowheads="1"/>
            </p:cNvSpPr>
            <p:nvPr/>
          </p:nvSpPr>
          <p:spPr bwMode="auto">
            <a:xfrm>
              <a:off x="2544" y="864"/>
              <a:ext cx="192" cy="96"/>
            </a:xfrm>
            <a:prstGeom prst="rect">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33884" name="Line 28"/>
            <p:cNvSpPr>
              <a:spLocks noChangeShapeType="1"/>
            </p:cNvSpPr>
            <p:nvPr/>
          </p:nvSpPr>
          <p:spPr bwMode="auto">
            <a:xfrm>
              <a:off x="2592"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885" name="Line 29"/>
            <p:cNvSpPr>
              <a:spLocks noChangeShapeType="1"/>
            </p:cNvSpPr>
            <p:nvPr/>
          </p:nvSpPr>
          <p:spPr bwMode="auto">
            <a:xfrm>
              <a:off x="2640"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886" name="Line 30"/>
            <p:cNvSpPr>
              <a:spLocks noChangeShapeType="1"/>
            </p:cNvSpPr>
            <p:nvPr/>
          </p:nvSpPr>
          <p:spPr bwMode="auto">
            <a:xfrm>
              <a:off x="2688" y="864"/>
              <a:ext cx="0" cy="96"/>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633887" name="Group 31"/>
          <p:cNvGrpSpPr>
            <a:grpSpLocks/>
          </p:cNvGrpSpPr>
          <p:nvPr/>
        </p:nvGrpSpPr>
        <p:grpSpPr bwMode="auto">
          <a:xfrm>
            <a:off x="2871788" y="5591175"/>
            <a:ext cx="896937" cy="173038"/>
            <a:chOff x="1565" y="1570"/>
            <a:chExt cx="482" cy="72"/>
          </a:xfrm>
        </p:grpSpPr>
        <p:sp>
          <p:nvSpPr>
            <p:cNvPr id="633888" name="Rectangle 32"/>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33889" name="Group 33"/>
            <p:cNvGrpSpPr>
              <a:grpSpLocks/>
            </p:cNvGrpSpPr>
            <p:nvPr/>
          </p:nvGrpSpPr>
          <p:grpSpPr bwMode="auto">
            <a:xfrm>
              <a:off x="1656" y="1570"/>
              <a:ext cx="166" cy="72"/>
              <a:chOff x="2544" y="864"/>
              <a:chExt cx="192" cy="96"/>
            </a:xfrm>
          </p:grpSpPr>
          <p:sp>
            <p:nvSpPr>
              <p:cNvPr id="633890" name="Rectangle 34"/>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33891" name="Line 35"/>
              <p:cNvSpPr>
                <a:spLocks noChangeShapeType="1"/>
              </p:cNvSpPr>
              <p:nvPr/>
            </p:nvSpPr>
            <p:spPr bwMode="auto">
              <a:xfrm>
                <a:off x="2592"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892" name="Line 36"/>
              <p:cNvSpPr>
                <a:spLocks noChangeShapeType="1"/>
              </p:cNvSpPr>
              <p:nvPr/>
            </p:nvSpPr>
            <p:spPr bwMode="auto">
              <a:xfrm>
                <a:off x="2640"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893" name="Line 37"/>
              <p:cNvSpPr>
                <a:spLocks noChangeShapeType="1"/>
              </p:cNvSpPr>
              <p:nvPr/>
            </p:nvSpPr>
            <p:spPr bwMode="auto">
              <a:xfrm>
                <a:off x="2688"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633894" name="AutoShape 38"/>
            <p:cNvSpPr>
              <a:spLocks noChangeArrowheads="1"/>
            </p:cNvSpPr>
            <p:nvPr/>
          </p:nvSpPr>
          <p:spPr bwMode="auto">
            <a:xfrm rot="-5400000">
              <a:off x="1965" y="1557"/>
              <a:ext cx="67" cy="96"/>
            </a:xfrm>
            <a:prstGeom prst="downArrow">
              <a:avLst>
                <a:gd name="adj1" fmla="val 50000"/>
                <a:gd name="adj2" fmla="val 35821"/>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mn-lt"/>
                <a:ea typeface="+mn-ea"/>
              </a:endParaRPr>
            </a:p>
          </p:txBody>
        </p:sp>
      </p:grpSp>
      <p:sp>
        <p:nvSpPr>
          <p:cNvPr id="633895" name="Oval 39"/>
          <p:cNvSpPr>
            <a:spLocks noChangeArrowheads="1"/>
          </p:cNvSpPr>
          <p:nvPr/>
        </p:nvSpPr>
        <p:spPr bwMode="auto">
          <a:xfrm>
            <a:off x="6156325" y="3573463"/>
            <a:ext cx="568325" cy="571500"/>
          </a:xfrm>
          <a:prstGeom prst="ellipse">
            <a:avLst/>
          </a:prstGeom>
          <a:solidFill>
            <a:srgbClr val="CCECFF"/>
          </a:solidFill>
          <a:ln w="12700">
            <a:solidFill>
              <a:schemeClr val="tx1"/>
            </a:solidFill>
            <a:round/>
            <a:headEnd/>
            <a:tailEnd/>
          </a:ln>
          <a:effectLst>
            <a:outerShdw dist="35921" dir="2700000" algn="ctr" rotWithShape="0">
              <a:schemeClr val="bg2"/>
            </a:outerShdw>
          </a:effectLst>
        </p:spPr>
        <p:txBody>
          <a:bodyPr wrap="none"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sz="2000" b="1">
                <a:solidFill>
                  <a:srgbClr val="080808"/>
                </a:solidFill>
                <a:latin typeface="+mn-lt"/>
                <a:ea typeface="+mn-ea"/>
              </a:rPr>
              <a:t>AP</a:t>
            </a:r>
            <a:r>
              <a:rPr lang="en-US" altLang="zh-CN" sz="2000" b="1" baseline="-25000">
                <a:solidFill>
                  <a:srgbClr val="080808"/>
                </a:solidFill>
                <a:latin typeface="+mn-lt"/>
                <a:ea typeface="+mn-ea"/>
              </a:rPr>
              <a:t>2</a:t>
            </a:r>
          </a:p>
        </p:txBody>
      </p:sp>
      <p:sp>
        <p:nvSpPr>
          <p:cNvPr id="633896" name="AutoShape 40"/>
          <p:cNvSpPr>
            <a:spLocks noChangeArrowheads="1"/>
          </p:cNvSpPr>
          <p:nvPr/>
        </p:nvSpPr>
        <p:spPr bwMode="auto">
          <a:xfrm>
            <a:off x="1633538" y="4171950"/>
            <a:ext cx="153987" cy="782638"/>
          </a:xfrm>
          <a:prstGeom prst="upDownArrow">
            <a:avLst>
              <a:gd name="adj1" fmla="val 50000"/>
              <a:gd name="adj2" fmla="val 101650"/>
            </a:avLst>
          </a:prstGeom>
          <a:solidFill>
            <a:srgbClr val="FF0000"/>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mn-lt"/>
              <a:ea typeface="+mn-ea"/>
            </a:endParaRPr>
          </a:p>
        </p:txBody>
      </p:sp>
      <p:sp>
        <p:nvSpPr>
          <p:cNvPr id="633897" name="Oval 41"/>
          <p:cNvSpPr>
            <a:spLocks noChangeArrowheads="1"/>
          </p:cNvSpPr>
          <p:nvPr/>
        </p:nvSpPr>
        <p:spPr bwMode="auto">
          <a:xfrm>
            <a:off x="1403350" y="3573463"/>
            <a:ext cx="566738" cy="571500"/>
          </a:xfrm>
          <a:prstGeom prst="ellipse">
            <a:avLst/>
          </a:prstGeom>
          <a:solidFill>
            <a:srgbClr val="CCECFF"/>
          </a:solidFill>
          <a:ln w="12700">
            <a:solidFill>
              <a:schemeClr val="tx1"/>
            </a:solidFill>
            <a:round/>
            <a:headEnd/>
            <a:tailEnd/>
          </a:ln>
          <a:effectLst>
            <a:outerShdw dist="35921" dir="2700000" algn="ctr" rotWithShape="0">
              <a:schemeClr val="bg2"/>
            </a:outerShdw>
          </a:effectLst>
        </p:spPr>
        <p:txBody>
          <a:bodyPr wrap="none"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sz="2000" b="1">
                <a:solidFill>
                  <a:srgbClr val="080808"/>
                </a:solidFill>
                <a:latin typeface="+mn-lt"/>
                <a:ea typeface="+mn-ea"/>
              </a:rPr>
              <a:t>AP</a:t>
            </a:r>
            <a:r>
              <a:rPr lang="en-US" altLang="zh-CN" sz="2000" b="1" baseline="-25000">
                <a:solidFill>
                  <a:srgbClr val="080808"/>
                </a:solidFill>
                <a:latin typeface="+mn-lt"/>
                <a:ea typeface="+mn-ea"/>
              </a:rPr>
              <a:t>1</a:t>
            </a:r>
          </a:p>
        </p:txBody>
      </p:sp>
      <p:sp>
        <p:nvSpPr>
          <p:cNvPr id="633898" name="AutoShape 42"/>
          <p:cNvSpPr>
            <a:spLocks noChangeArrowheads="1"/>
          </p:cNvSpPr>
          <p:nvPr/>
        </p:nvSpPr>
        <p:spPr bwMode="auto">
          <a:xfrm flipV="1">
            <a:off x="6378575" y="4194175"/>
            <a:ext cx="153988" cy="782638"/>
          </a:xfrm>
          <a:prstGeom prst="upDownArrow">
            <a:avLst>
              <a:gd name="adj1" fmla="val 50000"/>
              <a:gd name="adj2" fmla="val 101649"/>
            </a:avLst>
          </a:prstGeom>
          <a:solidFill>
            <a:srgbClr val="FF0000"/>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mn-lt"/>
              <a:ea typeface="+mn-ea"/>
            </a:endParaRPr>
          </a:p>
        </p:txBody>
      </p:sp>
      <p:sp>
        <p:nvSpPr>
          <p:cNvPr id="633899" name="Rectangle 43"/>
          <p:cNvSpPr>
            <a:spLocks noChangeArrowheads="1"/>
          </p:cNvSpPr>
          <p:nvPr/>
        </p:nvSpPr>
        <p:spPr bwMode="auto">
          <a:xfrm>
            <a:off x="5670550" y="4965700"/>
            <a:ext cx="1579563" cy="466725"/>
          </a:xfrm>
          <a:prstGeom prst="rect">
            <a:avLst/>
          </a:prstGeom>
          <a:solidFill>
            <a:srgbClr val="00FFCC"/>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r" eaLnBrk="0" hangingPunct="0">
              <a:buClrTx/>
              <a:buFontTx/>
              <a:buNone/>
            </a:pPr>
            <a:r>
              <a:rPr lang="zh-CN" altLang="en-US" sz="2000" b="1">
                <a:solidFill>
                  <a:srgbClr val="080808"/>
                </a:solidFill>
                <a:latin typeface="+mn-lt"/>
                <a:ea typeface="+mn-ea"/>
              </a:rPr>
              <a:t>缓存</a:t>
            </a:r>
          </a:p>
        </p:txBody>
      </p:sp>
      <p:grpSp>
        <p:nvGrpSpPr>
          <p:cNvPr id="633900" name="Group 44"/>
          <p:cNvGrpSpPr>
            <a:grpSpLocks/>
          </p:cNvGrpSpPr>
          <p:nvPr/>
        </p:nvGrpSpPr>
        <p:grpSpPr bwMode="auto">
          <a:xfrm>
            <a:off x="6278563" y="5122863"/>
            <a:ext cx="306387" cy="173037"/>
            <a:chOff x="2544" y="864"/>
            <a:chExt cx="192" cy="96"/>
          </a:xfrm>
        </p:grpSpPr>
        <p:sp>
          <p:nvSpPr>
            <p:cNvPr id="633901" name="Rectangle 45"/>
            <p:cNvSpPr>
              <a:spLocks noChangeArrowheads="1"/>
            </p:cNvSpPr>
            <p:nvPr/>
          </p:nvSpPr>
          <p:spPr bwMode="auto">
            <a:xfrm>
              <a:off x="2544" y="864"/>
              <a:ext cx="192" cy="96"/>
            </a:xfrm>
            <a:prstGeom prst="rect">
              <a:avLst/>
            </a:prstGeom>
            <a:solidFill>
              <a:schemeClr val="bg1"/>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33902" name="Line 46"/>
            <p:cNvSpPr>
              <a:spLocks noChangeShapeType="1"/>
            </p:cNvSpPr>
            <p:nvPr/>
          </p:nvSpPr>
          <p:spPr bwMode="auto">
            <a:xfrm>
              <a:off x="2592"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03" name="Line 47"/>
            <p:cNvSpPr>
              <a:spLocks noChangeShapeType="1"/>
            </p:cNvSpPr>
            <p:nvPr/>
          </p:nvSpPr>
          <p:spPr bwMode="auto">
            <a:xfrm>
              <a:off x="2640"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04" name="Line 48"/>
            <p:cNvSpPr>
              <a:spLocks noChangeShapeType="1"/>
            </p:cNvSpPr>
            <p:nvPr/>
          </p:nvSpPr>
          <p:spPr bwMode="auto">
            <a:xfrm>
              <a:off x="2688"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633905" name="Rectangle 49"/>
          <p:cNvSpPr>
            <a:spLocks noChangeArrowheads="1"/>
          </p:cNvSpPr>
          <p:nvPr/>
        </p:nvSpPr>
        <p:spPr bwMode="auto">
          <a:xfrm>
            <a:off x="1258888" y="6021388"/>
            <a:ext cx="947737"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发送方</a:t>
            </a:r>
          </a:p>
        </p:txBody>
      </p:sp>
      <p:sp>
        <p:nvSpPr>
          <p:cNvPr id="633906" name="Rectangle 50"/>
          <p:cNvSpPr>
            <a:spLocks noChangeArrowheads="1"/>
          </p:cNvSpPr>
          <p:nvPr/>
        </p:nvSpPr>
        <p:spPr bwMode="auto">
          <a:xfrm>
            <a:off x="6011863" y="6021388"/>
            <a:ext cx="947737"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接收方</a:t>
            </a:r>
          </a:p>
        </p:txBody>
      </p:sp>
      <p:sp>
        <p:nvSpPr>
          <p:cNvPr id="633907" name="Rectangle 51"/>
          <p:cNvSpPr>
            <a:spLocks noChangeArrowheads="1"/>
          </p:cNvSpPr>
          <p:nvPr/>
        </p:nvSpPr>
        <p:spPr bwMode="auto">
          <a:xfrm>
            <a:off x="3013075" y="5086350"/>
            <a:ext cx="439224" cy="3975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帧</a:t>
            </a:r>
          </a:p>
        </p:txBody>
      </p:sp>
      <p:sp>
        <p:nvSpPr>
          <p:cNvPr id="633908" name="Line 52"/>
          <p:cNvSpPr>
            <a:spLocks noChangeShapeType="1"/>
          </p:cNvSpPr>
          <p:nvPr/>
        </p:nvSpPr>
        <p:spPr bwMode="auto">
          <a:xfrm>
            <a:off x="7461250" y="4743450"/>
            <a:ext cx="1250950" cy="0"/>
          </a:xfrm>
          <a:prstGeom prst="line">
            <a:avLst/>
          </a:prstGeom>
          <a:noFill/>
          <a:ln w="19050">
            <a:solidFill>
              <a:schemeClr val="tx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09" name="Line 53"/>
          <p:cNvSpPr>
            <a:spLocks noChangeShapeType="1"/>
          </p:cNvSpPr>
          <p:nvPr/>
        </p:nvSpPr>
        <p:spPr bwMode="auto">
          <a:xfrm>
            <a:off x="7445375" y="3530600"/>
            <a:ext cx="1250950" cy="0"/>
          </a:xfrm>
          <a:prstGeom prst="line">
            <a:avLst/>
          </a:prstGeom>
          <a:noFill/>
          <a:ln w="19050">
            <a:solidFill>
              <a:schemeClr val="tx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10" name="Line 54"/>
          <p:cNvSpPr>
            <a:spLocks noChangeShapeType="1"/>
          </p:cNvSpPr>
          <p:nvPr/>
        </p:nvSpPr>
        <p:spPr bwMode="auto">
          <a:xfrm>
            <a:off x="7445375" y="6030913"/>
            <a:ext cx="1250950" cy="0"/>
          </a:xfrm>
          <a:prstGeom prst="line">
            <a:avLst/>
          </a:prstGeom>
          <a:noFill/>
          <a:ln w="19050">
            <a:solidFill>
              <a:schemeClr val="tx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11" name="Line 55"/>
          <p:cNvSpPr>
            <a:spLocks noChangeShapeType="1"/>
          </p:cNvSpPr>
          <p:nvPr/>
        </p:nvSpPr>
        <p:spPr bwMode="auto">
          <a:xfrm>
            <a:off x="8053388" y="3530600"/>
            <a:ext cx="0" cy="476250"/>
          </a:xfrm>
          <a:prstGeom prst="line">
            <a:avLst/>
          </a:prstGeom>
          <a:noFill/>
          <a:ln w="28575">
            <a:solidFill>
              <a:schemeClr val="tx2"/>
            </a:solidFill>
            <a:round/>
            <a:headEnd type="triangle" w="sm" len="med"/>
            <a:tailEnd type="non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12" name="Rectangle 56"/>
          <p:cNvSpPr>
            <a:spLocks noChangeArrowheads="1"/>
          </p:cNvSpPr>
          <p:nvPr/>
        </p:nvSpPr>
        <p:spPr bwMode="auto">
          <a:xfrm>
            <a:off x="7766050" y="3935413"/>
            <a:ext cx="692150" cy="3937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高层</a:t>
            </a:r>
          </a:p>
        </p:txBody>
      </p:sp>
      <p:grpSp>
        <p:nvGrpSpPr>
          <p:cNvPr id="633913" name="Group 57"/>
          <p:cNvGrpSpPr>
            <a:grpSpLocks/>
          </p:cNvGrpSpPr>
          <p:nvPr/>
        </p:nvGrpSpPr>
        <p:grpSpPr bwMode="auto">
          <a:xfrm flipH="1">
            <a:off x="4303713" y="5575300"/>
            <a:ext cx="898525" cy="173038"/>
            <a:chOff x="1565" y="1570"/>
            <a:chExt cx="482" cy="72"/>
          </a:xfrm>
        </p:grpSpPr>
        <p:sp>
          <p:nvSpPr>
            <p:cNvPr id="633914" name="Rectangle 58"/>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33915" name="Group 59"/>
            <p:cNvGrpSpPr>
              <a:grpSpLocks/>
            </p:cNvGrpSpPr>
            <p:nvPr/>
          </p:nvGrpSpPr>
          <p:grpSpPr bwMode="auto">
            <a:xfrm>
              <a:off x="1656" y="1570"/>
              <a:ext cx="166" cy="72"/>
              <a:chOff x="2544" y="864"/>
              <a:chExt cx="192" cy="96"/>
            </a:xfrm>
          </p:grpSpPr>
          <p:sp>
            <p:nvSpPr>
              <p:cNvPr id="633916" name="Rectangle 60"/>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33917" name="Line 61"/>
              <p:cNvSpPr>
                <a:spLocks noChangeShapeType="1"/>
              </p:cNvSpPr>
              <p:nvPr/>
            </p:nvSpPr>
            <p:spPr bwMode="auto">
              <a:xfrm>
                <a:off x="2592"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18" name="Line 62"/>
              <p:cNvSpPr>
                <a:spLocks noChangeShapeType="1"/>
              </p:cNvSpPr>
              <p:nvPr/>
            </p:nvSpPr>
            <p:spPr bwMode="auto">
              <a:xfrm>
                <a:off x="2640"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19" name="Line 63"/>
              <p:cNvSpPr>
                <a:spLocks noChangeShapeType="1"/>
              </p:cNvSpPr>
              <p:nvPr/>
            </p:nvSpPr>
            <p:spPr bwMode="auto">
              <a:xfrm>
                <a:off x="2688" y="864"/>
                <a:ext cx="0" cy="96"/>
              </a:xfrm>
              <a:prstGeom prst="line">
                <a:avLst/>
              </a:prstGeom>
              <a:noFill/>
              <a:ln w="1270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633920" name="AutoShape 64"/>
            <p:cNvSpPr>
              <a:spLocks noChangeArrowheads="1"/>
            </p:cNvSpPr>
            <p:nvPr/>
          </p:nvSpPr>
          <p:spPr bwMode="auto">
            <a:xfrm rot="-5400000">
              <a:off x="1965" y="1557"/>
              <a:ext cx="67" cy="96"/>
            </a:xfrm>
            <a:prstGeom prst="downArrow">
              <a:avLst>
                <a:gd name="adj1" fmla="val 50000"/>
                <a:gd name="adj2" fmla="val 35821"/>
              </a:avLst>
            </a:prstGeom>
            <a:solidFill>
              <a:srgbClr val="FF99FF"/>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mn-lt"/>
                <a:ea typeface="+mn-ea"/>
              </a:endParaRPr>
            </a:p>
          </p:txBody>
        </p:sp>
      </p:grpSp>
      <p:sp>
        <p:nvSpPr>
          <p:cNvPr id="633921" name="Rectangle 65"/>
          <p:cNvSpPr>
            <a:spLocks noChangeArrowheads="1"/>
          </p:cNvSpPr>
          <p:nvPr/>
        </p:nvSpPr>
        <p:spPr bwMode="auto">
          <a:xfrm>
            <a:off x="4414838" y="5070475"/>
            <a:ext cx="439224" cy="3975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帧</a:t>
            </a:r>
          </a:p>
        </p:txBody>
      </p:sp>
      <p:sp>
        <p:nvSpPr>
          <p:cNvPr id="633922" name="Line 66"/>
          <p:cNvSpPr>
            <a:spLocks noChangeShapeType="1"/>
          </p:cNvSpPr>
          <p:nvPr/>
        </p:nvSpPr>
        <p:spPr bwMode="auto">
          <a:xfrm>
            <a:off x="8053388" y="4367213"/>
            <a:ext cx="0" cy="403225"/>
          </a:xfrm>
          <a:prstGeom prst="line">
            <a:avLst/>
          </a:prstGeom>
          <a:noFill/>
          <a:ln w="28575">
            <a:solidFill>
              <a:schemeClr val="tx2"/>
            </a:solidFill>
            <a:round/>
            <a:headEnd type="non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23" name="Line 67"/>
          <p:cNvSpPr>
            <a:spLocks noChangeShapeType="1"/>
          </p:cNvSpPr>
          <p:nvPr/>
        </p:nvSpPr>
        <p:spPr bwMode="auto">
          <a:xfrm>
            <a:off x="8053388" y="5518150"/>
            <a:ext cx="0" cy="500063"/>
          </a:xfrm>
          <a:prstGeom prst="line">
            <a:avLst/>
          </a:prstGeom>
          <a:noFill/>
          <a:ln w="28575">
            <a:solidFill>
              <a:schemeClr val="tx2"/>
            </a:solidFill>
            <a:round/>
            <a:headEnd type="none" w="sm" len="med"/>
            <a:tailEnd type="triangle" w="sm"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33924" name="Text Box 68"/>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633925" name="Text Box 69"/>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33926" name="Text Box 70"/>
          <p:cNvSpPr txBox="1">
            <a:spLocks noChangeArrowheads="1"/>
          </p:cNvSpPr>
          <p:nvPr/>
        </p:nvSpPr>
        <p:spPr bwMode="auto">
          <a:xfrm>
            <a:off x="7308850" y="5157788"/>
            <a:ext cx="1512888" cy="402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latin typeface="+mn-lt"/>
                <a:ea typeface="+mn-ea"/>
              </a:rPr>
              <a:t>数据链路层</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p:txBody>
          <a:bodyPr/>
          <a:lstStyle/>
          <a:p>
            <a:r>
              <a:rPr lang="zh-CN" altLang="en-US" dirty="0" smtClean="0"/>
              <a:t>全双工</a:t>
            </a:r>
            <a:r>
              <a:rPr lang="zh-CN" altLang="en-US" dirty="0"/>
              <a:t>的实现 </a:t>
            </a:r>
          </a:p>
        </p:txBody>
      </p:sp>
      <p:sp>
        <p:nvSpPr>
          <p:cNvPr id="653378" name="Text Box 6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653379" name="Text Box 6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53381" name="Rectangle 69"/>
          <p:cNvSpPr>
            <a:spLocks noGrp="1" noChangeArrowheads="1"/>
          </p:cNvSpPr>
          <p:nvPr>
            <p:ph type="body" idx="1"/>
          </p:nvPr>
        </p:nvSpPr>
        <p:spPr/>
        <p:txBody>
          <a:bodyPr/>
          <a:lstStyle/>
          <a:p>
            <a:pPr>
              <a:lnSpc>
                <a:spcPct val="110000"/>
              </a:lnSpc>
            </a:pPr>
            <a:r>
              <a:rPr lang="zh-CN" altLang="en-US" sz="2400" dirty="0">
                <a:solidFill>
                  <a:srgbClr val="FF0000"/>
                </a:solidFill>
              </a:rPr>
              <a:t>方法一 </a:t>
            </a:r>
          </a:p>
          <a:p>
            <a:pPr lvl="1">
              <a:lnSpc>
                <a:spcPct val="110000"/>
              </a:lnSpc>
            </a:pPr>
            <a:r>
              <a:rPr lang="zh-CN" altLang="en-US" sz="2400" dirty="0">
                <a:solidFill>
                  <a:srgbClr val="0000FF"/>
                </a:solidFill>
              </a:rPr>
              <a:t>思想</a:t>
            </a:r>
            <a:r>
              <a:rPr lang="zh-CN" altLang="en-US" sz="2400" dirty="0"/>
              <a:t>：使用两条独立的信道，每一信道分别用作单工数据传输 。</a:t>
            </a:r>
          </a:p>
          <a:p>
            <a:pPr lvl="1">
              <a:lnSpc>
                <a:spcPct val="110000"/>
              </a:lnSpc>
            </a:pPr>
            <a:r>
              <a:rPr lang="zh-CN" altLang="en-US" sz="2400" dirty="0">
                <a:solidFill>
                  <a:srgbClr val="0000FF"/>
                </a:solidFill>
              </a:rPr>
              <a:t>问题</a:t>
            </a:r>
            <a:r>
              <a:rPr lang="zh-CN" altLang="en-US" sz="2400" dirty="0"/>
              <a:t>：浪费严重</a:t>
            </a:r>
            <a:r>
              <a:rPr lang="zh-CN" altLang="en-US" sz="2400" dirty="0" smtClean="0"/>
              <a:t>。</a:t>
            </a:r>
            <a:endParaRPr lang="zh-CN" altLang="en-US" sz="2400" dirty="0"/>
          </a:p>
          <a:p>
            <a:pPr>
              <a:lnSpc>
                <a:spcPct val="110000"/>
              </a:lnSpc>
            </a:pPr>
            <a:endParaRPr lang="en-US" altLang="zh-CN" sz="2400" dirty="0" smtClean="0">
              <a:solidFill>
                <a:srgbClr val="FF0000"/>
              </a:solidFill>
            </a:endParaRPr>
          </a:p>
          <a:p>
            <a:pPr>
              <a:lnSpc>
                <a:spcPct val="110000"/>
              </a:lnSpc>
            </a:pPr>
            <a:r>
              <a:rPr lang="zh-CN" altLang="en-US" sz="2400" dirty="0" smtClean="0">
                <a:solidFill>
                  <a:srgbClr val="FF0000"/>
                </a:solidFill>
              </a:rPr>
              <a:t>方法</a:t>
            </a:r>
            <a:r>
              <a:rPr lang="zh-CN" altLang="en-US" sz="2400" dirty="0">
                <a:solidFill>
                  <a:srgbClr val="FF0000"/>
                </a:solidFill>
              </a:rPr>
              <a:t>二</a:t>
            </a:r>
          </a:p>
          <a:p>
            <a:pPr lvl="1">
              <a:lnSpc>
                <a:spcPct val="110000"/>
              </a:lnSpc>
            </a:pPr>
            <a:r>
              <a:rPr lang="zh-CN" altLang="en-US" sz="2400" dirty="0">
                <a:solidFill>
                  <a:srgbClr val="0000FF"/>
                </a:solidFill>
              </a:rPr>
              <a:t>思想</a:t>
            </a:r>
            <a:r>
              <a:rPr lang="zh-CN" altLang="en-US" sz="2400" dirty="0"/>
              <a:t>：使用同一条线路进行数据的双向传输，使用专门的确认帧 。</a:t>
            </a:r>
          </a:p>
          <a:p>
            <a:pPr lvl="1">
              <a:lnSpc>
                <a:spcPct val="110000"/>
              </a:lnSpc>
            </a:pPr>
            <a:r>
              <a:rPr lang="zh-CN" altLang="en-US" sz="2400" dirty="0">
                <a:solidFill>
                  <a:srgbClr val="0000FF"/>
                </a:solidFill>
              </a:rPr>
              <a:t>问题</a:t>
            </a:r>
            <a:r>
              <a:rPr lang="zh-CN" altLang="en-US" sz="2400" dirty="0"/>
              <a:t>：浪费严重。</a:t>
            </a:r>
          </a:p>
        </p:txBody>
      </p:sp>
      <p:pic>
        <p:nvPicPr>
          <p:cNvPr id="811010" name="Picture 2"/>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 xmlns:a14="http://schemas.microsoft.com/office/drawing/2010/main" val="0"/>
              </a:ext>
            </a:extLst>
          </a:blip>
          <a:srcRect/>
          <a:stretch>
            <a:fillRect/>
          </a:stretch>
        </p:blipFill>
        <p:spPr bwMode="auto">
          <a:xfrm>
            <a:off x="4514850" y="3068960"/>
            <a:ext cx="4210050" cy="1066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11011" name="Picture 3"/>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 xmlns:a14="http://schemas.microsoft.com/office/drawing/2010/main" val="0"/>
              </a:ext>
            </a:extLst>
          </a:blip>
          <a:srcRect/>
          <a:stretch>
            <a:fillRect/>
          </a:stretch>
        </p:blipFill>
        <p:spPr bwMode="auto">
          <a:xfrm>
            <a:off x="4514850" y="5301208"/>
            <a:ext cx="4210050" cy="9837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p:txBody>
          <a:bodyPr/>
          <a:lstStyle/>
          <a:p>
            <a:r>
              <a:rPr lang="zh-CN" altLang="en-US"/>
              <a:t>双工的实现 </a:t>
            </a:r>
          </a:p>
        </p:txBody>
      </p:sp>
      <p:sp>
        <p:nvSpPr>
          <p:cNvPr id="654339"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6543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54341" name="Rectangle 5"/>
          <p:cNvSpPr>
            <a:spLocks noGrp="1" noChangeArrowheads="1"/>
          </p:cNvSpPr>
          <p:nvPr>
            <p:ph type="body" idx="1"/>
          </p:nvPr>
        </p:nvSpPr>
        <p:spPr>
          <a:xfrm>
            <a:off x="809625" y="1773238"/>
            <a:ext cx="7958138" cy="4608512"/>
          </a:xfrm>
        </p:spPr>
        <p:txBody>
          <a:bodyPr/>
          <a:lstStyle/>
          <a:p>
            <a:pPr>
              <a:lnSpc>
                <a:spcPct val="120000"/>
              </a:lnSpc>
            </a:pPr>
            <a:r>
              <a:rPr lang="zh-CN" altLang="en-US" sz="2000" dirty="0">
                <a:solidFill>
                  <a:srgbClr val="FF0000"/>
                </a:solidFill>
              </a:rPr>
              <a:t>方法三 （多采用）</a:t>
            </a:r>
          </a:p>
          <a:p>
            <a:pPr lvl="1">
              <a:lnSpc>
                <a:spcPct val="120000"/>
              </a:lnSpc>
            </a:pPr>
            <a:r>
              <a:rPr lang="zh-CN" altLang="en-US" sz="2000" dirty="0">
                <a:solidFill>
                  <a:srgbClr val="0000FF"/>
                </a:solidFill>
              </a:rPr>
              <a:t>思想</a:t>
            </a:r>
            <a:r>
              <a:rPr lang="zh-CN" altLang="en-US" sz="2000" dirty="0"/>
              <a:t>：使用同一条线路进行数据的双向传输，但确认帧采用捎带技术 （确认是放入下一帧头部的</a:t>
            </a:r>
            <a:r>
              <a:rPr lang="en-US" altLang="zh-CN" sz="2000" dirty="0" err="1"/>
              <a:t>ack</a:t>
            </a:r>
            <a:r>
              <a:rPr lang="zh-CN" altLang="en-US" sz="2000" dirty="0"/>
              <a:t>字段）。</a:t>
            </a:r>
          </a:p>
          <a:p>
            <a:pPr lvl="1">
              <a:lnSpc>
                <a:spcPct val="120000"/>
              </a:lnSpc>
            </a:pPr>
            <a:r>
              <a:rPr lang="zh-CN" altLang="en-US" sz="2000" dirty="0">
                <a:solidFill>
                  <a:srgbClr val="0000FF"/>
                </a:solidFill>
              </a:rPr>
              <a:t>优点</a:t>
            </a:r>
            <a:r>
              <a:rPr lang="zh-CN" altLang="en-US" sz="2000" dirty="0"/>
              <a:t>（与使用专门的确认帧相比较）：</a:t>
            </a:r>
          </a:p>
          <a:p>
            <a:pPr lvl="2">
              <a:lnSpc>
                <a:spcPct val="120000"/>
              </a:lnSpc>
            </a:pPr>
            <a:r>
              <a:rPr lang="zh-CN" altLang="en-US" sz="2000" dirty="0"/>
              <a:t>能有效地利用信道带宽</a:t>
            </a:r>
          </a:p>
          <a:p>
            <a:pPr lvl="2">
              <a:lnSpc>
                <a:spcPct val="120000"/>
              </a:lnSpc>
            </a:pPr>
            <a:r>
              <a:rPr lang="zh-CN" altLang="en-US" sz="2000" dirty="0"/>
              <a:t>开销少</a:t>
            </a:r>
          </a:p>
          <a:p>
            <a:pPr lvl="2">
              <a:lnSpc>
                <a:spcPct val="120000"/>
              </a:lnSpc>
            </a:pPr>
            <a:r>
              <a:rPr lang="zh-CN" altLang="en-US" sz="2000" dirty="0"/>
              <a:t>接收方所需的缓冲区少</a:t>
            </a:r>
          </a:p>
          <a:p>
            <a:pPr lvl="1">
              <a:lnSpc>
                <a:spcPct val="120000"/>
              </a:lnSpc>
            </a:pPr>
            <a:r>
              <a:rPr lang="zh-CN" altLang="en-US" sz="2000" dirty="0">
                <a:solidFill>
                  <a:srgbClr val="0000FF"/>
                </a:solidFill>
              </a:rPr>
              <a:t>问题</a:t>
            </a:r>
            <a:r>
              <a:rPr lang="zh-CN" altLang="en-US" sz="2000" dirty="0"/>
              <a:t>：等待时间不可预知（即：不知等多长时间才能得到要捎带确认的数据帧）。</a:t>
            </a:r>
          </a:p>
          <a:p>
            <a:pPr lvl="1">
              <a:lnSpc>
                <a:spcPct val="120000"/>
              </a:lnSpc>
            </a:pPr>
            <a:r>
              <a:rPr lang="zh-CN" altLang="en-US" sz="2000" dirty="0">
                <a:solidFill>
                  <a:srgbClr val="0000FF"/>
                </a:solidFill>
              </a:rPr>
              <a:t>解决</a:t>
            </a:r>
            <a:r>
              <a:rPr lang="zh-CN" altLang="en-US" sz="2000" dirty="0"/>
              <a:t>：引入确认定时器（在计时范围内采用捎带，否则发送专门的确认帧）。</a:t>
            </a:r>
          </a:p>
        </p:txBody>
      </p:sp>
      <p:pic>
        <p:nvPicPr>
          <p:cNvPr id="812034" name="Picture 2"/>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 xmlns:a14="http://schemas.microsoft.com/office/drawing/2010/main" val="0"/>
              </a:ext>
            </a:extLst>
          </a:blip>
          <a:srcRect/>
          <a:stretch>
            <a:fillRect/>
          </a:stretch>
        </p:blipFill>
        <p:spPr bwMode="auto">
          <a:xfrm>
            <a:off x="4765104" y="3570129"/>
            <a:ext cx="4127376" cy="1010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r>
              <a:rPr lang="zh-CN" altLang="en-US" dirty="0"/>
              <a:t>滑动窗口</a:t>
            </a:r>
          </a:p>
        </p:txBody>
      </p:sp>
      <p:sp>
        <p:nvSpPr>
          <p:cNvPr id="619523" name="Rectangle 3"/>
          <p:cNvSpPr>
            <a:spLocks noGrp="1" noChangeArrowheads="1"/>
          </p:cNvSpPr>
          <p:nvPr>
            <p:ph type="body" idx="1"/>
          </p:nvPr>
        </p:nvSpPr>
        <p:spPr/>
        <p:txBody>
          <a:bodyPr/>
          <a:lstStyle/>
          <a:p>
            <a:pPr>
              <a:lnSpc>
                <a:spcPct val="125000"/>
              </a:lnSpc>
            </a:pPr>
            <a:r>
              <a:rPr lang="zh-CN" altLang="en-US" dirty="0">
                <a:solidFill>
                  <a:srgbClr val="FF0000"/>
                </a:solidFill>
              </a:rPr>
              <a:t>作用</a:t>
            </a:r>
            <a:r>
              <a:rPr lang="zh-CN" altLang="en-US" dirty="0"/>
              <a:t>：用于流量控制</a:t>
            </a:r>
          </a:p>
          <a:p>
            <a:pPr>
              <a:lnSpc>
                <a:spcPct val="125000"/>
              </a:lnSpc>
            </a:pPr>
            <a:r>
              <a:rPr lang="zh-CN" altLang="en-US" dirty="0">
                <a:solidFill>
                  <a:srgbClr val="FF0000"/>
                </a:solidFill>
              </a:rPr>
              <a:t>思想</a:t>
            </a:r>
            <a:r>
              <a:rPr lang="zh-CN" altLang="en-US" dirty="0"/>
              <a:t>：</a:t>
            </a:r>
          </a:p>
          <a:p>
            <a:pPr lvl="1">
              <a:lnSpc>
                <a:spcPct val="125000"/>
              </a:lnSpc>
            </a:pPr>
            <a:r>
              <a:rPr lang="zh-CN" altLang="en-US" dirty="0"/>
              <a:t>发送端设置发送窗口控制发送流量</a:t>
            </a:r>
          </a:p>
          <a:p>
            <a:pPr lvl="1">
              <a:lnSpc>
                <a:spcPct val="125000"/>
              </a:lnSpc>
            </a:pPr>
            <a:r>
              <a:rPr lang="zh-CN" altLang="en-US" dirty="0"/>
              <a:t>接收端设置接收窗口控制接收流量</a:t>
            </a:r>
          </a:p>
          <a:p>
            <a:pPr lvl="1">
              <a:lnSpc>
                <a:spcPct val="125000"/>
              </a:lnSpc>
            </a:pPr>
            <a:r>
              <a:rPr lang="zh-CN" altLang="en-US" dirty="0">
                <a:solidFill>
                  <a:srgbClr val="3333FF"/>
                </a:solidFill>
              </a:rPr>
              <a:t>设置原则</a:t>
            </a:r>
            <a:r>
              <a:rPr lang="zh-CN" altLang="en-US" dirty="0"/>
              <a:t>：</a:t>
            </a:r>
            <a:r>
              <a:rPr lang="zh-CN" altLang="en-US" dirty="0">
                <a:solidFill>
                  <a:srgbClr val="3333FF"/>
                </a:solidFill>
              </a:rPr>
              <a:t>发送流量≤接收流量</a:t>
            </a:r>
          </a:p>
          <a:p>
            <a:pPr lvl="1">
              <a:lnSpc>
                <a:spcPct val="125000"/>
              </a:lnSpc>
            </a:pPr>
            <a:r>
              <a:rPr lang="zh-CN" altLang="en-US" dirty="0" smtClean="0"/>
              <a:t>全双工</a:t>
            </a:r>
            <a:r>
              <a:rPr lang="zh-CN" altLang="en-US" dirty="0"/>
              <a:t>通信则通信双方都应同时设置发送和接收窗口</a:t>
            </a:r>
          </a:p>
        </p:txBody>
      </p:sp>
      <p:sp>
        <p:nvSpPr>
          <p:cNvPr id="61952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1952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4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323850" y="476250"/>
            <a:ext cx="8243888" cy="1462088"/>
          </a:xfrm>
        </p:spPr>
        <p:txBody>
          <a:bodyPr/>
          <a:lstStyle/>
          <a:p>
            <a:pPr algn="ctr"/>
            <a:r>
              <a:rPr lang="en-US" altLang="zh-CN"/>
              <a:t>3.3   </a:t>
            </a:r>
            <a:r>
              <a:rPr lang="zh-CN" altLang="en-US"/>
              <a:t>滑动窗口的概念</a:t>
            </a:r>
          </a:p>
        </p:txBody>
      </p:sp>
      <p:sp>
        <p:nvSpPr>
          <p:cNvPr id="247811" name="Rectangle 3"/>
          <p:cNvSpPr>
            <a:spLocks noGrp="1" noChangeArrowheads="1"/>
          </p:cNvSpPr>
          <p:nvPr>
            <p:ph type="body" idx="1"/>
          </p:nvPr>
        </p:nvSpPr>
        <p:spPr>
          <a:xfrm>
            <a:off x="539750" y="2133600"/>
            <a:ext cx="8353425" cy="4464050"/>
          </a:xfrm>
        </p:spPr>
        <p:txBody>
          <a:bodyPr/>
          <a:lstStyle/>
          <a:p>
            <a:pPr>
              <a:lnSpc>
                <a:spcPct val="120000"/>
              </a:lnSpc>
              <a:spcAft>
                <a:spcPct val="20000"/>
              </a:spcAft>
            </a:pPr>
            <a:r>
              <a:rPr lang="zh-CN" altLang="en-US" sz="2800"/>
              <a:t>发送端和接收端分别设定发送窗口和接收窗口 。</a:t>
            </a:r>
          </a:p>
          <a:p>
            <a:pPr>
              <a:lnSpc>
                <a:spcPct val="120000"/>
              </a:lnSpc>
              <a:spcAft>
                <a:spcPct val="20000"/>
              </a:spcAft>
            </a:pPr>
            <a:r>
              <a:rPr lang="zh-CN" altLang="en-US" sz="2800"/>
              <a:t>发送窗口用来对发送端进行流量控制。</a:t>
            </a:r>
          </a:p>
          <a:p>
            <a:pPr>
              <a:lnSpc>
                <a:spcPct val="120000"/>
              </a:lnSpc>
              <a:spcAft>
                <a:spcPct val="20000"/>
              </a:spcAft>
            </a:pPr>
            <a:r>
              <a:rPr lang="zh-CN" altLang="en-US" sz="2800"/>
              <a:t>发送窗口的大小 </a:t>
            </a:r>
            <a:r>
              <a:rPr lang="en-US" altLang="zh-CN" sz="2800" i="1"/>
              <a:t>W</a:t>
            </a:r>
            <a:r>
              <a:rPr lang="en-US" altLang="zh-CN" sz="2800" i="1" baseline="-25000"/>
              <a:t>T</a:t>
            </a:r>
            <a:r>
              <a:rPr lang="en-US" altLang="zh-CN" sz="2800" i="1"/>
              <a:t> </a:t>
            </a:r>
            <a:r>
              <a:rPr lang="zh-CN" altLang="en-US" sz="2800"/>
              <a:t>代表在还没有收到对方确认信息的情况下发送端最多可以发送多少个数据帧。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8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78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p:cNvSpPr>
            <a:spLocks noGrp="1" noChangeArrowheads="1"/>
          </p:cNvSpPr>
          <p:nvPr>
            <p:ph type="title"/>
          </p:nvPr>
        </p:nvSpPr>
        <p:spPr/>
        <p:txBody>
          <a:bodyPr/>
          <a:lstStyle/>
          <a:p>
            <a:r>
              <a:rPr lang="zh-CN" altLang="en-US"/>
              <a:t>发送窗口</a:t>
            </a:r>
          </a:p>
        </p:txBody>
      </p:sp>
      <p:sp>
        <p:nvSpPr>
          <p:cNvPr id="655363" name="Rectangle 3"/>
          <p:cNvSpPr>
            <a:spLocks noGrp="1" noChangeArrowheads="1"/>
          </p:cNvSpPr>
          <p:nvPr>
            <p:ph type="body" idx="1"/>
          </p:nvPr>
        </p:nvSpPr>
        <p:spPr>
          <a:xfrm>
            <a:off x="809625" y="1773238"/>
            <a:ext cx="7958138" cy="4824412"/>
          </a:xfrm>
        </p:spPr>
        <p:txBody>
          <a:bodyPr/>
          <a:lstStyle/>
          <a:p>
            <a:r>
              <a:rPr lang="zh-CN" altLang="en-US" sz="2800" dirty="0">
                <a:solidFill>
                  <a:srgbClr val="FF0000"/>
                </a:solidFill>
              </a:rPr>
              <a:t>概念</a:t>
            </a:r>
          </a:p>
          <a:p>
            <a:pPr lvl="1"/>
            <a:r>
              <a:rPr lang="zh-CN" altLang="en-US" dirty="0"/>
              <a:t>每个发送端设置一个，用于</a:t>
            </a:r>
            <a:r>
              <a:rPr lang="zh-CN" altLang="en-US" dirty="0">
                <a:solidFill>
                  <a:srgbClr val="0000FF"/>
                </a:solidFill>
              </a:rPr>
              <a:t>保存待确认帧的序号</a:t>
            </a:r>
            <a:r>
              <a:rPr lang="zh-CN" altLang="en-US" dirty="0"/>
              <a:t>（即：对应发送方已发送但未收到确认的数据帧序号，</a:t>
            </a:r>
            <a:r>
              <a:rPr lang="zh-CN" altLang="en-US" dirty="0">
                <a:solidFill>
                  <a:srgbClr val="0000FF"/>
                </a:solidFill>
              </a:rPr>
              <a:t>数据必须顺序发送</a:t>
            </a:r>
            <a:r>
              <a:rPr lang="zh-CN" altLang="en-US" dirty="0"/>
              <a:t>）</a:t>
            </a:r>
            <a:r>
              <a:rPr lang="zh-CN" altLang="en-US" dirty="0" smtClean="0"/>
              <a:t>。</a:t>
            </a:r>
            <a:endParaRPr lang="zh-CN" altLang="en-US" dirty="0"/>
          </a:p>
          <a:p>
            <a:r>
              <a:rPr lang="zh-CN" altLang="en-US" sz="2800" dirty="0">
                <a:solidFill>
                  <a:srgbClr val="FF0000"/>
                </a:solidFill>
              </a:rPr>
              <a:t>滑动方法</a:t>
            </a:r>
          </a:p>
          <a:p>
            <a:pPr lvl="1"/>
            <a:r>
              <a:rPr lang="zh-CN" altLang="en-US" dirty="0"/>
              <a:t>每发送一个数据帧，上限向前滑动一步</a:t>
            </a:r>
          </a:p>
          <a:p>
            <a:pPr lvl="1"/>
            <a:r>
              <a:rPr lang="zh-CN" altLang="en-US" dirty="0"/>
              <a:t>每接收一个确认帧，下限向前滑动一步</a:t>
            </a:r>
            <a:r>
              <a:rPr lang="en-US" altLang="zh-CN" dirty="0"/>
              <a:t>/</a:t>
            </a:r>
            <a:r>
              <a:rPr lang="zh-CN" altLang="en-US" dirty="0"/>
              <a:t>多步</a:t>
            </a:r>
          </a:p>
          <a:p>
            <a:pPr lvl="1"/>
            <a:endParaRPr lang="zh-CN" altLang="en-US" dirty="0"/>
          </a:p>
        </p:txBody>
      </p:sp>
      <p:sp>
        <p:nvSpPr>
          <p:cNvPr id="6553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5536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4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p:txBody>
          <a:bodyPr/>
          <a:lstStyle/>
          <a:p>
            <a:r>
              <a:rPr lang="zh-CN" altLang="en-US"/>
              <a:t>接收窗口</a:t>
            </a:r>
          </a:p>
        </p:txBody>
      </p:sp>
      <p:sp>
        <p:nvSpPr>
          <p:cNvPr id="665603" name="Rectangle 3"/>
          <p:cNvSpPr>
            <a:spLocks noGrp="1" noChangeArrowheads="1"/>
          </p:cNvSpPr>
          <p:nvPr>
            <p:ph type="body" idx="1"/>
          </p:nvPr>
        </p:nvSpPr>
        <p:spPr>
          <a:xfrm>
            <a:off x="809625" y="1773238"/>
            <a:ext cx="7958138" cy="4824412"/>
          </a:xfrm>
        </p:spPr>
        <p:txBody>
          <a:bodyPr/>
          <a:lstStyle/>
          <a:p>
            <a:pPr>
              <a:lnSpc>
                <a:spcPct val="95000"/>
              </a:lnSpc>
            </a:pPr>
            <a:r>
              <a:rPr lang="zh-CN" altLang="en-US" sz="2800" dirty="0">
                <a:solidFill>
                  <a:srgbClr val="FF0000"/>
                </a:solidFill>
              </a:rPr>
              <a:t>概念</a:t>
            </a:r>
          </a:p>
          <a:p>
            <a:pPr lvl="1">
              <a:lnSpc>
                <a:spcPct val="95000"/>
              </a:lnSpc>
            </a:pPr>
            <a:r>
              <a:rPr lang="zh-CN" altLang="en-US" dirty="0"/>
              <a:t>每个接收端设置一个，用于</a:t>
            </a:r>
            <a:r>
              <a:rPr lang="zh-CN" altLang="en-US" dirty="0">
                <a:solidFill>
                  <a:srgbClr val="0000FF"/>
                </a:solidFill>
              </a:rPr>
              <a:t>保存期待接收帧的序号</a:t>
            </a:r>
            <a:r>
              <a:rPr lang="zh-CN" altLang="en-US" dirty="0"/>
              <a:t>（即：对应接收方允许接收的数据帧</a:t>
            </a:r>
            <a:r>
              <a:rPr lang="zh-CN" altLang="en-US" dirty="0" smtClean="0"/>
              <a:t>序号）。</a:t>
            </a:r>
            <a:endParaRPr lang="zh-CN" altLang="en-US" dirty="0"/>
          </a:p>
          <a:p>
            <a:pPr>
              <a:lnSpc>
                <a:spcPct val="95000"/>
              </a:lnSpc>
            </a:pPr>
            <a:r>
              <a:rPr lang="zh-CN" altLang="en-US" sz="2800" dirty="0">
                <a:solidFill>
                  <a:srgbClr val="FF0000"/>
                </a:solidFill>
              </a:rPr>
              <a:t>滑动方法</a:t>
            </a:r>
          </a:p>
          <a:p>
            <a:pPr lvl="1">
              <a:lnSpc>
                <a:spcPct val="95000"/>
              </a:lnSpc>
            </a:pPr>
            <a:r>
              <a:rPr lang="zh-CN" altLang="en-US" dirty="0"/>
              <a:t>对接收到的数据帧，只有其序号落在接收窗口范围内才接收，否则丢弃；</a:t>
            </a:r>
          </a:p>
          <a:p>
            <a:pPr lvl="1">
              <a:lnSpc>
                <a:spcPct val="95000"/>
              </a:lnSpc>
            </a:pPr>
            <a:r>
              <a:rPr lang="zh-CN" altLang="en-US" dirty="0"/>
              <a:t>对正确接收的数据帧，产生一个确认帧，接收窗口向前移动一个窗口大小的位置。</a:t>
            </a:r>
          </a:p>
        </p:txBody>
      </p:sp>
      <p:sp>
        <p:nvSpPr>
          <p:cNvPr id="6656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6560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4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ChangeArrowheads="1"/>
          </p:cNvSpPr>
          <p:nvPr/>
        </p:nvSpPr>
        <p:spPr bwMode="auto">
          <a:xfrm>
            <a:off x="4171950" y="914400"/>
            <a:ext cx="4775200" cy="303213"/>
          </a:xfrm>
          <a:prstGeom prst="rect">
            <a:avLst/>
          </a:prstGeom>
          <a:solidFill>
            <a:srgbClr val="FFFFCC"/>
          </a:solidFill>
          <a:ln w="9525">
            <a:noFill/>
            <a:miter lim="800000"/>
            <a:headEnd/>
            <a:tailEnd/>
          </a:ln>
          <a:effectLst/>
        </p:spPr>
        <p:txBody>
          <a:bodyPr wrap="none" anchor="ctr"/>
          <a:lstStyle/>
          <a:p>
            <a:endParaRPr lang="zh-CN" altLang="en-US"/>
          </a:p>
        </p:txBody>
      </p:sp>
      <p:sp>
        <p:nvSpPr>
          <p:cNvPr id="248835" name="Freeform 3"/>
          <p:cNvSpPr>
            <a:spLocks/>
          </p:cNvSpPr>
          <p:nvPr/>
        </p:nvSpPr>
        <p:spPr bwMode="auto">
          <a:xfrm>
            <a:off x="514350" y="520700"/>
            <a:ext cx="3649663" cy="1588"/>
          </a:xfrm>
          <a:custGeom>
            <a:avLst/>
            <a:gdLst/>
            <a:ahLst/>
            <a:cxnLst>
              <a:cxn ang="0">
                <a:pos x="0" y="1"/>
              </a:cxn>
              <a:cxn ang="0">
                <a:pos x="2119" y="0"/>
              </a:cxn>
            </a:cxnLst>
            <a:rect l="0" t="0" r="r" b="b"/>
            <a:pathLst>
              <a:path w="2119" h="1">
                <a:moveTo>
                  <a:pt x="0" y="1"/>
                </a:moveTo>
                <a:lnTo>
                  <a:pt x="2119" y="0"/>
                </a:lnTo>
              </a:path>
            </a:pathLst>
          </a:custGeom>
          <a:noFill/>
          <a:ln w="12700">
            <a:solidFill>
              <a:schemeClr val="tx1"/>
            </a:solidFill>
            <a:round/>
            <a:headEnd type="triangle" w="sm" len="med"/>
            <a:tailEnd type="triangle" w="sm" len="med"/>
          </a:ln>
          <a:effectLst/>
        </p:spPr>
        <p:txBody>
          <a:bodyPr wrap="none" anchor="ctr"/>
          <a:lstStyle/>
          <a:p>
            <a:endParaRPr lang="zh-CN" altLang="en-US"/>
          </a:p>
        </p:txBody>
      </p:sp>
      <p:sp>
        <p:nvSpPr>
          <p:cNvPr id="248836" name="Rectangle 4"/>
          <p:cNvSpPr>
            <a:spLocks noChangeArrowheads="1"/>
          </p:cNvSpPr>
          <p:nvPr/>
        </p:nvSpPr>
        <p:spPr bwMode="auto">
          <a:xfrm>
            <a:off x="2182813" y="393700"/>
            <a:ext cx="500062" cy="314325"/>
          </a:xfrm>
          <a:prstGeom prst="rect">
            <a:avLst/>
          </a:prstGeom>
          <a:solidFill>
            <a:schemeClr val="bg1"/>
          </a:solidFill>
          <a:ln w="12700">
            <a:noFill/>
            <a:miter lim="800000"/>
            <a:headEnd/>
            <a:tailEnd/>
          </a:ln>
          <a:effectLst/>
        </p:spPr>
        <p:txBody>
          <a:bodyPr wrap="none" anchor="ctr"/>
          <a:lstStyle/>
          <a:p>
            <a:endParaRPr lang="zh-CN" altLang="en-US"/>
          </a:p>
        </p:txBody>
      </p:sp>
      <p:sp>
        <p:nvSpPr>
          <p:cNvPr id="248837" name="Rectangle 5"/>
          <p:cNvSpPr>
            <a:spLocks noChangeArrowheads="1"/>
          </p:cNvSpPr>
          <p:nvPr/>
        </p:nvSpPr>
        <p:spPr bwMode="auto">
          <a:xfrm>
            <a:off x="515938" y="714375"/>
            <a:ext cx="3656012" cy="501650"/>
          </a:xfrm>
          <a:prstGeom prst="rect">
            <a:avLst/>
          </a:prstGeom>
          <a:solidFill>
            <a:srgbClr val="FFCCFF"/>
          </a:solidFill>
          <a:ln w="12700">
            <a:solidFill>
              <a:schemeClr val="tx1"/>
            </a:solidFill>
            <a:miter lim="800000"/>
            <a:headEnd/>
            <a:tailEnd/>
          </a:ln>
          <a:effectLst/>
        </p:spPr>
        <p:txBody>
          <a:bodyPr wrap="none" anchor="ctr"/>
          <a:lstStyle/>
          <a:p>
            <a:endParaRPr lang="zh-CN" altLang="en-US"/>
          </a:p>
        </p:txBody>
      </p:sp>
      <p:sp>
        <p:nvSpPr>
          <p:cNvPr id="248838" name="Line 6"/>
          <p:cNvSpPr>
            <a:spLocks noChangeShapeType="1"/>
          </p:cNvSpPr>
          <p:nvPr/>
        </p:nvSpPr>
        <p:spPr bwMode="auto">
          <a:xfrm>
            <a:off x="527050" y="914400"/>
            <a:ext cx="8435975" cy="0"/>
          </a:xfrm>
          <a:prstGeom prst="line">
            <a:avLst/>
          </a:prstGeom>
          <a:noFill/>
          <a:ln w="28575">
            <a:solidFill>
              <a:schemeClr val="tx1"/>
            </a:solidFill>
            <a:round/>
            <a:headEnd/>
            <a:tailEnd/>
          </a:ln>
          <a:effectLst/>
        </p:spPr>
        <p:txBody>
          <a:bodyPr wrap="none" anchor="ctr"/>
          <a:lstStyle/>
          <a:p>
            <a:endParaRPr lang="zh-CN" altLang="en-US"/>
          </a:p>
        </p:txBody>
      </p:sp>
      <p:sp>
        <p:nvSpPr>
          <p:cNvPr id="248839" name="Line 7"/>
          <p:cNvSpPr>
            <a:spLocks noChangeShapeType="1"/>
          </p:cNvSpPr>
          <p:nvPr/>
        </p:nvSpPr>
        <p:spPr bwMode="auto">
          <a:xfrm>
            <a:off x="530225" y="1227138"/>
            <a:ext cx="8435975" cy="0"/>
          </a:xfrm>
          <a:prstGeom prst="line">
            <a:avLst/>
          </a:prstGeom>
          <a:noFill/>
          <a:ln w="28575">
            <a:solidFill>
              <a:schemeClr val="tx1"/>
            </a:solidFill>
            <a:round/>
            <a:headEnd/>
            <a:tailEnd/>
          </a:ln>
          <a:effectLst/>
        </p:spPr>
        <p:txBody>
          <a:bodyPr wrap="none" anchor="ctr"/>
          <a:lstStyle/>
          <a:p>
            <a:endParaRPr lang="zh-CN" altLang="en-US"/>
          </a:p>
        </p:txBody>
      </p:sp>
      <p:sp>
        <p:nvSpPr>
          <p:cNvPr id="248840" name="Line 8"/>
          <p:cNvSpPr>
            <a:spLocks noChangeShapeType="1"/>
          </p:cNvSpPr>
          <p:nvPr/>
        </p:nvSpPr>
        <p:spPr bwMode="auto">
          <a:xfrm>
            <a:off x="1257300" y="914400"/>
            <a:ext cx="0" cy="298450"/>
          </a:xfrm>
          <a:prstGeom prst="line">
            <a:avLst/>
          </a:prstGeom>
          <a:noFill/>
          <a:ln w="28575">
            <a:solidFill>
              <a:schemeClr val="tx1"/>
            </a:solidFill>
            <a:round/>
            <a:headEnd/>
            <a:tailEnd/>
          </a:ln>
          <a:effectLst/>
        </p:spPr>
        <p:txBody>
          <a:bodyPr wrap="none" anchor="ctr"/>
          <a:lstStyle/>
          <a:p>
            <a:endParaRPr lang="zh-CN" altLang="en-US"/>
          </a:p>
        </p:txBody>
      </p:sp>
      <p:sp>
        <p:nvSpPr>
          <p:cNvPr id="248841" name="Line 9"/>
          <p:cNvSpPr>
            <a:spLocks noChangeShapeType="1"/>
          </p:cNvSpPr>
          <p:nvPr/>
        </p:nvSpPr>
        <p:spPr bwMode="auto">
          <a:xfrm>
            <a:off x="523875" y="904875"/>
            <a:ext cx="0" cy="331788"/>
          </a:xfrm>
          <a:prstGeom prst="line">
            <a:avLst/>
          </a:prstGeom>
          <a:noFill/>
          <a:ln w="28575">
            <a:solidFill>
              <a:schemeClr val="tx1"/>
            </a:solidFill>
            <a:round/>
            <a:headEnd/>
            <a:tailEnd/>
          </a:ln>
          <a:effectLst/>
        </p:spPr>
        <p:txBody>
          <a:bodyPr wrap="none" anchor="ctr"/>
          <a:lstStyle/>
          <a:p>
            <a:endParaRPr lang="zh-CN" altLang="en-US"/>
          </a:p>
        </p:txBody>
      </p:sp>
      <p:sp>
        <p:nvSpPr>
          <p:cNvPr id="248842" name="Line 10"/>
          <p:cNvSpPr>
            <a:spLocks noChangeShapeType="1"/>
          </p:cNvSpPr>
          <p:nvPr/>
        </p:nvSpPr>
        <p:spPr bwMode="auto">
          <a:xfrm>
            <a:off x="1987550" y="920750"/>
            <a:ext cx="0" cy="296863"/>
          </a:xfrm>
          <a:prstGeom prst="line">
            <a:avLst/>
          </a:prstGeom>
          <a:noFill/>
          <a:ln w="28575">
            <a:solidFill>
              <a:schemeClr val="tx1"/>
            </a:solidFill>
            <a:round/>
            <a:headEnd/>
            <a:tailEnd/>
          </a:ln>
          <a:effectLst/>
        </p:spPr>
        <p:txBody>
          <a:bodyPr wrap="none" anchor="ctr"/>
          <a:lstStyle/>
          <a:p>
            <a:endParaRPr lang="zh-CN" altLang="en-US"/>
          </a:p>
        </p:txBody>
      </p:sp>
      <p:sp>
        <p:nvSpPr>
          <p:cNvPr id="248843" name="Line 11"/>
          <p:cNvSpPr>
            <a:spLocks noChangeShapeType="1"/>
          </p:cNvSpPr>
          <p:nvPr/>
        </p:nvSpPr>
        <p:spPr bwMode="auto">
          <a:xfrm>
            <a:off x="2719388" y="925513"/>
            <a:ext cx="0" cy="295275"/>
          </a:xfrm>
          <a:prstGeom prst="line">
            <a:avLst/>
          </a:prstGeom>
          <a:noFill/>
          <a:ln w="28575">
            <a:solidFill>
              <a:schemeClr val="tx1"/>
            </a:solidFill>
            <a:round/>
            <a:headEnd/>
            <a:tailEnd/>
          </a:ln>
          <a:effectLst/>
        </p:spPr>
        <p:txBody>
          <a:bodyPr wrap="none" anchor="ctr"/>
          <a:lstStyle/>
          <a:p>
            <a:endParaRPr lang="zh-CN" altLang="en-US"/>
          </a:p>
        </p:txBody>
      </p:sp>
      <p:sp>
        <p:nvSpPr>
          <p:cNvPr id="248844" name="Line 12"/>
          <p:cNvSpPr>
            <a:spLocks noChangeShapeType="1"/>
          </p:cNvSpPr>
          <p:nvPr/>
        </p:nvSpPr>
        <p:spPr bwMode="auto">
          <a:xfrm>
            <a:off x="3446463" y="917575"/>
            <a:ext cx="0" cy="298450"/>
          </a:xfrm>
          <a:prstGeom prst="line">
            <a:avLst/>
          </a:prstGeom>
          <a:noFill/>
          <a:ln w="28575">
            <a:solidFill>
              <a:schemeClr val="tx1"/>
            </a:solidFill>
            <a:round/>
            <a:headEnd/>
            <a:tailEnd/>
          </a:ln>
          <a:effectLst/>
        </p:spPr>
        <p:txBody>
          <a:bodyPr wrap="none" anchor="ctr"/>
          <a:lstStyle/>
          <a:p>
            <a:endParaRPr lang="zh-CN" altLang="en-US"/>
          </a:p>
        </p:txBody>
      </p:sp>
      <p:sp>
        <p:nvSpPr>
          <p:cNvPr id="248845" name="Freeform 13"/>
          <p:cNvSpPr>
            <a:spLocks/>
          </p:cNvSpPr>
          <p:nvPr/>
        </p:nvSpPr>
        <p:spPr bwMode="auto">
          <a:xfrm>
            <a:off x="4168775" y="917575"/>
            <a:ext cx="1588" cy="322263"/>
          </a:xfrm>
          <a:custGeom>
            <a:avLst/>
            <a:gdLst/>
            <a:ahLst/>
            <a:cxnLst>
              <a:cxn ang="0">
                <a:pos x="0" y="0"/>
              </a:cxn>
              <a:cxn ang="0">
                <a:pos x="0" y="208"/>
              </a:cxn>
            </a:cxnLst>
            <a:rect l="0" t="0" r="r" b="b"/>
            <a:pathLst>
              <a:path w="1" h="208">
                <a:moveTo>
                  <a:pt x="0" y="0"/>
                </a:moveTo>
                <a:lnTo>
                  <a:pt x="0" y="208"/>
                </a:lnTo>
              </a:path>
            </a:pathLst>
          </a:custGeom>
          <a:noFill/>
          <a:ln w="28575">
            <a:solidFill>
              <a:schemeClr val="tx1"/>
            </a:solidFill>
            <a:round/>
            <a:headEnd/>
            <a:tailEnd/>
          </a:ln>
          <a:effectLst/>
        </p:spPr>
        <p:txBody>
          <a:bodyPr wrap="none" anchor="ctr"/>
          <a:lstStyle/>
          <a:p>
            <a:endParaRPr lang="zh-CN" altLang="en-US"/>
          </a:p>
        </p:txBody>
      </p:sp>
      <p:sp>
        <p:nvSpPr>
          <p:cNvPr id="248846" name="Freeform 14"/>
          <p:cNvSpPr>
            <a:spLocks/>
          </p:cNvSpPr>
          <p:nvPr/>
        </p:nvSpPr>
        <p:spPr bwMode="auto">
          <a:xfrm>
            <a:off x="4902200" y="925513"/>
            <a:ext cx="4763" cy="304800"/>
          </a:xfrm>
          <a:custGeom>
            <a:avLst/>
            <a:gdLst/>
            <a:ahLst/>
            <a:cxnLst>
              <a:cxn ang="0">
                <a:pos x="3" y="0"/>
              </a:cxn>
              <a:cxn ang="0">
                <a:pos x="0" y="198"/>
              </a:cxn>
            </a:cxnLst>
            <a:rect l="0" t="0" r="r" b="b"/>
            <a:pathLst>
              <a:path w="3" h="198">
                <a:moveTo>
                  <a:pt x="3" y="0"/>
                </a:moveTo>
                <a:lnTo>
                  <a:pt x="0" y="198"/>
                </a:lnTo>
              </a:path>
            </a:pathLst>
          </a:custGeom>
          <a:noFill/>
          <a:ln w="28575">
            <a:solidFill>
              <a:schemeClr val="tx1"/>
            </a:solidFill>
            <a:round/>
            <a:headEnd/>
            <a:tailEnd/>
          </a:ln>
          <a:effectLst/>
        </p:spPr>
        <p:txBody>
          <a:bodyPr wrap="none" anchor="ctr"/>
          <a:lstStyle/>
          <a:p>
            <a:endParaRPr lang="zh-CN" altLang="en-US"/>
          </a:p>
        </p:txBody>
      </p:sp>
      <p:sp>
        <p:nvSpPr>
          <p:cNvPr id="248847" name="Line 15"/>
          <p:cNvSpPr>
            <a:spLocks noChangeShapeType="1"/>
          </p:cNvSpPr>
          <p:nvPr/>
        </p:nvSpPr>
        <p:spPr bwMode="auto">
          <a:xfrm>
            <a:off x="5638800" y="925513"/>
            <a:ext cx="0" cy="295275"/>
          </a:xfrm>
          <a:prstGeom prst="line">
            <a:avLst/>
          </a:prstGeom>
          <a:noFill/>
          <a:ln w="28575">
            <a:solidFill>
              <a:schemeClr val="tx1"/>
            </a:solidFill>
            <a:round/>
            <a:headEnd/>
            <a:tailEnd/>
          </a:ln>
          <a:effectLst/>
        </p:spPr>
        <p:txBody>
          <a:bodyPr wrap="none" anchor="ctr"/>
          <a:lstStyle/>
          <a:p>
            <a:endParaRPr lang="zh-CN" altLang="en-US"/>
          </a:p>
        </p:txBody>
      </p:sp>
      <p:sp>
        <p:nvSpPr>
          <p:cNvPr id="248848" name="Line 16"/>
          <p:cNvSpPr>
            <a:spLocks noChangeShapeType="1"/>
          </p:cNvSpPr>
          <p:nvPr/>
        </p:nvSpPr>
        <p:spPr bwMode="auto">
          <a:xfrm>
            <a:off x="6369050" y="925513"/>
            <a:ext cx="0" cy="295275"/>
          </a:xfrm>
          <a:prstGeom prst="line">
            <a:avLst/>
          </a:prstGeom>
          <a:noFill/>
          <a:ln w="28575">
            <a:solidFill>
              <a:schemeClr val="tx1"/>
            </a:solidFill>
            <a:round/>
            <a:headEnd/>
            <a:tailEnd/>
          </a:ln>
          <a:effectLst/>
        </p:spPr>
        <p:txBody>
          <a:bodyPr wrap="none" anchor="ctr"/>
          <a:lstStyle/>
          <a:p>
            <a:endParaRPr lang="zh-CN" altLang="en-US"/>
          </a:p>
        </p:txBody>
      </p:sp>
      <p:sp>
        <p:nvSpPr>
          <p:cNvPr id="248849" name="Line 17"/>
          <p:cNvSpPr>
            <a:spLocks noChangeShapeType="1"/>
          </p:cNvSpPr>
          <p:nvPr/>
        </p:nvSpPr>
        <p:spPr bwMode="auto">
          <a:xfrm>
            <a:off x="7102475" y="914400"/>
            <a:ext cx="0" cy="298450"/>
          </a:xfrm>
          <a:prstGeom prst="line">
            <a:avLst/>
          </a:prstGeom>
          <a:noFill/>
          <a:ln w="28575">
            <a:solidFill>
              <a:schemeClr val="tx1"/>
            </a:solidFill>
            <a:round/>
            <a:headEnd/>
            <a:tailEnd/>
          </a:ln>
          <a:effectLst/>
        </p:spPr>
        <p:txBody>
          <a:bodyPr wrap="none" anchor="ctr"/>
          <a:lstStyle/>
          <a:p>
            <a:endParaRPr lang="zh-CN" altLang="en-US"/>
          </a:p>
        </p:txBody>
      </p:sp>
      <p:sp>
        <p:nvSpPr>
          <p:cNvPr id="248850" name="Line 18"/>
          <p:cNvSpPr>
            <a:spLocks noChangeShapeType="1"/>
          </p:cNvSpPr>
          <p:nvPr/>
        </p:nvSpPr>
        <p:spPr bwMode="auto">
          <a:xfrm>
            <a:off x="7829550" y="917575"/>
            <a:ext cx="0" cy="298450"/>
          </a:xfrm>
          <a:prstGeom prst="line">
            <a:avLst/>
          </a:prstGeom>
          <a:noFill/>
          <a:ln w="28575">
            <a:solidFill>
              <a:schemeClr val="tx1"/>
            </a:solidFill>
            <a:round/>
            <a:headEnd/>
            <a:tailEnd/>
          </a:ln>
          <a:effectLst/>
        </p:spPr>
        <p:txBody>
          <a:bodyPr wrap="none" anchor="ctr"/>
          <a:lstStyle/>
          <a:p>
            <a:endParaRPr lang="zh-CN" altLang="en-US"/>
          </a:p>
        </p:txBody>
      </p:sp>
      <p:sp>
        <p:nvSpPr>
          <p:cNvPr id="248851" name="Line 19"/>
          <p:cNvSpPr>
            <a:spLocks noChangeShapeType="1"/>
          </p:cNvSpPr>
          <p:nvPr/>
        </p:nvSpPr>
        <p:spPr bwMode="auto">
          <a:xfrm>
            <a:off x="8562975" y="920750"/>
            <a:ext cx="0" cy="296863"/>
          </a:xfrm>
          <a:prstGeom prst="line">
            <a:avLst/>
          </a:prstGeom>
          <a:noFill/>
          <a:ln w="28575">
            <a:solidFill>
              <a:schemeClr val="tx1"/>
            </a:solidFill>
            <a:round/>
            <a:headEnd/>
            <a:tailEnd/>
          </a:ln>
          <a:effectLst/>
        </p:spPr>
        <p:txBody>
          <a:bodyPr wrap="none" anchor="ctr"/>
          <a:lstStyle/>
          <a:p>
            <a:endParaRPr lang="zh-CN" altLang="en-US"/>
          </a:p>
        </p:txBody>
      </p:sp>
      <p:sp>
        <p:nvSpPr>
          <p:cNvPr id="248852" name="Rectangle 20"/>
          <p:cNvSpPr>
            <a:spLocks noChangeArrowheads="1"/>
          </p:cNvSpPr>
          <p:nvPr/>
        </p:nvSpPr>
        <p:spPr bwMode="auto">
          <a:xfrm>
            <a:off x="706438"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48853" name="Rectangle 21"/>
          <p:cNvSpPr>
            <a:spLocks noChangeArrowheads="1"/>
          </p:cNvSpPr>
          <p:nvPr/>
        </p:nvSpPr>
        <p:spPr bwMode="auto">
          <a:xfrm>
            <a:off x="1419225"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48854" name="Rectangle 22"/>
          <p:cNvSpPr>
            <a:spLocks noChangeArrowheads="1"/>
          </p:cNvSpPr>
          <p:nvPr/>
        </p:nvSpPr>
        <p:spPr bwMode="auto">
          <a:xfrm>
            <a:off x="2195513"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48855" name="Rectangle 23"/>
          <p:cNvSpPr>
            <a:spLocks noChangeArrowheads="1"/>
          </p:cNvSpPr>
          <p:nvPr/>
        </p:nvSpPr>
        <p:spPr bwMode="auto">
          <a:xfrm>
            <a:off x="2925763"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3</a:t>
            </a:r>
          </a:p>
        </p:txBody>
      </p:sp>
      <p:sp>
        <p:nvSpPr>
          <p:cNvPr id="248856" name="Rectangle 24"/>
          <p:cNvSpPr>
            <a:spLocks noChangeArrowheads="1"/>
          </p:cNvSpPr>
          <p:nvPr/>
        </p:nvSpPr>
        <p:spPr bwMode="auto">
          <a:xfrm>
            <a:off x="3621088" y="890588"/>
            <a:ext cx="488950"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4</a:t>
            </a:r>
          </a:p>
        </p:txBody>
      </p:sp>
      <p:sp>
        <p:nvSpPr>
          <p:cNvPr id="248857" name="Rectangle 25"/>
          <p:cNvSpPr>
            <a:spLocks noChangeArrowheads="1"/>
          </p:cNvSpPr>
          <p:nvPr/>
        </p:nvSpPr>
        <p:spPr bwMode="auto">
          <a:xfrm>
            <a:off x="4351338"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5</a:t>
            </a:r>
          </a:p>
        </p:txBody>
      </p:sp>
      <p:sp>
        <p:nvSpPr>
          <p:cNvPr id="248858" name="Rectangle 26"/>
          <p:cNvSpPr>
            <a:spLocks noChangeArrowheads="1"/>
          </p:cNvSpPr>
          <p:nvPr/>
        </p:nvSpPr>
        <p:spPr bwMode="auto">
          <a:xfrm>
            <a:off x="5065713"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6</a:t>
            </a:r>
          </a:p>
        </p:txBody>
      </p:sp>
      <p:sp>
        <p:nvSpPr>
          <p:cNvPr id="248859" name="Rectangle 27"/>
          <p:cNvSpPr>
            <a:spLocks noChangeArrowheads="1"/>
          </p:cNvSpPr>
          <p:nvPr/>
        </p:nvSpPr>
        <p:spPr bwMode="auto">
          <a:xfrm>
            <a:off x="5794375"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7</a:t>
            </a:r>
          </a:p>
        </p:txBody>
      </p:sp>
      <p:sp>
        <p:nvSpPr>
          <p:cNvPr id="248860" name="Rectangle 28"/>
          <p:cNvSpPr>
            <a:spLocks noChangeArrowheads="1"/>
          </p:cNvSpPr>
          <p:nvPr/>
        </p:nvSpPr>
        <p:spPr bwMode="auto">
          <a:xfrm>
            <a:off x="6551613"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48861" name="Rectangle 29"/>
          <p:cNvSpPr>
            <a:spLocks noChangeArrowheads="1"/>
          </p:cNvSpPr>
          <p:nvPr/>
        </p:nvSpPr>
        <p:spPr bwMode="auto">
          <a:xfrm>
            <a:off x="7300913"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48862" name="Rectangle 30"/>
          <p:cNvSpPr>
            <a:spLocks noChangeArrowheads="1"/>
          </p:cNvSpPr>
          <p:nvPr/>
        </p:nvSpPr>
        <p:spPr bwMode="auto">
          <a:xfrm>
            <a:off x="8029575" y="890588"/>
            <a:ext cx="36512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48863" name="Line 31"/>
          <p:cNvSpPr>
            <a:spLocks noChangeShapeType="1"/>
          </p:cNvSpPr>
          <p:nvPr/>
        </p:nvSpPr>
        <p:spPr bwMode="auto">
          <a:xfrm flipV="1">
            <a:off x="514350" y="363538"/>
            <a:ext cx="0" cy="298450"/>
          </a:xfrm>
          <a:prstGeom prst="line">
            <a:avLst/>
          </a:prstGeom>
          <a:noFill/>
          <a:ln w="12700">
            <a:solidFill>
              <a:schemeClr val="tx1"/>
            </a:solidFill>
            <a:round/>
            <a:headEnd/>
            <a:tailEnd/>
          </a:ln>
          <a:effectLst/>
        </p:spPr>
        <p:txBody>
          <a:bodyPr wrap="none" anchor="ctr"/>
          <a:lstStyle/>
          <a:p>
            <a:endParaRPr lang="zh-CN" altLang="en-US"/>
          </a:p>
        </p:txBody>
      </p:sp>
      <p:sp>
        <p:nvSpPr>
          <p:cNvPr id="248864" name="Line 32"/>
          <p:cNvSpPr>
            <a:spLocks noChangeShapeType="1"/>
          </p:cNvSpPr>
          <p:nvPr/>
        </p:nvSpPr>
        <p:spPr bwMode="auto">
          <a:xfrm flipV="1">
            <a:off x="4170363" y="400050"/>
            <a:ext cx="0" cy="250825"/>
          </a:xfrm>
          <a:prstGeom prst="line">
            <a:avLst/>
          </a:prstGeom>
          <a:noFill/>
          <a:ln w="12700">
            <a:solidFill>
              <a:schemeClr val="tx1"/>
            </a:solidFill>
            <a:round/>
            <a:headEnd/>
            <a:tailEnd/>
          </a:ln>
          <a:effectLst/>
        </p:spPr>
        <p:txBody>
          <a:bodyPr wrap="none" anchor="ctr"/>
          <a:lstStyle/>
          <a:p>
            <a:endParaRPr lang="zh-CN" altLang="en-US"/>
          </a:p>
        </p:txBody>
      </p:sp>
      <p:sp>
        <p:nvSpPr>
          <p:cNvPr id="248865" name="Text Box 33"/>
          <p:cNvSpPr txBox="1">
            <a:spLocks noChangeArrowheads="1"/>
          </p:cNvSpPr>
          <p:nvPr/>
        </p:nvSpPr>
        <p:spPr bwMode="auto">
          <a:xfrm>
            <a:off x="1738313" y="41275"/>
            <a:ext cx="1200150" cy="396875"/>
          </a:xfrm>
          <a:prstGeom prst="rect">
            <a:avLst/>
          </a:prstGeom>
          <a:noFill/>
          <a:ln w="12700">
            <a:noFill/>
            <a:miter lim="800000"/>
            <a:headEnd/>
            <a:tailEnd/>
          </a:ln>
          <a:effectLst/>
        </p:spPr>
        <p:txBody>
          <a:bodyPr wrap="none">
            <a:spAutoFit/>
          </a:bodyPr>
          <a:lstStyle/>
          <a:p>
            <a:pPr defTabSz="762000" eaLnBrk="0" hangingPunct="0"/>
            <a:r>
              <a:rPr kumimoji="1" lang="zh-CN" altLang="en-US" sz="2000">
                <a:solidFill>
                  <a:srgbClr val="333399"/>
                </a:solidFill>
                <a:ea typeface="黑体" pitchFamily="2" charset="-122"/>
              </a:rPr>
              <a:t>发送窗口</a:t>
            </a:r>
          </a:p>
        </p:txBody>
      </p:sp>
      <p:sp>
        <p:nvSpPr>
          <p:cNvPr id="248866" name="Rectangle 34"/>
          <p:cNvSpPr>
            <a:spLocks noChangeArrowheads="1"/>
          </p:cNvSpPr>
          <p:nvPr/>
        </p:nvSpPr>
        <p:spPr bwMode="auto">
          <a:xfrm>
            <a:off x="2182813" y="317500"/>
            <a:ext cx="525462" cy="396875"/>
          </a:xfrm>
          <a:prstGeom prst="rect">
            <a:avLst/>
          </a:prstGeom>
          <a:noFill/>
          <a:ln w="12700">
            <a:noFill/>
            <a:miter lim="800000"/>
            <a:headEnd/>
            <a:tailEnd/>
          </a:ln>
          <a:effectLst/>
        </p:spPr>
        <p:txBody>
          <a:bodyPr wrap="none">
            <a:spAutoFit/>
          </a:bodyPr>
          <a:lstStyle/>
          <a:p>
            <a:pPr defTabSz="762000" eaLnBrk="0" hangingPunct="0"/>
            <a:r>
              <a:rPr kumimoji="1" lang="en-US" altLang="zh-CN" sz="2000" i="1">
                <a:solidFill>
                  <a:srgbClr val="333399"/>
                </a:solidFill>
                <a:ea typeface="黑体" pitchFamily="2" charset="-122"/>
              </a:rPr>
              <a:t>W</a:t>
            </a:r>
            <a:r>
              <a:rPr kumimoji="1" lang="en-US" altLang="zh-CN" sz="2000" i="1" baseline="-25000">
                <a:solidFill>
                  <a:srgbClr val="333399"/>
                </a:solidFill>
                <a:ea typeface="黑体" pitchFamily="2" charset="-122"/>
              </a:rPr>
              <a:t>T</a:t>
            </a:r>
          </a:p>
        </p:txBody>
      </p:sp>
      <p:sp>
        <p:nvSpPr>
          <p:cNvPr id="248867" name="Text Box 35"/>
          <p:cNvSpPr txBox="1">
            <a:spLocks noChangeArrowheads="1"/>
          </p:cNvSpPr>
          <p:nvPr/>
        </p:nvSpPr>
        <p:spPr bwMode="auto">
          <a:xfrm>
            <a:off x="5522913" y="1395413"/>
            <a:ext cx="221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不允许发送这些帧</a:t>
            </a:r>
          </a:p>
        </p:txBody>
      </p:sp>
      <p:sp>
        <p:nvSpPr>
          <p:cNvPr id="248868" name="AutoShape 36"/>
          <p:cNvSpPr>
            <a:spLocks/>
          </p:cNvSpPr>
          <p:nvPr/>
        </p:nvSpPr>
        <p:spPr bwMode="auto">
          <a:xfrm rot="-5400000">
            <a:off x="6457950" y="-985837"/>
            <a:ext cx="195263" cy="4713287"/>
          </a:xfrm>
          <a:prstGeom prst="leftBrace">
            <a:avLst>
              <a:gd name="adj1" fmla="val 201151"/>
              <a:gd name="adj2" fmla="val 50000"/>
            </a:avLst>
          </a:prstGeom>
          <a:noFill/>
          <a:ln w="9525">
            <a:solidFill>
              <a:schemeClr val="tx1"/>
            </a:solidFill>
            <a:round/>
            <a:headEnd/>
            <a:tailEnd/>
          </a:ln>
          <a:effectLst/>
        </p:spPr>
        <p:txBody>
          <a:bodyPr wrap="none" anchor="ctr"/>
          <a:lstStyle/>
          <a:p>
            <a:endParaRPr lang="zh-CN" altLang="en-US"/>
          </a:p>
        </p:txBody>
      </p:sp>
      <p:sp>
        <p:nvSpPr>
          <p:cNvPr id="248869" name="AutoShape 37"/>
          <p:cNvSpPr>
            <a:spLocks/>
          </p:cNvSpPr>
          <p:nvPr/>
        </p:nvSpPr>
        <p:spPr bwMode="auto">
          <a:xfrm rot="-5400000">
            <a:off x="2249488" y="-447675"/>
            <a:ext cx="196850" cy="3667125"/>
          </a:xfrm>
          <a:prstGeom prst="leftBrace">
            <a:avLst>
              <a:gd name="adj1" fmla="val 155242"/>
              <a:gd name="adj2" fmla="val 50000"/>
            </a:avLst>
          </a:prstGeom>
          <a:noFill/>
          <a:ln w="9525">
            <a:solidFill>
              <a:schemeClr val="tx1"/>
            </a:solidFill>
            <a:round/>
            <a:headEnd/>
            <a:tailEnd/>
          </a:ln>
          <a:effectLst/>
        </p:spPr>
        <p:txBody>
          <a:bodyPr wrap="none" anchor="ctr"/>
          <a:lstStyle/>
          <a:p>
            <a:endParaRPr lang="zh-CN" altLang="en-US"/>
          </a:p>
        </p:txBody>
      </p:sp>
      <p:sp>
        <p:nvSpPr>
          <p:cNvPr id="248870" name="Text Box 38"/>
          <p:cNvSpPr txBox="1">
            <a:spLocks noChangeArrowheads="1"/>
          </p:cNvSpPr>
          <p:nvPr/>
        </p:nvSpPr>
        <p:spPr bwMode="auto">
          <a:xfrm>
            <a:off x="1220788" y="1393825"/>
            <a:ext cx="1989137" cy="396875"/>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允许发送 </a:t>
            </a:r>
            <a:r>
              <a:rPr kumimoji="1" lang="en-US" altLang="zh-CN" sz="2000">
                <a:solidFill>
                  <a:srgbClr val="333399"/>
                </a:solidFill>
                <a:ea typeface="黑体" pitchFamily="2" charset="-122"/>
              </a:rPr>
              <a:t>5 </a:t>
            </a:r>
            <a:r>
              <a:rPr kumimoji="1" lang="zh-CN" altLang="en-US" sz="2000">
                <a:solidFill>
                  <a:srgbClr val="333399"/>
                </a:solidFill>
                <a:ea typeface="黑体" pitchFamily="2" charset="-122"/>
              </a:rPr>
              <a:t>个帧</a:t>
            </a:r>
          </a:p>
        </p:txBody>
      </p:sp>
      <p:sp>
        <p:nvSpPr>
          <p:cNvPr id="248871" name="Text Box 39"/>
          <p:cNvSpPr txBox="1">
            <a:spLocks noChangeArrowheads="1"/>
          </p:cNvSpPr>
          <p:nvPr/>
        </p:nvSpPr>
        <p:spPr bwMode="auto">
          <a:xfrm>
            <a:off x="-25400" y="815975"/>
            <a:ext cx="493713" cy="396875"/>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2" charset="-122"/>
              </a:rPr>
              <a:t>(a)</a:t>
            </a:r>
          </a:p>
        </p:txBody>
      </p:sp>
      <p:grpSp>
        <p:nvGrpSpPr>
          <p:cNvPr id="2" name="Group 40"/>
          <p:cNvGrpSpPr>
            <a:grpSpLocks/>
          </p:cNvGrpSpPr>
          <p:nvPr/>
        </p:nvGrpSpPr>
        <p:grpSpPr bwMode="auto">
          <a:xfrm>
            <a:off x="-25400" y="1749425"/>
            <a:ext cx="8991600" cy="1438275"/>
            <a:chOff x="-16" y="1102"/>
            <a:chExt cx="5664" cy="906"/>
          </a:xfrm>
        </p:grpSpPr>
        <p:sp>
          <p:nvSpPr>
            <p:cNvPr id="248873" name="Rectangle 41"/>
            <p:cNvSpPr>
              <a:spLocks noChangeArrowheads="1"/>
            </p:cNvSpPr>
            <p:nvPr/>
          </p:nvSpPr>
          <p:spPr bwMode="auto">
            <a:xfrm>
              <a:off x="326" y="1362"/>
              <a:ext cx="2302" cy="329"/>
            </a:xfrm>
            <a:prstGeom prst="rect">
              <a:avLst/>
            </a:prstGeom>
            <a:solidFill>
              <a:srgbClr val="FFCCFF"/>
            </a:solidFill>
            <a:ln w="12700">
              <a:solidFill>
                <a:schemeClr val="tx1"/>
              </a:solidFill>
              <a:miter lim="800000"/>
              <a:headEnd/>
              <a:tailEnd/>
            </a:ln>
            <a:effectLst/>
          </p:spPr>
          <p:txBody>
            <a:bodyPr wrap="none" anchor="ctr"/>
            <a:lstStyle/>
            <a:p>
              <a:endParaRPr lang="zh-CN" altLang="en-US"/>
            </a:p>
          </p:txBody>
        </p:sp>
        <p:sp>
          <p:nvSpPr>
            <p:cNvPr id="248874" name="Rectangle 42"/>
            <p:cNvSpPr>
              <a:spLocks noChangeArrowheads="1"/>
            </p:cNvSpPr>
            <p:nvPr/>
          </p:nvSpPr>
          <p:spPr bwMode="auto">
            <a:xfrm>
              <a:off x="331" y="1483"/>
              <a:ext cx="457" cy="199"/>
            </a:xfrm>
            <a:prstGeom prst="rect">
              <a:avLst/>
            </a:prstGeom>
            <a:solidFill>
              <a:srgbClr val="00FFCC"/>
            </a:solidFill>
            <a:ln w="9525">
              <a:noFill/>
              <a:miter lim="800000"/>
              <a:headEnd/>
              <a:tailEnd/>
            </a:ln>
            <a:effectLst/>
          </p:spPr>
          <p:txBody>
            <a:bodyPr wrap="none" anchor="ctr"/>
            <a:lstStyle/>
            <a:p>
              <a:endParaRPr lang="zh-CN" altLang="en-US"/>
            </a:p>
          </p:txBody>
        </p:sp>
        <p:sp>
          <p:nvSpPr>
            <p:cNvPr id="248875" name="Rectangle 43"/>
            <p:cNvSpPr>
              <a:spLocks noChangeArrowheads="1"/>
            </p:cNvSpPr>
            <p:nvPr/>
          </p:nvSpPr>
          <p:spPr bwMode="auto">
            <a:xfrm>
              <a:off x="2628" y="1487"/>
              <a:ext cx="3008" cy="192"/>
            </a:xfrm>
            <a:prstGeom prst="rect">
              <a:avLst/>
            </a:prstGeom>
            <a:solidFill>
              <a:srgbClr val="FFFFCC"/>
            </a:solidFill>
            <a:ln w="9525">
              <a:noFill/>
              <a:miter lim="800000"/>
              <a:headEnd/>
              <a:tailEnd/>
            </a:ln>
            <a:effectLst/>
          </p:spPr>
          <p:txBody>
            <a:bodyPr wrap="none" anchor="ctr"/>
            <a:lstStyle/>
            <a:p>
              <a:endParaRPr lang="zh-CN" altLang="en-US"/>
            </a:p>
          </p:txBody>
        </p:sp>
        <p:sp>
          <p:nvSpPr>
            <p:cNvPr id="248876" name="Line 44"/>
            <p:cNvSpPr>
              <a:spLocks noChangeShapeType="1"/>
            </p:cNvSpPr>
            <p:nvPr/>
          </p:nvSpPr>
          <p:spPr bwMode="auto">
            <a:xfrm>
              <a:off x="332" y="1487"/>
              <a:ext cx="5314" cy="0"/>
            </a:xfrm>
            <a:prstGeom prst="line">
              <a:avLst/>
            </a:prstGeom>
            <a:noFill/>
            <a:ln w="28575">
              <a:solidFill>
                <a:schemeClr val="tx1"/>
              </a:solidFill>
              <a:round/>
              <a:headEnd/>
              <a:tailEnd/>
            </a:ln>
            <a:effectLst/>
          </p:spPr>
          <p:txBody>
            <a:bodyPr wrap="none" anchor="ctr"/>
            <a:lstStyle/>
            <a:p>
              <a:endParaRPr lang="zh-CN" altLang="en-US"/>
            </a:p>
          </p:txBody>
        </p:sp>
        <p:sp>
          <p:nvSpPr>
            <p:cNvPr id="248877" name="Line 45"/>
            <p:cNvSpPr>
              <a:spLocks noChangeShapeType="1"/>
            </p:cNvSpPr>
            <p:nvPr/>
          </p:nvSpPr>
          <p:spPr bwMode="auto">
            <a:xfrm>
              <a:off x="334" y="1683"/>
              <a:ext cx="5314" cy="0"/>
            </a:xfrm>
            <a:prstGeom prst="line">
              <a:avLst/>
            </a:prstGeom>
            <a:noFill/>
            <a:ln w="28575">
              <a:solidFill>
                <a:schemeClr val="tx1"/>
              </a:solidFill>
              <a:round/>
              <a:headEnd/>
              <a:tailEnd/>
            </a:ln>
            <a:effectLst/>
          </p:spPr>
          <p:txBody>
            <a:bodyPr wrap="none" anchor="ctr"/>
            <a:lstStyle/>
            <a:p>
              <a:endParaRPr lang="zh-CN" altLang="en-US"/>
            </a:p>
          </p:txBody>
        </p:sp>
        <p:sp>
          <p:nvSpPr>
            <p:cNvPr id="248878" name="Line 46"/>
            <p:cNvSpPr>
              <a:spLocks noChangeShapeType="1"/>
            </p:cNvSpPr>
            <p:nvPr/>
          </p:nvSpPr>
          <p:spPr bwMode="auto">
            <a:xfrm>
              <a:off x="792" y="1487"/>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879" name="Line 47"/>
            <p:cNvSpPr>
              <a:spLocks noChangeShapeType="1"/>
            </p:cNvSpPr>
            <p:nvPr/>
          </p:nvSpPr>
          <p:spPr bwMode="auto">
            <a:xfrm>
              <a:off x="330" y="1482"/>
              <a:ext cx="0" cy="208"/>
            </a:xfrm>
            <a:prstGeom prst="line">
              <a:avLst/>
            </a:prstGeom>
            <a:noFill/>
            <a:ln w="28575">
              <a:solidFill>
                <a:schemeClr val="tx1"/>
              </a:solidFill>
              <a:round/>
              <a:headEnd/>
              <a:tailEnd/>
            </a:ln>
            <a:effectLst/>
          </p:spPr>
          <p:txBody>
            <a:bodyPr wrap="none" anchor="ctr"/>
            <a:lstStyle/>
            <a:p>
              <a:endParaRPr lang="zh-CN" altLang="en-US"/>
            </a:p>
          </p:txBody>
        </p:sp>
        <p:sp>
          <p:nvSpPr>
            <p:cNvPr id="248880" name="Line 48"/>
            <p:cNvSpPr>
              <a:spLocks noChangeShapeType="1"/>
            </p:cNvSpPr>
            <p:nvPr/>
          </p:nvSpPr>
          <p:spPr bwMode="auto">
            <a:xfrm>
              <a:off x="1252" y="1491"/>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881" name="Line 49"/>
            <p:cNvSpPr>
              <a:spLocks noChangeShapeType="1"/>
            </p:cNvSpPr>
            <p:nvPr/>
          </p:nvSpPr>
          <p:spPr bwMode="auto">
            <a:xfrm>
              <a:off x="1713" y="1493"/>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882" name="Line 50"/>
            <p:cNvSpPr>
              <a:spLocks noChangeShapeType="1"/>
            </p:cNvSpPr>
            <p:nvPr/>
          </p:nvSpPr>
          <p:spPr bwMode="auto">
            <a:xfrm>
              <a:off x="2171" y="1489"/>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883" name="Freeform 51"/>
            <p:cNvSpPr>
              <a:spLocks/>
            </p:cNvSpPr>
            <p:nvPr/>
          </p:nvSpPr>
          <p:spPr bwMode="auto">
            <a:xfrm>
              <a:off x="2629" y="1497"/>
              <a:ext cx="1" cy="193"/>
            </a:xfrm>
            <a:custGeom>
              <a:avLst/>
              <a:gdLst/>
              <a:ahLst/>
              <a:cxnLst>
                <a:cxn ang="0">
                  <a:pos x="0" y="0"/>
                </a:cxn>
                <a:cxn ang="0">
                  <a:pos x="0" y="198"/>
                </a:cxn>
              </a:cxnLst>
              <a:rect l="0" t="0" r="r" b="b"/>
              <a:pathLst>
                <a:path w="1" h="198">
                  <a:moveTo>
                    <a:pt x="0" y="0"/>
                  </a:moveTo>
                  <a:lnTo>
                    <a:pt x="0" y="198"/>
                  </a:lnTo>
                </a:path>
              </a:pathLst>
            </a:custGeom>
            <a:noFill/>
            <a:ln w="28575">
              <a:solidFill>
                <a:schemeClr val="tx1"/>
              </a:solidFill>
              <a:round/>
              <a:headEnd/>
              <a:tailEnd/>
            </a:ln>
            <a:effectLst/>
          </p:spPr>
          <p:txBody>
            <a:bodyPr wrap="none" anchor="ctr"/>
            <a:lstStyle/>
            <a:p>
              <a:endParaRPr lang="zh-CN" altLang="en-US"/>
            </a:p>
          </p:txBody>
        </p:sp>
        <p:sp>
          <p:nvSpPr>
            <p:cNvPr id="248884" name="Freeform 52"/>
            <p:cNvSpPr>
              <a:spLocks/>
            </p:cNvSpPr>
            <p:nvPr/>
          </p:nvSpPr>
          <p:spPr bwMode="auto">
            <a:xfrm>
              <a:off x="3088" y="1493"/>
              <a:ext cx="3" cy="193"/>
            </a:xfrm>
            <a:custGeom>
              <a:avLst/>
              <a:gdLst/>
              <a:ahLst/>
              <a:cxnLst>
                <a:cxn ang="0">
                  <a:pos x="3" y="0"/>
                </a:cxn>
                <a:cxn ang="0">
                  <a:pos x="0" y="198"/>
                </a:cxn>
              </a:cxnLst>
              <a:rect l="0" t="0" r="r" b="b"/>
              <a:pathLst>
                <a:path w="3" h="198">
                  <a:moveTo>
                    <a:pt x="3" y="0"/>
                  </a:moveTo>
                  <a:lnTo>
                    <a:pt x="0" y="198"/>
                  </a:lnTo>
                </a:path>
              </a:pathLst>
            </a:custGeom>
            <a:noFill/>
            <a:ln w="28575">
              <a:solidFill>
                <a:schemeClr val="tx1"/>
              </a:solidFill>
              <a:round/>
              <a:headEnd/>
              <a:tailEnd/>
            </a:ln>
            <a:effectLst/>
          </p:spPr>
          <p:txBody>
            <a:bodyPr wrap="none" anchor="ctr"/>
            <a:lstStyle/>
            <a:p>
              <a:endParaRPr lang="zh-CN" altLang="en-US"/>
            </a:p>
          </p:txBody>
        </p:sp>
        <p:sp>
          <p:nvSpPr>
            <p:cNvPr id="248885" name="Line 53"/>
            <p:cNvSpPr>
              <a:spLocks noChangeShapeType="1"/>
            </p:cNvSpPr>
            <p:nvPr/>
          </p:nvSpPr>
          <p:spPr bwMode="auto">
            <a:xfrm>
              <a:off x="3552" y="1493"/>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886" name="Line 54"/>
            <p:cNvSpPr>
              <a:spLocks noChangeShapeType="1"/>
            </p:cNvSpPr>
            <p:nvPr/>
          </p:nvSpPr>
          <p:spPr bwMode="auto">
            <a:xfrm>
              <a:off x="4012" y="1493"/>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887" name="Line 55"/>
            <p:cNvSpPr>
              <a:spLocks noChangeShapeType="1"/>
            </p:cNvSpPr>
            <p:nvPr/>
          </p:nvSpPr>
          <p:spPr bwMode="auto">
            <a:xfrm>
              <a:off x="4474" y="1487"/>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888" name="Line 56"/>
            <p:cNvSpPr>
              <a:spLocks noChangeShapeType="1"/>
            </p:cNvSpPr>
            <p:nvPr/>
          </p:nvSpPr>
          <p:spPr bwMode="auto">
            <a:xfrm>
              <a:off x="4932" y="1489"/>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889" name="Line 57"/>
            <p:cNvSpPr>
              <a:spLocks noChangeShapeType="1"/>
            </p:cNvSpPr>
            <p:nvPr/>
          </p:nvSpPr>
          <p:spPr bwMode="auto">
            <a:xfrm>
              <a:off x="5394" y="1491"/>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890" name="Rectangle 58"/>
            <p:cNvSpPr>
              <a:spLocks noChangeArrowheads="1"/>
            </p:cNvSpPr>
            <p:nvPr/>
          </p:nvSpPr>
          <p:spPr bwMode="auto">
            <a:xfrm>
              <a:off x="435" y="1478"/>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48891" name="Rectangle 59"/>
            <p:cNvSpPr>
              <a:spLocks noChangeArrowheads="1"/>
            </p:cNvSpPr>
            <p:nvPr/>
          </p:nvSpPr>
          <p:spPr bwMode="auto">
            <a:xfrm>
              <a:off x="885" y="1478"/>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48892" name="Rectangle 60"/>
            <p:cNvSpPr>
              <a:spLocks noChangeArrowheads="1"/>
            </p:cNvSpPr>
            <p:nvPr/>
          </p:nvSpPr>
          <p:spPr bwMode="auto">
            <a:xfrm>
              <a:off x="1373" y="1477"/>
              <a:ext cx="231"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48893" name="Rectangle 61"/>
            <p:cNvSpPr>
              <a:spLocks noChangeArrowheads="1"/>
            </p:cNvSpPr>
            <p:nvPr/>
          </p:nvSpPr>
          <p:spPr bwMode="auto">
            <a:xfrm>
              <a:off x="1834" y="1478"/>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3</a:t>
              </a:r>
            </a:p>
          </p:txBody>
        </p:sp>
        <p:sp>
          <p:nvSpPr>
            <p:cNvPr id="248894" name="Rectangle 62"/>
            <p:cNvSpPr>
              <a:spLocks noChangeArrowheads="1"/>
            </p:cNvSpPr>
            <p:nvPr/>
          </p:nvSpPr>
          <p:spPr bwMode="auto">
            <a:xfrm>
              <a:off x="2272" y="1477"/>
              <a:ext cx="308"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4</a:t>
              </a:r>
            </a:p>
          </p:txBody>
        </p:sp>
        <p:sp>
          <p:nvSpPr>
            <p:cNvPr id="248895" name="Rectangle 63"/>
            <p:cNvSpPr>
              <a:spLocks noChangeArrowheads="1"/>
            </p:cNvSpPr>
            <p:nvPr/>
          </p:nvSpPr>
          <p:spPr bwMode="auto">
            <a:xfrm>
              <a:off x="2732" y="1478"/>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5</a:t>
              </a:r>
            </a:p>
          </p:txBody>
        </p:sp>
        <p:sp>
          <p:nvSpPr>
            <p:cNvPr id="248896" name="Rectangle 64"/>
            <p:cNvSpPr>
              <a:spLocks noChangeArrowheads="1"/>
            </p:cNvSpPr>
            <p:nvPr/>
          </p:nvSpPr>
          <p:spPr bwMode="auto">
            <a:xfrm>
              <a:off x="3181" y="1478"/>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6</a:t>
              </a:r>
            </a:p>
          </p:txBody>
        </p:sp>
        <p:sp>
          <p:nvSpPr>
            <p:cNvPr id="248897" name="Rectangle 65"/>
            <p:cNvSpPr>
              <a:spLocks noChangeArrowheads="1"/>
            </p:cNvSpPr>
            <p:nvPr/>
          </p:nvSpPr>
          <p:spPr bwMode="auto">
            <a:xfrm>
              <a:off x="3640" y="1478"/>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7</a:t>
              </a:r>
            </a:p>
          </p:txBody>
        </p:sp>
        <p:sp>
          <p:nvSpPr>
            <p:cNvPr id="248898" name="Rectangle 66"/>
            <p:cNvSpPr>
              <a:spLocks noChangeArrowheads="1"/>
            </p:cNvSpPr>
            <p:nvPr/>
          </p:nvSpPr>
          <p:spPr bwMode="auto">
            <a:xfrm>
              <a:off x="4118" y="1478"/>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48899" name="Rectangle 67"/>
            <p:cNvSpPr>
              <a:spLocks noChangeArrowheads="1"/>
            </p:cNvSpPr>
            <p:nvPr/>
          </p:nvSpPr>
          <p:spPr bwMode="auto">
            <a:xfrm>
              <a:off x="4588" y="1478"/>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48900" name="Rectangle 68"/>
            <p:cNvSpPr>
              <a:spLocks noChangeArrowheads="1"/>
            </p:cNvSpPr>
            <p:nvPr/>
          </p:nvSpPr>
          <p:spPr bwMode="auto">
            <a:xfrm>
              <a:off x="5047" y="1478"/>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48901" name="Text Box 69"/>
            <p:cNvSpPr txBox="1">
              <a:spLocks noChangeArrowheads="1"/>
            </p:cNvSpPr>
            <p:nvPr/>
          </p:nvSpPr>
          <p:spPr bwMode="auto">
            <a:xfrm>
              <a:off x="3479" y="1758"/>
              <a:ext cx="1396"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不允许发送这些帧</a:t>
              </a:r>
            </a:p>
          </p:txBody>
        </p:sp>
        <p:sp>
          <p:nvSpPr>
            <p:cNvPr id="248902" name="AutoShape 70"/>
            <p:cNvSpPr>
              <a:spLocks/>
            </p:cNvSpPr>
            <p:nvPr/>
          </p:nvSpPr>
          <p:spPr bwMode="auto">
            <a:xfrm rot="-5400000">
              <a:off x="4072" y="254"/>
              <a:ext cx="116" cy="2969"/>
            </a:xfrm>
            <a:prstGeom prst="leftBrace">
              <a:avLst>
                <a:gd name="adj1" fmla="val 213290"/>
                <a:gd name="adj2" fmla="val 50000"/>
              </a:avLst>
            </a:prstGeom>
            <a:noFill/>
            <a:ln w="9525">
              <a:solidFill>
                <a:schemeClr val="tx1"/>
              </a:solidFill>
              <a:round/>
              <a:headEnd/>
              <a:tailEnd/>
            </a:ln>
            <a:effectLst/>
          </p:spPr>
          <p:txBody>
            <a:bodyPr wrap="none" anchor="ctr"/>
            <a:lstStyle/>
            <a:p>
              <a:endParaRPr lang="zh-CN" altLang="en-US"/>
            </a:p>
          </p:txBody>
        </p:sp>
        <p:sp>
          <p:nvSpPr>
            <p:cNvPr id="248903" name="AutoShape 71"/>
            <p:cNvSpPr>
              <a:spLocks/>
            </p:cNvSpPr>
            <p:nvPr/>
          </p:nvSpPr>
          <p:spPr bwMode="auto">
            <a:xfrm rot="-5400000">
              <a:off x="1660" y="828"/>
              <a:ext cx="111" cy="1837"/>
            </a:xfrm>
            <a:prstGeom prst="leftBrace">
              <a:avLst>
                <a:gd name="adj1" fmla="val 137913"/>
                <a:gd name="adj2" fmla="val 50000"/>
              </a:avLst>
            </a:prstGeom>
            <a:noFill/>
            <a:ln w="9525">
              <a:solidFill>
                <a:schemeClr val="tx1"/>
              </a:solidFill>
              <a:round/>
              <a:headEnd/>
              <a:tailEnd/>
            </a:ln>
            <a:effectLst/>
          </p:spPr>
          <p:txBody>
            <a:bodyPr wrap="none" anchor="ctr"/>
            <a:lstStyle/>
            <a:p>
              <a:endParaRPr lang="zh-CN" altLang="en-US"/>
            </a:p>
          </p:txBody>
        </p:sp>
        <p:sp>
          <p:nvSpPr>
            <p:cNvPr id="248904" name="Text Box 72"/>
            <p:cNvSpPr txBox="1">
              <a:spLocks noChangeArrowheads="1"/>
            </p:cNvSpPr>
            <p:nvPr/>
          </p:nvSpPr>
          <p:spPr bwMode="auto">
            <a:xfrm>
              <a:off x="1044" y="1758"/>
              <a:ext cx="1413"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还允许发送 </a:t>
              </a:r>
              <a:r>
                <a:rPr kumimoji="1" lang="en-US" altLang="zh-CN" sz="2000">
                  <a:solidFill>
                    <a:srgbClr val="333399"/>
                  </a:solidFill>
                  <a:ea typeface="黑体" pitchFamily="2" charset="-122"/>
                </a:rPr>
                <a:t>4 </a:t>
              </a:r>
              <a:r>
                <a:rPr kumimoji="1" lang="zh-CN" altLang="en-US" sz="2000">
                  <a:solidFill>
                    <a:srgbClr val="333399"/>
                  </a:solidFill>
                  <a:ea typeface="黑体" pitchFamily="2" charset="-122"/>
                </a:rPr>
                <a:t>个帧</a:t>
              </a:r>
            </a:p>
          </p:txBody>
        </p:sp>
        <p:sp>
          <p:nvSpPr>
            <p:cNvPr id="248905" name="Freeform 73"/>
            <p:cNvSpPr>
              <a:spLocks/>
            </p:cNvSpPr>
            <p:nvPr/>
          </p:nvSpPr>
          <p:spPr bwMode="auto">
            <a:xfrm>
              <a:off x="318" y="1229"/>
              <a:ext cx="2300" cy="1"/>
            </a:xfrm>
            <a:custGeom>
              <a:avLst/>
              <a:gdLst/>
              <a:ahLst/>
              <a:cxnLst>
                <a:cxn ang="0">
                  <a:pos x="0" y="1"/>
                </a:cxn>
                <a:cxn ang="0">
                  <a:pos x="2119" y="0"/>
                </a:cxn>
              </a:cxnLst>
              <a:rect l="0" t="0" r="r" b="b"/>
              <a:pathLst>
                <a:path w="2119" h="1">
                  <a:moveTo>
                    <a:pt x="0" y="1"/>
                  </a:moveTo>
                  <a:lnTo>
                    <a:pt x="2119" y="0"/>
                  </a:lnTo>
                </a:path>
              </a:pathLst>
            </a:custGeom>
            <a:noFill/>
            <a:ln w="12700">
              <a:solidFill>
                <a:schemeClr val="tx1"/>
              </a:solidFill>
              <a:round/>
              <a:headEnd type="triangle" w="sm" len="med"/>
              <a:tailEnd type="triangle" w="sm" len="med"/>
            </a:ln>
            <a:effectLst/>
          </p:spPr>
          <p:txBody>
            <a:bodyPr wrap="none" anchor="ctr"/>
            <a:lstStyle/>
            <a:p>
              <a:endParaRPr lang="zh-CN" altLang="en-US"/>
            </a:p>
          </p:txBody>
        </p:sp>
        <p:sp>
          <p:nvSpPr>
            <p:cNvPr id="248906" name="Rectangle 74"/>
            <p:cNvSpPr>
              <a:spLocks noChangeArrowheads="1"/>
            </p:cNvSpPr>
            <p:nvPr/>
          </p:nvSpPr>
          <p:spPr bwMode="auto">
            <a:xfrm>
              <a:off x="1369" y="1151"/>
              <a:ext cx="316" cy="197"/>
            </a:xfrm>
            <a:prstGeom prst="rect">
              <a:avLst/>
            </a:prstGeom>
            <a:solidFill>
              <a:schemeClr val="bg1"/>
            </a:solidFill>
            <a:ln w="12700">
              <a:noFill/>
              <a:miter lim="800000"/>
              <a:headEnd/>
              <a:tailEnd/>
            </a:ln>
            <a:effectLst/>
          </p:spPr>
          <p:txBody>
            <a:bodyPr wrap="none" anchor="ctr"/>
            <a:lstStyle/>
            <a:p>
              <a:endParaRPr lang="zh-CN" altLang="en-US"/>
            </a:p>
          </p:txBody>
        </p:sp>
        <p:sp>
          <p:nvSpPr>
            <p:cNvPr id="248907" name="Line 75"/>
            <p:cNvSpPr>
              <a:spLocks noChangeShapeType="1"/>
            </p:cNvSpPr>
            <p:nvPr/>
          </p:nvSpPr>
          <p:spPr bwMode="auto">
            <a:xfrm flipV="1">
              <a:off x="318" y="1131"/>
              <a:ext cx="0" cy="187"/>
            </a:xfrm>
            <a:prstGeom prst="line">
              <a:avLst/>
            </a:prstGeom>
            <a:noFill/>
            <a:ln w="12700">
              <a:solidFill>
                <a:schemeClr val="tx1"/>
              </a:solidFill>
              <a:round/>
              <a:headEnd/>
              <a:tailEnd/>
            </a:ln>
            <a:effectLst/>
          </p:spPr>
          <p:txBody>
            <a:bodyPr wrap="none" anchor="ctr"/>
            <a:lstStyle/>
            <a:p>
              <a:endParaRPr lang="zh-CN" altLang="en-US"/>
            </a:p>
          </p:txBody>
        </p:sp>
        <p:sp>
          <p:nvSpPr>
            <p:cNvPr id="248908" name="Line 76"/>
            <p:cNvSpPr>
              <a:spLocks noChangeShapeType="1"/>
            </p:cNvSpPr>
            <p:nvPr/>
          </p:nvSpPr>
          <p:spPr bwMode="auto">
            <a:xfrm flipV="1">
              <a:off x="2621" y="1153"/>
              <a:ext cx="0" cy="158"/>
            </a:xfrm>
            <a:prstGeom prst="line">
              <a:avLst/>
            </a:prstGeom>
            <a:noFill/>
            <a:ln w="12700">
              <a:solidFill>
                <a:schemeClr val="tx1"/>
              </a:solidFill>
              <a:round/>
              <a:headEnd/>
              <a:tailEnd/>
            </a:ln>
            <a:effectLst/>
          </p:spPr>
          <p:txBody>
            <a:bodyPr wrap="none" anchor="ctr"/>
            <a:lstStyle/>
            <a:p>
              <a:endParaRPr lang="zh-CN" altLang="en-US"/>
            </a:p>
          </p:txBody>
        </p:sp>
        <p:sp>
          <p:nvSpPr>
            <p:cNvPr id="248909" name="Rectangle 77"/>
            <p:cNvSpPr>
              <a:spLocks noChangeArrowheads="1"/>
            </p:cNvSpPr>
            <p:nvPr/>
          </p:nvSpPr>
          <p:spPr bwMode="auto">
            <a:xfrm>
              <a:off x="1369" y="1102"/>
              <a:ext cx="331" cy="249"/>
            </a:xfrm>
            <a:prstGeom prst="rect">
              <a:avLst/>
            </a:prstGeom>
            <a:noFill/>
            <a:ln w="12700">
              <a:noFill/>
              <a:miter lim="800000"/>
              <a:headEnd/>
              <a:tailEnd/>
            </a:ln>
            <a:effectLst/>
          </p:spPr>
          <p:txBody>
            <a:bodyPr wrap="none">
              <a:spAutoFit/>
            </a:bodyPr>
            <a:lstStyle/>
            <a:p>
              <a:pPr defTabSz="762000" eaLnBrk="0" hangingPunct="0"/>
              <a:r>
                <a:rPr kumimoji="1" lang="en-US" altLang="zh-CN" sz="2000" i="1">
                  <a:solidFill>
                    <a:srgbClr val="333399"/>
                  </a:solidFill>
                  <a:ea typeface="黑体" pitchFamily="2" charset="-122"/>
                </a:rPr>
                <a:t>W</a:t>
              </a:r>
              <a:r>
                <a:rPr kumimoji="1" lang="en-US" altLang="zh-CN" sz="2000" i="1" baseline="-25000">
                  <a:solidFill>
                    <a:srgbClr val="333399"/>
                  </a:solidFill>
                  <a:ea typeface="黑体" pitchFamily="2" charset="-122"/>
                </a:rPr>
                <a:t>T</a:t>
              </a:r>
            </a:p>
          </p:txBody>
        </p:sp>
        <p:sp>
          <p:nvSpPr>
            <p:cNvPr id="248910" name="Text Box 78"/>
            <p:cNvSpPr txBox="1">
              <a:spLocks noChangeArrowheads="1"/>
            </p:cNvSpPr>
            <p:nvPr/>
          </p:nvSpPr>
          <p:spPr bwMode="auto">
            <a:xfrm>
              <a:off x="249" y="1758"/>
              <a:ext cx="596"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已发送</a:t>
              </a:r>
            </a:p>
          </p:txBody>
        </p:sp>
        <p:sp>
          <p:nvSpPr>
            <p:cNvPr id="248911" name="Line 79"/>
            <p:cNvSpPr>
              <a:spLocks noChangeShapeType="1"/>
            </p:cNvSpPr>
            <p:nvPr/>
          </p:nvSpPr>
          <p:spPr bwMode="auto">
            <a:xfrm flipV="1">
              <a:off x="561" y="1681"/>
              <a:ext cx="0" cy="133"/>
            </a:xfrm>
            <a:prstGeom prst="line">
              <a:avLst/>
            </a:prstGeom>
            <a:noFill/>
            <a:ln w="9525">
              <a:solidFill>
                <a:schemeClr val="tx1"/>
              </a:solidFill>
              <a:round/>
              <a:headEnd/>
              <a:tailEnd type="triangle" w="sm" len="med"/>
            </a:ln>
            <a:effectLst/>
          </p:spPr>
          <p:txBody>
            <a:bodyPr/>
            <a:lstStyle/>
            <a:p>
              <a:endParaRPr lang="zh-CN" altLang="en-US"/>
            </a:p>
          </p:txBody>
        </p:sp>
        <p:sp>
          <p:nvSpPr>
            <p:cNvPr id="248912" name="Text Box 80"/>
            <p:cNvSpPr txBox="1">
              <a:spLocks noChangeArrowheads="1"/>
            </p:cNvSpPr>
            <p:nvPr/>
          </p:nvSpPr>
          <p:spPr bwMode="auto">
            <a:xfrm>
              <a:off x="-16" y="1472"/>
              <a:ext cx="311" cy="251"/>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2" charset="-122"/>
                </a:rPr>
                <a:t>(b)</a:t>
              </a:r>
            </a:p>
          </p:txBody>
        </p:sp>
      </p:grpSp>
      <p:grpSp>
        <p:nvGrpSpPr>
          <p:cNvPr id="3" name="Group 81"/>
          <p:cNvGrpSpPr>
            <a:grpSpLocks/>
          </p:cNvGrpSpPr>
          <p:nvPr/>
        </p:nvGrpSpPr>
        <p:grpSpPr bwMode="auto">
          <a:xfrm>
            <a:off x="-25400" y="3235325"/>
            <a:ext cx="8991600" cy="1474788"/>
            <a:chOff x="-16" y="2038"/>
            <a:chExt cx="5664" cy="929"/>
          </a:xfrm>
        </p:grpSpPr>
        <p:sp>
          <p:nvSpPr>
            <p:cNvPr id="248914" name="Rectangle 82"/>
            <p:cNvSpPr>
              <a:spLocks noChangeArrowheads="1"/>
            </p:cNvSpPr>
            <p:nvPr/>
          </p:nvSpPr>
          <p:spPr bwMode="auto">
            <a:xfrm>
              <a:off x="325" y="2294"/>
              <a:ext cx="2303" cy="331"/>
            </a:xfrm>
            <a:prstGeom prst="rect">
              <a:avLst/>
            </a:prstGeom>
            <a:solidFill>
              <a:srgbClr val="FFCCFF"/>
            </a:solidFill>
            <a:ln w="12700">
              <a:solidFill>
                <a:schemeClr val="tx1"/>
              </a:solidFill>
              <a:miter lim="800000"/>
              <a:headEnd/>
              <a:tailEnd/>
            </a:ln>
            <a:effectLst/>
          </p:spPr>
          <p:txBody>
            <a:bodyPr wrap="none" anchor="ctr"/>
            <a:lstStyle/>
            <a:p>
              <a:endParaRPr lang="zh-CN" altLang="en-US"/>
            </a:p>
          </p:txBody>
        </p:sp>
        <p:sp>
          <p:nvSpPr>
            <p:cNvPr id="248915" name="Rectangle 83"/>
            <p:cNvSpPr>
              <a:spLocks noChangeArrowheads="1"/>
            </p:cNvSpPr>
            <p:nvPr/>
          </p:nvSpPr>
          <p:spPr bwMode="auto">
            <a:xfrm>
              <a:off x="331" y="2420"/>
              <a:ext cx="2288" cy="199"/>
            </a:xfrm>
            <a:prstGeom prst="rect">
              <a:avLst/>
            </a:prstGeom>
            <a:solidFill>
              <a:srgbClr val="00FFCC"/>
            </a:solidFill>
            <a:ln w="9525">
              <a:noFill/>
              <a:miter lim="800000"/>
              <a:headEnd/>
              <a:tailEnd/>
            </a:ln>
            <a:effectLst/>
          </p:spPr>
          <p:txBody>
            <a:bodyPr wrap="none" anchor="ctr"/>
            <a:lstStyle/>
            <a:p>
              <a:endParaRPr lang="zh-CN" altLang="en-US"/>
            </a:p>
          </p:txBody>
        </p:sp>
        <p:sp>
          <p:nvSpPr>
            <p:cNvPr id="248916" name="Rectangle 84"/>
            <p:cNvSpPr>
              <a:spLocks noChangeArrowheads="1"/>
            </p:cNvSpPr>
            <p:nvPr/>
          </p:nvSpPr>
          <p:spPr bwMode="auto">
            <a:xfrm>
              <a:off x="2628" y="2420"/>
              <a:ext cx="3008" cy="191"/>
            </a:xfrm>
            <a:prstGeom prst="rect">
              <a:avLst/>
            </a:prstGeom>
            <a:solidFill>
              <a:srgbClr val="FFFFCC"/>
            </a:solidFill>
            <a:ln w="9525">
              <a:noFill/>
              <a:miter lim="800000"/>
              <a:headEnd/>
              <a:tailEnd/>
            </a:ln>
            <a:effectLst/>
          </p:spPr>
          <p:txBody>
            <a:bodyPr wrap="none" anchor="ctr"/>
            <a:lstStyle/>
            <a:p>
              <a:endParaRPr lang="zh-CN" altLang="en-US"/>
            </a:p>
          </p:txBody>
        </p:sp>
        <p:sp>
          <p:nvSpPr>
            <p:cNvPr id="248917" name="Line 85"/>
            <p:cNvSpPr>
              <a:spLocks noChangeShapeType="1"/>
            </p:cNvSpPr>
            <p:nvPr/>
          </p:nvSpPr>
          <p:spPr bwMode="auto">
            <a:xfrm>
              <a:off x="332" y="2420"/>
              <a:ext cx="5314" cy="0"/>
            </a:xfrm>
            <a:prstGeom prst="line">
              <a:avLst/>
            </a:prstGeom>
            <a:noFill/>
            <a:ln w="28575">
              <a:solidFill>
                <a:schemeClr val="tx1"/>
              </a:solidFill>
              <a:round/>
              <a:headEnd/>
              <a:tailEnd/>
            </a:ln>
            <a:effectLst/>
          </p:spPr>
          <p:txBody>
            <a:bodyPr wrap="none" anchor="ctr"/>
            <a:lstStyle/>
            <a:p>
              <a:endParaRPr lang="zh-CN" altLang="en-US"/>
            </a:p>
          </p:txBody>
        </p:sp>
        <p:sp>
          <p:nvSpPr>
            <p:cNvPr id="248918" name="Line 86"/>
            <p:cNvSpPr>
              <a:spLocks noChangeShapeType="1"/>
            </p:cNvSpPr>
            <p:nvPr/>
          </p:nvSpPr>
          <p:spPr bwMode="auto">
            <a:xfrm>
              <a:off x="340" y="2614"/>
              <a:ext cx="5308" cy="3"/>
            </a:xfrm>
            <a:prstGeom prst="line">
              <a:avLst/>
            </a:prstGeom>
            <a:noFill/>
            <a:ln w="28575">
              <a:solidFill>
                <a:schemeClr val="tx1"/>
              </a:solidFill>
              <a:round/>
              <a:headEnd/>
              <a:tailEnd/>
            </a:ln>
            <a:effectLst/>
          </p:spPr>
          <p:txBody>
            <a:bodyPr wrap="none" anchor="ctr"/>
            <a:lstStyle/>
            <a:p>
              <a:endParaRPr lang="zh-CN" altLang="en-US"/>
            </a:p>
          </p:txBody>
        </p:sp>
        <p:sp>
          <p:nvSpPr>
            <p:cNvPr id="248919" name="Line 87"/>
            <p:cNvSpPr>
              <a:spLocks noChangeShapeType="1"/>
            </p:cNvSpPr>
            <p:nvPr/>
          </p:nvSpPr>
          <p:spPr bwMode="auto">
            <a:xfrm>
              <a:off x="792" y="2420"/>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920" name="Line 88"/>
            <p:cNvSpPr>
              <a:spLocks noChangeShapeType="1"/>
            </p:cNvSpPr>
            <p:nvPr/>
          </p:nvSpPr>
          <p:spPr bwMode="auto">
            <a:xfrm>
              <a:off x="330" y="2414"/>
              <a:ext cx="0" cy="209"/>
            </a:xfrm>
            <a:prstGeom prst="line">
              <a:avLst/>
            </a:prstGeom>
            <a:noFill/>
            <a:ln w="28575">
              <a:solidFill>
                <a:schemeClr val="tx1"/>
              </a:solidFill>
              <a:round/>
              <a:headEnd/>
              <a:tailEnd/>
            </a:ln>
            <a:effectLst/>
          </p:spPr>
          <p:txBody>
            <a:bodyPr wrap="none" anchor="ctr"/>
            <a:lstStyle/>
            <a:p>
              <a:endParaRPr lang="zh-CN" altLang="en-US"/>
            </a:p>
          </p:txBody>
        </p:sp>
        <p:sp>
          <p:nvSpPr>
            <p:cNvPr id="248921" name="Line 89"/>
            <p:cNvSpPr>
              <a:spLocks noChangeShapeType="1"/>
            </p:cNvSpPr>
            <p:nvPr/>
          </p:nvSpPr>
          <p:spPr bwMode="auto">
            <a:xfrm>
              <a:off x="1252" y="2424"/>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922" name="Line 90"/>
            <p:cNvSpPr>
              <a:spLocks noChangeShapeType="1"/>
            </p:cNvSpPr>
            <p:nvPr/>
          </p:nvSpPr>
          <p:spPr bwMode="auto">
            <a:xfrm>
              <a:off x="1713" y="2427"/>
              <a:ext cx="0" cy="186"/>
            </a:xfrm>
            <a:prstGeom prst="line">
              <a:avLst/>
            </a:prstGeom>
            <a:noFill/>
            <a:ln w="28575">
              <a:solidFill>
                <a:schemeClr val="tx1"/>
              </a:solidFill>
              <a:round/>
              <a:headEnd/>
              <a:tailEnd/>
            </a:ln>
            <a:effectLst/>
          </p:spPr>
          <p:txBody>
            <a:bodyPr wrap="none" anchor="ctr"/>
            <a:lstStyle/>
            <a:p>
              <a:endParaRPr lang="zh-CN" altLang="en-US"/>
            </a:p>
          </p:txBody>
        </p:sp>
        <p:sp>
          <p:nvSpPr>
            <p:cNvPr id="248923" name="Line 91"/>
            <p:cNvSpPr>
              <a:spLocks noChangeShapeType="1"/>
            </p:cNvSpPr>
            <p:nvPr/>
          </p:nvSpPr>
          <p:spPr bwMode="auto">
            <a:xfrm>
              <a:off x="2171" y="2422"/>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924" name="Freeform 92"/>
            <p:cNvSpPr>
              <a:spLocks/>
            </p:cNvSpPr>
            <p:nvPr/>
          </p:nvSpPr>
          <p:spPr bwMode="auto">
            <a:xfrm>
              <a:off x="2629" y="2430"/>
              <a:ext cx="1" cy="193"/>
            </a:xfrm>
            <a:custGeom>
              <a:avLst/>
              <a:gdLst/>
              <a:ahLst/>
              <a:cxnLst>
                <a:cxn ang="0">
                  <a:pos x="0" y="0"/>
                </a:cxn>
                <a:cxn ang="0">
                  <a:pos x="0" y="198"/>
                </a:cxn>
              </a:cxnLst>
              <a:rect l="0" t="0" r="r" b="b"/>
              <a:pathLst>
                <a:path w="1" h="198">
                  <a:moveTo>
                    <a:pt x="0" y="0"/>
                  </a:moveTo>
                  <a:lnTo>
                    <a:pt x="0" y="198"/>
                  </a:lnTo>
                </a:path>
              </a:pathLst>
            </a:custGeom>
            <a:noFill/>
            <a:ln w="28575">
              <a:solidFill>
                <a:schemeClr val="tx1"/>
              </a:solidFill>
              <a:round/>
              <a:headEnd/>
              <a:tailEnd/>
            </a:ln>
            <a:effectLst/>
          </p:spPr>
          <p:txBody>
            <a:bodyPr wrap="none" anchor="ctr"/>
            <a:lstStyle/>
            <a:p>
              <a:endParaRPr lang="zh-CN" altLang="en-US"/>
            </a:p>
          </p:txBody>
        </p:sp>
        <p:sp>
          <p:nvSpPr>
            <p:cNvPr id="248925" name="Freeform 93"/>
            <p:cNvSpPr>
              <a:spLocks/>
            </p:cNvSpPr>
            <p:nvPr/>
          </p:nvSpPr>
          <p:spPr bwMode="auto">
            <a:xfrm>
              <a:off x="3088" y="2427"/>
              <a:ext cx="3" cy="192"/>
            </a:xfrm>
            <a:custGeom>
              <a:avLst/>
              <a:gdLst/>
              <a:ahLst/>
              <a:cxnLst>
                <a:cxn ang="0">
                  <a:pos x="3" y="0"/>
                </a:cxn>
                <a:cxn ang="0">
                  <a:pos x="0" y="198"/>
                </a:cxn>
              </a:cxnLst>
              <a:rect l="0" t="0" r="r" b="b"/>
              <a:pathLst>
                <a:path w="3" h="198">
                  <a:moveTo>
                    <a:pt x="3" y="0"/>
                  </a:moveTo>
                  <a:lnTo>
                    <a:pt x="0" y="198"/>
                  </a:lnTo>
                </a:path>
              </a:pathLst>
            </a:custGeom>
            <a:noFill/>
            <a:ln w="28575">
              <a:solidFill>
                <a:schemeClr val="tx1"/>
              </a:solidFill>
              <a:round/>
              <a:headEnd/>
              <a:tailEnd/>
            </a:ln>
            <a:effectLst/>
          </p:spPr>
          <p:txBody>
            <a:bodyPr wrap="none" anchor="ctr"/>
            <a:lstStyle/>
            <a:p>
              <a:endParaRPr lang="zh-CN" altLang="en-US"/>
            </a:p>
          </p:txBody>
        </p:sp>
        <p:sp>
          <p:nvSpPr>
            <p:cNvPr id="248926" name="Line 94"/>
            <p:cNvSpPr>
              <a:spLocks noChangeShapeType="1"/>
            </p:cNvSpPr>
            <p:nvPr/>
          </p:nvSpPr>
          <p:spPr bwMode="auto">
            <a:xfrm>
              <a:off x="3552" y="2427"/>
              <a:ext cx="0" cy="186"/>
            </a:xfrm>
            <a:prstGeom prst="line">
              <a:avLst/>
            </a:prstGeom>
            <a:noFill/>
            <a:ln w="28575">
              <a:solidFill>
                <a:schemeClr val="tx1"/>
              </a:solidFill>
              <a:round/>
              <a:headEnd/>
              <a:tailEnd/>
            </a:ln>
            <a:effectLst/>
          </p:spPr>
          <p:txBody>
            <a:bodyPr wrap="none" anchor="ctr"/>
            <a:lstStyle/>
            <a:p>
              <a:endParaRPr lang="zh-CN" altLang="en-US"/>
            </a:p>
          </p:txBody>
        </p:sp>
        <p:sp>
          <p:nvSpPr>
            <p:cNvPr id="248927" name="Line 95"/>
            <p:cNvSpPr>
              <a:spLocks noChangeShapeType="1"/>
            </p:cNvSpPr>
            <p:nvPr/>
          </p:nvSpPr>
          <p:spPr bwMode="auto">
            <a:xfrm>
              <a:off x="4012" y="2427"/>
              <a:ext cx="0" cy="186"/>
            </a:xfrm>
            <a:prstGeom prst="line">
              <a:avLst/>
            </a:prstGeom>
            <a:noFill/>
            <a:ln w="28575">
              <a:solidFill>
                <a:schemeClr val="tx1"/>
              </a:solidFill>
              <a:round/>
              <a:headEnd/>
              <a:tailEnd/>
            </a:ln>
            <a:effectLst/>
          </p:spPr>
          <p:txBody>
            <a:bodyPr wrap="none" anchor="ctr"/>
            <a:lstStyle/>
            <a:p>
              <a:endParaRPr lang="zh-CN" altLang="en-US"/>
            </a:p>
          </p:txBody>
        </p:sp>
        <p:sp>
          <p:nvSpPr>
            <p:cNvPr id="248928" name="Line 96"/>
            <p:cNvSpPr>
              <a:spLocks noChangeShapeType="1"/>
            </p:cNvSpPr>
            <p:nvPr/>
          </p:nvSpPr>
          <p:spPr bwMode="auto">
            <a:xfrm>
              <a:off x="4474" y="2420"/>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929" name="Line 97"/>
            <p:cNvSpPr>
              <a:spLocks noChangeShapeType="1"/>
            </p:cNvSpPr>
            <p:nvPr/>
          </p:nvSpPr>
          <p:spPr bwMode="auto">
            <a:xfrm>
              <a:off x="4932" y="2422"/>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930" name="Line 98"/>
            <p:cNvSpPr>
              <a:spLocks noChangeShapeType="1"/>
            </p:cNvSpPr>
            <p:nvPr/>
          </p:nvSpPr>
          <p:spPr bwMode="auto">
            <a:xfrm>
              <a:off x="5394" y="2424"/>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931" name="Rectangle 99"/>
            <p:cNvSpPr>
              <a:spLocks noChangeArrowheads="1"/>
            </p:cNvSpPr>
            <p:nvPr/>
          </p:nvSpPr>
          <p:spPr bwMode="auto">
            <a:xfrm>
              <a:off x="445"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48932" name="Rectangle 100"/>
            <p:cNvSpPr>
              <a:spLocks noChangeArrowheads="1"/>
            </p:cNvSpPr>
            <p:nvPr/>
          </p:nvSpPr>
          <p:spPr bwMode="auto">
            <a:xfrm>
              <a:off x="894"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48933" name="Rectangle 101"/>
            <p:cNvSpPr>
              <a:spLocks noChangeArrowheads="1"/>
            </p:cNvSpPr>
            <p:nvPr/>
          </p:nvSpPr>
          <p:spPr bwMode="auto">
            <a:xfrm>
              <a:off x="1383"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48934" name="Rectangle 102"/>
            <p:cNvSpPr>
              <a:spLocks noChangeArrowheads="1"/>
            </p:cNvSpPr>
            <p:nvPr/>
          </p:nvSpPr>
          <p:spPr bwMode="auto">
            <a:xfrm>
              <a:off x="1843"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3</a:t>
              </a:r>
            </a:p>
          </p:txBody>
        </p:sp>
        <p:sp>
          <p:nvSpPr>
            <p:cNvPr id="248935" name="Rectangle 103"/>
            <p:cNvSpPr>
              <a:spLocks noChangeArrowheads="1"/>
            </p:cNvSpPr>
            <p:nvPr/>
          </p:nvSpPr>
          <p:spPr bwMode="auto">
            <a:xfrm>
              <a:off x="2281" y="2386"/>
              <a:ext cx="308"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4</a:t>
              </a:r>
            </a:p>
          </p:txBody>
        </p:sp>
        <p:sp>
          <p:nvSpPr>
            <p:cNvPr id="248936" name="Rectangle 104"/>
            <p:cNvSpPr>
              <a:spLocks noChangeArrowheads="1"/>
            </p:cNvSpPr>
            <p:nvPr/>
          </p:nvSpPr>
          <p:spPr bwMode="auto">
            <a:xfrm>
              <a:off x="2741"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5</a:t>
              </a:r>
            </a:p>
          </p:txBody>
        </p:sp>
        <p:sp>
          <p:nvSpPr>
            <p:cNvPr id="248937" name="Rectangle 105"/>
            <p:cNvSpPr>
              <a:spLocks noChangeArrowheads="1"/>
            </p:cNvSpPr>
            <p:nvPr/>
          </p:nvSpPr>
          <p:spPr bwMode="auto">
            <a:xfrm>
              <a:off x="3191"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6</a:t>
              </a:r>
            </a:p>
          </p:txBody>
        </p:sp>
        <p:sp>
          <p:nvSpPr>
            <p:cNvPr id="248938" name="Rectangle 106"/>
            <p:cNvSpPr>
              <a:spLocks noChangeArrowheads="1"/>
            </p:cNvSpPr>
            <p:nvPr/>
          </p:nvSpPr>
          <p:spPr bwMode="auto">
            <a:xfrm>
              <a:off x="3650"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7</a:t>
              </a:r>
            </a:p>
          </p:txBody>
        </p:sp>
        <p:sp>
          <p:nvSpPr>
            <p:cNvPr id="248939" name="Rectangle 107"/>
            <p:cNvSpPr>
              <a:spLocks noChangeArrowheads="1"/>
            </p:cNvSpPr>
            <p:nvPr/>
          </p:nvSpPr>
          <p:spPr bwMode="auto">
            <a:xfrm>
              <a:off x="4127"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48940" name="Rectangle 108"/>
            <p:cNvSpPr>
              <a:spLocks noChangeArrowheads="1"/>
            </p:cNvSpPr>
            <p:nvPr/>
          </p:nvSpPr>
          <p:spPr bwMode="auto">
            <a:xfrm>
              <a:off x="4599"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48941" name="Rectangle 109"/>
            <p:cNvSpPr>
              <a:spLocks noChangeArrowheads="1"/>
            </p:cNvSpPr>
            <p:nvPr/>
          </p:nvSpPr>
          <p:spPr bwMode="auto">
            <a:xfrm>
              <a:off x="5058" y="2386"/>
              <a:ext cx="23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48942" name="Text Box 110"/>
            <p:cNvSpPr txBox="1">
              <a:spLocks noChangeArrowheads="1"/>
            </p:cNvSpPr>
            <p:nvPr/>
          </p:nvSpPr>
          <p:spPr bwMode="auto">
            <a:xfrm>
              <a:off x="3479" y="2717"/>
              <a:ext cx="1396"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不允许发送这些帧</a:t>
              </a:r>
            </a:p>
          </p:txBody>
        </p:sp>
        <p:sp>
          <p:nvSpPr>
            <p:cNvPr id="248943" name="AutoShape 111"/>
            <p:cNvSpPr>
              <a:spLocks/>
            </p:cNvSpPr>
            <p:nvPr/>
          </p:nvSpPr>
          <p:spPr bwMode="auto">
            <a:xfrm rot="-5400000">
              <a:off x="4071" y="1232"/>
              <a:ext cx="117" cy="2969"/>
            </a:xfrm>
            <a:prstGeom prst="leftBrace">
              <a:avLst>
                <a:gd name="adj1" fmla="val 211467"/>
                <a:gd name="adj2" fmla="val 50000"/>
              </a:avLst>
            </a:prstGeom>
            <a:noFill/>
            <a:ln w="9525">
              <a:solidFill>
                <a:schemeClr val="tx1"/>
              </a:solidFill>
              <a:round/>
              <a:headEnd/>
              <a:tailEnd/>
            </a:ln>
            <a:effectLst/>
          </p:spPr>
          <p:txBody>
            <a:bodyPr wrap="none" anchor="ctr"/>
            <a:lstStyle/>
            <a:p>
              <a:endParaRPr lang="zh-CN" altLang="en-US"/>
            </a:p>
          </p:txBody>
        </p:sp>
        <p:sp>
          <p:nvSpPr>
            <p:cNvPr id="248944" name="Freeform 112"/>
            <p:cNvSpPr>
              <a:spLocks/>
            </p:cNvSpPr>
            <p:nvPr/>
          </p:nvSpPr>
          <p:spPr bwMode="auto">
            <a:xfrm>
              <a:off x="331" y="2166"/>
              <a:ext cx="2300" cy="0"/>
            </a:xfrm>
            <a:custGeom>
              <a:avLst/>
              <a:gdLst/>
              <a:ahLst/>
              <a:cxnLst>
                <a:cxn ang="0">
                  <a:pos x="0" y="1"/>
                </a:cxn>
                <a:cxn ang="0">
                  <a:pos x="2119" y="0"/>
                </a:cxn>
              </a:cxnLst>
              <a:rect l="0" t="0" r="r" b="b"/>
              <a:pathLst>
                <a:path w="2119" h="1">
                  <a:moveTo>
                    <a:pt x="0" y="1"/>
                  </a:moveTo>
                  <a:lnTo>
                    <a:pt x="2119" y="0"/>
                  </a:lnTo>
                </a:path>
              </a:pathLst>
            </a:custGeom>
            <a:noFill/>
            <a:ln w="12700">
              <a:solidFill>
                <a:schemeClr val="tx1"/>
              </a:solidFill>
              <a:round/>
              <a:headEnd type="triangle" w="sm" len="med"/>
              <a:tailEnd type="triangle" w="sm" len="med"/>
            </a:ln>
            <a:effectLst/>
          </p:spPr>
          <p:txBody>
            <a:bodyPr wrap="none" anchor="ctr"/>
            <a:lstStyle/>
            <a:p>
              <a:endParaRPr lang="zh-CN" altLang="en-US"/>
            </a:p>
          </p:txBody>
        </p:sp>
        <p:sp>
          <p:nvSpPr>
            <p:cNvPr id="248945" name="Rectangle 113"/>
            <p:cNvSpPr>
              <a:spLocks noChangeArrowheads="1"/>
            </p:cNvSpPr>
            <p:nvPr/>
          </p:nvSpPr>
          <p:spPr bwMode="auto">
            <a:xfrm>
              <a:off x="1381" y="2117"/>
              <a:ext cx="317" cy="161"/>
            </a:xfrm>
            <a:prstGeom prst="rect">
              <a:avLst/>
            </a:prstGeom>
            <a:solidFill>
              <a:schemeClr val="bg1"/>
            </a:solidFill>
            <a:ln w="12700">
              <a:noFill/>
              <a:miter lim="800000"/>
              <a:headEnd/>
              <a:tailEnd/>
            </a:ln>
            <a:effectLst/>
          </p:spPr>
          <p:txBody>
            <a:bodyPr wrap="none" anchor="ctr"/>
            <a:lstStyle/>
            <a:p>
              <a:endParaRPr lang="zh-CN" altLang="en-US"/>
            </a:p>
          </p:txBody>
        </p:sp>
        <p:sp>
          <p:nvSpPr>
            <p:cNvPr id="248946" name="Line 114"/>
            <p:cNvSpPr>
              <a:spLocks noChangeShapeType="1"/>
            </p:cNvSpPr>
            <p:nvPr/>
          </p:nvSpPr>
          <p:spPr bwMode="auto">
            <a:xfrm flipV="1">
              <a:off x="331" y="2067"/>
              <a:ext cx="0" cy="188"/>
            </a:xfrm>
            <a:prstGeom prst="line">
              <a:avLst/>
            </a:prstGeom>
            <a:noFill/>
            <a:ln w="12700">
              <a:solidFill>
                <a:schemeClr val="tx1"/>
              </a:solidFill>
              <a:round/>
              <a:headEnd/>
              <a:tailEnd/>
            </a:ln>
            <a:effectLst/>
          </p:spPr>
          <p:txBody>
            <a:bodyPr wrap="none" anchor="ctr"/>
            <a:lstStyle/>
            <a:p>
              <a:endParaRPr lang="zh-CN" altLang="en-US"/>
            </a:p>
          </p:txBody>
        </p:sp>
        <p:sp>
          <p:nvSpPr>
            <p:cNvPr id="248947" name="Line 115"/>
            <p:cNvSpPr>
              <a:spLocks noChangeShapeType="1"/>
            </p:cNvSpPr>
            <p:nvPr/>
          </p:nvSpPr>
          <p:spPr bwMode="auto">
            <a:xfrm flipV="1">
              <a:off x="2635" y="2090"/>
              <a:ext cx="0" cy="158"/>
            </a:xfrm>
            <a:prstGeom prst="line">
              <a:avLst/>
            </a:prstGeom>
            <a:noFill/>
            <a:ln w="12700">
              <a:solidFill>
                <a:schemeClr val="tx1"/>
              </a:solidFill>
              <a:round/>
              <a:headEnd/>
              <a:tailEnd/>
            </a:ln>
            <a:effectLst/>
          </p:spPr>
          <p:txBody>
            <a:bodyPr wrap="none" anchor="ctr"/>
            <a:lstStyle/>
            <a:p>
              <a:endParaRPr lang="zh-CN" altLang="en-US"/>
            </a:p>
          </p:txBody>
        </p:sp>
        <p:sp>
          <p:nvSpPr>
            <p:cNvPr id="248948" name="Rectangle 116"/>
            <p:cNvSpPr>
              <a:spLocks noChangeArrowheads="1"/>
            </p:cNvSpPr>
            <p:nvPr/>
          </p:nvSpPr>
          <p:spPr bwMode="auto">
            <a:xfrm>
              <a:off x="1381" y="2038"/>
              <a:ext cx="331" cy="250"/>
            </a:xfrm>
            <a:prstGeom prst="rect">
              <a:avLst/>
            </a:prstGeom>
            <a:noFill/>
            <a:ln w="12700">
              <a:noFill/>
              <a:miter lim="800000"/>
              <a:headEnd/>
              <a:tailEnd/>
            </a:ln>
            <a:effectLst/>
          </p:spPr>
          <p:txBody>
            <a:bodyPr wrap="none">
              <a:spAutoFit/>
            </a:bodyPr>
            <a:lstStyle/>
            <a:p>
              <a:pPr defTabSz="762000" eaLnBrk="0" hangingPunct="0"/>
              <a:r>
                <a:rPr kumimoji="1" lang="en-US" altLang="zh-CN" sz="2000" i="1">
                  <a:solidFill>
                    <a:srgbClr val="333399"/>
                  </a:solidFill>
                  <a:ea typeface="黑体" pitchFamily="2" charset="-122"/>
                </a:rPr>
                <a:t>W</a:t>
              </a:r>
              <a:r>
                <a:rPr kumimoji="1" lang="en-US" altLang="zh-CN" sz="2000" i="1" baseline="-25000">
                  <a:solidFill>
                    <a:srgbClr val="333399"/>
                  </a:solidFill>
                  <a:ea typeface="黑体" pitchFamily="2" charset="-122"/>
                </a:rPr>
                <a:t>T</a:t>
              </a:r>
            </a:p>
          </p:txBody>
        </p:sp>
        <p:sp>
          <p:nvSpPr>
            <p:cNvPr id="248949" name="AutoShape 117"/>
            <p:cNvSpPr>
              <a:spLocks/>
            </p:cNvSpPr>
            <p:nvPr/>
          </p:nvSpPr>
          <p:spPr bwMode="auto">
            <a:xfrm rot="-5400000">
              <a:off x="1425" y="1565"/>
              <a:ext cx="125" cy="2310"/>
            </a:xfrm>
            <a:prstGeom prst="leftBrace">
              <a:avLst>
                <a:gd name="adj1" fmla="val 154000"/>
                <a:gd name="adj2" fmla="val 50000"/>
              </a:avLst>
            </a:prstGeom>
            <a:noFill/>
            <a:ln w="9525">
              <a:solidFill>
                <a:schemeClr val="tx1"/>
              </a:solidFill>
              <a:round/>
              <a:headEnd/>
              <a:tailEnd/>
            </a:ln>
            <a:effectLst/>
          </p:spPr>
          <p:txBody>
            <a:bodyPr wrap="none" anchor="ctr"/>
            <a:lstStyle/>
            <a:p>
              <a:endParaRPr lang="zh-CN" altLang="en-US"/>
            </a:p>
          </p:txBody>
        </p:sp>
        <p:sp>
          <p:nvSpPr>
            <p:cNvPr id="248950" name="Text Box 118"/>
            <p:cNvSpPr txBox="1">
              <a:spLocks noChangeArrowheads="1"/>
            </p:cNvSpPr>
            <p:nvPr/>
          </p:nvSpPr>
          <p:spPr bwMode="auto">
            <a:xfrm>
              <a:off x="1217" y="2717"/>
              <a:ext cx="596"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已发送</a:t>
              </a:r>
            </a:p>
          </p:txBody>
        </p:sp>
        <p:sp>
          <p:nvSpPr>
            <p:cNvPr id="248951" name="Text Box 119"/>
            <p:cNvSpPr txBox="1">
              <a:spLocks noChangeArrowheads="1"/>
            </p:cNvSpPr>
            <p:nvPr/>
          </p:nvSpPr>
          <p:spPr bwMode="auto">
            <a:xfrm>
              <a:off x="-16" y="2352"/>
              <a:ext cx="301" cy="250"/>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2" charset="-122"/>
                </a:rPr>
                <a:t>(c)</a:t>
              </a:r>
            </a:p>
          </p:txBody>
        </p:sp>
      </p:grpSp>
      <p:grpSp>
        <p:nvGrpSpPr>
          <p:cNvPr id="4" name="Group 120"/>
          <p:cNvGrpSpPr>
            <a:grpSpLocks/>
          </p:cNvGrpSpPr>
          <p:nvPr/>
        </p:nvGrpSpPr>
        <p:grpSpPr bwMode="auto">
          <a:xfrm>
            <a:off x="-25400" y="4795838"/>
            <a:ext cx="8991600" cy="1782762"/>
            <a:chOff x="-16" y="3021"/>
            <a:chExt cx="5664" cy="1123"/>
          </a:xfrm>
        </p:grpSpPr>
        <p:sp>
          <p:nvSpPr>
            <p:cNvPr id="248953" name="Rectangle 121"/>
            <p:cNvSpPr>
              <a:spLocks noChangeArrowheads="1"/>
            </p:cNvSpPr>
            <p:nvPr/>
          </p:nvSpPr>
          <p:spPr bwMode="auto">
            <a:xfrm>
              <a:off x="1712" y="3290"/>
              <a:ext cx="2296" cy="316"/>
            </a:xfrm>
            <a:prstGeom prst="rect">
              <a:avLst/>
            </a:prstGeom>
            <a:solidFill>
              <a:srgbClr val="FFCCFF"/>
            </a:solidFill>
            <a:ln w="12700">
              <a:solidFill>
                <a:schemeClr val="tx1"/>
              </a:solidFill>
              <a:miter lim="800000"/>
              <a:headEnd/>
              <a:tailEnd/>
            </a:ln>
            <a:effectLst/>
          </p:spPr>
          <p:txBody>
            <a:bodyPr wrap="none" anchor="ctr"/>
            <a:lstStyle/>
            <a:p>
              <a:endParaRPr lang="zh-CN" altLang="en-US"/>
            </a:p>
          </p:txBody>
        </p:sp>
        <p:sp>
          <p:nvSpPr>
            <p:cNvPr id="248954" name="Rectangle 122"/>
            <p:cNvSpPr>
              <a:spLocks noChangeArrowheads="1"/>
            </p:cNvSpPr>
            <p:nvPr/>
          </p:nvSpPr>
          <p:spPr bwMode="auto">
            <a:xfrm>
              <a:off x="4008" y="3416"/>
              <a:ext cx="1628" cy="191"/>
            </a:xfrm>
            <a:prstGeom prst="rect">
              <a:avLst/>
            </a:prstGeom>
            <a:solidFill>
              <a:srgbClr val="FFFFCC"/>
            </a:solidFill>
            <a:ln w="9525">
              <a:noFill/>
              <a:miter lim="800000"/>
              <a:headEnd/>
              <a:tailEnd/>
            </a:ln>
            <a:effectLst/>
          </p:spPr>
          <p:txBody>
            <a:bodyPr wrap="none" anchor="ctr"/>
            <a:lstStyle/>
            <a:p>
              <a:endParaRPr lang="zh-CN" altLang="en-US"/>
            </a:p>
          </p:txBody>
        </p:sp>
        <p:sp>
          <p:nvSpPr>
            <p:cNvPr id="248955" name="Rectangle 123"/>
            <p:cNvSpPr>
              <a:spLocks noChangeArrowheads="1"/>
            </p:cNvSpPr>
            <p:nvPr/>
          </p:nvSpPr>
          <p:spPr bwMode="auto">
            <a:xfrm>
              <a:off x="331" y="3412"/>
              <a:ext cx="2289" cy="200"/>
            </a:xfrm>
            <a:prstGeom prst="rect">
              <a:avLst/>
            </a:prstGeom>
            <a:solidFill>
              <a:srgbClr val="00FFCC"/>
            </a:solidFill>
            <a:ln w="9525">
              <a:noFill/>
              <a:miter lim="800000"/>
              <a:headEnd/>
              <a:tailEnd/>
            </a:ln>
            <a:effectLst/>
          </p:spPr>
          <p:txBody>
            <a:bodyPr wrap="none" anchor="ctr"/>
            <a:lstStyle/>
            <a:p>
              <a:endParaRPr lang="zh-CN" altLang="en-US"/>
            </a:p>
          </p:txBody>
        </p:sp>
        <p:sp>
          <p:nvSpPr>
            <p:cNvPr id="248956" name="Line 124"/>
            <p:cNvSpPr>
              <a:spLocks noChangeShapeType="1"/>
            </p:cNvSpPr>
            <p:nvPr/>
          </p:nvSpPr>
          <p:spPr bwMode="auto">
            <a:xfrm>
              <a:off x="332" y="3416"/>
              <a:ext cx="5314" cy="0"/>
            </a:xfrm>
            <a:prstGeom prst="line">
              <a:avLst/>
            </a:prstGeom>
            <a:noFill/>
            <a:ln w="28575">
              <a:solidFill>
                <a:schemeClr val="tx1"/>
              </a:solidFill>
              <a:round/>
              <a:headEnd/>
              <a:tailEnd/>
            </a:ln>
            <a:effectLst/>
          </p:spPr>
          <p:txBody>
            <a:bodyPr wrap="none" anchor="ctr"/>
            <a:lstStyle/>
            <a:p>
              <a:endParaRPr lang="zh-CN" altLang="en-US"/>
            </a:p>
          </p:txBody>
        </p:sp>
        <p:sp>
          <p:nvSpPr>
            <p:cNvPr id="248957" name="Line 125"/>
            <p:cNvSpPr>
              <a:spLocks noChangeShapeType="1"/>
            </p:cNvSpPr>
            <p:nvPr/>
          </p:nvSpPr>
          <p:spPr bwMode="auto">
            <a:xfrm>
              <a:off x="334" y="3612"/>
              <a:ext cx="5314" cy="0"/>
            </a:xfrm>
            <a:prstGeom prst="line">
              <a:avLst/>
            </a:prstGeom>
            <a:noFill/>
            <a:ln w="28575">
              <a:solidFill>
                <a:schemeClr val="tx1"/>
              </a:solidFill>
              <a:round/>
              <a:headEnd/>
              <a:tailEnd/>
            </a:ln>
            <a:effectLst/>
          </p:spPr>
          <p:txBody>
            <a:bodyPr wrap="none" anchor="ctr"/>
            <a:lstStyle/>
            <a:p>
              <a:endParaRPr lang="zh-CN" altLang="en-US"/>
            </a:p>
          </p:txBody>
        </p:sp>
        <p:sp>
          <p:nvSpPr>
            <p:cNvPr id="248958" name="Line 126"/>
            <p:cNvSpPr>
              <a:spLocks noChangeShapeType="1"/>
            </p:cNvSpPr>
            <p:nvPr/>
          </p:nvSpPr>
          <p:spPr bwMode="auto">
            <a:xfrm>
              <a:off x="792" y="3416"/>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959" name="Line 127"/>
            <p:cNvSpPr>
              <a:spLocks noChangeShapeType="1"/>
            </p:cNvSpPr>
            <p:nvPr/>
          </p:nvSpPr>
          <p:spPr bwMode="auto">
            <a:xfrm>
              <a:off x="330" y="3410"/>
              <a:ext cx="0" cy="208"/>
            </a:xfrm>
            <a:prstGeom prst="line">
              <a:avLst/>
            </a:prstGeom>
            <a:noFill/>
            <a:ln w="28575">
              <a:solidFill>
                <a:schemeClr val="tx1"/>
              </a:solidFill>
              <a:round/>
              <a:headEnd/>
              <a:tailEnd/>
            </a:ln>
            <a:effectLst/>
          </p:spPr>
          <p:txBody>
            <a:bodyPr wrap="none" anchor="ctr"/>
            <a:lstStyle/>
            <a:p>
              <a:endParaRPr lang="zh-CN" altLang="en-US"/>
            </a:p>
          </p:txBody>
        </p:sp>
        <p:sp>
          <p:nvSpPr>
            <p:cNvPr id="248960" name="Line 128"/>
            <p:cNvSpPr>
              <a:spLocks noChangeShapeType="1"/>
            </p:cNvSpPr>
            <p:nvPr/>
          </p:nvSpPr>
          <p:spPr bwMode="auto">
            <a:xfrm>
              <a:off x="1252" y="3420"/>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961" name="Line 129"/>
            <p:cNvSpPr>
              <a:spLocks noChangeShapeType="1"/>
            </p:cNvSpPr>
            <p:nvPr/>
          </p:nvSpPr>
          <p:spPr bwMode="auto">
            <a:xfrm>
              <a:off x="1713" y="3421"/>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962" name="Line 130"/>
            <p:cNvSpPr>
              <a:spLocks noChangeShapeType="1"/>
            </p:cNvSpPr>
            <p:nvPr/>
          </p:nvSpPr>
          <p:spPr bwMode="auto">
            <a:xfrm>
              <a:off x="2171" y="3418"/>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963" name="Freeform 131"/>
            <p:cNvSpPr>
              <a:spLocks/>
            </p:cNvSpPr>
            <p:nvPr/>
          </p:nvSpPr>
          <p:spPr bwMode="auto">
            <a:xfrm>
              <a:off x="2629" y="3426"/>
              <a:ext cx="1" cy="189"/>
            </a:xfrm>
            <a:custGeom>
              <a:avLst/>
              <a:gdLst/>
              <a:ahLst/>
              <a:cxnLst>
                <a:cxn ang="0">
                  <a:pos x="0" y="0"/>
                </a:cxn>
                <a:cxn ang="0">
                  <a:pos x="0" y="194"/>
                </a:cxn>
              </a:cxnLst>
              <a:rect l="0" t="0" r="r" b="b"/>
              <a:pathLst>
                <a:path w="1" h="194">
                  <a:moveTo>
                    <a:pt x="0" y="0"/>
                  </a:moveTo>
                  <a:lnTo>
                    <a:pt x="0" y="194"/>
                  </a:lnTo>
                </a:path>
              </a:pathLst>
            </a:custGeom>
            <a:noFill/>
            <a:ln w="28575">
              <a:solidFill>
                <a:schemeClr val="tx1"/>
              </a:solidFill>
              <a:round/>
              <a:headEnd/>
              <a:tailEnd/>
            </a:ln>
            <a:effectLst/>
          </p:spPr>
          <p:txBody>
            <a:bodyPr wrap="none" anchor="ctr"/>
            <a:lstStyle/>
            <a:p>
              <a:endParaRPr lang="zh-CN" altLang="en-US"/>
            </a:p>
          </p:txBody>
        </p:sp>
        <p:sp>
          <p:nvSpPr>
            <p:cNvPr id="248964" name="Freeform 132"/>
            <p:cNvSpPr>
              <a:spLocks/>
            </p:cNvSpPr>
            <p:nvPr/>
          </p:nvSpPr>
          <p:spPr bwMode="auto">
            <a:xfrm>
              <a:off x="3088" y="3421"/>
              <a:ext cx="3" cy="194"/>
            </a:xfrm>
            <a:custGeom>
              <a:avLst/>
              <a:gdLst/>
              <a:ahLst/>
              <a:cxnLst>
                <a:cxn ang="0">
                  <a:pos x="3" y="0"/>
                </a:cxn>
                <a:cxn ang="0">
                  <a:pos x="0" y="198"/>
                </a:cxn>
              </a:cxnLst>
              <a:rect l="0" t="0" r="r" b="b"/>
              <a:pathLst>
                <a:path w="3" h="198">
                  <a:moveTo>
                    <a:pt x="3" y="0"/>
                  </a:moveTo>
                  <a:lnTo>
                    <a:pt x="0" y="198"/>
                  </a:lnTo>
                </a:path>
              </a:pathLst>
            </a:custGeom>
            <a:noFill/>
            <a:ln w="28575">
              <a:solidFill>
                <a:schemeClr val="tx1"/>
              </a:solidFill>
              <a:round/>
              <a:headEnd/>
              <a:tailEnd/>
            </a:ln>
            <a:effectLst/>
          </p:spPr>
          <p:txBody>
            <a:bodyPr wrap="none" anchor="ctr"/>
            <a:lstStyle/>
            <a:p>
              <a:endParaRPr lang="zh-CN" altLang="en-US"/>
            </a:p>
          </p:txBody>
        </p:sp>
        <p:sp>
          <p:nvSpPr>
            <p:cNvPr id="248965" name="Line 133"/>
            <p:cNvSpPr>
              <a:spLocks noChangeShapeType="1"/>
            </p:cNvSpPr>
            <p:nvPr/>
          </p:nvSpPr>
          <p:spPr bwMode="auto">
            <a:xfrm>
              <a:off x="3552" y="3421"/>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966" name="Line 134"/>
            <p:cNvSpPr>
              <a:spLocks noChangeShapeType="1"/>
            </p:cNvSpPr>
            <p:nvPr/>
          </p:nvSpPr>
          <p:spPr bwMode="auto">
            <a:xfrm>
              <a:off x="4012" y="3421"/>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967" name="Line 135"/>
            <p:cNvSpPr>
              <a:spLocks noChangeShapeType="1"/>
            </p:cNvSpPr>
            <p:nvPr/>
          </p:nvSpPr>
          <p:spPr bwMode="auto">
            <a:xfrm>
              <a:off x="4474" y="3416"/>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968" name="Line 136"/>
            <p:cNvSpPr>
              <a:spLocks noChangeShapeType="1"/>
            </p:cNvSpPr>
            <p:nvPr/>
          </p:nvSpPr>
          <p:spPr bwMode="auto">
            <a:xfrm>
              <a:off x="4932" y="3418"/>
              <a:ext cx="0" cy="188"/>
            </a:xfrm>
            <a:prstGeom prst="line">
              <a:avLst/>
            </a:prstGeom>
            <a:noFill/>
            <a:ln w="28575">
              <a:solidFill>
                <a:schemeClr val="tx1"/>
              </a:solidFill>
              <a:round/>
              <a:headEnd/>
              <a:tailEnd/>
            </a:ln>
            <a:effectLst/>
          </p:spPr>
          <p:txBody>
            <a:bodyPr wrap="none" anchor="ctr"/>
            <a:lstStyle/>
            <a:p>
              <a:endParaRPr lang="zh-CN" altLang="en-US"/>
            </a:p>
          </p:txBody>
        </p:sp>
        <p:sp>
          <p:nvSpPr>
            <p:cNvPr id="248969" name="Line 137"/>
            <p:cNvSpPr>
              <a:spLocks noChangeShapeType="1"/>
            </p:cNvSpPr>
            <p:nvPr/>
          </p:nvSpPr>
          <p:spPr bwMode="auto">
            <a:xfrm>
              <a:off x="5394" y="3420"/>
              <a:ext cx="0" cy="187"/>
            </a:xfrm>
            <a:prstGeom prst="line">
              <a:avLst/>
            </a:prstGeom>
            <a:noFill/>
            <a:ln w="28575">
              <a:solidFill>
                <a:schemeClr val="tx1"/>
              </a:solidFill>
              <a:round/>
              <a:headEnd/>
              <a:tailEnd/>
            </a:ln>
            <a:effectLst/>
          </p:spPr>
          <p:txBody>
            <a:bodyPr wrap="none" anchor="ctr"/>
            <a:lstStyle/>
            <a:p>
              <a:endParaRPr lang="zh-CN" altLang="en-US"/>
            </a:p>
          </p:txBody>
        </p:sp>
        <p:sp>
          <p:nvSpPr>
            <p:cNvPr id="248970" name="Rectangle 138"/>
            <p:cNvSpPr>
              <a:spLocks noChangeArrowheads="1"/>
            </p:cNvSpPr>
            <p:nvPr/>
          </p:nvSpPr>
          <p:spPr bwMode="auto">
            <a:xfrm>
              <a:off x="445"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48971" name="Rectangle 139"/>
            <p:cNvSpPr>
              <a:spLocks noChangeArrowheads="1"/>
            </p:cNvSpPr>
            <p:nvPr/>
          </p:nvSpPr>
          <p:spPr bwMode="auto">
            <a:xfrm>
              <a:off x="894"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48972" name="Rectangle 140"/>
            <p:cNvSpPr>
              <a:spLocks noChangeArrowheads="1"/>
            </p:cNvSpPr>
            <p:nvPr/>
          </p:nvSpPr>
          <p:spPr bwMode="auto">
            <a:xfrm>
              <a:off x="1383"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48973" name="Rectangle 141"/>
            <p:cNvSpPr>
              <a:spLocks noChangeArrowheads="1"/>
            </p:cNvSpPr>
            <p:nvPr/>
          </p:nvSpPr>
          <p:spPr bwMode="auto">
            <a:xfrm>
              <a:off x="1843"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3</a:t>
              </a:r>
            </a:p>
          </p:txBody>
        </p:sp>
        <p:sp>
          <p:nvSpPr>
            <p:cNvPr id="248974" name="Rectangle 142"/>
            <p:cNvSpPr>
              <a:spLocks noChangeArrowheads="1"/>
            </p:cNvSpPr>
            <p:nvPr/>
          </p:nvSpPr>
          <p:spPr bwMode="auto">
            <a:xfrm>
              <a:off x="2281" y="3394"/>
              <a:ext cx="308"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4</a:t>
              </a:r>
            </a:p>
          </p:txBody>
        </p:sp>
        <p:sp>
          <p:nvSpPr>
            <p:cNvPr id="248975" name="Rectangle 143"/>
            <p:cNvSpPr>
              <a:spLocks noChangeArrowheads="1"/>
            </p:cNvSpPr>
            <p:nvPr/>
          </p:nvSpPr>
          <p:spPr bwMode="auto">
            <a:xfrm>
              <a:off x="2741"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5</a:t>
              </a:r>
            </a:p>
          </p:txBody>
        </p:sp>
        <p:sp>
          <p:nvSpPr>
            <p:cNvPr id="248976" name="Rectangle 144"/>
            <p:cNvSpPr>
              <a:spLocks noChangeArrowheads="1"/>
            </p:cNvSpPr>
            <p:nvPr/>
          </p:nvSpPr>
          <p:spPr bwMode="auto">
            <a:xfrm>
              <a:off x="3191"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6</a:t>
              </a:r>
            </a:p>
          </p:txBody>
        </p:sp>
        <p:sp>
          <p:nvSpPr>
            <p:cNvPr id="248977" name="Rectangle 145"/>
            <p:cNvSpPr>
              <a:spLocks noChangeArrowheads="1"/>
            </p:cNvSpPr>
            <p:nvPr/>
          </p:nvSpPr>
          <p:spPr bwMode="auto">
            <a:xfrm>
              <a:off x="3650"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7</a:t>
              </a:r>
            </a:p>
          </p:txBody>
        </p:sp>
        <p:sp>
          <p:nvSpPr>
            <p:cNvPr id="248978" name="Rectangle 146"/>
            <p:cNvSpPr>
              <a:spLocks noChangeArrowheads="1"/>
            </p:cNvSpPr>
            <p:nvPr/>
          </p:nvSpPr>
          <p:spPr bwMode="auto">
            <a:xfrm>
              <a:off x="4127"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48979" name="Rectangle 147"/>
            <p:cNvSpPr>
              <a:spLocks noChangeArrowheads="1"/>
            </p:cNvSpPr>
            <p:nvPr/>
          </p:nvSpPr>
          <p:spPr bwMode="auto">
            <a:xfrm>
              <a:off x="4599"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48980" name="Rectangle 148"/>
            <p:cNvSpPr>
              <a:spLocks noChangeArrowheads="1"/>
            </p:cNvSpPr>
            <p:nvPr/>
          </p:nvSpPr>
          <p:spPr bwMode="auto">
            <a:xfrm>
              <a:off x="5058" y="3394"/>
              <a:ext cx="230" cy="249"/>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48981" name="AutoShape 149"/>
            <p:cNvSpPr>
              <a:spLocks noChangeArrowheads="1"/>
            </p:cNvSpPr>
            <p:nvPr/>
          </p:nvSpPr>
          <p:spPr bwMode="auto">
            <a:xfrm>
              <a:off x="4009" y="3307"/>
              <a:ext cx="417" cy="95"/>
            </a:xfrm>
            <a:prstGeom prst="rightArrow">
              <a:avLst>
                <a:gd name="adj1" fmla="val 50000"/>
                <a:gd name="adj2" fmla="val 109737"/>
              </a:avLst>
            </a:prstGeom>
            <a:solidFill>
              <a:srgbClr val="EAEAEA"/>
            </a:solidFill>
            <a:ln w="12700">
              <a:solidFill>
                <a:schemeClr val="tx1"/>
              </a:solidFill>
              <a:miter lim="800000"/>
              <a:headEnd/>
              <a:tailEnd/>
            </a:ln>
            <a:effectLst/>
          </p:spPr>
          <p:txBody>
            <a:bodyPr wrap="none" anchor="ctr"/>
            <a:lstStyle/>
            <a:p>
              <a:endParaRPr lang="zh-CN" altLang="en-US"/>
            </a:p>
          </p:txBody>
        </p:sp>
        <p:sp>
          <p:nvSpPr>
            <p:cNvPr id="248982" name="Text Box 150"/>
            <p:cNvSpPr txBox="1">
              <a:spLocks noChangeArrowheads="1"/>
            </p:cNvSpPr>
            <p:nvPr/>
          </p:nvSpPr>
          <p:spPr bwMode="auto">
            <a:xfrm>
              <a:off x="4151" y="3678"/>
              <a:ext cx="1396"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不允许发送这些帧</a:t>
              </a:r>
            </a:p>
          </p:txBody>
        </p:sp>
        <p:sp>
          <p:nvSpPr>
            <p:cNvPr id="248983" name="AutoShape 151"/>
            <p:cNvSpPr>
              <a:spLocks/>
            </p:cNvSpPr>
            <p:nvPr/>
          </p:nvSpPr>
          <p:spPr bwMode="auto">
            <a:xfrm rot="-5400000">
              <a:off x="4764" y="2894"/>
              <a:ext cx="106" cy="1594"/>
            </a:xfrm>
            <a:prstGeom prst="leftBrace">
              <a:avLst>
                <a:gd name="adj1" fmla="val 125314"/>
                <a:gd name="adj2" fmla="val 50000"/>
              </a:avLst>
            </a:prstGeom>
            <a:noFill/>
            <a:ln w="9525">
              <a:solidFill>
                <a:schemeClr val="tx1"/>
              </a:solidFill>
              <a:round/>
              <a:headEnd/>
              <a:tailEnd/>
            </a:ln>
            <a:effectLst/>
          </p:spPr>
          <p:txBody>
            <a:bodyPr wrap="none" anchor="ctr"/>
            <a:lstStyle/>
            <a:p>
              <a:endParaRPr lang="zh-CN" altLang="en-US"/>
            </a:p>
          </p:txBody>
        </p:sp>
        <p:sp>
          <p:nvSpPr>
            <p:cNvPr id="248984" name="AutoShape 152"/>
            <p:cNvSpPr>
              <a:spLocks/>
            </p:cNvSpPr>
            <p:nvPr/>
          </p:nvSpPr>
          <p:spPr bwMode="auto">
            <a:xfrm rot="-5400000">
              <a:off x="3267" y="3025"/>
              <a:ext cx="91" cy="1335"/>
            </a:xfrm>
            <a:prstGeom prst="leftBrace">
              <a:avLst>
                <a:gd name="adj1" fmla="val 122253"/>
                <a:gd name="adj2" fmla="val 50000"/>
              </a:avLst>
            </a:prstGeom>
            <a:noFill/>
            <a:ln w="9525">
              <a:solidFill>
                <a:schemeClr val="tx1"/>
              </a:solidFill>
              <a:round/>
              <a:headEnd/>
              <a:tailEnd/>
            </a:ln>
            <a:effectLst/>
          </p:spPr>
          <p:txBody>
            <a:bodyPr wrap="none" anchor="ctr"/>
            <a:lstStyle/>
            <a:p>
              <a:endParaRPr lang="zh-CN" altLang="en-US"/>
            </a:p>
          </p:txBody>
        </p:sp>
        <p:sp>
          <p:nvSpPr>
            <p:cNvPr id="248985" name="Text Box 153"/>
            <p:cNvSpPr txBox="1">
              <a:spLocks noChangeArrowheads="1"/>
            </p:cNvSpPr>
            <p:nvPr/>
          </p:nvSpPr>
          <p:spPr bwMode="auto">
            <a:xfrm>
              <a:off x="2884" y="3659"/>
              <a:ext cx="916" cy="441"/>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还允许发送</a:t>
              </a:r>
            </a:p>
            <a:p>
              <a:r>
                <a:rPr kumimoji="1" lang="zh-CN" altLang="en-US" sz="2000">
                  <a:solidFill>
                    <a:srgbClr val="333399"/>
                  </a:solidFill>
                  <a:ea typeface="黑体" pitchFamily="2" charset="-122"/>
                </a:rPr>
                <a:t>     </a:t>
              </a:r>
              <a:r>
                <a:rPr kumimoji="1" lang="en-US" altLang="zh-CN" sz="2000">
                  <a:solidFill>
                    <a:srgbClr val="333399"/>
                  </a:solidFill>
                  <a:ea typeface="黑体" pitchFamily="2" charset="-122"/>
                </a:rPr>
                <a:t>3 </a:t>
              </a:r>
              <a:r>
                <a:rPr kumimoji="1" lang="zh-CN" altLang="en-US" sz="2000">
                  <a:solidFill>
                    <a:srgbClr val="333399"/>
                  </a:solidFill>
                  <a:ea typeface="黑体" pitchFamily="2" charset="-122"/>
                </a:rPr>
                <a:t>个帧</a:t>
              </a:r>
            </a:p>
          </p:txBody>
        </p:sp>
        <p:sp>
          <p:nvSpPr>
            <p:cNvPr id="248986" name="Freeform 154"/>
            <p:cNvSpPr>
              <a:spLocks/>
            </p:cNvSpPr>
            <p:nvPr/>
          </p:nvSpPr>
          <p:spPr bwMode="auto">
            <a:xfrm>
              <a:off x="1716" y="3151"/>
              <a:ext cx="2287" cy="2"/>
            </a:xfrm>
            <a:custGeom>
              <a:avLst/>
              <a:gdLst/>
              <a:ahLst/>
              <a:cxnLst>
                <a:cxn ang="0">
                  <a:pos x="0" y="0"/>
                </a:cxn>
                <a:cxn ang="0">
                  <a:pos x="2107" y="2"/>
                </a:cxn>
              </a:cxnLst>
              <a:rect l="0" t="0" r="r" b="b"/>
              <a:pathLst>
                <a:path w="2107" h="2">
                  <a:moveTo>
                    <a:pt x="0" y="0"/>
                  </a:moveTo>
                  <a:lnTo>
                    <a:pt x="2107" y="2"/>
                  </a:lnTo>
                </a:path>
              </a:pathLst>
            </a:custGeom>
            <a:noFill/>
            <a:ln w="12700">
              <a:solidFill>
                <a:schemeClr val="tx1"/>
              </a:solidFill>
              <a:round/>
              <a:headEnd type="triangle" w="sm" len="med"/>
              <a:tailEnd type="triangle" w="sm" len="med"/>
            </a:ln>
            <a:effectLst/>
          </p:spPr>
          <p:txBody>
            <a:bodyPr wrap="none" anchor="ctr"/>
            <a:lstStyle/>
            <a:p>
              <a:endParaRPr lang="zh-CN" altLang="en-US"/>
            </a:p>
          </p:txBody>
        </p:sp>
        <p:sp>
          <p:nvSpPr>
            <p:cNvPr id="248987" name="Rectangle 155"/>
            <p:cNvSpPr>
              <a:spLocks noChangeArrowheads="1"/>
            </p:cNvSpPr>
            <p:nvPr/>
          </p:nvSpPr>
          <p:spPr bwMode="auto">
            <a:xfrm>
              <a:off x="2766" y="3099"/>
              <a:ext cx="316" cy="162"/>
            </a:xfrm>
            <a:prstGeom prst="rect">
              <a:avLst/>
            </a:prstGeom>
            <a:solidFill>
              <a:schemeClr val="bg1"/>
            </a:solidFill>
            <a:ln w="12700">
              <a:noFill/>
              <a:miter lim="800000"/>
              <a:headEnd/>
              <a:tailEnd/>
            </a:ln>
            <a:effectLst/>
          </p:spPr>
          <p:txBody>
            <a:bodyPr wrap="none" anchor="ctr"/>
            <a:lstStyle/>
            <a:p>
              <a:endParaRPr lang="zh-CN" altLang="en-US"/>
            </a:p>
          </p:txBody>
        </p:sp>
        <p:sp>
          <p:nvSpPr>
            <p:cNvPr id="248988" name="Line 156"/>
            <p:cNvSpPr>
              <a:spLocks noChangeShapeType="1"/>
            </p:cNvSpPr>
            <p:nvPr/>
          </p:nvSpPr>
          <p:spPr bwMode="auto">
            <a:xfrm flipV="1">
              <a:off x="1716" y="3050"/>
              <a:ext cx="0" cy="188"/>
            </a:xfrm>
            <a:prstGeom prst="line">
              <a:avLst/>
            </a:prstGeom>
            <a:noFill/>
            <a:ln w="12700">
              <a:solidFill>
                <a:schemeClr val="tx1"/>
              </a:solidFill>
              <a:round/>
              <a:headEnd/>
              <a:tailEnd/>
            </a:ln>
            <a:effectLst/>
          </p:spPr>
          <p:txBody>
            <a:bodyPr wrap="none" anchor="ctr"/>
            <a:lstStyle/>
            <a:p>
              <a:endParaRPr lang="zh-CN" altLang="en-US"/>
            </a:p>
          </p:txBody>
        </p:sp>
        <p:sp>
          <p:nvSpPr>
            <p:cNvPr id="248989" name="Line 157"/>
            <p:cNvSpPr>
              <a:spLocks noChangeShapeType="1"/>
            </p:cNvSpPr>
            <p:nvPr/>
          </p:nvSpPr>
          <p:spPr bwMode="auto">
            <a:xfrm flipV="1">
              <a:off x="4006" y="3073"/>
              <a:ext cx="0" cy="158"/>
            </a:xfrm>
            <a:prstGeom prst="line">
              <a:avLst/>
            </a:prstGeom>
            <a:noFill/>
            <a:ln w="12700">
              <a:solidFill>
                <a:schemeClr val="tx1"/>
              </a:solidFill>
              <a:round/>
              <a:headEnd/>
              <a:tailEnd/>
            </a:ln>
            <a:effectLst/>
          </p:spPr>
          <p:txBody>
            <a:bodyPr wrap="none" anchor="ctr"/>
            <a:lstStyle/>
            <a:p>
              <a:endParaRPr lang="zh-CN" altLang="en-US"/>
            </a:p>
          </p:txBody>
        </p:sp>
        <p:sp>
          <p:nvSpPr>
            <p:cNvPr id="248990" name="Rectangle 158"/>
            <p:cNvSpPr>
              <a:spLocks noChangeArrowheads="1"/>
            </p:cNvSpPr>
            <p:nvPr/>
          </p:nvSpPr>
          <p:spPr bwMode="auto">
            <a:xfrm>
              <a:off x="2766" y="3021"/>
              <a:ext cx="331" cy="251"/>
            </a:xfrm>
            <a:prstGeom prst="rect">
              <a:avLst/>
            </a:prstGeom>
            <a:noFill/>
            <a:ln w="12700">
              <a:noFill/>
              <a:miter lim="800000"/>
              <a:headEnd/>
              <a:tailEnd/>
            </a:ln>
            <a:effectLst/>
          </p:spPr>
          <p:txBody>
            <a:bodyPr wrap="none">
              <a:spAutoFit/>
            </a:bodyPr>
            <a:lstStyle/>
            <a:p>
              <a:pPr defTabSz="762000" eaLnBrk="0" hangingPunct="0"/>
              <a:r>
                <a:rPr kumimoji="1" lang="en-US" altLang="zh-CN" sz="2000" i="1">
                  <a:solidFill>
                    <a:srgbClr val="333399"/>
                  </a:solidFill>
                  <a:ea typeface="黑体" pitchFamily="2" charset="-122"/>
                </a:rPr>
                <a:t>W</a:t>
              </a:r>
              <a:r>
                <a:rPr kumimoji="1" lang="en-US" altLang="zh-CN" sz="2000" i="1" baseline="-25000">
                  <a:solidFill>
                    <a:srgbClr val="333399"/>
                  </a:solidFill>
                  <a:ea typeface="黑体" pitchFamily="2" charset="-122"/>
                </a:rPr>
                <a:t>T</a:t>
              </a:r>
            </a:p>
          </p:txBody>
        </p:sp>
        <p:sp>
          <p:nvSpPr>
            <p:cNvPr id="248991" name="Text Box 159"/>
            <p:cNvSpPr txBox="1">
              <a:spLocks noChangeArrowheads="1"/>
            </p:cNvSpPr>
            <p:nvPr/>
          </p:nvSpPr>
          <p:spPr bwMode="auto">
            <a:xfrm>
              <a:off x="1916" y="3688"/>
              <a:ext cx="596"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已发送</a:t>
              </a:r>
            </a:p>
          </p:txBody>
        </p:sp>
        <p:sp>
          <p:nvSpPr>
            <p:cNvPr id="248992" name="Text Box 160"/>
            <p:cNvSpPr txBox="1">
              <a:spLocks noChangeArrowheads="1"/>
            </p:cNvSpPr>
            <p:nvPr/>
          </p:nvSpPr>
          <p:spPr bwMode="auto">
            <a:xfrm>
              <a:off x="550" y="3701"/>
              <a:ext cx="1076" cy="443"/>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2" charset="-122"/>
                </a:rPr>
                <a:t>     </a:t>
              </a:r>
              <a:r>
                <a:rPr kumimoji="1" lang="zh-CN" altLang="en-US" sz="2000">
                  <a:solidFill>
                    <a:srgbClr val="333399"/>
                  </a:solidFill>
                  <a:ea typeface="黑体" pitchFamily="2" charset="-122"/>
                </a:rPr>
                <a:t>已发送</a:t>
              </a:r>
            </a:p>
            <a:p>
              <a:r>
                <a:rPr kumimoji="1" lang="zh-CN" altLang="en-US" sz="2000">
                  <a:solidFill>
                    <a:srgbClr val="333399"/>
                  </a:solidFill>
                  <a:ea typeface="黑体" pitchFamily="2" charset="-122"/>
                </a:rPr>
                <a:t>并已收到确认</a:t>
              </a:r>
            </a:p>
          </p:txBody>
        </p:sp>
        <p:sp>
          <p:nvSpPr>
            <p:cNvPr id="248993" name="AutoShape 161"/>
            <p:cNvSpPr>
              <a:spLocks/>
            </p:cNvSpPr>
            <p:nvPr/>
          </p:nvSpPr>
          <p:spPr bwMode="auto">
            <a:xfrm rot="-5400000">
              <a:off x="967" y="3010"/>
              <a:ext cx="103" cy="1378"/>
            </a:xfrm>
            <a:prstGeom prst="leftBrace">
              <a:avLst>
                <a:gd name="adj1" fmla="val 111489"/>
                <a:gd name="adj2" fmla="val 50000"/>
              </a:avLst>
            </a:prstGeom>
            <a:noFill/>
            <a:ln w="9525">
              <a:solidFill>
                <a:schemeClr val="tx1"/>
              </a:solidFill>
              <a:round/>
              <a:headEnd/>
              <a:tailEnd/>
            </a:ln>
            <a:effectLst/>
          </p:spPr>
          <p:txBody>
            <a:bodyPr wrap="none" anchor="ctr"/>
            <a:lstStyle/>
            <a:p>
              <a:endParaRPr lang="zh-CN" altLang="en-US"/>
            </a:p>
          </p:txBody>
        </p:sp>
        <p:sp>
          <p:nvSpPr>
            <p:cNvPr id="248994" name="Text Box 162"/>
            <p:cNvSpPr txBox="1">
              <a:spLocks noChangeArrowheads="1"/>
            </p:cNvSpPr>
            <p:nvPr/>
          </p:nvSpPr>
          <p:spPr bwMode="auto">
            <a:xfrm>
              <a:off x="-16" y="3391"/>
              <a:ext cx="311" cy="250"/>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2" charset="-122"/>
                </a:rPr>
                <a:t>(d)</a:t>
              </a:r>
            </a:p>
          </p:txBody>
        </p:sp>
        <p:sp>
          <p:nvSpPr>
            <p:cNvPr id="248995" name="AutoShape 163"/>
            <p:cNvSpPr>
              <a:spLocks/>
            </p:cNvSpPr>
            <p:nvPr/>
          </p:nvSpPr>
          <p:spPr bwMode="auto">
            <a:xfrm rot="-5400000">
              <a:off x="2129" y="3264"/>
              <a:ext cx="91" cy="881"/>
            </a:xfrm>
            <a:prstGeom prst="leftBrace">
              <a:avLst>
                <a:gd name="adj1" fmla="val 80678"/>
                <a:gd name="adj2" fmla="val 50000"/>
              </a:avLst>
            </a:prstGeom>
            <a:noFill/>
            <a:ln w="9525">
              <a:solidFill>
                <a:schemeClr val="tx1"/>
              </a:solidFill>
              <a:round/>
              <a:headEnd/>
              <a:tailEnd/>
            </a:ln>
            <a:effectLst/>
          </p:spPr>
          <p:txBody>
            <a:bodyPr wrap="none" anchor="ctr"/>
            <a:lstStyle/>
            <a:p>
              <a:endParaRPr lang="zh-CN" altLang="en-US"/>
            </a:p>
          </p:txBody>
        </p:sp>
      </p:gr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900113" y="214313"/>
            <a:ext cx="8243887" cy="1462087"/>
          </a:xfrm>
        </p:spPr>
        <p:txBody>
          <a:bodyPr/>
          <a:lstStyle/>
          <a:p>
            <a:pPr algn="ctr"/>
            <a:r>
              <a:rPr lang="zh-CN" altLang="en-US"/>
              <a:t>接收端设置接收窗口 </a:t>
            </a:r>
          </a:p>
        </p:txBody>
      </p:sp>
      <p:sp>
        <p:nvSpPr>
          <p:cNvPr id="249859" name="Rectangle 3"/>
          <p:cNvSpPr>
            <a:spLocks noGrp="1" noChangeArrowheads="1"/>
          </p:cNvSpPr>
          <p:nvPr>
            <p:ph type="body" idx="1"/>
          </p:nvPr>
        </p:nvSpPr>
        <p:spPr>
          <a:xfrm>
            <a:off x="611188" y="1917700"/>
            <a:ext cx="8353425" cy="4464050"/>
          </a:xfrm>
        </p:spPr>
        <p:txBody>
          <a:bodyPr/>
          <a:lstStyle/>
          <a:p>
            <a:pPr>
              <a:lnSpc>
                <a:spcPct val="110000"/>
              </a:lnSpc>
              <a:spcBef>
                <a:spcPct val="10000"/>
              </a:spcBef>
              <a:spcAft>
                <a:spcPct val="10000"/>
              </a:spcAft>
            </a:pPr>
            <a:r>
              <a:rPr lang="zh-CN" altLang="en-US" sz="2800" dirty="0"/>
              <a:t>在接收端只有</a:t>
            </a:r>
            <a:r>
              <a:rPr lang="zh-CN" altLang="en-US" sz="2800" dirty="0">
                <a:solidFill>
                  <a:srgbClr val="FF0000"/>
                </a:solidFill>
              </a:rPr>
              <a:t>当收到的数据帧的发送序号落入接收窗口内</a:t>
            </a:r>
            <a:r>
              <a:rPr lang="zh-CN" altLang="en-US" sz="2800" dirty="0"/>
              <a:t>才允许将该数据帧收下。 </a:t>
            </a:r>
          </a:p>
          <a:p>
            <a:pPr>
              <a:lnSpc>
                <a:spcPct val="110000"/>
              </a:lnSpc>
              <a:spcBef>
                <a:spcPct val="10000"/>
              </a:spcBef>
              <a:spcAft>
                <a:spcPct val="10000"/>
              </a:spcAft>
            </a:pPr>
            <a:r>
              <a:rPr lang="zh-CN" altLang="en-US" sz="2800" dirty="0"/>
              <a:t>若接收到的数据帧落在接收窗口之外，则一律将其丢弃。 </a:t>
            </a:r>
          </a:p>
          <a:p>
            <a:pPr>
              <a:lnSpc>
                <a:spcPct val="110000"/>
              </a:lnSpc>
              <a:spcBef>
                <a:spcPct val="10000"/>
              </a:spcBef>
              <a:spcAft>
                <a:spcPct val="10000"/>
              </a:spcAft>
            </a:pPr>
            <a:r>
              <a:rPr lang="zh-CN" altLang="en-US" sz="2800" dirty="0"/>
              <a:t>在连续 </a:t>
            </a:r>
            <a:r>
              <a:rPr lang="en-US" altLang="zh-CN" sz="2800" dirty="0"/>
              <a:t>ARQ </a:t>
            </a:r>
            <a:r>
              <a:rPr lang="zh-CN" altLang="en-US" sz="2800" dirty="0"/>
              <a:t>协议中，接收窗口的大小 </a:t>
            </a:r>
            <a:r>
              <a:rPr lang="en-US" altLang="zh-CN" sz="2800" i="1" dirty="0"/>
              <a:t>W</a:t>
            </a:r>
            <a:r>
              <a:rPr lang="en-US" altLang="zh-CN" sz="2800" i="1" baseline="-25000" dirty="0"/>
              <a:t>R</a:t>
            </a:r>
            <a:r>
              <a:rPr lang="en-US" altLang="zh-CN" sz="2800" dirty="0"/>
              <a:t> = 1</a:t>
            </a:r>
            <a:r>
              <a:rPr lang="zh-CN" altLang="en-US" sz="2800" dirty="0"/>
              <a:t>。</a:t>
            </a:r>
          </a:p>
          <a:p>
            <a:pPr lvl="1">
              <a:lnSpc>
                <a:spcPct val="110000"/>
              </a:lnSpc>
              <a:spcBef>
                <a:spcPct val="10000"/>
              </a:spcBef>
              <a:spcAft>
                <a:spcPct val="10000"/>
              </a:spcAft>
            </a:pPr>
            <a:r>
              <a:rPr lang="zh-CN" altLang="en-US" sz="2400" dirty="0">
                <a:solidFill>
                  <a:srgbClr val="333399"/>
                </a:solidFill>
                <a:ea typeface="黑体" pitchFamily="2" charset="-122"/>
              </a:rPr>
              <a:t>只有当收到的帧的序号与接收窗口一致时才能接收该帧。否则，就丢弃它。</a:t>
            </a:r>
          </a:p>
          <a:p>
            <a:pPr lvl="1">
              <a:lnSpc>
                <a:spcPct val="110000"/>
              </a:lnSpc>
              <a:spcBef>
                <a:spcPct val="10000"/>
              </a:spcBef>
              <a:spcAft>
                <a:spcPct val="10000"/>
              </a:spcAft>
            </a:pPr>
            <a:r>
              <a:rPr lang="zh-CN" altLang="en-US" sz="2400" dirty="0">
                <a:solidFill>
                  <a:srgbClr val="333399"/>
                </a:solidFill>
                <a:ea typeface="黑体" pitchFamily="2" charset="-122"/>
              </a:rPr>
              <a:t>每收到一个序号正确的帧，接收窗口就向前（即向右方）滑动一个帧的位置。同时发送对该帧的确认。</a:t>
            </a:r>
            <a:r>
              <a:rPr lang="zh-CN" altLang="en-US" sz="2400" dirty="0"/>
              <a:t>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98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98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985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98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ChangeArrowheads="1"/>
          </p:cNvSpPr>
          <p:nvPr/>
        </p:nvSpPr>
        <p:spPr bwMode="auto">
          <a:xfrm>
            <a:off x="957263" y="657225"/>
            <a:ext cx="677862" cy="700088"/>
          </a:xfrm>
          <a:prstGeom prst="rect">
            <a:avLst/>
          </a:prstGeom>
          <a:solidFill>
            <a:srgbClr val="00FFCC"/>
          </a:solidFill>
          <a:ln w="12700">
            <a:solidFill>
              <a:schemeClr val="tx1"/>
            </a:solidFill>
            <a:miter lim="800000"/>
            <a:headEnd/>
            <a:tailEnd/>
          </a:ln>
          <a:effectLst/>
        </p:spPr>
        <p:txBody>
          <a:bodyPr wrap="none" anchor="ctr"/>
          <a:lstStyle/>
          <a:p>
            <a:endParaRPr lang="zh-CN" altLang="en-US"/>
          </a:p>
        </p:txBody>
      </p:sp>
      <p:sp>
        <p:nvSpPr>
          <p:cNvPr id="250883" name="Line 3"/>
          <p:cNvSpPr>
            <a:spLocks noChangeShapeType="1"/>
          </p:cNvSpPr>
          <p:nvPr/>
        </p:nvSpPr>
        <p:spPr bwMode="auto">
          <a:xfrm flipV="1">
            <a:off x="966788" y="296863"/>
            <a:ext cx="0" cy="303212"/>
          </a:xfrm>
          <a:prstGeom prst="line">
            <a:avLst/>
          </a:prstGeom>
          <a:noFill/>
          <a:ln w="12700">
            <a:solidFill>
              <a:schemeClr val="tx1"/>
            </a:solidFill>
            <a:round/>
            <a:headEnd/>
            <a:tailEnd/>
          </a:ln>
          <a:effectLst/>
        </p:spPr>
        <p:txBody>
          <a:bodyPr wrap="none" anchor="ctr"/>
          <a:lstStyle/>
          <a:p>
            <a:endParaRPr lang="zh-CN" altLang="en-US"/>
          </a:p>
        </p:txBody>
      </p:sp>
      <p:sp>
        <p:nvSpPr>
          <p:cNvPr id="250884" name="AutoShape 4"/>
          <p:cNvSpPr>
            <a:spLocks noChangeArrowheads="1"/>
          </p:cNvSpPr>
          <p:nvPr/>
        </p:nvSpPr>
        <p:spPr bwMode="auto">
          <a:xfrm>
            <a:off x="1636713" y="681038"/>
            <a:ext cx="601662" cy="152400"/>
          </a:xfrm>
          <a:prstGeom prst="rightArrow">
            <a:avLst>
              <a:gd name="adj1" fmla="val 50000"/>
              <a:gd name="adj2" fmla="val 98698"/>
            </a:avLst>
          </a:prstGeom>
          <a:solidFill>
            <a:srgbClr val="DDDDDD"/>
          </a:solidFill>
          <a:ln w="12700">
            <a:solidFill>
              <a:schemeClr val="tx1"/>
            </a:solidFill>
            <a:miter lim="800000"/>
            <a:headEnd/>
            <a:tailEnd/>
          </a:ln>
          <a:effectLst/>
        </p:spPr>
        <p:txBody>
          <a:bodyPr wrap="none" anchor="ctr"/>
          <a:lstStyle/>
          <a:p>
            <a:endParaRPr lang="zh-CN" altLang="en-US"/>
          </a:p>
        </p:txBody>
      </p:sp>
      <p:sp>
        <p:nvSpPr>
          <p:cNvPr id="250885" name="Line 5"/>
          <p:cNvSpPr>
            <a:spLocks noChangeShapeType="1"/>
          </p:cNvSpPr>
          <p:nvPr/>
        </p:nvSpPr>
        <p:spPr bwMode="auto">
          <a:xfrm flipV="1">
            <a:off x="1616075" y="304800"/>
            <a:ext cx="0" cy="304800"/>
          </a:xfrm>
          <a:prstGeom prst="line">
            <a:avLst/>
          </a:prstGeom>
          <a:noFill/>
          <a:ln w="12700">
            <a:solidFill>
              <a:schemeClr val="tx1"/>
            </a:solidFill>
            <a:round/>
            <a:headEnd/>
            <a:tailEnd/>
          </a:ln>
          <a:effectLst/>
        </p:spPr>
        <p:txBody>
          <a:bodyPr wrap="none" anchor="ctr"/>
          <a:lstStyle/>
          <a:p>
            <a:endParaRPr lang="zh-CN" altLang="en-US"/>
          </a:p>
        </p:txBody>
      </p:sp>
      <p:sp>
        <p:nvSpPr>
          <p:cNvPr id="250886" name="Line 6"/>
          <p:cNvSpPr>
            <a:spLocks noChangeShapeType="1"/>
          </p:cNvSpPr>
          <p:nvPr/>
        </p:nvSpPr>
        <p:spPr bwMode="auto">
          <a:xfrm flipV="1">
            <a:off x="481013" y="446088"/>
            <a:ext cx="479425" cy="0"/>
          </a:xfrm>
          <a:prstGeom prst="line">
            <a:avLst/>
          </a:prstGeom>
          <a:noFill/>
          <a:ln w="12700">
            <a:solidFill>
              <a:schemeClr val="tx1"/>
            </a:solidFill>
            <a:round/>
            <a:headEnd/>
            <a:tailEnd type="triangle" w="sm" len="med"/>
          </a:ln>
          <a:effectLst/>
        </p:spPr>
        <p:txBody>
          <a:bodyPr wrap="none" anchor="ctr"/>
          <a:lstStyle/>
          <a:p>
            <a:endParaRPr lang="zh-CN" altLang="en-US"/>
          </a:p>
        </p:txBody>
      </p:sp>
      <p:sp>
        <p:nvSpPr>
          <p:cNvPr id="250887" name="Line 7"/>
          <p:cNvSpPr>
            <a:spLocks noChangeShapeType="1"/>
          </p:cNvSpPr>
          <p:nvPr/>
        </p:nvSpPr>
        <p:spPr bwMode="auto">
          <a:xfrm flipH="1">
            <a:off x="1616075" y="446088"/>
            <a:ext cx="527050" cy="0"/>
          </a:xfrm>
          <a:prstGeom prst="line">
            <a:avLst/>
          </a:prstGeom>
          <a:noFill/>
          <a:ln w="12700">
            <a:solidFill>
              <a:schemeClr val="tx1"/>
            </a:solidFill>
            <a:round/>
            <a:headEnd/>
            <a:tailEnd type="triangle" w="sm" len="med"/>
          </a:ln>
          <a:effectLst/>
        </p:spPr>
        <p:txBody>
          <a:bodyPr wrap="none" anchor="ctr"/>
          <a:lstStyle/>
          <a:p>
            <a:endParaRPr lang="zh-CN" altLang="en-US"/>
          </a:p>
        </p:txBody>
      </p:sp>
      <p:sp>
        <p:nvSpPr>
          <p:cNvPr id="250888" name="Rectangle 8"/>
          <p:cNvSpPr>
            <a:spLocks noChangeArrowheads="1"/>
          </p:cNvSpPr>
          <p:nvPr/>
        </p:nvSpPr>
        <p:spPr bwMode="auto">
          <a:xfrm>
            <a:off x="1635125" y="881063"/>
            <a:ext cx="7018338" cy="339725"/>
          </a:xfrm>
          <a:prstGeom prst="rect">
            <a:avLst/>
          </a:prstGeom>
          <a:solidFill>
            <a:srgbClr val="FFFFCC"/>
          </a:solidFill>
          <a:ln w="9525">
            <a:noFill/>
            <a:miter lim="800000"/>
            <a:headEnd/>
            <a:tailEnd/>
          </a:ln>
          <a:effectLst/>
        </p:spPr>
        <p:txBody>
          <a:bodyPr wrap="none" anchor="ctr"/>
          <a:lstStyle/>
          <a:p>
            <a:endParaRPr lang="zh-CN" altLang="en-US"/>
          </a:p>
        </p:txBody>
      </p:sp>
      <p:sp>
        <p:nvSpPr>
          <p:cNvPr id="250889" name="Text Box 9"/>
          <p:cNvSpPr txBox="1">
            <a:spLocks noChangeArrowheads="1"/>
          </p:cNvSpPr>
          <p:nvPr/>
        </p:nvSpPr>
        <p:spPr bwMode="auto">
          <a:xfrm>
            <a:off x="3984625" y="1449388"/>
            <a:ext cx="2216150" cy="395287"/>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不允许接收这些帧</a:t>
            </a:r>
          </a:p>
        </p:txBody>
      </p:sp>
      <p:sp>
        <p:nvSpPr>
          <p:cNvPr id="250890" name="AutoShape 10"/>
          <p:cNvSpPr>
            <a:spLocks/>
          </p:cNvSpPr>
          <p:nvPr/>
        </p:nvSpPr>
        <p:spPr bwMode="auto">
          <a:xfrm rot="-5400000">
            <a:off x="4889501" y="-1985963"/>
            <a:ext cx="176212" cy="6583363"/>
          </a:xfrm>
          <a:prstGeom prst="leftBrace">
            <a:avLst>
              <a:gd name="adj1" fmla="val 311337"/>
              <a:gd name="adj2" fmla="val 50236"/>
            </a:avLst>
          </a:prstGeom>
          <a:noFill/>
          <a:ln w="9525">
            <a:solidFill>
              <a:schemeClr val="tx1"/>
            </a:solidFill>
            <a:round/>
            <a:headEnd/>
            <a:tailEnd/>
          </a:ln>
          <a:effectLst/>
        </p:spPr>
        <p:txBody>
          <a:bodyPr wrap="none" anchor="ctr"/>
          <a:lstStyle/>
          <a:p>
            <a:endParaRPr lang="zh-CN" altLang="en-US"/>
          </a:p>
        </p:txBody>
      </p:sp>
      <p:sp>
        <p:nvSpPr>
          <p:cNvPr id="250891" name="Line 11"/>
          <p:cNvSpPr>
            <a:spLocks noChangeShapeType="1"/>
          </p:cNvSpPr>
          <p:nvPr/>
        </p:nvSpPr>
        <p:spPr bwMode="auto">
          <a:xfrm>
            <a:off x="979488" y="862013"/>
            <a:ext cx="7686675" cy="0"/>
          </a:xfrm>
          <a:prstGeom prst="line">
            <a:avLst/>
          </a:prstGeom>
          <a:noFill/>
          <a:ln w="28575">
            <a:solidFill>
              <a:schemeClr val="tx1"/>
            </a:solidFill>
            <a:round/>
            <a:headEnd/>
            <a:tailEnd/>
          </a:ln>
          <a:effectLst/>
        </p:spPr>
        <p:txBody>
          <a:bodyPr wrap="none" anchor="ctr"/>
          <a:lstStyle/>
          <a:p>
            <a:endParaRPr lang="zh-CN" altLang="en-US"/>
          </a:p>
        </p:txBody>
      </p:sp>
      <p:sp>
        <p:nvSpPr>
          <p:cNvPr id="250892" name="Line 12"/>
          <p:cNvSpPr>
            <a:spLocks noChangeShapeType="1"/>
          </p:cNvSpPr>
          <p:nvPr/>
        </p:nvSpPr>
        <p:spPr bwMode="auto">
          <a:xfrm>
            <a:off x="981075" y="1181100"/>
            <a:ext cx="7689850" cy="0"/>
          </a:xfrm>
          <a:prstGeom prst="line">
            <a:avLst/>
          </a:prstGeom>
          <a:noFill/>
          <a:ln w="28575">
            <a:solidFill>
              <a:schemeClr val="tx1"/>
            </a:solidFill>
            <a:round/>
            <a:headEnd/>
            <a:tailEnd/>
          </a:ln>
          <a:effectLst/>
        </p:spPr>
        <p:txBody>
          <a:bodyPr wrap="none" anchor="ctr"/>
          <a:lstStyle/>
          <a:p>
            <a:endParaRPr lang="zh-CN" altLang="en-US"/>
          </a:p>
        </p:txBody>
      </p:sp>
      <p:sp>
        <p:nvSpPr>
          <p:cNvPr id="250893" name="Line 13"/>
          <p:cNvSpPr>
            <a:spLocks noChangeShapeType="1"/>
          </p:cNvSpPr>
          <p:nvPr/>
        </p:nvSpPr>
        <p:spPr bwMode="auto">
          <a:xfrm>
            <a:off x="1643063" y="862013"/>
            <a:ext cx="0" cy="304800"/>
          </a:xfrm>
          <a:prstGeom prst="line">
            <a:avLst/>
          </a:prstGeom>
          <a:noFill/>
          <a:ln w="28575">
            <a:solidFill>
              <a:schemeClr val="tx1"/>
            </a:solidFill>
            <a:round/>
            <a:headEnd/>
            <a:tailEnd/>
          </a:ln>
          <a:effectLst/>
        </p:spPr>
        <p:txBody>
          <a:bodyPr wrap="none" anchor="ctr"/>
          <a:lstStyle/>
          <a:p>
            <a:endParaRPr lang="zh-CN" altLang="en-US"/>
          </a:p>
        </p:txBody>
      </p:sp>
      <p:sp>
        <p:nvSpPr>
          <p:cNvPr id="250894" name="Line 14"/>
          <p:cNvSpPr>
            <a:spLocks noChangeShapeType="1"/>
          </p:cNvSpPr>
          <p:nvPr/>
        </p:nvSpPr>
        <p:spPr bwMode="auto">
          <a:xfrm>
            <a:off x="974725" y="852488"/>
            <a:ext cx="0" cy="339725"/>
          </a:xfrm>
          <a:prstGeom prst="line">
            <a:avLst/>
          </a:prstGeom>
          <a:noFill/>
          <a:ln w="28575">
            <a:solidFill>
              <a:schemeClr val="tx1"/>
            </a:solidFill>
            <a:round/>
            <a:headEnd/>
            <a:tailEnd/>
          </a:ln>
          <a:effectLst/>
        </p:spPr>
        <p:txBody>
          <a:bodyPr wrap="none" anchor="ctr"/>
          <a:lstStyle/>
          <a:p>
            <a:endParaRPr lang="zh-CN" altLang="en-US"/>
          </a:p>
        </p:txBody>
      </p:sp>
      <p:sp>
        <p:nvSpPr>
          <p:cNvPr id="250895" name="Line 15"/>
          <p:cNvSpPr>
            <a:spLocks noChangeShapeType="1"/>
          </p:cNvSpPr>
          <p:nvPr/>
        </p:nvSpPr>
        <p:spPr bwMode="auto">
          <a:xfrm>
            <a:off x="2309813" y="868363"/>
            <a:ext cx="0" cy="304800"/>
          </a:xfrm>
          <a:prstGeom prst="line">
            <a:avLst/>
          </a:prstGeom>
          <a:noFill/>
          <a:ln w="28575">
            <a:solidFill>
              <a:schemeClr val="tx1"/>
            </a:solidFill>
            <a:round/>
            <a:headEnd/>
            <a:tailEnd/>
          </a:ln>
          <a:effectLst/>
        </p:spPr>
        <p:txBody>
          <a:bodyPr wrap="none" anchor="ctr"/>
          <a:lstStyle/>
          <a:p>
            <a:endParaRPr lang="zh-CN" altLang="en-US"/>
          </a:p>
        </p:txBody>
      </p:sp>
      <p:sp>
        <p:nvSpPr>
          <p:cNvPr id="250896" name="Line 16"/>
          <p:cNvSpPr>
            <a:spLocks noChangeShapeType="1"/>
          </p:cNvSpPr>
          <p:nvPr/>
        </p:nvSpPr>
        <p:spPr bwMode="auto">
          <a:xfrm>
            <a:off x="2976563" y="869950"/>
            <a:ext cx="0" cy="306388"/>
          </a:xfrm>
          <a:prstGeom prst="line">
            <a:avLst/>
          </a:prstGeom>
          <a:noFill/>
          <a:ln w="28575">
            <a:solidFill>
              <a:schemeClr val="tx1"/>
            </a:solidFill>
            <a:round/>
            <a:headEnd/>
            <a:tailEnd/>
          </a:ln>
          <a:effectLst/>
        </p:spPr>
        <p:txBody>
          <a:bodyPr wrap="none" anchor="ctr"/>
          <a:lstStyle/>
          <a:p>
            <a:endParaRPr lang="zh-CN" altLang="en-US"/>
          </a:p>
        </p:txBody>
      </p:sp>
      <p:sp>
        <p:nvSpPr>
          <p:cNvPr id="250897" name="Line 17"/>
          <p:cNvSpPr>
            <a:spLocks noChangeShapeType="1"/>
          </p:cNvSpPr>
          <p:nvPr/>
        </p:nvSpPr>
        <p:spPr bwMode="auto">
          <a:xfrm>
            <a:off x="3638550" y="863600"/>
            <a:ext cx="0" cy="306388"/>
          </a:xfrm>
          <a:prstGeom prst="line">
            <a:avLst/>
          </a:prstGeom>
          <a:noFill/>
          <a:ln w="28575">
            <a:solidFill>
              <a:schemeClr val="tx1"/>
            </a:solidFill>
            <a:round/>
            <a:headEnd/>
            <a:tailEnd/>
          </a:ln>
          <a:effectLst/>
        </p:spPr>
        <p:txBody>
          <a:bodyPr wrap="none" anchor="ctr"/>
          <a:lstStyle/>
          <a:p>
            <a:endParaRPr lang="zh-CN" altLang="en-US"/>
          </a:p>
        </p:txBody>
      </p:sp>
      <p:sp>
        <p:nvSpPr>
          <p:cNvPr id="250898" name="Line 18"/>
          <p:cNvSpPr>
            <a:spLocks noChangeShapeType="1"/>
          </p:cNvSpPr>
          <p:nvPr/>
        </p:nvSpPr>
        <p:spPr bwMode="auto">
          <a:xfrm>
            <a:off x="4300538" y="876300"/>
            <a:ext cx="0" cy="304800"/>
          </a:xfrm>
          <a:prstGeom prst="line">
            <a:avLst/>
          </a:prstGeom>
          <a:noFill/>
          <a:ln w="28575">
            <a:solidFill>
              <a:schemeClr val="tx1"/>
            </a:solidFill>
            <a:round/>
            <a:headEnd/>
            <a:tailEnd/>
          </a:ln>
          <a:effectLst/>
        </p:spPr>
        <p:txBody>
          <a:bodyPr wrap="none" anchor="ctr"/>
          <a:lstStyle/>
          <a:p>
            <a:endParaRPr lang="zh-CN" altLang="en-US"/>
          </a:p>
        </p:txBody>
      </p:sp>
      <p:sp>
        <p:nvSpPr>
          <p:cNvPr id="250899" name="Line 19"/>
          <p:cNvSpPr>
            <a:spLocks noChangeShapeType="1"/>
          </p:cNvSpPr>
          <p:nvPr/>
        </p:nvSpPr>
        <p:spPr bwMode="auto">
          <a:xfrm>
            <a:off x="4968875" y="869950"/>
            <a:ext cx="0" cy="306388"/>
          </a:xfrm>
          <a:prstGeom prst="line">
            <a:avLst/>
          </a:prstGeom>
          <a:noFill/>
          <a:ln w="28575">
            <a:solidFill>
              <a:schemeClr val="tx1"/>
            </a:solidFill>
            <a:round/>
            <a:headEnd/>
            <a:tailEnd/>
          </a:ln>
          <a:effectLst/>
        </p:spPr>
        <p:txBody>
          <a:bodyPr wrap="none" anchor="ctr"/>
          <a:lstStyle/>
          <a:p>
            <a:endParaRPr lang="zh-CN" altLang="en-US"/>
          </a:p>
        </p:txBody>
      </p:sp>
      <p:sp>
        <p:nvSpPr>
          <p:cNvPr id="250900" name="Line 20"/>
          <p:cNvSpPr>
            <a:spLocks noChangeShapeType="1"/>
          </p:cNvSpPr>
          <p:nvPr/>
        </p:nvSpPr>
        <p:spPr bwMode="auto">
          <a:xfrm>
            <a:off x="5635625" y="869950"/>
            <a:ext cx="0" cy="306388"/>
          </a:xfrm>
          <a:prstGeom prst="line">
            <a:avLst/>
          </a:prstGeom>
          <a:noFill/>
          <a:ln w="28575">
            <a:solidFill>
              <a:schemeClr val="tx1"/>
            </a:solidFill>
            <a:round/>
            <a:headEnd/>
            <a:tailEnd/>
          </a:ln>
          <a:effectLst/>
        </p:spPr>
        <p:txBody>
          <a:bodyPr wrap="none" anchor="ctr"/>
          <a:lstStyle/>
          <a:p>
            <a:endParaRPr lang="zh-CN" altLang="en-US"/>
          </a:p>
        </p:txBody>
      </p:sp>
      <p:sp>
        <p:nvSpPr>
          <p:cNvPr id="250901" name="Line 21"/>
          <p:cNvSpPr>
            <a:spLocks noChangeShapeType="1"/>
          </p:cNvSpPr>
          <p:nvPr/>
        </p:nvSpPr>
        <p:spPr bwMode="auto">
          <a:xfrm>
            <a:off x="6302375" y="869950"/>
            <a:ext cx="0" cy="306388"/>
          </a:xfrm>
          <a:prstGeom prst="line">
            <a:avLst/>
          </a:prstGeom>
          <a:noFill/>
          <a:ln w="28575">
            <a:solidFill>
              <a:schemeClr val="tx1"/>
            </a:solidFill>
            <a:round/>
            <a:headEnd/>
            <a:tailEnd/>
          </a:ln>
          <a:effectLst/>
        </p:spPr>
        <p:txBody>
          <a:bodyPr wrap="none" anchor="ctr"/>
          <a:lstStyle/>
          <a:p>
            <a:endParaRPr lang="zh-CN" altLang="en-US"/>
          </a:p>
        </p:txBody>
      </p:sp>
      <p:sp>
        <p:nvSpPr>
          <p:cNvPr id="250902" name="Line 22"/>
          <p:cNvSpPr>
            <a:spLocks noChangeShapeType="1"/>
          </p:cNvSpPr>
          <p:nvPr/>
        </p:nvSpPr>
        <p:spPr bwMode="auto">
          <a:xfrm>
            <a:off x="6969125" y="881063"/>
            <a:ext cx="0" cy="304800"/>
          </a:xfrm>
          <a:prstGeom prst="line">
            <a:avLst/>
          </a:prstGeom>
          <a:noFill/>
          <a:ln w="28575">
            <a:solidFill>
              <a:schemeClr val="tx1"/>
            </a:solidFill>
            <a:round/>
            <a:headEnd/>
            <a:tailEnd/>
          </a:ln>
          <a:effectLst/>
        </p:spPr>
        <p:txBody>
          <a:bodyPr wrap="none" anchor="ctr"/>
          <a:lstStyle/>
          <a:p>
            <a:endParaRPr lang="zh-CN" altLang="en-US"/>
          </a:p>
        </p:txBody>
      </p:sp>
      <p:sp>
        <p:nvSpPr>
          <p:cNvPr id="250903" name="Line 23"/>
          <p:cNvSpPr>
            <a:spLocks noChangeShapeType="1"/>
          </p:cNvSpPr>
          <p:nvPr/>
        </p:nvSpPr>
        <p:spPr bwMode="auto">
          <a:xfrm>
            <a:off x="7632700" y="863600"/>
            <a:ext cx="0" cy="306388"/>
          </a:xfrm>
          <a:prstGeom prst="line">
            <a:avLst/>
          </a:prstGeom>
          <a:noFill/>
          <a:ln w="28575">
            <a:solidFill>
              <a:schemeClr val="tx1"/>
            </a:solidFill>
            <a:round/>
            <a:headEnd/>
            <a:tailEnd/>
          </a:ln>
          <a:effectLst/>
        </p:spPr>
        <p:txBody>
          <a:bodyPr wrap="none" anchor="ctr"/>
          <a:lstStyle/>
          <a:p>
            <a:endParaRPr lang="zh-CN" altLang="en-US"/>
          </a:p>
        </p:txBody>
      </p:sp>
      <p:sp>
        <p:nvSpPr>
          <p:cNvPr id="250904" name="Line 24"/>
          <p:cNvSpPr>
            <a:spLocks noChangeShapeType="1"/>
          </p:cNvSpPr>
          <p:nvPr/>
        </p:nvSpPr>
        <p:spPr bwMode="auto">
          <a:xfrm>
            <a:off x="8302625" y="868363"/>
            <a:ext cx="0" cy="304800"/>
          </a:xfrm>
          <a:prstGeom prst="line">
            <a:avLst/>
          </a:prstGeom>
          <a:noFill/>
          <a:ln w="28575">
            <a:solidFill>
              <a:schemeClr val="tx1"/>
            </a:solidFill>
            <a:round/>
            <a:headEnd/>
            <a:tailEnd/>
          </a:ln>
          <a:effectLst/>
        </p:spPr>
        <p:txBody>
          <a:bodyPr wrap="none" anchor="ctr"/>
          <a:lstStyle/>
          <a:p>
            <a:endParaRPr lang="zh-CN" altLang="en-US"/>
          </a:p>
        </p:txBody>
      </p:sp>
      <p:sp>
        <p:nvSpPr>
          <p:cNvPr id="250905" name="Rectangle 25"/>
          <p:cNvSpPr>
            <a:spLocks noChangeArrowheads="1"/>
          </p:cNvSpPr>
          <p:nvPr/>
        </p:nvSpPr>
        <p:spPr bwMode="auto">
          <a:xfrm>
            <a:off x="1150938" y="827088"/>
            <a:ext cx="33337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50906" name="Rectangle 26"/>
          <p:cNvSpPr>
            <a:spLocks noChangeArrowheads="1"/>
          </p:cNvSpPr>
          <p:nvPr/>
        </p:nvSpPr>
        <p:spPr bwMode="auto">
          <a:xfrm>
            <a:off x="1800225" y="827088"/>
            <a:ext cx="334963"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50907" name="Rectangle 27"/>
          <p:cNvSpPr>
            <a:spLocks noChangeArrowheads="1"/>
          </p:cNvSpPr>
          <p:nvPr/>
        </p:nvSpPr>
        <p:spPr bwMode="auto">
          <a:xfrm>
            <a:off x="2508250" y="827088"/>
            <a:ext cx="33337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50908" name="Rectangle 28"/>
          <p:cNvSpPr>
            <a:spLocks noChangeArrowheads="1"/>
          </p:cNvSpPr>
          <p:nvPr/>
        </p:nvSpPr>
        <p:spPr bwMode="auto">
          <a:xfrm>
            <a:off x="3173413" y="827088"/>
            <a:ext cx="331787"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3</a:t>
            </a:r>
          </a:p>
        </p:txBody>
      </p:sp>
      <p:sp>
        <p:nvSpPr>
          <p:cNvPr id="250909" name="Rectangle 29"/>
          <p:cNvSpPr>
            <a:spLocks noChangeArrowheads="1"/>
          </p:cNvSpPr>
          <p:nvPr/>
        </p:nvSpPr>
        <p:spPr bwMode="auto">
          <a:xfrm>
            <a:off x="3806825" y="827088"/>
            <a:ext cx="449263"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4</a:t>
            </a:r>
          </a:p>
        </p:txBody>
      </p:sp>
      <p:sp>
        <p:nvSpPr>
          <p:cNvPr id="250910" name="Rectangle 30"/>
          <p:cNvSpPr>
            <a:spLocks noChangeArrowheads="1"/>
          </p:cNvSpPr>
          <p:nvPr/>
        </p:nvSpPr>
        <p:spPr bwMode="auto">
          <a:xfrm>
            <a:off x="4473575" y="827088"/>
            <a:ext cx="33337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5</a:t>
            </a:r>
          </a:p>
        </p:txBody>
      </p:sp>
      <p:sp>
        <p:nvSpPr>
          <p:cNvPr id="250911" name="Rectangle 31"/>
          <p:cNvSpPr>
            <a:spLocks noChangeArrowheads="1"/>
          </p:cNvSpPr>
          <p:nvPr/>
        </p:nvSpPr>
        <p:spPr bwMode="auto">
          <a:xfrm>
            <a:off x="5122863" y="827088"/>
            <a:ext cx="334962"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6</a:t>
            </a:r>
          </a:p>
        </p:txBody>
      </p:sp>
      <p:sp>
        <p:nvSpPr>
          <p:cNvPr id="250912" name="Rectangle 32"/>
          <p:cNvSpPr>
            <a:spLocks noChangeArrowheads="1"/>
          </p:cNvSpPr>
          <p:nvPr/>
        </p:nvSpPr>
        <p:spPr bwMode="auto">
          <a:xfrm>
            <a:off x="5788025" y="827088"/>
            <a:ext cx="33337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7</a:t>
            </a:r>
          </a:p>
        </p:txBody>
      </p:sp>
      <p:sp>
        <p:nvSpPr>
          <p:cNvPr id="250913" name="Rectangle 33"/>
          <p:cNvSpPr>
            <a:spLocks noChangeArrowheads="1"/>
          </p:cNvSpPr>
          <p:nvPr/>
        </p:nvSpPr>
        <p:spPr bwMode="auto">
          <a:xfrm>
            <a:off x="6480175" y="827088"/>
            <a:ext cx="330200"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50914" name="Rectangle 34"/>
          <p:cNvSpPr>
            <a:spLocks noChangeArrowheads="1"/>
          </p:cNvSpPr>
          <p:nvPr/>
        </p:nvSpPr>
        <p:spPr bwMode="auto">
          <a:xfrm>
            <a:off x="7161213" y="827088"/>
            <a:ext cx="334962"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50915" name="Rectangle 35"/>
          <p:cNvSpPr>
            <a:spLocks noChangeArrowheads="1"/>
          </p:cNvSpPr>
          <p:nvPr/>
        </p:nvSpPr>
        <p:spPr bwMode="auto">
          <a:xfrm>
            <a:off x="7824788" y="827088"/>
            <a:ext cx="333375" cy="393700"/>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50916" name="Rectangle 36"/>
          <p:cNvSpPr>
            <a:spLocks noChangeArrowheads="1"/>
          </p:cNvSpPr>
          <p:nvPr/>
        </p:nvSpPr>
        <p:spPr bwMode="auto">
          <a:xfrm>
            <a:off x="1062038" y="225425"/>
            <a:ext cx="542925" cy="395288"/>
          </a:xfrm>
          <a:prstGeom prst="rect">
            <a:avLst/>
          </a:prstGeom>
          <a:noFill/>
          <a:ln w="12700">
            <a:noFill/>
            <a:miter lim="800000"/>
            <a:headEnd/>
            <a:tailEnd/>
          </a:ln>
          <a:effectLst/>
        </p:spPr>
        <p:txBody>
          <a:bodyPr wrap="none">
            <a:spAutoFit/>
          </a:bodyPr>
          <a:lstStyle/>
          <a:p>
            <a:pPr defTabSz="762000" eaLnBrk="0" hangingPunct="0"/>
            <a:r>
              <a:rPr kumimoji="1" lang="en-US" altLang="zh-CN" sz="2000" i="1">
                <a:solidFill>
                  <a:srgbClr val="333399"/>
                </a:solidFill>
                <a:ea typeface="黑体" pitchFamily="2" charset="-122"/>
              </a:rPr>
              <a:t>W</a:t>
            </a:r>
            <a:r>
              <a:rPr kumimoji="1" lang="en-US" altLang="zh-CN" sz="2000" i="1" baseline="-25000">
                <a:solidFill>
                  <a:srgbClr val="333399"/>
                </a:solidFill>
                <a:ea typeface="黑体" pitchFamily="2" charset="-122"/>
              </a:rPr>
              <a:t>R</a:t>
            </a:r>
          </a:p>
        </p:txBody>
      </p:sp>
      <p:sp>
        <p:nvSpPr>
          <p:cNvPr id="250917" name="Line 37"/>
          <p:cNvSpPr>
            <a:spLocks noChangeShapeType="1"/>
          </p:cNvSpPr>
          <p:nvPr/>
        </p:nvSpPr>
        <p:spPr bwMode="auto">
          <a:xfrm flipV="1">
            <a:off x="1309688" y="1357313"/>
            <a:ext cx="0" cy="304800"/>
          </a:xfrm>
          <a:prstGeom prst="line">
            <a:avLst/>
          </a:prstGeom>
          <a:noFill/>
          <a:ln w="9525">
            <a:solidFill>
              <a:schemeClr val="tx1"/>
            </a:solidFill>
            <a:round/>
            <a:headEnd/>
            <a:tailEnd type="triangle" w="sm" len="med"/>
          </a:ln>
          <a:effectLst/>
        </p:spPr>
        <p:txBody>
          <a:bodyPr wrap="none"/>
          <a:lstStyle/>
          <a:p>
            <a:endParaRPr lang="zh-CN" altLang="en-US"/>
          </a:p>
        </p:txBody>
      </p:sp>
      <p:sp>
        <p:nvSpPr>
          <p:cNvPr id="250918" name="Text Box 38"/>
          <p:cNvSpPr txBox="1">
            <a:spLocks noChangeArrowheads="1"/>
          </p:cNvSpPr>
          <p:nvPr/>
        </p:nvSpPr>
        <p:spPr bwMode="auto">
          <a:xfrm>
            <a:off x="506413" y="1519238"/>
            <a:ext cx="1990725" cy="395287"/>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准备接收 </a:t>
            </a:r>
            <a:r>
              <a:rPr kumimoji="1" lang="en-US" altLang="zh-CN" sz="2000">
                <a:solidFill>
                  <a:srgbClr val="333399"/>
                </a:solidFill>
                <a:ea typeface="黑体" pitchFamily="2" charset="-122"/>
              </a:rPr>
              <a:t>0 </a:t>
            </a:r>
            <a:r>
              <a:rPr kumimoji="1" lang="zh-CN" altLang="en-US" sz="2000">
                <a:solidFill>
                  <a:srgbClr val="333399"/>
                </a:solidFill>
                <a:ea typeface="黑体" pitchFamily="2" charset="-122"/>
              </a:rPr>
              <a:t>号帧</a:t>
            </a:r>
          </a:p>
        </p:txBody>
      </p:sp>
      <p:sp>
        <p:nvSpPr>
          <p:cNvPr id="250919" name="Text Box 39"/>
          <p:cNvSpPr txBox="1">
            <a:spLocks noChangeArrowheads="1"/>
          </p:cNvSpPr>
          <p:nvPr/>
        </p:nvSpPr>
        <p:spPr bwMode="auto">
          <a:xfrm>
            <a:off x="144463" y="793750"/>
            <a:ext cx="493712" cy="398463"/>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2" charset="-122"/>
              </a:rPr>
              <a:t>(a)</a:t>
            </a:r>
          </a:p>
        </p:txBody>
      </p:sp>
      <p:grpSp>
        <p:nvGrpSpPr>
          <p:cNvPr id="2" name="Group 40"/>
          <p:cNvGrpSpPr>
            <a:grpSpLocks/>
          </p:cNvGrpSpPr>
          <p:nvPr/>
        </p:nvGrpSpPr>
        <p:grpSpPr bwMode="auto">
          <a:xfrm>
            <a:off x="153988" y="2068513"/>
            <a:ext cx="8516937" cy="2081212"/>
            <a:chOff x="97" y="1303"/>
            <a:chExt cx="5365" cy="1311"/>
          </a:xfrm>
        </p:grpSpPr>
        <p:sp>
          <p:nvSpPr>
            <p:cNvPr id="250921" name="Line 41"/>
            <p:cNvSpPr>
              <a:spLocks noChangeShapeType="1"/>
            </p:cNvSpPr>
            <p:nvPr/>
          </p:nvSpPr>
          <p:spPr bwMode="auto">
            <a:xfrm flipV="1">
              <a:off x="1034" y="1408"/>
              <a:ext cx="0" cy="191"/>
            </a:xfrm>
            <a:prstGeom prst="line">
              <a:avLst/>
            </a:prstGeom>
            <a:noFill/>
            <a:ln w="12700">
              <a:solidFill>
                <a:schemeClr val="tx1"/>
              </a:solidFill>
              <a:round/>
              <a:headEnd/>
              <a:tailEnd/>
            </a:ln>
            <a:effectLst/>
          </p:spPr>
          <p:txBody>
            <a:bodyPr wrap="none" anchor="ctr"/>
            <a:lstStyle/>
            <a:p>
              <a:endParaRPr lang="zh-CN" altLang="en-US"/>
            </a:p>
          </p:txBody>
        </p:sp>
        <p:sp>
          <p:nvSpPr>
            <p:cNvPr id="250922" name="AutoShape 42"/>
            <p:cNvSpPr>
              <a:spLocks noChangeArrowheads="1"/>
            </p:cNvSpPr>
            <p:nvPr/>
          </p:nvSpPr>
          <p:spPr bwMode="auto">
            <a:xfrm>
              <a:off x="1453" y="1646"/>
              <a:ext cx="380" cy="96"/>
            </a:xfrm>
            <a:prstGeom prst="rightArrow">
              <a:avLst>
                <a:gd name="adj1" fmla="val 50000"/>
                <a:gd name="adj2" fmla="val 98958"/>
              </a:avLst>
            </a:prstGeom>
            <a:solidFill>
              <a:srgbClr val="DDDDDD"/>
            </a:solidFill>
            <a:ln w="12700">
              <a:solidFill>
                <a:schemeClr val="tx1"/>
              </a:solidFill>
              <a:miter lim="800000"/>
              <a:headEnd/>
              <a:tailEnd/>
            </a:ln>
            <a:effectLst/>
          </p:spPr>
          <p:txBody>
            <a:bodyPr wrap="none" anchor="ctr"/>
            <a:lstStyle/>
            <a:p>
              <a:endParaRPr lang="zh-CN" altLang="en-US"/>
            </a:p>
          </p:txBody>
        </p:sp>
        <p:sp>
          <p:nvSpPr>
            <p:cNvPr id="250923" name="Line 43"/>
            <p:cNvSpPr>
              <a:spLocks noChangeShapeType="1"/>
            </p:cNvSpPr>
            <p:nvPr/>
          </p:nvSpPr>
          <p:spPr bwMode="auto">
            <a:xfrm flipV="1">
              <a:off x="1445" y="1412"/>
              <a:ext cx="0" cy="193"/>
            </a:xfrm>
            <a:prstGeom prst="line">
              <a:avLst/>
            </a:prstGeom>
            <a:noFill/>
            <a:ln w="12700">
              <a:solidFill>
                <a:schemeClr val="tx1"/>
              </a:solidFill>
              <a:round/>
              <a:headEnd/>
              <a:tailEnd/>
            </a:ln>
            <a:effectLst/>
          </p:spPr>
          <p:txBody>
            <a:bodyPr wrap="none" anchor="ctr"/>
            <a:lstStyle/>
            <a:p>
              <a:endParaRPr lang="zh-CN" altLang="en-US"/>
            </a:p>
          </p:txBody>
        </p:sp>
        <p:sp>
          <p:nvSpPr>
            <p:cNvPr id="250924" name="Line 44"/>
            <p:cNvSpPr>
              <a:spLocks noChangeShapeType="1"/>
            </p:cNvSpPr>
            <p:nvPr/>
          </p:nvSpPr>
          <p:spPr bwMode="auto">
            <a:xfrm flipV="1">
              <a:off x="729" y="1502"/>
              <a:ext cx="303" cy="0"/>
            </a:xfrm>
            <a:prstGeom prst="line">
              <a:avLst/>
            </a:prstGeom>
            <a:noFill/>
            <a:ln w="12700">
              <a:solidFill>
                <a:schemeClr val="tx1"/>
              </a:solidFill>
              <a:round/>
              <a:headEnd/>
              <a:tailEnd type="triangle" w="sm" len="med"/>
            </a:ln>
            <a:effectLst/>
          </p:spPr>
          <p:txBody>
            <a:bodyPr wrap="none" anchor="ctr"/>
            <a:lstStyle/>
            <a:p>
              <a:endParaRPr lang="zh-CN" altLang="en-US"/>
            </a:p>
          </p:txBody>
        </p:sp>
        <p:sp>
          <p:nvSpPr>
            <p:cNvPr id="250925" name="Line 45"/>
            <p:cNvSpPr>
              <a:spLocks noChangeShapeType="1"/>
            </p:cNvSpPr>
            <p:nvPr/>
          </p:nvSpPr>
          <p:spPr bwMode="auto">
            <a:xfrm flipH="1">
              <a:off x="1445" y="1502"/>
              <a:ext cx="332" cy="0"/>
            </a:xfrm>
            <a:prstGeom prst="line">
              <a:avLst/>
            </a:prstGeom>
            <a:noFill/>
            <a:ln w="12700">
              <a:solidFill>
                <a:schemeClr val="tx1"/>
              </a:solidFill>
              <a:round/>
              <a:headEnd/>
              <a:tailEnd type="triangle" w="sm" len="med"/>
            </a:ln>
            <a:effectLst/>
          </p:spPr>
          <p:txBody>
            <a:bodyPr wrap="none" anchor="ctr"/>
            <a:lstStyle/>
            <a:p>
              <a:endParaRPr lang="zh-CN" altLang="en-US"/>
            </a:p>
          </p:txBody>
        </p:sp>
        <p:sp>
          <p:nvSpPr>
            <p:cNvPr id="250926" name="Rectangle 46"/>
            <p:cNvSpPr>
              <a:spLocks noChangeArrowheads="1"/>
            </p:cNvSpPr>
            <p:nvPr/>
          </p:nvSpPr>
          <p:spPr bwMode="auto">
            <a:xfrm>
              <a:off x="1039" y="1764"/>
              <a:ext cx="4421" cy="196"/>
            </a:xfrm>
            <a:prstGeom prst="rect">
              <a:avLst/>
            </a:prstGeom>
            <a:solidFill>
              <a:srgbClr val="FFFFCC"/>
            </a:solidFill>
            <a:ln w="9525">
              <a:noFill/>
              <a:miter lim="800000"/>
              <a:headEnd/>
              <a:tailEnd/>
            </a:ln>
            <a:effectLst/>
          </p:spPr>
          <p:txBody>
            <a:bodyPr wrap="none" anchor="ctr"/>
            <a:lstStyle/>
            <a:p>
              <a:endParaRPr lang="zh-CN" altLang="en-US"/>
            </a:p>
          </p:txBody>
        </p:sp>
        <p:sp>
          <p:nvSpPr>
            <p:cNvPr id="250927" name="Text Box 47"/>
            <p:cNvSpPr txBox="1">
              <a:spLocks noChangeArrowheads="1"/>
            </p:cNvSpPr>
            <p:nvPr/>
          </p:nvSpPr>
          <p:spPr bwMode="auto">
            <a:xfrm>
              <a:off x="2744" y="2093"/>
              <a:ext cx="1396" cy="249"/>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不允许接收这些帧</a:t>
              </a:r>
            </a:p>
          </p:txBody>
        </p:sp>
        <p:sp>
          <p:nvSpPr>
            <p:cNvPr id="250928" name="Rectangle 48"/>
            <p:cNvSpPr>
              <a:spLocks noChangeArrowheads="1"/>
            </p:cNvSpPr>
            <p:nvPr/>
          </p:nvSpPr>
          <p:spPr bwMode="auto">
            <a:xfrm>
              <a:off x="1030" y="1635"/>
              <a:ext cx="426" cy="441"/>
            </a:xfrm>
            <a:prstGeom prst="rect">
              <a:avLst/>
            </a:prstGeom>
            <a:solidFill>
              <a:srgbClr val="00FFCC"/>
            </a:solidFill>
            <a:ln w="12700">
              <a:solidFill>
                <a:schemeClr val="tx1"/>
              </a:solidFill>
              <a:miter lim="800000"/>
              <a:headEnd/>
              <a:tailEnd/>
            </a:ln>
            <a:effectLst/>
          </p:spPr>
          <p:txBody>
            <a:bodyPr wrap="none" anchor="ctr"/>
            <a:lstStyle/>
            <a:p>
              <a:endParaRPr lang="zh-CN" altLang="en-US"/>
            </a:p>
          </p:txBody>
        </p:sp>
        <p:sp>
          <p:nvSpPr>
            <p:cNvPr id="250929" name="AutoShape 49"/>
            <p:cNvSpPr>
              <a:spLocks/>
            </p:cNvSpPr>
            <p:nvPr/>
          </p:nvSpPr>
          <p:spPr bwMode="auto">
            <a:xfrm rot="-5400000">
              <a:off x="3286" y="174"/>
              <a:ext cx="110" cy="3737"/>
            </a:xfrm>
            <a:prstGeom prst="leftBrace">
              <a:avLst>
                <a:gd name="adj1" fmla="val 283106"/>
                <a:gd name="adj2" fmla="val 50236"/>
              </a:avLst>
            </a:prstGeom>
            <a:noFill/>
            <a:ln w="9525">
              <a:solidFill>
                <a:schemeClr val="tx1"/>
              </a:solidFill>
              <a:round/>
              <a:headEnd/>
              <a:tailEnd/>
            </a:ln>
            <a:effectLst/>
          </p:spPr>
          <p:txBody>
            <a:bodyPr wrap="none" anchor="ctr"/>
            <a:lstStyle/>
            <a:p>
              <a:endParaRPr lang="zh-CN" altLang="en-US"/>
            </a:p>
          </p:txBody>
        </p:sp>
        <p:sp>
          <p:nvSpPr>
            <p:cNvPr id="250930" name="Line 50"/>
            <p:cNvSpPr>
              <a:spLocks noChangeShapeType="1"/>
            </p:cNvSpPr>
            <p:nvPr/>
          </p:nvSpPr>
          <p:spPr bwMode="auto">
            <a:xfrm>
              <a:off x="617" y="1764"/>
              <a:ext cx="4842" cy="0"/>
            </a:xfrm>
            <a:prstGeom prst="line">
              <a:avLst/>
            </a:prstGeom>
            <a:noFill/>
            <a:ln w="28575">
              <a:solidFill>
                <a:schemeClr val="tx1"/>
              </a:solidFill>
              <a:round/>
              <a:headEnd/>
              <a:tailEnd/>
            </a:ln>
            <a:effectLst/>
          </p:spPr>
          <p:txBody>
            <a:bodyPr wrap="none" anchor="ctr"/>
            <a:lstStyle/>
            <a:p>
              <a:endParaRPr lang="zh-CN" altLang="en-US"/>
            </a:p>
          </p:txBody>
        </p:sp>
        <p:sp>
          <p:nvSpPr>
            <p:cNvPr id="250931" name="Line 51"/>
            <p:cNvSpPr>
              <a:spLocks noChangeShapeType="1"/>
            </p:cNvSpPr>
            <p:nvPr/>
          </p:nvSpPr>
          <p:spPr bwMode="auto">
            <a:xfrm>
              <a:off x="618" y="1965"/>
              <a:ext cx="4844" cy="0"/>
            </a:xfrm>
            <a:prstGeom prst="line">
              <a:avLst/>
            </a:prstGeom>
            <a:noFill/>
            <a:ln w="28575">
              <a:solidFill>
                <a:schemeClr val="tx1"/>
              </a:solidFill>
              <a:round/>
              <a:headEnd/>
              <a:tailEnd/>
            </a:ln>
            <a:effectLst/>
          </p:spPr>
          <p:txBody>
            <a:bodyPr wrap="none" anchor="ctr"/>
            <a:lstStyle/>
            <a:p>
              <a:endParaRPr lang="zh-CN" altLang="en-US"/>
            </a:p>
          </p:txBody>
        </p:sp>
        <p:sp>
          <p:nvSpPr>
            <p:cNvPr id="250932" name="Line 52"/>
            <p:cNvSpPr>
              <a:spLocks noChangeShapeType="1"/>
            </p:cNvSpPr>
            <p:nvPr/>
          </p:nvSpPr>
          <p:spPr bwMode="auto">
            <a:xfrm>
              <a:off x="1035" y="1764"/>
              <a:ext cx="0" cy="191"/>
            </a:xfrm>
            <a:prstGeom prst="line">
              <a:avLst/>
            </a:prstGeom>
            <a:noFill/>
            <a:ln w="28575">
              <a:solidFill>
                <a:schemeClr val="tx1"/>
              </a:solidFill>
              <a:round/>
              <a:headEnd/>
              <a:tailEnd/>
            </a:ln>
            <a:effectLst/>
          </p:spPr>
          <p:txBody>
            <a:bodyPr wrap="none" anchor="ctr"/>
            <a:lstStyle/>
            <a:p>
              <a:endParaRPr lang="zh-CN" altLang="en-US"/>
            </a:p>
          </p:txBody>
        </p:sp>
        <p:sp>
          <p:nvSpPr>
            <p:cNvPr id="250933" name="Line 53"/>
            <p:cNvSpPr>
              <a:spLocks noChangeShapeType="1"/>
            </p:cNvSpPr>
            <p:nvPr/>
          </p:nvSpPr>
          <p:spPr bwMode="auto">
            <a:xfrm>
              <a:off x="614" y="1757"/>
              <a:ext cx="0" cy="215"/>
            </a:xfrm>
            <a:prstGeom prst="line">
              <a:avLst/>
            </a:prstGeom>
            <a:noFill/>
            <a:ln w="28575">
              <a:solidFill>
                <a:schemeClr val="tx1"/>
              </a:solidFill>
              <a:round/>
              <a:headEnd/>
              <a:tailEnd/>
            </a:ln>
            <a:effectLst/>
          </p:spPr>
          <p:txBody>
            <a:bodyPr wrap="none" anchor="ctr"/>
            <a:lstStyle/>
            <a:p>
              <a:endParaRPr lang="zh-CN" altLang="en-US"/>
            </a:p>
          </p:txBody>
        </p:sp>
        <p:sp>
          <p:nvSpPr>
            <p:cNvPr id="250934" name="Line 54"/>
            <p:cNvSpPr>
              <a:spLocks noChangeShapeType="1"/>
            </p:cNvSpPr>
            <p:nvPr/>
          </p:nvSpPr>
          <p:spPr bwMode="auto">
            <a:xfrm>
              <a:off x="1455" y="1768"/>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35" name="Line 55"/>
            <p:cNvSpPr>
              <a:spLocks noChangeShapeType="1"/>
            </p:cNvSpPr>
            <p:nvPr/>
          </p:nvSpPr>
          <p:spPr bwMode="auto">
            <a:xfrm>
              <a:off x="1875" y="1769"/>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36" name="Line 56"/>
            <p:cNvSpPr>
              <a:spLocks noChangeShapeType="1"/>
            </p:cNvSpPr>
            <p:nvPr/>
          </p:nvSpPr>
          <p:spPr bwMode="auto">
            <a:xfrm>
              <a:off x="2292" y="1765"/>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37" name="Line 57"/>
            <p:cNvSpPr>
              <a:spLocks noChangeShapeType="1"/>
            </p:cNvSpPr>
            <p:nvPr/>
          </p:nvSpPr>
          <p:spPr bwMode="auto">
            <a:xfrm>
              <a:off x="2709" y="1773"/>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38" name="Line 58"/>
            <p:cNvSpPr>
              <a:spLocks noChangeShapeType="1"/>
            </p:cNvSpPr>
            <p:nvPr/>
          </p:nvSpPr>
          <p:spPr bwMode="auto">
            <a:xfrm>
              <a:off x="3130" y="1769"/>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39" name="Line 59"/>
            <p:cNvSpPr>
              <a:spLocks noChangeShapeType="1"/>
            </p:cNvSpPr>
            <p:nvPr/>
          </p:nvSpPr>
          <p:spPr bwMode="auto">
            <a:xfrm>
              <a:off x="3550" y="1769"/>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40" name="Line 60"/>
            <p:cNvSpPr>
              <a:spLocks noChangeShapeType="1"/>
            </p:cNvSpPr>
            <p:nvPr/>
          </p:nvSpPr>
          <p:spPr bwMode="auto">
            <a:xfrm>
              <a:off x="3970" y="1769"/>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41" name="Line 61"/>
            <p:cNvSpPr>
              <a:spLocks noChangeShapeType="1"/>
            </p:cNvSpPr>
            <p:nvPr/>
          </p:nvSpPr>
          <p:spPr bwMode="auto">
            <a:xfrm>
              <a:off x="4390" y="1776"/>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42" name="Line 62"/>
            <p:cNvSpPr>
              <a:spLocks noChangeShapeType="1"/>
            </p:cNvSpPr>
            <p:nvPr/>
          </p:nvSpPr>
          <p:spPr bwMode="auto">
            <a:xfrm>
              <a:off x="4808" y="1765"/>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43" name="Rectangle 63"/>
            <p:cNvSpPr>
              <a:spLocks noChangeArrowheads="1"/>
            </p:cNvSpPr>
            <p:nvPr/>
          </p:nvSpPr>
          <p:spPr bwMode="auto">
            <a:xfrm>
              <a:off x="624" y="1770"/>
              <a:ext cx="396" cy="186"/>
            </a:xfrm>
            <a:prstGeom prst="rect">
              <a:avLst/>
            </a:prstGeom>
            <a:solidFill>
              <a:srgbClr val="FFCCFF"/>
            </a:solidFill>
            <a:ln w="9525">
              <a:noFill/>
              <a:miter lim="800000"/>
              <a:headEnd/>
              <a:tailEnd/>
            </a:ln>
            <a:effectLst/>
          </p:spPr>
          <p:txBody>
            <a:bodyPr wrap="none" anchor="ctr"/>
            <a:lstStyle/>
            <a:p>
              <a:endParaRPr lang="zh-CN" altLang="en-US"/>
            </a:p>
          </p:txBody>
        </p:sp>
        <p:sp>
          <p:nvSpPr>
            <p:cNvPr id="250944" name="Line 64"/>
            <p:cNvSpPr>
              <a:spLocks noChangeShapeType="1"/>
            </p:cNvSpPr>
            <p:nvPr/>
          </p:nvSpPr>
          <p:spPr bwMode="auto">
            <a:xfrm>
              <a:off x="5230" y="1768"/>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45" name="Rectangle 65"/>
            <p:cNvSpPr>
              <a:spLocks noChangeArrowheads="1"/>
            </p:cNvSpPr>
            <p:nvPr/>
          </p:nvSpPr>
          <p:spPr bwMode="auto">
            <a:xfrm>
              <a:off x="718" y="1743"/>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50946" name="Rectangle 66"/>
            <p:cNvSpPr>
              <a:spLocks noChangeArrowheads="1"/>
            </p:cNvSpPr>
            <p:nvPr/>
          </p:nvSpPr>
          <p:spPr bwMode="auto">
            <a:xfrm>
              <a:off x="1127" y="1743"/>
              <a:ext cx="211"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50947" name="Rectangle 67"/>
            <p:cNvSpPr>
              <a:spLocks noChangeArrowheads="1"/>
            </p:cNvSpPr>
            <p:nvPr/>
          </p:nvSpPr>
          <p:spPr bwMode="auto">
            <a:xfrm>
              <a:off x="1573" y="1743"/>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50948" name="Rectangle 68"/>
            <p:cNvSpPr>
              <a:spLocks noChangeArrowheads="1"/>
            </p:cNvSpPr>
            <p:nvPr/>
          </p:nvSpPr>
          <p:spPr bwMode="auto">
            <a:xfrm>
              <a:off x="1992" y="1743"/>
              <a:ext cx="209"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3</a:t>
              </a:r>
            </a:p>
          </p:txBody>
        </p:sp>
        <p:sp>
          <p:nvSpPr>
            <p:cNvPr id="250949" name="Rectangle 69"/>
            <p:cNvSpPr>
              <a:spLocks noChangeArrowheads="1"/>
            </p:cNvSpPr>
            <p:nvPr/>
          </p:nvSpPr>
          <p:spPr bwMode="auto">
            <a:xfrm>
              <a:off x="2391" y="1743"/>
              <a:ext cx="283"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4</a:t>
              </a:r>
            </a:p>
          </p:txBody>
        </p:sp>
        <p:sp>
          <p:nvSpPr>
            <p:cNvPr id="250950" name="Rectangle 70"/>
            <p:cNvSpPr>
              <a:spLocks noChangeArrowheads="1"/>
            </p:cNvSpPr>
            <p:nvPr/>
          </p:nvSpPr>
          <p:spPr bwMode="auto">
            <a:xfrm>
              <a:off x="2811" y="1743"/>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5</a:t>
              </a:r>
            </a:p>
          </p:txBody>
        </p:sp>
        <p:sp>
          <p:nvSpPr>
            <p:cNvPr id="250951" name="Rectangle 71"/>
            <p:cNvSpPr>
              <a:spLocks noChangeArrowheads="1"/>
            </p:cNvSpPr>
            <p:nvPr/>
          </p:nvSpPr>
          <p:spPr bwMode="auto">
            <a:xfrm>
              <a:off x="3220" y="1743"/>
              <a:ext cx="211"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6</a:t>
              </a:r>
            </a:p>
          </p:txBody>
        </p:sp>
        <p:sp>
          <p:nvSpPr>
            <p:cNvPr id="250952" name="Rectangle 72"/>
            <p:cNvSpPr>
              <a:spLocks noChangeArrowheads="1"/>
            </p:cNvSpPr>
            <p:nvPr/>
          </p:nvSpPr>
          <p:spPr bwMode="auto">
            <a:xfrm>
              <a:off x="3639" y="1743"/>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7</a:t>
              </a:r>
            </a:p>
          </p:txBody>
        </p:sp>
        <p:sp>
          <p:nvSpPr>
            <p:cNvPr id="250953" name="Rectangle 73"/>
            <p:cNvSpPr>
              <a:spLocks noChangeArrowheads="1"/>
            </p:cNvSpPr>
            <p:nvPr/>
          </p:nvSpPr>
          <p:spPr bwMode="auto">
            <a:xfrm>
              <a:off x="4075" y="1743"/>
              <a:ext cx="208"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50954" name="Rectangle 74"/>
            <p:cNvSpPr>
              <a:spLocks noChangeArrowheads="1"/>
            </p:cNvSpPr>
            <p:nvPr/>
          </p:nvSpPr>
          <p:spPr bwMode="auto">
            <a:xfrm>
              <a:off x="4504" y="1743"/>
              <a:ext cx="211"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50955" name="Rectangle 75"/>
            <p:cNvSpPr>
              <a:spLocks noChangeArrowheads="1"/>
            </p:cNvSpPr>
            <p:nvPr/>
          </p:nvSpPr>
          <p:spPr bwMode="auto">
            <a:xfrm>
              <a:off x="4922" y="1743"/>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50956" name="Rectangle 76"/>
            <p:cNvSpPr>
              <a:spLocks noChangeArrowheads="1"/>
            </p:cNvSpPr>
            <p:nvPr/>
          </p:nvSpPr>
          <p:spPr bwMode="auto">
            <a:xfrm>
              <a:off x="1095" y="1303"/>
              <a:ext cx="342" cy="250"/>
            </a:xfrm>
            <a:prstGeom prst="rect">
              <a:avLst/>
            </a:prstGeom>
            <a:noFill/>
            <a:ln w="12700">
              <a:noFill/>
              <a:miter lim="800000"/>
              <a:headEnd/>
              <a:tailEnd/>
            </a:ln>
            <a:effectLst/>
          </p:spPr>
          <p:txBody>
            <a:bodyPr wrap="none">
              <a:spAutoFit/>
            </a:bodyPr>
            <a:lstStyle/>
            <a:p>
              <a:pPr defTabSz="762000" eaLnBrk="0" hangingPunct="0"/>
              <a:r>
                <a:rPr kumimoji="1" lang="en-US" altLang="zh-CN" sz="2000" i="1">
                  <a:solidFill>
                    <a:srgbClr val="333399"/>
                  </a:solidFill>
                  <a:ea typeface="黑体" pitchFamily="2" charset="-122"/>
                </a:rPr>
                <a:t>W</a:t>
              </a:r>
              <a:r>
                <a:rPr kumimoji="1" lang="en-US" altLang="zh-CN" sz="2000" i="1" baseline="-25000">
                  <a:solidFill>
                    <a:srgbClr val="333399"/>
                  </a:solidFill>
                  <a:ea typeface="黑体" pitchFamily="2" charset="-122"/>
                </a:rPr>
                <a:t>R</a:t>
              </a:r>
            </a:p>
          </p:txBody>
        </p:sp>
        <p:sp>
          <p:nvSpPr>
            <p:cNvPr id="250957" name="Line 77"/>
            <p:cNvSpPr>
              <a:spLocks noChangeShapeType="1"/>
            </p:cNvSpPr>
            <p:nvPr/>
          </p:nvSpPr>
          <p:spPr bwMode="auto">
            <a:xfrm flipV="1">
              <a:off x="1236" y="2076"/>
              <a:ext cx="0" cy="192"/>
            </a:xfrm>
            <a:prstGeom prst="line">
              <a:avLst/>
            </a:prstGeom>
            <a:noFill/>
            <a:ln w="9525">
              <a:solidFill>
                <a:schemeClr val="tx1"/>
              </a:solidFill>
              <a:round/>
              <a:headEnd/>
              <a:tailEnd type="triangle" w="sm" len="med"/>
            </a:ln>
            <a:effectLst/>
          </p:spPr>
          <p:txBody>
            <a:bodyPr wrap="none"/>
            <a:lstStyle/>
            <a:p>
              <a:endParaRPr lang="zh-CN" altLang="en-US"/>
            </a:p>
          </p:txBody>
        </p:sp>
        <p:sp>
          <p:nvSpPr>
            <p:cNvPr id="250958" name="Text Box 78"/>
            <p:cNvSpPr txBox="1">
              <a:spLocks noChangeArrowheads="1"/>
            </p:cNvSpPr>
            <p:nvPr/>
          </p:nvSpPr>
          <p:spPr bwMode="auto">
            <a:xfrm>
              <a:off x="1019" y="2172"/>
              <a:ext cx="756" cy="442"/>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准备接收</a:t>
              </a:r>
            </a:p>
            <a:p>
              <a:r>
                <a:rPr kumimoji="1" lang="zh-CN" altLang="en-US" sz="2000">
                  <a:solidFill>
                    <a:srgbClr val="333399"/>
                  </a:solidFill>
                  <a:ea typeface="黑体" pitchFamily="2" charset="-122"/>
                </a:rPr>
                <a:t>  </a:t>
              </a:r>
              <a:r>
                <a:rPr kumimoji="1" lang="en-US" altLang="zh-CN" sz="2000">
                  <a:solidFill>
                    <a:srgbClr val="333399"/>
                  </a:solidFill>
                  <a:ea typeface="黑体" pitchFamily="2" charset="-122"/>
                </a:rPr>
                <a:t>1 </a:t>
              </a:r>
              <a:r>
                <a:rPr kumimoji="1" lang="zh-CN" altLang="en-US" sz="2000">
                  <a:solidFill>
                    <a:srgbClr val="333399"/>
                  </a:solidFill>
                  <a:ea typeface="黑体" pitchFamily="2" charset="-122"/>
                </a:rPr>
                <a:t>号帧</a:t>
              </a:r>
            </a:p>
          </p:txBody>
        </p:sp>
        <p:sp>
          <p:nvSpPr>
            <p:cNvPr id="250959" name="Text Box 79"/>
            <p:cNvSpPr txBox="1">
              <a:spLocks noChangeArrowheads="1"/>
            </p:cNvSpPr>
            <p:nvPr/>
          </p:nvSpPr>
          <p:spPr bwMode="auto">
            <a:xfrm>
              <a:off x="516" y="2042"/>
              <a:ext cx="597"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已收到</a:t>
              </a:r>
            </a:p>
          </p:txBody>
        </p:sp>
        <p:sp>
          <p:nvSpPr>
            <p:cNvPr id="250960" name="Line 80"/>
            <p:cNvSpPr>
              <a:spLocks noChangeShapeType="1"/>
            </p:cNvSpPr>
            <p:nvPr/>
          </p:nvSpPr>
          <p:spPr bwMode="auto">
            <a:xfrm flipV="1">
              <a:off x="808" y="1954"/>
              <a:ext cx="0" cy="192"/>
            </a:xfrm>
            <a:prstGeom prst="line">
              <a:avLst/>
            </a:prstGeom>
            <a:noFill/>
            <a:ln w="9525">
              <a:solidFill>
                <a:schemeClr val="tx1"/>
              </a:solidFill>
              <a:round/>
              <a:headEnd/>
              <a:tailEnd type="triangle" w="sm" len="med"/>
            </a:ln>
            <a:effectLst/>
          </p:spPr>
          <p:txBody>
            <a:bodyPr wrap="none"/>
            <a:lstStyle/>
            <a:p>
              <a:endParaRPr lang="zh-CN" altLang="en-US"/>
            </a:p>
          </p:txBody>
        </p:sp>
        <p:sp>
          <p:nvSpPr>
            <p:cNvPr id="250961" name="Text Box 81"/>
            <p:cNvSpPr txBox="1">
              <a:spLocks noChangeArrowheads="1"/>
            </p:cNvSpPr>
            <p:nvPr/>
          </p:nvSpPr>
          <p:spPr bwMode="auto">
            <a:xfrm>
              <a:off x="97" y="1703"/>
              <a:ext cx="311" cy="251"/>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2" charset="-122"/>
                </a:rPr>
                <a:t>(b)</a:t>
              </a:r>
            </a:p>
          </p:txBody>
        </p:sp>
      </p:grpSp>
      <p:grpSp>
        <p:nvGrpSpPr>
          <p:cNvPr id="3" name="Group 82"/>
          <p:cNvGrpSpPr>
            <a:grpSpLocks/>
          </p:cNvGrpSpPr>
          <p:nvPr/>
        </p:nvGrpSpPr>
        <p:grpSpPr bwMode="auto">
          <a:xfrm>
            <a:off x="153988" y="4108450"/>
            <a:ext cx="8521700" cy="1841500"/>
            <a:chOff x="97" y="2588"/>
            <a:chExt cx="5368" cy="1160"/>
          </a:xfrm>
        </p:grpSpPr>
        <p:sp>
          <p:nvSpPr>
            <p:cNvPr id="250963" name="Line 83"/>
            <p:cNvSpPr>
              <a:spLocks noChangeShapeType="1"/>
            </p:cNvSpPr>
            <p:nvPr/>
          </p:nvSpPr>
          <p:spPr bwMode="auto">
            <a:xfrm flipV="1">
              <a:off x="2297" y="2684"/>
              <a:ext cx="0" cy="191"/>
            </a:xfrm>
            <a:prstGeom prst="line">
              <a:avLst/>
            </a:prstGeom>
            <a:noFill/>
            <a:ln w="12700">
              <a:solidFill>
                <a:schemeClr val="tx1"/>
              </a:solidFill>
              <a:round/>
              <a:headEnd/>
              <a:tailEnd/>
            </a:ln>
            <a:effectLst/>
          </p:spPr>
          <p:txBody>
            <a:bodyPr wrap="none" anchor="ctr"/>
            <a:lstStyle/>
            <a:p>
              <a:endParaRPr lang="zh-CN" altLang="en-US"/>
            </a:p>
          </p:txBody>
        </p:sp>
        <p:sp>
          <p:nvSpPr>
            <p:cNvPr id="250964" name="AutoShape 84"/>
            <p:cNvSpPr>
              <a:spLocks noChangeArrowheads="1"/>
            </p:cNvSpPr>
            <p:nvPr/>
          </p:nvSpPr>
          <p:spPr bwMode="auto">
            <a:xfrm>
              <a:off x="2715" y="2922"/>
              <a:ext cx="379" cy="96"/>
            </a:xfrm>
            <a:prstGeom prst="rightArrow">
              <a:avLst>
                <a:gd name="adj1" fmla="val 50000"/>
                <a:gd name="adj2" fmla="val 98698"/>
              </a:avLst>
            </a:prstGeom>
            <a:solidFill>
              <a:srgbClr val="DDDDDD"/>
            </a:solidFill>
            <a:ln w="12700">
              <a:solidFill>
                <a:schemeClr val="tx1"/>
              </a:solidFill>
              <a:miter lim="800000"/>
              <a:headEnd/>
              <a:tailEnd/>
            </a:ln>
            <a:effectLst/>
          </p:spPr>
          <p:txBody>
            <a:bodyPr wrap="none" anchor="ctr"/>
            <a:lstStyle/>
            <a:p>
              <a:endParaRPr lang="zh-CN" altLang="en-US"/>
            </a:p>
          </p:txBody>
        </p:sp>
        <p:sp>
          <p:nvSpPr>
            <p:cNvPr id="250965" name="Line 85"/>
            <p:cNvSpPr>
              <a:spLocks noChangeShapeType="1"/>
            </p:cNvSpPr>
            <p:nvPr/>
          </p:nvSpPr>
          <p:spPr bwMode="auto">
            <a:xfrm flipV="1">
              <a:off x="2706" y="2689"/>
              <a:ext cx="0" cy="192"/>
            </a:xfrm>
            <a:prstGeom prst="line">
              <a:avLst/>
            </a:prstGeom>
            <a:noFill/>
            <a:ln w="12700">
              <a:solidFill>
                <a:schemeClr val="tx1"/>
              </a:solidFill>
              <a:round/>
              <a:headEnd/>
              <a:tailEnd/>
            </a:ln>
            <a:effectLst/>
          </p:spPr>
          <p:txBody>
            <a:bodyPr wrap="none" anchor="ctr"/>
            <a:lstStyle/>
            <a:p>
              <a:endParaRPr lang="zh-CN" altLang="en-US"/>
            </a:p>
          </p:txBody>
        </p:sp>
        <p:sp>
          <p:nvSpPr>
            <p:cNvPr id="250966" name="Line 86"/>
            <p:cNvSpPr>
              <a:spLocks noChangeShapeType="1"/>
            </p:cNvSpPr>
            <p:nvPr/>
          </p:nvSpPr>
          <p:spPr bwMode="auto">
            <a:xfrm flipV="1">
              <a:off x="1991" y="2778"/>
              <a:ext cx="303" cy="0"/>
            </a:xfrm>
            <a:prstGeom prst="line">
              <a:avLst/>
            </a:prstGeom>
            <a:noFill/>
            <a:ln w="12700">
              <a:solidFill>
                <a:schemeClr val="tx1"/>
              </a:solidFill>
              <a:round/>
              <a:headEnd/>
              <a:tailEnd type="triangle" w="sm" len="med"/>
            </a:ln>
            <a:effectLst/>
          </p:spPr>
          <p:txBody>
            <a:bodyPr wrap="none" anchor="ctr"/>
            <a:lstStyle/>
            <a:p>
              <a:endParaRPr lang="zh-CN" altLang="en-US"/>
            </a:p>
          </p:txBody>
        </p:sp>
        <p:sp>
          <p:nvSpPr>
            <p:cNvPr id="250967" name="Line 87"/>
            <p:cNvSpPr>
              <a:spLocks noChangeShapeType="1"/>
            </p:cNvSpPr>
            <p:nvPr/>
          </p:nvSpPr>
          <p:spPr bwMode="auto">
            <a:xfrm flipH="1">
              <a:off x="2706" y="2778"/>
              <a:ext cx="333" cy="0"/>
            </a:xfrm>
            <a:prstGeom prst="line">
              <a:avLst/>
            </a:prstGeom>
            <a:noFill/>
            <a:ln w="12700">
              <a:solidFill>
                <a:schemeClr val="tx1"/>
              </a:solidFill>
              <a:round/>
              <a:headEnd/>
              <a:tailEnd type="triangle" w="sm" len="med"/>
            </a:ln>
            <a:effectLst/>
          </p:spPr>
          <p:txBody>
            <a:bodyPr wrap="none" anchor="ctr"/>
            <a:lstStyle/>
            <a:p>
              <a:endParaRPr lang="zh-CN" altLang="en-US"/>
            </a:p>
          </p:txBody>
        </p:sp>
        <p:sp>
          <p:nvSpPr>
            <p:cNvPr id="250968" name="Rectangle 88"/>
            <p:cNvSpPr>
              <a:spLocks noChangeArrowheads="1"/>
            </p:cNvSpPr>
            <p:nvPr/>
          </p:nvSpPr>
          <p:spPr bwMode="auto">
            <a:xfrm>
              <a:off x="2712" y="3040"/>
              <a:ext cx="2752" cy="196"/>
            </a:xfrm>
            <a:prstGeom prst="rect">
              <a:avLst/>
            </a:prstGeom>
            <a:solidFill>
              <a:srgbClr val="FFFFCC"/>
            </a:solidFill>
            <a:ln w="9525">
              <a:noFill/>
              <a:miter lim="800000"/>
              <a:headEnd/>
              <a:tailEnd/>
            </a:ln>
            <a:effectLst/>
          </p:spPr>
          <p:txBody>
            <a:bodyPr wrap="none" anchor="ctr"/>
            <a:lstStyle/>
            <a:p>
              <a:endParaRPr lang="zh-CN" altLang="en-US"/>
            </a:p>
          </p:txBody>
        </p:sp>
        <p:sp>
          <p:nvSpPr>
            <p:cNvPr id="250969" name="Text Box 89"/>
            <p:cNvSpPr txBox="1">
              <a:spLocks noChangeArrowheads="1"/>
            </p:cNvSpPr>
            <p:nvPr/>
          </p:nvSpPr>
          <p:spPr bwMode="auto">
            <a:xfrm>
              <a:off x="3372" y="3353"/>
              <a:ext cx="1395"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不允许接收这些帧</a:t>
              </a:r>
            </a:p>
          </p:txBody>
        </p:sp>
        <p:sp>
          <p:nvSpPr>
            <p:cNvPr id="250970" name="Rectangle 90"/>
            <p:cNvSpPr>
              <a:spLocks noChangeArrowheads="1"/>
            </p:cNvSpPr>
            <p:nvPr/>
          </p:nvSpPr>
          <p:spPr bwMode="auto">
            <a:xfrm>
              <a:off x="2292" y="2911"/>
              <a:ext cx="427" cy="441"/>
            </a:xfrm>
            <a:prstGeom prst="rect">
              <a:avLst/>
            </a:prstGeom>
            <a:solidFill>
              <a:srgbClr val="00FFCC"/>
            </a:solidFill>
            <a:ln w="12700">
              <a:solidFill>
                <a:schemeClr val="tx1"/>
              </a:solidFill>
              <a:miter lim="800000"/>
              <a:headEnd/>
              <a:tailEnd/>
            </a:ln>
            <a:effectLst/>
          </p:spPr>
          <p:txBody>
            <a:bodyPr wrap="none" anchor="ctr"/>
            <a:lstStyle/>
            <a:p>
              <a:endParaRPr lang="zh-CN" altLang="en-US"/>
            </a:p>
          </p:txBody>
        </p:sp>
        <p:sp>
          <p:nvSpPr>
            <p:cNvPr id="250971" name="AutoShape 91"/>
            <p:cNvSpPr>
              <a:spLocks/>
            </p:cNvSpPr>
            <p:nvPr/>
          </p:nvSpPr>
          <p:spPr bwMode="auto">
            <a:xfrm rot="-5400000">
              <a:off x="3924" y="2071"/>
              <a:ext cx="96" cy="2481"/>
            </a:xfrm>
            <a:prstGeom prst="leftBrace">
              <a:avLst>
                <a:gd name="adj1" fmla="val 215365"/>
                <a:gd name="adj2" fmla="val 50236"/>
              </a:avLst>
            </a:prstGeom>
            <a:noFill/>
            <a:ln w="9525">
              <a:solidFill>
                <a:schemeClr val="tx1"/>
              </a:solidFill>
              <a:round/>
              <a:headEnd/>
              <a:tailEnd/>
            </a:ln>
            <a:effectLst/>
          </p:spPr>
          <p:txBody>
            <a:bodyPr wrap="none" anchor="ctr"/>
            <a:lstStyle/>
            <a:p>
              <a:endParaRPr lang="zh-CN" altLang="en-US"/>
            </a:p>
          </p:txBody>
        </p:sp>
        <p:sp>
          <p:nvSpPr>
            <p:cNvPr id="250972" name="Line 92"/>
            <p:cNvSpPr>
              <a:spLocks noChangeShapeType="1"/>
            </p:cNvSpPr>
            <p:nvPr/>
          </p:nvSpPr>
          <p:spPr bwMode="auto">
            <a:xfrm>
              <a:off x="620" y="3040"/>
              <a:ext cx="4843" cy="0"/>
            </a:xfrm>
            <a:prstGeom prst="line">
              <a:avLst/>
            </a:prstGeom>
            <a:noFill/>
            <a:ln w="28575">
              <a:solidFill>
                <a:schemeClr val="tx1"/>
              </a:solidFill>
              <a:round/>
              <a:headEnd/>
              <a:tailEnd/>
            </a:ln>
            <a:effectLst/>
          </p:spPr>
          <p:txBody>
            <a:bodyPr wrap="none" anchor="ctr"/>
            <a:lstStyle/>
            <a:p>
              <a:endParaRPr lang="zh-CN" altLang="en-US"/>
            </a:p>
          </p:txBody>
        </p:sp>
        <p:sp>
          <p:nvSpPr>
            <p:cNvPr id="250973" name="Line 93"/>
            <p:cNvSpPr>
              <a:spLocks noChangeShapeType="1"/>
            </p:cNvSpPr>
            <p:nvPr/>
          </p:nvSpPr>
          <p:spPr bwMode="auto">
            <a:xfrm>
              <a:off x="623" y="3241"/>
              <a:ext cx="4842" cy="0"/>
            </a:xfrm>
            <a:prstGeom prst="line">
              <a:avLst/>
            </a:prstGeom>
            <a:noFill/>
            <a:ln w="28575">
              <a:solidFill>
                <a:schemeClr val="tx1"/>
              </a:solidFill>
              <a:round/>
              <a:headEnd/>
              <a:tailEnd/>
            </a:ln>
            <a:effectLst/>
          </p:spPr>
          <p:txBody>
            <a:bodyPr wrap="none" anchor="ctr"/>
            <a:lstStyle/>
            <a:p>
              <a:endParaRPr lang="zh-CN" altLang="en-US"/>
            </a:p>
          </p:txBody>
        </p:sp>
        <p:sp>
          <p:nvSpPr>
            <p:cNvPr id="250974" name="Rectangle 94"/>
            <p:cNvSpPr>
              <a:spLocks noChangeArrowheads="1"/>
            </p:cNvSpPr>
            <p:nvPr/>
          </p:nvSpPr>
          <p:spPr bwMode="auto">
            <a:xfrm>
              <a:off x="612" y="3060"/>
              <a:ext cx="1684" cy="170"/>
            </a:xfrm>
            <a:prstGeom prst="rect">
              <a:avLst/>
            </a:prstGeom>
            <a:solidFill>
              <a:srgbClr val="FFCCFF"/>
            </a:solidFill>
            <a:ln w="9525">
              <a:noFill/>
              <a:miter lim="800000"/>
              <a:headEnd/>
              <a:tailEnd/>
            </a:ln>
            <a:effectLst/>
          </p:spPr>
          <p:txBody>
            <a:bodyPr wrap="none" anchor="ctr"/>
            <a:lstStyle/>
            <a:p>
              <a:endParaRPr lang="zh-CN" altLang="en-US"/>
            </a:p>
          </p:txBody>
        </p:sp>
        <p:sp>
          <p:nvSpPr>
            <p:cNvPr id="250975" name="Line 95"/>
            <p:cNvSpPr>
              <a:spLocks noChangeShapeType="1"/>
            </p:cNvSpPr>
            <p:nvPr/>
          </p:nvSpPr>
          <p:spPr bwMode="auto">
            <a:xfrm>
              <a:off x="1040" y="3040"/>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76" name="Line 96"/>
            <p:cNvSpPr>
              <a:spLocks noChangeShapeType="1"/>
            </p:cNvSpPr>
            <p:nvPr/>
          </p:nvSpPr>
          <p:spPr bwMode="auto">
            <a:xfrm>
              <a:off x="618" y="3034"/>
              <a:ext cx="0" cy="214"/>
            </a:xfrm>
            <a:prstGeom prst="line">
              <a:avLst/>
            </a:prstGeom>
            <a:noFill/>
            <a:ln w="28575">
              <a:solidFill>
                <a:schemeClr val="tx1"/>
              </a:solidFill>
              <a:round/>
              <a:headEnd/>
              <a:tailEnd/>
            </a:ln>
            <a:effectLst/>
          </p:spPr>
          <p:txBody>
            <a:bodyPr wrap="none" anchor="ctr"/>
            <a:lstStyle/>
            <a:p>
              <a:endParaRPr lang="zh-CN" altLang="en-US"/>
            </a:p>
          </p:txBody>
        </p:sp>
        <p:sp>
          <p:nvSpPr>
            <p:cNvPr id="250977" name="Line 97"/>
            <p:cNvSpPr>
              <a:spLocks noChangeShapeType="1"/>
            </p:cNvSpPr>
            <p:nvPr/>
          </p:nvSpPr>
          <p:spPr bwMode="auto">
            <a:xfrm>
              <a:off x="1458" y="3044"/>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78" name="Line 98"/>
            <p:cNvSpPr>
              <a:spLocks noChangeShapeType="1"/>
            </p:cNvSpPr>
            <p:nvPr/>
          </p:nvSpPr>
          <p:spPr bwMode="auto">
            <a:xfrm>
              <a:off x="1878" y="3045"/>
              <a:ext cx="0" cy="193"/>
            </a:xfrm>
            <a:prstGeom prst="line">
              <a:avLst/>
            </a:prstGeom>
            <a:noFill/>
            <a:ln w="28575">
              <a:solidFill>
                <a:schemeClr val="tx1"/>
              </a:solidFill>
              <a:round/>
              <a:headEnd/>
              <a:tailEnd/>
            </a:ln>
            <a:effectLst/>
          </p:spPr>
          <p:txBody>
            <a:bodyPr wrap="none" anchor="ctr"/>
            <a:lstStyle/>
            <a:p>
              <a:endParaRPr lang="zh-CN" altLang="en-US"/>
            </a:p>
          </p:txBody>
        </p:sp>
        <p:sp>
          <p:nvSpPr>
            <p:cNvPr id="250979" name="Line 99"/>
            <p:cNvSpPr>
              <a:spLocks noChangeShapeType="1"/>
            </p:cNvSpPr>
            <p:nvPr/>
          </p:nvSpPr>
          <p:spPr bwMode="auto">
            <a:xfrm>
              <a:off x="2295" y="3043"/>
              <a:ext cx="0" cy="191"/>
            </a:xfrm>
            <a:prstGeom prst="line">
              <a:avLst/>
            </a:prstGeom>
            <a:noFill/>
            <a:ln w="28575">
              <a:solidFill>
                <a:schemeClr val="tx1"/>
              </a:solidFill>
              <a:round/>
              <a:headEnd/>
              <a:tailEnd/>
            </a:ln>
            <a:effectLst/>
          </p:spPr>
          <p:txBody>
            <a:bodyPr wrap="none" anchor="ctr"/>
            <a:lstStyle/>
            <a:p>
              <a:endParaRPr lang="zh-CN" altLang="en-US"/>
            </a:p>
          </p:txBody>
        </p:sp>
        <p:sp>
          <p:nvSpPr>
            <p:cNvPr id="250980" name="Line 100"/>
            <p:cNvSpPr>
              <a:spLocks noChangeShapeType="1"/>
            </p:cNvSpPr>
            <p:nvPr/>
          </p:nvSpPr>
          <p:spPr bwMode="auto">
            <a:xfrm>
              <a:off x="2713" y="3049"/>
              <a:ext cx="0" cy="194"/>
            </a:xfrm>
            <a:prstGeom prst="line">
              <a:avLst/>
            </a:prstGeom>
            <a:noFill/>
            <a:ln w="28575">
              <a:solidFill>
                <a:schemeClr val="tx1"/>
              </a:solidFill>
              <a:round/>
              <a:headEnd/>
              <a:tailEnd/>
            </a:ln>
            <a:effectLst/>
          </p:spPr>
          <p:txBody>
            <a:bodyPr wrap="none" anchor="ctr"/>
            <a:lstStyle/>
            <a:p>
              <a:endParaRPr lang="zh-CN" altLang="en-US"/>
            </a:p>
          </p:txBody>
        </p:sp>
        <p:sp>
          <p:nvSpPr>
            <p:cNvPr id="250981" name="Line 101"/>
            <p:cNvSpPr>
              <a:spLocks noChangeShapeType="1"/>
            </p:cNvSpPr>
            <p:nvPr/>
          </p:nvSpPr>
          <p:spPr bwMode="auto">
            <a:xfrm>
              <a:off x="3135" y="3045"/>
              <a:ext cx="0" cy="193"/>
            </a:xfrm>
            <a:prstGeom prst="line">
              <a:avLst/>
            </a:prstGeom>
            <a:noFill/>
            <a:ln w="28575">
              <a:solidFill>
                <a:schemeClr val="tx1"/>
              </a:solidFill>
              <a:round/>
              <a:headEnd/>
              <a:tailEnd/>
            </a:ln>
            <a:effectLst/>
          </p:spPr>
          <p:txBody>
            <a:bodyPr wrap="none" anchor="ctr"/>
            <a:lstStyle/>
            <a:p>
              <a:endParaRPr lang="zh-CN" altLang="en-US"/>
            </a:p>
          </p:txBody>
        </p:sp>
        <p:sp>
          <p:nvSpPr>
            <p:cNvPr id="250982" name="Line 102"/>
            <p:cNvSpPr>
              <a:spLocks noChangeShapeType="1"/>
            </p:cNvSpPr>
            <p:nvPr/>
          </p:nvSpPr>
          <p:spPr bwMode="auto">
            <a:xfrm>
              <a:off x="3555" y="3045"/>
              <a:ext cx="0" cy="193"/>
            </a:xfrm>
            <a:prstGeom prst="line">
              <a:avLst/>
            </a:prstGeom>
            <a:noFill/>
            <a:ln w="28575">
              <a:solidFill>
                <a:schemeClr val="tx1"/>
              </a:solidFill>
              <a:round/>
              <a:headEnd/>
              <a:tailEnd/>
            </a:ln>
            <a:effectLst/>
          </p:spPr>
          <p:txBody>
            <a:bodyPr wrap="none" anchor="ctr"/>
            <a:lstStyle/>
            <a:p>
              <a:endParaRPr lang="zh-CN" altLang="en-US"/>
            </a:p>
          </p:txBody>
        </p:sp>
        <p:sp>
          <p:nvSpPr>
            <p:cNvPr id="250983" name="Line 103"/>
            <p:cNvSpPr>
              <a:spLocks noChangeShapeType="1"/>
            </p:cNvSpPr>
            <p:nvPr/>
          </p:nvSpPr>
          <p:spPr bwMode="auto">
            <a:xfrm>
              <a:off x="3973" y="3045"/>
              <a:ext cx="0" cy="193"/>
            </a:xfrm>
            <a:prstGeom prst="line">
              <a:avLst/>
            </a:prstGeom>
            <a:noFill/>
            <a:ln w="28575">
              <a:solidFill>
                <a:schemeClr val="tx1"/>
              </a:solidFill>
              <a:round/>
              <a:headEnd/>
              <a:tailEnd/>
            </a:ln>
            <a:effectLst/>
          </p:spPr>
          <p:txBody>
            <a:bodyPr wrap="none" anchor="ctr"/>
            <a:lstStyle/>
            <a:p>
              <a:endParaRPr lang="zh-CN" altLang="en-US"/>
            </a:p>
          </p:txBody>
        </p:sp>
        <p:sp>
          <p:nvSpPr>
            <p:cNvPr id="250984" name="Line 104"/>
            <p:cNvSpPr>
              <a:spLocks noChangeShapeType="1"/>
            </p:cNvSpPr>
            <p:nvPr/>
          </p:nvSpPr>
          <p:spPr bwMode="auto">
            <a:xfrm>
              <a:off x="4395" y="3052"/>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85" name="Line 105"/>
            <p:cNvSpPr>
              <a:spLocks noChangeShapeType="1"/>
            </p:cNvSpPr>
            <p:nvPr/>
          </p:nvSpPr>
          <p:spPr bwMode="auto">
            <a:xfrm>
              <a:off x="4812" y="3043"/>
              <a:ext cx="0" cy="191"/>
            </a:xfrm>
            <a:prstGeom prst="line">
              <a:avLst/>
            </a:prstGeom>
            <a:noFill/>
            <a:ln w="28575">
              <a:solidFill>
                <a:schemeClr val="tx1"/>
              </a:solidFill>
              <a:round/>
              <a:headEnd/>
              <a:tailEnd/>
            </a:ln>
            <a:effectLst/>
          </p:spPr>
          <p:txBody>
            <a:bodyPr wrap="none" anchor="ctr"/>
            <a:lstStyle/>
            <a:p>
              <a:endParaRPr lang="zh-CN" altLang="en-US"/>
            </a:p>
          </p:txBody>
        </p:sp>
        <p:sp>
          <p:nvSpPr>
            <p:cNvPr id="250986" name="Line 106"/>
            <p:cNvSpPr>
              <a:spLocks noChangeShapeType="1"/>
            </p:cNvSpPr>
            <p:nvPr/>
          </p:nvSpPr>
          <p:spPr bwMode="auto">
            <a:xfrm>
              <a:off x="5233" y="3044"/>
              <a:ext cx="0" cy="192"/>
            </a:xfrm>
            <a:prstGeom prst="line">
              <a:avLst/>
            </a:prstGeom>
            <a:noFill/>
            <a:ln w="28575">
              <a:solidFill>
                <a:schemeClr val="tx1"/>
              </a:solidFill>
              <a:round/>
              <a:headEnd/>
              <a:tailEnd/>
            </a:ln>
            <a:effectLst/>
          </p:spPr>
          <p:txBody>
            <a:bodyPr wrap="none" anchor="ctr"/>
            <a:lstStyle/>
            <a:p>
              <a:endParaRPr lang="zh-CN" altLang="en-US"/>
            </a:p>
          </p:txBody>
        </p:sp>
        <p:sp>
          <p:nvSpPr>
            <p:cNvPr id="250987" name="Rectangle 107"/>
            <p:cNvSpPr>
              <a:spLocks noChangeArrowheads="1"/>
            </p:cNvSpPr>
            <p:nvPr/>
          </p:nvSpPr>
          <p:spPr bwMode="auto">
            <a:xfrm>
              <a:off x="738" y="3015"/>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50988" name="Rectangle 108"/>
            <p:cNvSpPr>
              <a:spLocks noChangeArrowheads="1"/>
            </p:cNvSpPr>
            <p:nvPr/>
          </p:nvSpPr>
          <p:spPr bwMode="auto">
            <a:xfrm>
              <a:off x="1147" y="3015"/>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50989" name="Rectangle 109"/>
            <p:cNvSpPr>
              <a:spLocks noChangeArrowheads="1"/>
            </p:cNvSpPr>
            <p:nvPr/>
          </p:nvSpPr>
          <p:spPr bwMode="auto">
            <a:xfrm>
              <a:off x="1592" y="3015"/>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50990" name="Rectangle 110"/>
            <p:cNvSpPr>
              <a:spLocks noChangeArrowheads="1"/>
            </p:cNvSpPr>
            <p:nvPr/>
          </p:nvSpPr>
          <p:spPr bwMode="auto">
            <a:xfrm>
              <a:off x="2013" y="3015"/>
              <a:ext cx="209"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3</a:t>
              </a:r>
            </a:p>
          </p:txBody>
        </p:sp>
        <p:sp>
          <p:nvSpPr>
            <p:cNvPr id="250991" name="Rectangle 111"/>
            <p:cNvSpPr>
              <a:spLocks noChangeArrowheads="1"/>
            </p:cNvSpPr>
            <p:nvPr/>
          </p:nvSpPr>
          <p:spPr bwMode="auto">
            <a:xfrm>
              <a:off x="2412" y="3015"/>
              <a:ext cx="28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4</a:t>
              </a:r>
            </a:p>
          </p:txBody>
        </p:sp>
        <p:sp>
          <p:nvSpPr>
            <p:cNvPr id="250992" name="Rectangle 112"/>
            <p:cNvSpPr>
              <a:spLocks noChangeArrowheads="1"/>
            </p:cNvSpPr>
            <p:nvPr/>
          </p:nvSpPr>
          <p:spPr bwMode="auto">
            <a:xfrm>
              <a:off x="2830" y="3015"/>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5</a:t>
              </a:r>
            </a:p>
          </p:txBody>
        </p:sp>
        <p:sp>
          <p:nvSpPr>
            <p:cNvPr id="250993" name="Rectangle 113"/>
            <p:cNvSpPr>
              <a:spLocks noChangeArrowheads="1"/>
            </p:cNvSpPr>
            <p:nvPr/>
          </p:nvSpPr>
          <p:spPr bwMode="auto">
            <a:xfrm>
              <a:off x="3241" y="3015"/>
              <a:ext cx="209"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6</a:t>
              </a:r>
            </a:p>
          </p:txBody>
        </p:sp>
        <p:sp>
          <p:nvSpPr>
            <p:cNvPr id="250994" name="Rectangle 114"/>
            <p:cNvSpPr>
              <a:spLocks noChangeArrowheads="1"/>
            </p:cNvSpPr>
            <p:nvPr/>
          </p:nvSpPr>
          <p:spPr bwMode="auto">
            <a:xfrm>
              <a:off x="3658" y="3015"/>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7</a:t>
              </a:r>
            </a:p>
          </p:txBody>
        </p:sp>
        <p:sp>
          <p:nvSpPr>
            <p:cNvPr id="250995" name="Rectangle 115"/>
            <p:cNvSpPr>
              <a:spLocks noChangeArrowheads="1"/>
            </p:cNvSpPr>
            <p:nvPr/>
          </p:nvSpPr>
          <p:spPr bwMode="auto">
            <a:xfrm>
              <a:off x="4094" y="3015"/>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0</a:t>
              </a:r>
            </a:p>
          </p:txBody>
        </p:sp>
        <p:sp>
          <p:nvSpPr>
            <p:cNvPr id="250996" name="Rectangle 116"/>
            <p:cNvSpPr>
              <a:spLocks noChangeArrowheads="1"/>
            </p:cNvSpPr>
            <p:nvPr/>
          </p:nvSpPr>
          <p:spPr bwMode="auto">
            <a:xfrm>
              <a:off x="4523" y="3015"/>
              <a:ext cx="210"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1</a:t>
              </a:r>
            </a:p>
          </p:txBody>
        </p:sp>
        <p:sp>
          <p:nvSpPr>
            <p:cNvPr id="250997" name="Rectangle 117"/>
            <p:cNvSpPr>
              <a:spLocks noChangeArrowheads="1"/>
            </p:cNvSpPr>
            <p:nvPr/>
          </p:nvSpPr>
          <p:spPr bwMode="auto">
            <a:xfrm>
              <a:off x="4940" y="3015"/>
              <a:ext cx="211" cy="248"/>
            </a:xfrm>
            <a:prstGeom prst="rect">
              <a:avLst/>
            </a:prstGeom>
            <a:noFill/>
            <a:ln w="12700">
              <a:noFill/>
              <a:miter lim="800000"/>
              <a:headEnd/>
              <a:tailEnd/>
            </a:ln>
            <a:effectLst/>
          </p:spPr>
          <p:txBody>
            <a:bodyPr lIns="90488" tIns="44450" rIns="90488" bIns="44450">
              <a:spAutoFit/>
            </a:bodyPr>
            <a:lstStyle/>
            <a:p>
              <a:pPr defTabSz="762000" eaLnBrk="0" hangingPunct="0"/>
              <a:r>
                <a:rPr kumimoji="1" lang="en-US" altLang="zh-CN" sz="2000">
                  <a:solidFill>
                    <a:srgbClr val="333399"/>
                  </a:solidFill>
                  <a:ea typeface="黑体" pitchFamily="2" charset="-122"/>
                </a:rPr>
                <a:t>2</a:t>
              </a:r>
            </a:p>
          </p:txBody>
        </p:sp>
        <p:sp>
          <p:nvSpPr>
            <p:cNvPr id="250998" name="Rectangle 118"/>
            <p:cNvSpPr>
              <a:spLocks noChangeArrowheads="1"/>
            </p:cNvSpPr>
            <p:nvPr/>
          </p:nvSpPr>
          <p:spPr bwMode="auto">
            <a:xfrm>
              <a:off x="2364" y="2588"/>
              <a:ext cx="342" cy="249"/>
            </a:xfrm>
            <a:prstGeom prst="rect">
              <a:avLst/>
            </a:prstGeom>
            <a:noFill/>
            <a:ln w="12700">
              <a:noFill/>
              <a:miter lim="800000"/>
              <a:headEnd/>
              <a:tailEnd/>
            </a:ln>
            <a:effectLst/>
          </p:spPr>
          <p:txBody>
            <a:bodyPr wrap="none">
              <a:spAutoFit/>
            </a:bodyPr>
            <a:lstStyle/>
            <a:p>
              <a:pPr defTabSz="762000" eaLnBrk="0" hangingPunct="0"/>
              <a:r>
                <a:rPr kumimoji="1" lang="en-US" altLang="zh-CN" sz="2000" i="1">
                  <a:solidFill>
                    <a:srgbClr val="333399"/>
                  </a:solidFill>
                  <a:ea typeface="黑体" pitchFamily="2" charset="-122"/>
                </a:rPr>
                <a:t>W</a:t>
              </a:r>
              <a:r>
                <a:rPr kumimoji="1" lang="en-US" altLang="zh-CN" sz="2000" i="1" baseline="-25000">
                  <a:solidFill>
                    <a:srgbClr val="333399"/>
                  </a:solidFill>
                  <a:ea typeface="黑体" pitchFamily="2" charset="-122"/>
                </a:rPr>
                <a:t>R</a:t>
              </a:r>
            </a:p>
          </p:txBody>
        </p:sp>
        <p:sp>
          <p:nvSpPr>
            <p:cNvPr id="250999" name="Line 119"/>
            <p:cNvSpPr>
              <a:spLocks noChangeShapeType="1"/>
            </p:cNvSpPr>
            <p:nvPr/>
          </p:nvSpPr>
          <p:spPr bwMode="auto">
            <a:xfrm flipV="1">
              <a:off x="2497" y="3352"/>
              <a:ext cx="0" cy="192"/>
            </a:xfrm>
            <a:prstGeom prst="line">
              <a:avLst/>
            </a:prstGeom>
            <a:noFill/>
            <a:ln w="9525">
              <a:solidFill>
                <a:schemeClr val="tx1"/>
              </a:solidFill>
              <a:round/>
              <a:headEnd/>
              <a:tailEnd type="triangle" w="sm" len="med"/>
            </a:ln>
            <a:effectLst/>
          </p:spPr>
          <p:txBody>
            <a:bodyPr wrap="none"/>
            <a:lstStyle/>
            <a:p>
              <a:endParaRPr lang="zh-CN" altLang="en-US"/>
            </a:p>
          </p:txBody>
        </p:sp>
        <p:sp>
          <p:nvSpPr>
            <p:cNvPr id="251000" name="Text Box 120"/>
            <p:cNvSpPr txBox="1">
              <a:spLocks noChangeArrowheads="1"/>
            </p:cNvSpPr>
            <p:nvPr/>
          </p:nvSpPr>
          <p:spPr bwMode="auto">
            <a:xfrm>
              <a:off x="2022" y="3497"/>
              <a:ext cx="1254" cy="251"/>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准备接收 </a:t>
              </a:r>
              <a:r>
                <a:rPr kumimoji="1" lang="en-US" altLang="zh-CN" sz="2000">
                  <a:solidFill>
                    <a:srgbClr val="333399"/>
                  </a:solidFill>
                  <a:ea typeface="黑体" pitchFamily="2" charset="-122"/>
                </a:rPr>
                <a:t>4 </a:t>
              </a:r>
              <a:r>
                <a:rPr kumimoji="1" lang="zh-CN" altLang="en-US" sz="2000">
                  <a:solidFill>
                    <a:srgbClr val="333399"/>
                  </a:solidFill>
                  <a:ea typeface="黑体" pitchFamily="2" charset="-122"/>
                </a:rPr>
                <a:t>号帧</a:t>
              </a:r>
            </a:p>
          </p:txBody>
        </p:sp>
        <p:sp>
          <p:nvSpPr>
            <p:cNvPr id="251001" name="Text Box 121"/>
            <p:cNvSpPr txBox="1">
              <a:spLocks noChangeArrowheads="1"/>
            </p:cNvSpPr>
            <p:nvPr/>
          </p:nvSpPr>
          <p:spPr bwMode="auto">
            <a:xfrm>
              <a:off x="1176" y="3362"/>
              <a:ext cx="596" cy="250"/>
            </a:xfrm>
            <a:prstGeom prst="rect">
              <a:avLst/>
            </a:prstGeom>
            <a:noFill/>
            <a:ln w="9525">
              <a:noFill/>
              <a:miter lim="800000"/>
              <a:headEnd/>
              <a:tailEnd/>
            </a:ln>
            <a:effectLst/>
          </p:spPr>
          <p:txBody>
            <a:bodyPr wrap="none">
              <a:spAutoFit/>
            </a:bodyPr>
            <a:lstStyle/>
            <a:p>
              <a:r>
                <a:rPr kumimoji="1" lang="zh-CN" altLang="en-US" sz="2000">
                  <a:solidFill>
                    <a:srgbClr val="333399"/>
                  </a:solidFill>
                  <a:ea typeface="黑体" pitchFamily="2" charset="-122"/>
                </a:rPr>
                <a:t>已收到</a:t>
              </a:r>
            </a:p>
          </p:txBody>
        </p:sp>
        <p:sp>
          <p:nvSpPr>
            <p:cNvPr id="251002" name="AutoShape 122"/>
            <p:cNvSpPr>
              <a:spLocks/>
            </p:cNvSpPr>
            <p:nvPr/>
          </p:nvSpPr>
          <p:spPr bwMode="auto">
            <a:xfrm rot="-5400000">
              <a:off x="1401" y="2481"/>
              <a:ext cx="96" cy="1662"/>
            </a:xfrm>
            <a:prstGeom prst="leftBrace">
              <a:avLst>
                <a:gd name="adj1" fmla="val 144271"/>
                <a:gd name="adj2" fmla="val 50236"/>
              </a:avLst>
            </a:prstGeom>
            <a:noFill/>
            <a:ln w="9525">
              <a:solidFill>
                <a:schemeClr val="tx1"/>
              </a:solidFill>
              <a:round/>
              <a:headEnd/>
              <a:tailEnd/>
            </a:ln>
            <a:effectLst/>
          </p:spPr>
          <p:txBody>
            <a:bodyPr wrap="none" anchor="ctr"/>
            <a:lstStyle/>
            <a:p>
              <a:endParaRPr lang="zh-CN" altLang="en-US"/>
            </a:p>
          </p:txBody>
        </p:sp>
        <p:sp>
          <p:nvSpPr>
            <p:cNvPr id="251003" name="Text Box 123"/>
            <p:cNvSpPr txBox="1">
              <a:spLocks noChangeArrowheads="1"/>
            </p:cNvSpPr>
            <p:nvPr/>
          </p:nvSpPr>
          <p:spPr bwMode="auto">
            <a:xfrm>
              <a:off x="97" y="2982"/>
              <a:ext cx="302" cy="250"/>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2" charset="-122"/>
                </a:rPr>
                <a:t>(c)</a:t>
              </a:r>
            </a:p>
          </p:txBody>
        </p:sp>
      </p:gr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900113" y="214313"/>
            <a:ext cx="8243887" cy="1462087"/>
          </a:xfrm>
        </p:spPr>
        <p:txBody>
          <a:bodyPr/>
          <a:lstStyle/>
          <a:p>
            <a:pPr algn="ctr"/>
            <a:r>
              <a:rPr lang="zh-CN" altLang="en-US"/>
              <a:t>滑动窗口的重要特性</a:t>
            </a:r>
          </a:p>
        </p:txBody>
      </p:sp>
      <p:sp>
        <p:nvSpPr>
          <p:cNvPr id="251907" name="Rectangle 3"/>
          <p:cNvSpPr>
            <a:spLocks noGrp="1" noChangeArrowheads="1"/>
          </p:cNvSpPr>
          <p:nvPr>
            <p:ph type="body" idx="1"/>
          </p:nvPr>
        </p:nvSpPr>
        <p:spPr>
          <a:xfrm>
            <a:off x="971550" y="1989138"/>
            <a:ext cx="7772400" cy="4535487"/>
          </a:xfrm>
        </p:spPr>
        <p:txBody>
          <a:bodyPr/>
          <a:lstStyle/>
          <a:p>
            <a:r>
              <a:rPr lang="zh-CN" altLang="en-US" dirty="0"/>
              <a:t>只有在接收窗口向前滑动时（与此同时也发送了确认），发送窗口才有可能向前滑动。</a:t>
            </a:r>
          </a:p>
          <a:p>
            <a:r>
              <a:rPr lang="zh-CN" altLang="en-US" dirty="0"/>
              <a:t>收发两端的窗口按照以上规律不断地向前滑动，因此这种协议又称为滑动窗口协议。</a:t>
            </a:r>
          </a:p>
          <a:p>
            <a:r>
              <a:rPr lang="zh-CN" altLang="en-US" dirty="0"/>
              <a:t>当发送窗口和接收窗口的大小都等于 </a:t>
            </a:r>
            <a:r>
              <a:rPr lang="en-US" altLang="zh-CN" dirty="0"/>
              <a:t>1</a:t>
            </a:r>
            <a:r>
              <a:rPr lang="zh-CN" altLang="en-US" dirty="0"/>
              <a:t>时，就是停止等待协议。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19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19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7"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a:xfrm>
            <a:off x="539750" y="476250"/>
            <a:ext cx="8243888" cy="1462088"/>
          </a:xfrm>
        </p:spPr>
        <p:txBody>
          <a:bodyPr/>
          <a:lstStyle/>
          <a:p>
            <a:pPr algn="ctr"/>
            <a:r>
              <a:rPr lang="zh-CN" altLang="en-US"/>
              <a:t>发送窗口的最大值 </a:t>
            </a:r>
          </a:p>
        </p:txBody>
      </p:sp>
      <p:sp>
        <p:nvSpPr>
          <p:cNvPr id="252931" name="Rectangle 3"/>
          <p:cNvSpPr>
            <a:spLocks noGrp="1" noChangeArrowheads="1"/>
          </p:cNvSpPr>
          <p:nvPr>
            <p:ph type="body" idx="1"/>
          </p:nvPr>
        </p:nvSpPr>
        <p:spPr>
          <a:xfrm>
            <a:off x="971550" y="1989138"/>
            <a:ext cx="7772400" cy="4535487"/>
          </a:xfrm>
        </p:spPr>
        <p:txBody>
          <a:bodyPr/>
          <a:lstStyle/>
          <a:p>
            <a:r>
              <a:rPr lang="zh-CN" altLang="en-US" dirty="0"/>
              <a:t>当用 </a:t>
            </a:r>
            <a:r>
              <a:rPr lang="en-US" altLang="zh-CN" i="1" dirty="0"/>
              <a:t>n </a:t>
            </a:r>
            <a:r>
              <a:rPr lang="zh-CN" altLang="en-US" dirty="0"/>
              <a:t>个比特进行编号时，若接收窗口的大小为 </a:t>
            </a:r>
            <a:r>
              <a:rPr lang="en-US" altLang="zh-CN" dirty="0"/>
              <a:t>1</a:t>
            </a:r>
            <a:r>
              <a:rPr lang="zh-CN" altLang="en-US" dirty="0"/>
              <a:t>，则只有在发送窗口的大小 </a:t>
            </a:r>
            <a:r>
              <a:rPr lang="en-US" altLang="zh-CN" i="1" dirty="0"/>
              <a:t>W</a:t>
            </a:r>
            <a:r>
              <a:rPr lang="en-US" altLang="zh-CN" baseline="-25000" dirty="0"/>
              <a:t>T</a:t>
            </a:r>
            <a:r>
              <a:rPr lang="en-US" altLang="zh-CN" dirty="0"/>
              <a:t> </a:t>
            </a:r>
            <a:r>
              <a:rPr lang="en-US" altLang="zh-CN" dirty="0">
                <a:sym typeface="Symbol" pitchFamily="18" charset="2"/>
              </a:rPr>
              <a:t> 2</a:t>
            </a:r>
            <a:r>
              <a:rPr lang="en-US" altLang="zh-CN" i="1" baseline="30000" dirty="0">
                <a:sym typeface="Symbol" pitchFamily="18" charset="2"/>
              </a:rPr>
              <a:t>n</a:t>
            </a:r>
            <a:r>
              <a:rPr lang="en-US" altLang="zh-CN" dirty="0">
                <a:sym typeface="Symbol" pitchFamily="18" charset="2"/>
              </a:rPr>
              <a:t>  1</a:t>
            </a:r>
            <a:r>
              <a:rPr lang="zh-CN" altLang="en-US" dirty="0"/>
              <a:t>时，连续 </a:t>
            </a:r>
            <a:r>
              <a:rPr lang="en-US" altLang="zh-CN" dirty="0"/>
              <a:t>ARQ </a:t>
            </a:r>
            <a:r>
              <a:rPr lang="zh-CN" altLang="en-US" dirty="0"/>
              <a:t>协议才能正确运行</a:t>
            </a:r>
            <a:r>
              <a:rPr lang="zh-CN" altLang="en-US" dirty="0" smtClean="0"/>
              <a:t>。</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p:txBody>
          <a:bodyPr/>
          <a:lstStyle/>
          <a:p>
            <a:r>
              <a:rPr lang="zh-CN" altLang="en-US"/>
              <a:t>滑动窗口思想举例</a:t>
            </a:r>
          </a:p>
        </p:txBody>
      </p:sp>
      <p:sp>
        <p:nvSpPr>
          <p:cNvPr id="6563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56391" name="Oval 7"/>
          <p:cNvSpPr>
            <a:spLocks noChangeArrowheads="1"/>
          </p:cNvSpPr>
          <p:nvPr/>
        </p:nvSpPr>
        <p:spPr bwMode="auto">
          <a:xfrm>
            <a:off x="612775" y="2781300"/>
            <a:ext cx="863600" cy="8636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415" name="Line 31"/>
          <p:cNvSpPr>
            <a:spLocks noChangeShapeType="1"/>
          </p:cNvSpPr>
          <p:nvPr/>
        </p:nvSpPr>
        <p:spPr bwMode="auto">
          <a:xfrm>
            <a:off x="684213" y="2852738"/>
            <a:ext cx="134937" cy="12541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16" name="Line 32"/>
          <p:cNvSpPr>
            <a:spLocks noChangeShapeType="1"/>
          </p:cNvSpPr>
          <p:nvPr/>
        </p:nvSpPr>
        <p:spPr bwMode="auto">
          <a:xfrm>
            <a:off x="1044575" y="2708275"/>
            <a:ext cx="0" cy="5048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17" name="Line 33"/>
          <p:cNvSpPr>
            <a:spLocks noChangeShapeType="1"/>
          </p:cNvSpPr>
          <p:nvPr/>
        </p:nvSpPr>
        <p:spPr bwMode="auto">
          <a:xfrm>
            <a:off x="1404938" y="3213100"/>
            <a:ext cx="14287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18" name="Line 34"/>
          <p:cNvSpPr>
            <a:spLocks noChangeShapeType="1"/>
          </p:cNvSpPr>
          <p:nvPr/>
        </p:nvSpPr>
        <p:spPr bwMode="auto">
          <a:xfrm flipH="1">
            <a:off x="1279525" y="2852738"/>
            <a:ext cx="125413" cy="1238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19" name="Line 35"/>
          <p:cNvSpPr>
            <a:spLocks noChangeShapeType="1"/>
          </p:cNvSpPr>
          <p:nvPr/>
        </p:nvSpPr>
        <p:spPr bwMode="auto">
          <a:xfrm>
            <a:off x="1044575" y="3573463"/>
            <a:ext cx="0" cy="14287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20" name="Line 36"/>
          <p:cNvSpPr>
            <a:spLocks noChangeShapeType="1"/>
          </p:cNvSpPr>
          <p:nvPr/>
        </p:nvSpPr>
        <p:spPr bwMode="auto">
          <a:xfrm flipH="1">
            <a:off x="684213" y="3448050"/>
            <a:ext cx="125412" cy="125413"/>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21" name="Line 37"/>
          <p:cNvSpPr>
            <a:spLocks noChangeShapeType="1"/>
          </p:cNvSpPr>
          <p:nvPr/>
        </p:nvSpPr>
        <p:spPr bwMode="auto">
          <a:xfrm>
            <a:off x="539750" y="3213100"/>
            <a:ext cx="14605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22" name="Line 38"/>
          <p:cNvSpPr>
            <a:spLocks noChangeShapeType="1"/>
          </p:cNvSpPr>
          <p:nvPr/>
        </p:nvSpPr>
        <p:spPr bwMode="auto">
          <a:xfrm>
            <a:off x="1290638" y="3448050"/>
            <a:ext cx="114300" cy="125413"/>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03" name="Rectangle 219"/>
          <p:cNvSpPr>
            <a:spLocks noGrp="1" noChangeArrowheads="1"/>
          </p:cNvSpPr>
          <p:nvPr>
            <p:ph type="body" idx="1"/>
          </p:nvPr>
        </p:nvSpPr>
        <p:spPr>
          <a:xfrm>
            <a:off x="809625" y="1773238"/>
            <a:ext cx="7958138" cy="503237"/>
          </a:xfrm>
        </p:spPr>
        <p:txBody>
          <a:bodyPr/>
          <a:lstStyle/>
          <a:p>
            <a:pPr>
              <a:lnSpc>
                <a:spcPct val="90000"/>
              </a:lnSpc>
            </a:pPr>
            <a:r>
              <a:rPr lang="zh-CN" altLang="en-US" sz="2400">
                <a:solidFill>
                  <a:schemeClr val="tx1"/>
                </a:solidFill>
              </a:rPr>
              <a:t>帧序号位数</a:t>
            </a:r>
            <a:r>
              <a:rPr lang="en-US" altLang="zh-CN" sz="2400">
                <a:solidFill>
                  <a:srgbClr val="FF0000"/>
                </a:solidFill>
              </a:rPr>
              <a:t>3bit</a:t>
            </a:r>
            <a:r>
              <a:rPr lang="zh-CN" altLang="en-US" sz="2400">
                <a:solidFill>
                  <a:schemeClr val="tx1"/>
                </a:solidFill>
              </a:rPr>
              <a:t>，发送窗口大小为</a:t>
            </a:r>
            <a:r>
              <a:rPr lang="en-US" altLang="zh-CN" sz="2400">
                <a:solidFill>
                  <a:srgbClr val="FF0000"/>
                </a:solidFill>
              </a:rPr>
              <a:t>2</a:t>
            </a:r>
            <a:r>
              <a:rPr lang="zh-CN" altLang="en-US" sz="2400">
                <a:solidFill>
                  <a:schemeClr val="tx1"/>
                </a:solidFill>
              </a:rPr>
              <a:t>，接收窗口大小为</a:t>
            </a:r>
            <a:r>
              <a:rPr lang="en-US" altLang="zh-CN" sz="2400">
                <a:solidFill>
                  <a:srgbClr val="FF0000"/>
                </a:solidFill>
              </a:rPr>
              <a:t>1</a:t>
            </a:r>
            <a:r>
              <a:rPr lang="en-US" altLang="zh-CN" sz="2400">
                <a:solidFill>
                  <a:schemeClr val="tx1"/>
                </a:solidFill>
              </a:rPr>
              <a:t> </a:t>
            </a:r>
            <a:endParaRPr lang="zh-CN" altLang="en-US" sz="2400">
              <a:solidFill>
                <a:schemeClr val="tx1"/>
              </a:solidFill>
            </a:endParaRPr>
          </a:p>
        </p:txBody>
      </p:sp>
      <p:sp>
        <p:nvSpPr>
          <p:cNvPr id="656604" name="Text Box 220"/>
          <p:cNvSpPr txBox="1">
            <a:spLocks noChangeArrowheads="1"/>
          </p:cNvSpPr>
          <p:nvPr/>
        </p:nvSpPr>
        <p:spPr bwMode="auto">
          <a:xfrm>
            <a:off x="1189038" y="2636838"/>
            <a:ext cx="71437" cy="1825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0</a:t>
            </a:r>
          </a:p>
        </p:txBody>
      </p:sp>
      <p:sp>
        <p:nvSpPr>
          <p:cNvPr id="656605" name="Text Box 221"/>
          <p:cNvSpPr txBox="1">
            <a:spLocks noChangeArrowheads="1"/>
          </p:cNvSpPr>
          <p:nvPr/>
        </p:nvSpPr>
        <p:spPr bwMode="auto">
          <a:xfrm>
            <a:off x="1476375" y="2925763"/>
            <a:ext cx="71438" cy="1825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1</a:t>
            </a:r>
          </a:p>
        </p:txBody>
      </p:sp>
      <p:sp>
        <p:nvSpPr>
          <p:cNvPr id="656606" name="Text Box 222"/>
          <p:cNvSpPr txBox="1">
            <a:spLocks noChangeArrowheads="1"/>
          </p:cNvSpPr>
          <p:nvPr/>
        </p:nvSpPr>
        <p:spPr bwMode="auto">
          <a:xfrm>
            <a:off x="1476375" y="3284538"/>
            <a:ext cx="71438" cy="1825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2</a:t>
            </a:r>
          </a:p>
        </p:txBody>
      </p:sp>
      <p:sp>
        <p:nvSpPr>
          <p:cNvPr id="656607" name="Text Box 223"/>
          <p:cNvSpPr txBox="1">
            <a:spLocks noChangeArrowheads="1"/>
          </p:cNvSpPr>
          <p:nvPr/>
        </p:nvSpPr>
        <p:spPr bwMode="auto">
          <a:xfrm>
            <a:off x="1189038" y="3644900"/>
            <a:ext cx="71437" cy="182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3</a:t>
            </a:r>
          </a:p>
        </p:txBody>
      </p:sp>
      <p:sp>
        <p:nvSpPr>
          <p:cNvPr id="656608" name="Text Box 224"/>
          <p:cNvSpPr txBox="1">
            <a:spLocks noChangeArrowheads="1"/>
          </p:cNvSpPr>
          <p:nvPr/>
        </p:nvSpPr>
        <p:spPr bwMode="auto">
          <a:xfrm>
            <a:off x="828675" y="3644900"/>
            <a:ext cx="71438" cy="182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4</a:t>
            </a:r>
          </a:p>
        </p:txBody>
      </p:sp>
      <p:sp>
        <p:nvSpPr>
          <p:cNvPr id="656609" name="Text Box 225"/>
          <p:cNvSpPr txBox="1">
            <a:spLocks noChangeArrowheads="1"/>
          </p:cNvSpPr>
          <p:nvPr/>
        </p:nvSpPr>
        <p:spPr bwMode="auto">
          <a:xfrm>
            <a:off x="539750" y="3357563"/>
            <a:ext cx="71438" cy="1825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5</a:t>
            </a:r>
          </a:p>
        </p:txBody>
      </p:sp>
      <p:sp>
        <p:nvSpPr>
          <p:cNvPr id="656610" name="Text Box 226"/>
          <p:cNvSpPr txBox="1">
            <a:spLocks noChangeArrowheads="1"/>
          </p:cNvSpPr>
          <p:nvPr/>
        </p:nvSpPr>
        <p:spPr bwMode="auto">
          <a:xfrm>
            <a:off x="539750" y="2925763"/>
            <a:ext cx="71438" cy="1825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6</a:t>
            </a:r>
          </a:p>
        </p:txBody>
      </p:sp>
      <p:sp>
        <p:nvSpPr>
          <p:cNvPr id="656611" name="Text Box 227"/>
          <p:cNvSpPr txBox="1">
            <a:spLocks noChangeArrowheads="1"/>
          </p:cNvSpPr>
          <p:nvPr/>
        </p:nvSpPr>
        <p:spPr bwMode="auto">
          <a:xfrm>
            <a:off x="828675" y="2636838"/>
            <a:ext cx="71438" cy="1825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7</a:t>
            </a:r>
          </a:p>
        </p:txBody>
      </p:sp>
      <p:sp>
        <p:nvSpPr>
          <p:cNvPr id="656612" name="Text Box 228"/>
          <p:cNvSpPr txBox="1">
            <a:spLocks noChangeArrowheads="1"/>
          </p:cNvSpPr>
          <p:nvPr/>
        </p:nvSpPr>
        <p:spPr bwMode="auto">
          <a:xfrm>
            <a:off x="611188" y="2205038"/>
            <a:ext cx="1008062"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1800" b="1">
                <a:solidFill>
                  <a:srgbClr val="0000FF"/>
                </a:solidFill>
                <a:ea typeface="楷体_GB2312" pitchFamily="49" charset="-122"/>
              </a:rPr>
              <a:t>发送端</a:t>
            </a:r>
          </a:p>
        </p:txBody>
      </p:sp>
      <p:sp>
        <p:nvSpPr>
          <p:cNvPr id="656613" name="Text Box 229"/>
          <p:cNvSpPr txBox="1">
            <a:spLocks noChangeArrowheads="1"/>
          </p:cNvSpPr>
          <p:nvPr/>
        </p:nvSpPr>
        <p:spPr bwMode="auto">
          <a:xfrm>
            <a:off x="611188" y="3933825"/>
            <a:ext cx="1008062"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1800" b="1">
                <a:solidFill>
                  <a:srgbClr val="0000FF"/>
                </a:solidFill>
                <a:ea typeface="楷体_GB2312" pitchFamily="49" charset="-122"/>
              </a:rPr>
              <a:t>接收端</a:t>
            </a:r>
          </a:p>
        </p:txBody>
      </p:sp>
      <p:sp>
        <p:nvSpPr>
          <p:cNvPr id="656614" name="Text Box 230"/>
          <p:cNvSpPr txBox="1">
            <a:spLocks noChangeArrowheads="1"/>
          </p:cNvSpPr>
          <p:nvPr/>
        </p:nvSpPr>
        <p:spPr bwMode="auto">
          <a:xfrm>
            <a:off x="539750" y="5516563"/>
            <a:ext cx="1008063" cy="581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0"/>
              </a:spcBef>
            </a:pPr>
            <a:r>
              <a:rPr lang="zh-CN" altLang="en-US" sz="1600" b="1">
                <a:ea typeface="楷体_GB2312" pitchFamily="49" charset="-122"/>
              </a:rPr>
              <a:t>①</a:t>
            </a:r>
          </a:p>
          <a:p>
            <a:pPr algn="ctr">
              <a:spcBef>
                <a:spcPct val="0"/>
              </a:spcBef>
            </a:pPr>
            <a:r>
              <a:rPr lang="zh-CN" altLang="en-US" sz="1600" b="1">
                <a:ea typeface="楷体_GB2312" pitchFamily="49" charset="-122"/>
              </a:rPr>
              <a:t>初态</a:t>
            </a:r>
          </a:p>
        </p:txBody>
      </p:sp>
      <p:grpSp>
        <p:nvGrpSpPr>
          <p:cNvPr id="656657" name="Group 273"/>
          <p:cNvGrpSpPr>
            <a:grpSpLocks/>
          </p:cNvGrpSpPr>
          <p:nvPr/>
        </p:nvGrpSpPr>
        <p:grpSpPr bwMode="auto">
          <a:xfrm>
            <a:off x="1619250" y="2708275"/>
            <a:ext cx="1008063" cy="3389313"/>
            <a:chOff x="1020" y="1706"/>
            <a:chExt cx="635" cy="2135"/>
          </a:xfrm>
        </p:grpSpPr>
        <p:sp>
          <p:nvSpPr>
            <p:cNvPr id="656423" name="Oval 39"/>
            <p:cNvSpPr>
              <a:spLocks noChangeArrowheads="1"/>
            </p:cNvSpPr>
            <p:nvPr/>
          </p:nvSpPr>
          <p:spPr bwMode="auto">
            <a:xfrm>
              <a:off x="1066" y="1752"/>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424" name="Line 40"/>
            <p:cNvSpPr>
              <a:spLocks noChangeShapeType="1"/>
            </p:cNvSpPr>
            <p:nvPr/>
          </p:nvSpPr>
          <p:spPr bwMode="auto">
            <a:xfrm>
              <a:off x="1111" y="1797"/>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25" name="Line 41"/>
            <p:cNvSpPr>
              <a:spLocks noChangeShapeType="1"/>
            </p:cNvSpPr>
            <p:nvPr/>
          </p:nvSpPr>
          <p:spPr bwMode="auto">
            <a:xfrm>
              <a:off x="1338" y="1706"/>
              <a:ext cx="0" cy="31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26" name="Line 42"/>
            <p:cNvSpPr>
              <a:spLocks noChangeShapeType="1"/>
            </p:cNvSpPr>
            <p:nvPr/>
          </p:nvSpPr>
          <p:spPr bwMode="auto">
            <a:xfrm>
              <a:off x="1565" y="2024"/>
              <a:ext cx="9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27" name="Line 43"/>
            <p:cNvSpPr>
              <a:spLocks noChangeShapeType="1"/>
            </p:cNvSpPr>
            <p:nvPr/>
          </p:nvSpPr>
          <p:spPr bwMode="auto">
            <a:xfrm flipH="1">
              <a:off x="1338" y="1797"/>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28" name="Line 44"/>
            <p:cNvSpPr>
              <a:spLocks noChangeShapeType="1"/>
            </p:cNvSpPr>
            <p:nvPr/>
          </p:nvSpPr>
          <p:spPr bwMode="auto">
            <a:xfrm>
              <a:off x="1338" y="2251"/>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29" name="Line 45"/>
            <p:cNvSpPr>
              <a:spLocks noChangeShapeType="1"/>
            </p:cNvSpPr>
            <p:nvPr/>
          </p:nvSpPr>
          <p:spPr bwMode="auto">
            <a:xfrm flipH="1">
              <a:off x="1111" y="2172"/>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30" name="Line 46"/>
            <p:cNvSpPr>
              <a:spLocks noChangeShapeType="1"/>
            </p:cNvSpPr>
            <p:nvPr/>
          </p:nvSpPr>
          <p:spPr bwMode="auto">
            <a:xfrm>
              <a:off x="1020" y="2024"/>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31" name="Line 47"/>
            <p:cNvSpPr>
              <a:spLocks noChangeShapeType="1"/>
            </p:cNvSpPr>
            <p:nvPr/>
          </p:nvSpPr>
          <p:spPr bwMode="auto">
            <a:xfrm>
              <a:off x="1493" y="2172"/>
              <a:ext cx="72"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49" name="Oval 165"/>
            <p:cNvSpPr>
              <a:spLocks noChangeArrowheads="1"/>
            </p:cNvSpPr>
            <p:nvPr/>
          </p:nvSpPr>
          <p:spPr bwMode="auto">
            <a:xfrm>
              <a:off x="1066" y="2795"/>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550" name="Line 166"/>
            <p:cNvSpPr>
              <a:spLocks noChangeShapeType="1"/>
            </p:cNvSpPr>
            <p:nvPr/>
          </p:nvSpPr>
          <p:spPr bwMode="auto">
            <a:xfrm>
              <a:off x="1111" y="2840"/>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51" name="Line 167"/>
            <p:cNvSpPr>
              <a:spLocks noChangeShapeType="1"/>
            </p:cNvSpPr>
            <p:nvPr/>
          </p:nvSpPr>
          <p:spPr bwMode="auto">
            <a:xfrm>
              <a:off x="1338" y="2749"/>
              <a:ext cx="0" cy="31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52" name="Line 168"/>
            <p:cNvSpPr>
              <a:spLocks noChangeShapeType="1"/>
            </p:cNvSpPr>
            <p:nvPr/>
          </p:nvSpPr>
          <p:spPr bwMode="auto">
            <a:xfrm>
              <a:off x="1565" y="3067"/>
              <a:ext cx="9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53" name="Line 169"/>
            <p:cNvSpPr>
              <a:spLocks noChangeShapeType="1"/>
            </p:cNvSpPr>
            <p:nvPr/>
          </p:nvSpPr>
          <p:spPr bwMode="auto">
            <a:xfrm flipH="1">
              <a:off x="1338" y="2840"/>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54" name="Line 170"/>
            <p:cNvSpPr>
              <a:spLocks noChangeShapeType="1"/>
            </p:cNvSpPr>
            <p:nvPr/>
          </p:nvSpPr>
          <p:spPr bwMode="auto">
            <a:xfrm>
              <a:off x="1338" y="3294"/>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55" name="Line 171"/>
            <p:cNvSpPr>
              <a:spLocks noChangeShapeType="1"/>
            </p:cNvSpPr>
            <p:nvPr/>
          </p:nvSpPr>
          <p:spPr bwMode="auto">
            <a:xfrm flipH="1">
              <a:off x="1111" y="3215"/>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56" name="Line 172"/>
            <p:cNvSpPr>
              <a:spLocks noChangeShapeType="1"/>
            </p:cNvSpPr>
            <p:nvPr/>
          </p:nvSpPr>
          <p:spPr bwMode="auto">
            <a:xfrm>
              <a:off x="1020" y="3067"/>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57" name="Line 173"/>
            <p:cNvSpPr>
              <a:spLocks noChangeShapeType="1"/>
            </p:cNvSpPr>
            <p:nvPr/>
          </p:nvSpPr>
          <p:spPr bwMode="auto">
            <a:xfrm>
              <a:off x="1493" y="3215"/>
              <a:ext cx="72"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15" name="Text Box 231"/>
            <p:cNvSpPr txBox="1">
              <a:spLocks noChangeArrowheads="1"/>
            </p:cNvSpPr>
            <p:nvPr/>
          </p:nvSpPr>
          <p:spPr bwMode="auto">
            <a:xfrm>
              <a:off x="1020" y="3475"/>
              <a:ext cx="635" cy="3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46800" rIns="0" bIns="46800">
              <a:spAutoFit/>
            </a:bodyPr>
            <a:lstStyle/>
            <a:p>
              <a:pPr algn="ctr">
                <a:spcBef>
                  <a:spcPct val="0"/>
                </a:spcBef>
              </a:pPr>
              <a:r>
                <a:rPr lang="zh-CN" altLang="en-US" sz="1600" b="1">
                  <a:ea typeface="楷体_GB2312" pitchFamily="49" charset="-122"/>
                </a:rPr>
                <a:t>②</a:t>
              </a:r>
            </a:p>
            <a:p>
              <a:pPr algn="ctr">
                <a:spcBef>
                  <a:spcPct val="0"/>
                </a:spcBef>
              </a:pPr>
              <a:r>
                <a:rPr lang="zh-CN" altLang="en-US" sz="1600" b="1">
                  <a:ea typeface="楷体_GB2312" pitchFamily="49" charset="-122"/>
                </a:rPr>
                <a:t>发送</a:t>
              </a:r>
              <a:r>
                <a:rPr lang="en-US" altLang="zh-CN" sz="1600" b="1">
                  <a:ea typeface="楷体_GB2312" pitchFamily="49" charset="-122"/>
                </a:rPr>
                <a:t>0</a:t>
              </a:r>
              <a:r>
                <a:rPr lang="zh-CN" altLang="en-US" sz="1600" b="1">
                  <a:ea typeface="楷体_GB2312" pitchFamily="49" charset="-122"/>
                </a:rPr>
                <a:t>号帧</a:t>
              </a:r>
            </a:p>
          </p:txBody>
        </p:sp>
      </p:grpSp>
      <p:grpSp>
        <p:nvGrpSpPr>
          <p:cNvPr id="656658" name="Group 274"/>
          <p:cNvGrpSpPr>
            <a:grpSpLocks/>
          </p:cNvGrpSpPr>
          <p:nvPr/>
        </p:nvGrpSpPr>
        <p:grpSpPr bwMode="auto">
          <a:xfrm>
            <a:off x="2698750" y="2708275"/>
            <a:ext cx="1009650" cy="3389313"/>
            <a:chOff x="1700" y="1706"/>
            <a:chExt cx="636" cy="2135"/>
          </a:xfrm>
        </p:grpSpPr>
        <p:sp>
          <p:nvSpPr>
            <p:cNvPr id="656432" name="Oval 48"/>
            <p:cNvSpPr>
              <a:spLocks noChangeArrowheads="1"/>
            </p:cNvSpPr>
            <p:nvPr/>
          </p:nvSpPr>
          <p:spPr bwMode="auto">
            <a:xfrm>
              <a:off x="1746" y="1752"/>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433" name="Line 49"/>
            <p:cNvSpPr>
              <a:spLocks noChangeShapeType="1"/>
            </p:cNvSpPr>
            <p:nvPr/>
          </p:nvSpPr>
          <p:spPr bwMode="auto">
            <a:xfrm>
              <a:off x="1791" y="1797"/>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34" name="Line 50"/>
            <p:cNvSpPr>
              <a:spLocks noChangeShapeType="1"/>
            </p:cNvSpPr>
            <p:nvPr/>
          </p:nvSpPr>
          <p:spPr bwMode="auto">
            <a:xfrm>
              <a:off x="2018" y="1706"/>
              <a:ext cx="0" cy="31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35" name="Line 51"/>
            <p:cNvSpPr>
              <a:spLocks noChangeShapeType="1"/>
            </p:cNvSpPr>
            <p:nvPr/>
          </p:nvSpPr>
          <p:spPr bwMode="auto">
            <a:xfrm>
              <a:off x="2018" y="2024"/>
              <a:ext cx="31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36" name="Line 52"/>
            <p:cNvSpPr>
              <a:spLocks noChangeShapeType="1"/>
            </p:cNvSpPr>
            <p:nvPr/>
          </p:nvSpPr>
          <p:spPr bwMode="auto">
            <a:xfrm flipH="1">
              <a:off x="2166" y="1797"/>
              <a:ext cx="79" cy="7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37" name="Line 53"/>
            <p:cNvSpPr>
              <a:spLocks noChangeShapeType="1"/>
            </p:cNvSpPr>
            <p:nvPr/>
          </p:nvSpPr>
          <p:spPr bwMode="auto">
            <a:xfrm>
              <a:off x="2018" y="2251"/>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38" name="Line 54"/>
            <p:cNvSpPr>
              <a:spLocks noChangeShapeType="1"/>
            </p:cNvSpPr>
            <p:nvPr/>
          </p:nvSpPr>
          <p:spPr bwMode="auto">
            <a:xfrm flipH="1">
              <a:off x="1791" y="2172"/>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39" name="Line 55"/>
            <p:cNvSpPr>
              <a:spLocks noChangeShapeType="1"/>
            </p:cNvSpPr>
            <p:nvPr/>
          </p:nvSpPr>
          <p:spPr bwMode="auto">
            <a:xfrm>
              <a:off x="1700" y="2024"/>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40" name="Line 56"/>
            <p:cNvSpPr>
              <a:spLocks noChangeShapeType="1"/>
            </p:cNvSpPr>
            <p:nvPr/>
          </p:nvSpPr>
          <p:spPr bwMode="auto">
            <a:xfrm>
              <a:off x="2173" y="2172"/>
              <a:ext cx="72"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58" name="Oval 174"/>
            <p:cNvSpPr>
              <a:spLocks noChangeArrowheads="1"/>
            </p:cNvSpPr>
            <p:nvPr/>
          </p:nvSpPr>
          <p:spPr bwMode="auto">
            <a:xfrm>
              <a:off x="1746" y="2795"/>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559" name="Line 175"/>
            <p:cNvSpPr>
              <a:spLocks noChangeShapeType="1"/>
            </p:cNvSpPr>
            <p:nvPr/>
          </p:nvSpPr>
          <p:spPr bwMode="auto">
            <a:xfrm>
              <a:off x="1791" y="2840"/>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60" name="Line 176"/>
            <p:cNvSpPr>
              <a:spLocks noChangeShapeType="1"/>
            </p:cNvSpPr>
            <p:nvPr/>
          </p:nvSpPr>
          <p:spPr bwMode="auto">
            <a:xfrm>
              <a:off x="2018" y="2749"/>
              <a:ext cx="0" cy="31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61" name="Line 177"/>
            <p:cNvSpPr>
              <a:spLocks noChangeShapeType="1"/>
            </p:cNvSpPr>
            <p:nvPr/>
          </p:nvSpPr>
          <p:spPr bwMode="auto">
            <a:xfrm>
              <a:off x="2245" y="3067"/>
              <a:ext cx="9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62" name="Line 178"/>
            <p:cNvSpPr>
              <a:spLocks noChangeShapeType="1"/>
            </p:cNvSpPr>
            <p:nvPr/>
          </p:nvSpPr>
          <p:spPr bwMode="auto">
            <a:xfrm flipH="1">
              <a:off x="2018" y="2840"/>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63" name="Line 179"/>
            <p:cNvSpPr>
              <a:spLocks noChangeShapeType="1"/>
            </p:cNvSpPr>
            <p:nvPr/>
          </p:nvSpPr>
          <p:spPr bwMode="auto">
            <a:xfrm>
              <a:off x="2018" y="3294"/>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64" name="Line 180"/>
            <p:cNvSpPr>
              <a:spLocks noChangeShapeType="1"/>
            </p:cNvSpPr>
            <p:nvPr/>
          </p:nvSpPr>
          <p:spPr bwMode="auto">
            <a:xfrm flipH="1">
              <a:off x="1791" y="3215"/>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65" name="Line 181"/>
            <p:cNvSpPr>
              <a:spLocks noChangeShapeType="1"/>
            </p:cNvSpPr>
            <p:nvPr/>
          </p:nvSpPr>
          <p:spPr bwMode="auto">
            <a:xfrm>
              <a:off x="1700" y="3067"/>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66" name="Line 182"/>
            <p:cNvSpPr>
              <a:spLocks noChangeShapeType="1"/>
            </p:cNvSpPr>
            <p:nvPr/>
          </p:nvSpPr>
          <p:spPr bwMode="auto">
            <a:xfrm>
              <a:off x="2173" y="3215"/>
              <a:ext cx="72"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4" name="Text Box 250"/>
            <p:cNvSpPr txBox="1">
              <a:spLocks noChangeArrowheads="1"/>
            </p:cNvSpPr>
            <p:nvPr/>
          </p:nvSpPr>
          <p:spPr bwMode="auto">
            <a:xfrm>
              <a:off x="1701" y="3475"/>
              <a:ext cx="635" cy="3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46800" rIns="0" bIns="46800">
              <a:spAutoFit/>
            </a:bodyPr>
            <a:lstStyle/>
            <a:p>
              <a:pPr algn="ctr">
                <a:spcBef>
                  <a:spcPct val="0"/>
                </a:spcBef>
              </a:pPr>
              <a:r>
                <a:rPr lang="zh-CN" altLang="en-US" sz="1600" b="1">
                  <a:ea typeface="楷体_GB2312" pitchFamily="49" charset="-122"/>
                </a:rPr>
                <a:t>③</a:t>
              </a:r>
            </a:p>
            <a:p>
              <a:pPr algn="ctr">
                <a:spcBef>
                  <a:spcPct val="0"/>
                </a:spcBef>
              </a:pPr>
              <a:r>
                <a:rPr lang="zh-CN" altLang="en-US" sz="1600" b="1">
                  <a:ea typeface="楷体_GB2312" pitchFamily="49" charset="-122"/>
                </a:rPr>
                <a:t>发送</a:t>
              </a:r>
              <a:r>
                <a:rPr lang="en-US" altLang="zh-CN" sz="1600" b="1">
                  <a:ea typeface="楷体_GB2312" pitchFamily="49" charset="-122"/>
                </a:rPr>
                <a:t>1</a:t>
              </a:r>
              <a:r>
                <a:rPr lang="zh-CN" altLang="en-US" sz="1600" b="1">
                  <a:ea typeface="楷体_GB2312" pitchFamily="49" charset="-122"/>
                </a:rPr>
                <a:t>号帧</a:t>
              </a:r>
            </a:p>
          </p:txBody>
        </p:sp>
      </p:grpSp>
      <p:grpSp>
        <p:nvGrpSpPr>
          <p:cNvPr id="656659" name="Group 275"/>
          <p:cNvGrpSpPr>
            <a:grpSpLocks/>
          </p:cNvGrpSpPr>
          <p:nvPr/>
        </p:nvGrpSpPr>
        <p:grpSpPr bwMode="auto">
          <a:xfrm>
            <a:off x="3779838" y="2708275"/>
            <a:ext cx="1079500" cy="3633788"/>
            <a:chOff x="2381" y="1706"/>
            <a:chExt cx="680" cy="2289"/>
          </a:xfrm>
        </p:grpSpPr>
        <p:sp>
          <p:nvSpPr>
            <p:cNvPr id="656441" name="Oval 57"/>
            <p:cNvSpPr>
              <a:spLocks noChangeArrowheads="1"/>
            </p:cNvSpPr>
            <p:nvPr/>
          </p:nvSpPr>
          <p:spPr bwMode="auto">
            <a:xfrm>
              <a:off x="2427" y="1752"/>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442" name="Line 58"/>
            <p:cNvSpPr>
              <a:spLocks noChangeShapeType="1"/>
            </p:cNvSpPr>
            <p:nvPr/>
          </p:nvSpPr>
          <p:spPr bwMode="auto">
            <a:xfrm>
              <a:off x="2472" y="1797"/>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43" name="Line 59"/>
            <p:cNvSpPr>
              <a:spLocks noChangeShapeType="1"/>
            </p:cNvSpPr>
            <p:nvPr/>
          </p:nvSpPr>
          <p:spPr bwMode="auto">
            <a:xfrm>
              <a:off x="2699" y="1706"/>
              <a:ext cx="0" cy="31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44" name="Line 60"/>
            <p:cNvSpPr>
              <a:spLocks noChangeShapeType="1"/>
            </p:cNvSpPr>
            <p:nvPr/>
          </p:nvSpPr>
          <p:spPr bwMode="auto">
            <a:xfrm>
              <a:off x="2699" y="2024"/>
              <a:ext cx="31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45" name="Line 61"/>
            <p:cNvSpPr>
              <a:spLocks noChangeShapeType="1"/>
            </p:cNvSpPr>
            <p:nvPr/>
          </p:nvSpPr>
          <p:spPr bwMode="auto">
            <a:xfrm flipH="1">
              <a:off x="2847" y="1797"/>
              <a:ext cx="79" cy="7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46" name="Line 62"/>
            <p:cNvSpPr>
              <a:spLocks noChangeShapeType="1"/>
            </p:cNvSpPr>
            <p:nvPr/>
          </p:nvSpPr>
          <p:spPr bwMode="auto">
            <a:xfrm>
              <a:off x="2699" y="2251"/>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47" name="Line 63"/>
            <p:cNvSpPr>
              <a:spLocks noChangeShapeType="1"/>
            </p:cNvSpPr>
            <p:nvPr/>
          </p:nvSpPr>
          <p:spPr bwMode="auto">
            <a:xfrm flipH="1">
              <a:off x="2472" y="2172"/>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48" name="Line 64"/>
            <p:cNvSpPr>
              <a:spLocks noChangeShapeType="1"/>
            </p:cNvSpPr>
            <p:nvPr/>
          </p:nvSpPr>
          <p:spPr bwMode="auto">
            <a:xfrm>
              <a:off x="2381" y="2024"/>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49" name="Line 65"/>
            <p:cNvSpPr>
              <a:spLocks noChangeShapeType="1"/>
            </p:cNvSpPr>
            <p:nvPr/>
          </p:nvSpPr>
          <p:spPr bwMode="auto">
            <a:xfrm>
              <a:off x="2854" y="2172"/>
              <a:ext cx="72"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67" name="Oval 183"/>
            <p:cNvSpPr>
              <a:spLocks noChangeArrowheads="1"/>
            </p:cNvSpPr>
            <p:nvPr/>
          </p:nvSpPr>
          <p:spPr bwMode="auto">
            <a:xfrm>
              <a:off x="2427" y="2795"/>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568" name="Line 184"/>
            <p:cNvSpPr>
              <a:spLocks noChangeShapeType="1"/>
            </p:cNvSpPr>
            <p:nvPr/>
          </p:nvSpPr>
          <p:spPr bwMode="auto">
            <a:xfrm>
              <a:off x="2472" y="2840"/>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69" name="Line 185"/>
            <p:cNvSpPr>
              <a:spLocks noChangeShapeType="1"/>
            </p:cNvSpPr>
            <p:nvPr/>
          </p:nvSpPr>
          <p:spPr bwMode="auto">
            <a:xfrm>
              <a:off x="2699" y="2749"/>
              <a:ext cx="0" cy="9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70" name="Line 186"/>
            <p:cNvSpPr>
              <a:spLocks noChangeShapeType="1"/>
            </p:cNvSpPr>
            <p:nvPr/>
          </p:nvSpPr>
          <p:spPr bwMode="auto">
            <a:xfrm>
              <a:off x="2699" y="3067"/>
              <a:ext cx="31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71" name="Line 187"/>
            <p:cNvSpPr>
              <a:spLocks noChangeShapeType="1"/>
            </p:cNvSpPr>
            <p:nvPr/>
          </p:nvSpPr>
          <p:spPr bwMode="auto">
            <a:xfrm flipH="1">
              <a:off x="2699" y="2840"/>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72" name="Line 188"/>
            <p:cNvSpPr>
              <a:spLocks noChangeShapeType="1"/>
            </p:cNvSpPr>
            <p:nvPr/>
          </p:nvSpPr>
          <p:spPr bwMode="auto">
            <a:xfrm>
              <a:off x="2699" y="3294"/>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73" name="Line 189"/>
            <p:cNvSpPr>
              <a:spLocks noChangeShapeType="1"/>
            </p:cNvSpPr>
            <p:nvPr/>
          </p:nvSpPr>
          <p:spPr bwMode="auto">
            <a:xfrm flipH="1">
              <a:off x="2472" y="3215"/>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74" name="Line 190"/>
            <p:cNvSpPr>
              <a:spLocks noChangeShapeType="1"/>
            </p:cNvSpPr>
            <p:nvPr/>
          </p:nvSpPr>
          <p:spPr bwMode="auto">
            <a:xfrm>
              <a:off x="2381" y="3067"/>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75" name="Line 191"/>
            <p:cNvSpPr>
              <a:spLocks noChangeShapeType="1"/>
            </p:cNvSpPr>
            <p:nvPr/>
          </p:nvSpPr>
          <p:spPr bwMode="auto">
            <a:xfrm>
              <a:off x="2854" y="3215"/>
              <a:ext cx="72"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5" name="Text Box 251"/>
            <p:cNvSpPr txBox="1">
              <a:spLocks noChangeArrowheads="1"/>
            </p:cNvSpPr>
            <p:nvPr/>
          </p:nvSpPr>
          <p:spPr bwMode="auto">
            <a:xfrm>
              <a:off x="2426" y="3475"/>
              <a:ext cx="635" cy="5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46800" rIns="0" bIns="46800">
              <a:spAutoFit/>
            </a:bodyPr>
            <a:lstStyle/>
            <a:p>
              <a:pPr algn="ctr">
                <a:spcBef>
                  <a:spcPct val="0"/>
                </a:spcBef>
              </a:pPr>
              <a:r>
                <a:rPr lang="zh-CN" altLang="en-US" sz="1600" b="1">
                  <a:ea typeface="楷体_GB2312" pitchFamily="49" charset="-122"/>
                </a:rPr>
                <a:t>④</a:t>
              </a:r>
            </a:p>
            <a:p>
              <a:pPr algn="ctr">
                <a:spcBef>
                  <a:spcPct val="0"/>
                </a:spcBef>
              </a:pPr>
              <a:r>
                <a:rPr lang="zh-CN" altLang="en-US" sz="1600" b="1">
                  <a:ea typeface="楷体_GB2312" pitchFamily="49" charset="-122"/>
                </a:rPr>
                <a:t>正确接收</a:t>
              </a:r>
              <a:r>
                <a:rPr lang="en-US" altLang="zh-CN" sz="1600" b="1">
                  <a:ea typeface="楷体_GB2312" pitchFamily="49" charset="-122"/>
                </a:rPr>
                <a:t>0</a:t>
              </a:r>
              <a:r>
                <a:rPr lang="zh-CN" altLang="en-US" sz="1600" b="1">
                  <a:ea typeface="楷体_GB2312" pitchFamily="49" charset="-122"/>
                </a:rPr>
                <a:t>号帧</a:t>
              </a:r>
            </a:p>
          </p:txBody>
        </p:sp>
      </p:grpSp>
      <p:grpSp>
        <p:nvGrpSpPr>
          <p:cNvPr id="656660" name="Group 276"/>
          <p:cNvGrpSpPr>
            <a:grpSpLocks/>
          </p:cNvGrpSpPr>
          <p:nvPr/>
        </p:nvGrpSpPr>
        <p:grpSpPr bwMode="auto">
          <a:xfrm>
            <a:off x="4859338" y="2708275"/>
            <a:ext cx="1008062" cy="3633788"/>
            <a:chOff x="3061" y="1706"/>
            <a:chExt cx="635" cy="2289"/>
          </a:xfrm>
        </p:grpSpPr>
        <p:sp>
          <p:nvSpPr>
            <p:cNvPr id="656450" name="Oval 66"/>
            <p:cNvSpPr>
              <a:spLocks noChangeArrowheads="1"/>
            </p:cNvSpPr>
            <p:nvPr/>
          </p:nvSpPr>
          <p:spPr bwMode="auto">
            <a:xfrm>
              <a:off x="3107" y="1752"/>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451" name="Line 67"/>
            <p:cNvSpPr>
              <a:spLocks noChangeShapeType="1"/>
            </p:cNvSpPr>
            <p:nvPr/>
          </p:nvSpPr>
          <p:spPr bwMode="auto">
            <a:xfrm>
              <a:off x="3152" y="1797"/>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52" name="Line 68"/>
            <p:cNvSpPr>
              <a:spLocks noChangeShapeType="1"/>
            </p:cNvSpPr>
            <p:nvPr/>
          </p:nvSpPr>
          <p:spPr bwMode="auto">
            <a:xfrm>
              <a:off x="3379" y="1706"/>
              <a:ext cx="0" cy="9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53" name="Line 69"/>
            <p:cNvSpPr>
              <a:spLocks noChangeShapeType="1"/>
            </p:cNvSpPr>
            <p:nvPr/>
          </p:nvSpPr>
          <p:spPr bwMode="auto">
            <a:xfrm>
              <a:off x="3379" y="2024"/>
              <a:ext cx="31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54" name="Line 70"/>
            <p:cNvSpPr>
              <a:spLocks noChangeShapeType="1"/>
            </p:cNvSpPr>
            <p:nvPr/>
          </p:nvSpPr>
          <p:spPr bwMode="auto">
            <a:xfrm flipH="1">
              <a:off x="3379" y="1797"/>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55" name="Line 71"/>
            <p:cNvSpPr>
              <a:spLocks noChangeShapeType="1"/>
            </p:cNvSpPr>
            <p:nvPr/>
          </p:nvSpPr>
          <p:spPr bwMode="auto">
            <a:xfrm>
              <a:off x="3379" y="2251"/>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56" name="Line 72"/>
            <p:cNvSpPr>
              <a:spLocks noChangeShapeType="1"/>
            </p:cNvSpPr>
            <p:nvPr/>
          </p:nvSpPr>
          <p:spPr bwMode="auto">
            <a:xfrm flipH="1">
              <a:off x="3152" y="2172"/>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57" name="Line 73"/>
            <p:cNvSpPr>
              <a:spLocks noChangeShapeType="1"/>
            </p:cNvSpPr>
            <p:nvPr/>
          </p:nvSpPr>
          <p:spPr bwMode="auto">
            <a:xfrm>
              <a:off x="3061" y="2024"/>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58" name="Line 74"/>
            <p:cNvSpPr>
              <a:spLocks noChangeShapeType="1"/>
            </p:cNvSpPr>
            <p:nvPr/>
          </p:nvSpPr>
          <p:spPr bwMode="auto">
            <a:xfrm>
              <a:off x="3534" y="2172"/>
              <a:ext cx="72"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76" name="Oval 192"/>
            <p:cNvSpPr>
              <a:spLocks noChangeArrowheads="1"/>
            </p:cNvSpPr>
            <p:nvPr/>
          </p:nvSpPr>
          <p:spPr bwMode="auto">
            <a:xfrm>
              <a:off x="3107" y="2795"/>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577" name="Line 193"/>
            <p:cNvSpPr>
              <a:spLocks noChangeShapeType="1"/>
            </p:cNvSpPr>
            <p:nvPr/>
          </p:nvSpPr>
          <p:spPr bwMode="auto">
            <a:xfrm>
              <a:off x="3152" y="2840"/>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78" name="Line 194"/>
            <p:cNvSpPr>
              <a:spLocks noChangeShapeType="1"/>
            </p:cNvSpPr>
            <p:nvPr/>
          </p:nvSpPr>
          <p:spPr bwMode="auto">
            <a:xfrm>
              <a:off x="3379" y="2749"/>
              <a:ext cx="0" cy="9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79" name="Line 195"/>
            <p:cNvSpPr>
              <a:spLocks noChangeShapeType="1"/>
            </p:cNvSpPr>
            <p:nvPr/>
          </p:nvSpPr>
          <p:spPr bwMode="auto">
            <a:xfrm>
              <a:off x="3379" y="3067"/>
              <a:ext cx="31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80" name="Line 196"/>
            <p:cNvSpPr>
              <a:spLocks noChangeShapeType="1"/>
            </p:cNvSpPr>
            <p:nvPr/>
          </p:nvSpPr>
          <p:spPr bwMode="auto">
            <a:xfrm flipH="1">
              <a:off x="3379" y="2840"/>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81" name="Line 197"/>
            <p:cNvSpPr>
              <a:spLocks noChangeShapeType="1"/>
            </p:cNvSpPr>
            <p:nvPr/>
          </p:nvSpPr>
          <p:spPr bwMode="auto">
            <a:xfrm>
              <a:off x="3379" y="3294"/>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82" name="Line 198"/>
            <p:cNvSpPr>
              <a:spLocks noChangeShapeType="1"/>
            </p:cNvSpPr>
            <p:nvPr/>
          </p:nvSpPr>
          <p:spPr bwMode="auto">
            <a:xfrm flipH="1">
              <a:off x="3152" y="3215"/>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83" name="Line 199"/>
            <p:cNvSpPr>
              <a:spLocks noChangeShapeType="1"/>
            </p:cNvSpPr>
            <p:nvPr/>
          </p:nvSpPr>
          <p:spPr bwMode="auto">
            <a:xfrm>
              <a:off x="3061" y="3067"/>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84" name="Line 200"/>
            <p:cNvSpPr>
              <a:spLocks noChangeShapeType="1"/>
            </p:cNvSpPr>
            <p:nvPr/>
          </p:nvSpPr>
          <p:spPr bwMode="auto">
            <a:xfrm>
              <a:off x="3534" y="3215"/>
              <a:ext cx="72"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6" name="Text Box 252"/>
            <p:cNvSpPr txBox="1">
              <a:spLocks noChangeArrowheads="1"/>
            </p:cNvSpPr>
            <p:nvPr/>
          </p:nvSpPr>
          <p:spPr bwMode="auto">
            <a:xfrm>
              <a:off x="3061" y="3475"/>
              <a:ext cx="635" cy="5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46800" rIns="0" bIns="46800">
              <a:spAutoFit/>
            </a:bodyPr>
            <a:lstStyle/>
            <a:p>
              <a:pPr algn="ctr">
                <a:spcBef>
                  <a:spcPct val="0"/>
                </a:spcBef>
              </a:pPr>
              <a:r>
                <a:rPr lang="zh-CN" altLang="en-US" sz="1600" b="1">
                  <a:ea typeface="楷体_GB2312" pitchFamily="49" charset="-122"/>
                </a:rPr>
                <a:t>⑤</a:t>
              </a:r>
            </a:p>
            <a:p>
              <a:pPr algn="ctr">
                <a:spcBef>
                  <a:spcPct val="0"/>
                </a:spcBef>
              </a:pPr>
              <a:r>
                <a:rPr lang="zh-CN" altLang="en-US" sz="1600" b="1">
                  <a:ea typeface="楷体_GB2312" pitchFamily="49" charset="-122"/>
                </a:rPr>
                <a:t>接收确认</a:t>
              </a:r>
              <a:r>
                <a:rPr lang="en-US" altLang="zh-CN" sz="1600" b="1">
                  <a:ea typeface="楷体_GB2312" pitchFamily="49" charset="-122"/>
                </a:rPr>
                <a:t>0</a:t>
              </a:r>
              <a:r>
                <a:rPr lang="zh-CN" altLang="en-US" sz="1600" b="1">
                  <a:ea typeface="楷体_GB2312" pitchFamily="49" charset="-122"/>
                </a:rPr>
                <a:t>号帧</a:t>
              </a:r>
            </a:p>
          </p:txBody>
        </p:sp>
      </p:grpSp>
      <p:grpSp>
        <p:nvGrpSpPr>
          <p:cNvPr id="656661" name="Group 277"/>
          <p:cNvGrpSpPr>
            <a:grpSpLocks/>
          </p:cNvGrpSpPr>
          <p:nvPr/>
        </p:nvGrpSpPr>
        <p:grpSpPr bwMode="auto">
          <a:xfrm>
            <a:off x="5940425" y="2708275"/>
            <a:ext cx="1008063" cy="3389313"/>
            <a:chOff x="3742" y="1706"/>
            <a:chExt cx="635" cy="2135"/>
          </a:xfrm>
        </p:grpSpPr>
        <p:sp>
          <p:nvSpPr>
            <p:cNvPr id="656459" name="Oval 75"/>
            <p:cNvSpPr>
              <a:spLocks noChangeArrowheads="1"/>
            </p:cNvSpPr>
            <p:nvPr/>
          </p:nvSpPr>
          <p:spPr bwMode="auto">
            <a:xfrm>
              <a:off x="3788" y="1752"/>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460" name="Line 76"/>
            <p:cNvSpPr>
              <a:spLocks noChangeShapeType="1"/>
            </p:cNvSpPr>
            <p:nvPr/>
          </p:nvSpPr>
          <p:spPr bwMode="auto">
            <a:xfrm>
              <a:off x="3833" y="1797"/>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61" name="Line 77"/>
            <p:cNvSpPr>
              <a:spLocks noChangeShapeType="1"/>
            </p:cNvSpPr>
            <p:nvPr/>
          </p:nvSpPr>
          <p:spPr bwMode="auto">
            <a:xfrm>
              <a:off x="4060" y="1706"/>
              <a:ext cx="0" cy="9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62" name="Line 78"/>
            <p:cNvSpPr>
              <a:spLocks noChangeShapeType="1"/>
            </p:cNvSpPr>
            <p:nvPr/>
          </p:nvSpPr>
          <p:spPr bwMode="auto">
            <a:xfrm>
              <a:off x="4287" y="2024"/>
              <a:ext cx="9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63" name="Line 79"/>
            <p:cNvSpPr>
              <a:spLocks noChangeShapeType="1"/>
            </p:cNvSpPr>
            <p:nvPr/>
          </p:nvSpPr>
          <p:spPr bwMode="auto">
            <a:xfrm flipH="1">
              <a:off x="4059" y="1797"/>
              <a:ext cx="228"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64" name="Line 80"/>
            <p:cNvSpPr>
              <a:spLocks noChangeShapeType="1"/>
            </p:cNvSpPr>
            <p:nvPr/>
          </p:nvSpPr>
          <p:spPr bwMode="auto">
            <a:xfrm>
              <a:off x="4060" y="2251"/>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65" name="Line 81"/>
            <p:cNvSpPr>
              <a:spLocks noChangeShapeType="1"/>
            </p:cNvSpPr>
            <p:nvPr/>
          </p:nvSpPr>
          <p:spPr bwMode="auto">
            <a:xfrm flipH="1">
              <a:off x="3833" y="2172"/>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66" name="Line 82"/>
            <p:cNvSpPr>
              <a:spLocks noChangeShapeType="1"/>
            </p:cNvSpPr>
            <p:nvPr/>
          </p:nvSpPr>
          <p:spPr bwMode="auto">
            <a:xfrm>
              <a:off x="3742" y="2024"/>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67" name="Line 83"/>
            <p:cNvSpPr>
              <a:spLocks noChangeShapeType="1"/>
            </p:cNvSpPr>
            <p:nvPr/>
          </p:nvSpPr>
          <p:spPr bwMode="auto">
            <a:xfrm>
              <a:off x="4059" y="2024"/>
              <a:ext cx="228"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85" name="Oval 201"/>
            <p:cNvSpPr>
              <a:spLocks noChangeArrowheads="1"/>
            </p:cNvSpPr>
            <p:nvPr/>
          </p:nvSpPr>
          <p:spPr bwMode="auto">
            <a:xfrm>
              <a:off x="3788" y="2795"/>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586" name="Line 202"/>
            <p:cNvSpPr>
              <a:spLocks noChangeShapeType="1"/>
            </p:cNvSpPr>
            <p:nvPr/>
          </p:nvSpPr>
          <p:spPr bwMode="auto">
            <a:xfrm>
              <a:off x="3833" y="2840"/>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87" name="Line 203"/>
            <p:cNvSpPr>
              <a:spLocks noChangeShapeType="1"/>
            </p:cNvSpPr>
            <p:nvPr/>
          </p:nvSpPr>
          <p:spPr bwMode="auto">
            <a:xfrm>
              <a:off x="4060" y="2749"/>
              <a:ext cx="0" cy="9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88" name="Line 204"/>
            <p:cNvSpPr>
              <a:spLocks noChangeShapeType="1"/>
            </p:cNvSpPr>
            <p:nvPr/>
          </p:nvSpPr>
          <p:spPr bwMode="auto">
            <a:xfrm>
              <a:off x="4059" y="3067"/>
              <a:ext cx="318"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89" name="Line 205"/>
            <p:cNvSpPr>
              <a:spLocks noChangeShapeType="1"/>
            </p:cNvSpPr>
            <p:nvPr/>
          </p:nvSpPr>
          <p:spPr bwMode="auto">
            <a:xfrm flipH="1">
              <a:off x="4059" y="2840"/>
              <a:ext cx="228"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90" name="Line 206"/>
            <p:cNvSpPr>
              <a:spLocks noChangeShapeType="1"/>
            </p:cNvSpPr>
            <p:nvPr/>
          </p:nvSpPr>
          <p:spPr bwMode="auto">
            <a:xfrm>
              <a:off x="4060" y="3294"/>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91" name="Line 207"/>
            <p:cNvSpPr>
              <a:spLocks noChangeShapeType="1"/>
            </p:cNvSpPr>
            <p:nvPr/>
          </p:nvSpPr>
          <p:spPr bwMode="auto">
            <a:xfrm flipH="1">
              <a:off x="3833" y="3215"/>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92" name="Line 208"/>
            <p:cNvSpPr>
              <a:spLocks noChangeShapeType="1"/>
            </p:cNvSpPr>
            <p:nvPr/>
          </p:nvSpPr>
          <p:spPr bwMode="auto">
            <a:xfrm>
              <a:off x="3742" y="3067"/>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93" name="Line 209"/>
            <p:cNvSpPr>
              <a:spLocks noChangeShapeType="1"/>
            </p:cNvSpPr>
            <p:nvPr/>
          </p:nvSpPr>
          <p:spPr bwMode="auto">
            <a:xfrm>
              <a:off x="4215" y="3215"/>
              <a:ext cx="72"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7" name="Text Box 253"/>
            <p:cNvSpPr txBox="1">
              <a:spLocks noChangeArrowheads="1"/>
            </p:cNvSpPr>
            <p:nvPr/>
          </p:nvSpPr>
          <p:spPr bwMode="auto">
            <a:xfrm>
              <a:off x="3742" y="3475"/>
              <a:ext cx="635" cy="3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46800" rIns="0" bIns="46800">
              <a:spAutoFit/>
            </a:bodyPr>
            <a:lstStyle/>
            <a:p>
              <a:pPr algn="ctr">
                <a:spcBef>
                  <a:spcPct val="0"/>
                </a:spcBef>
              </a:pPr>
              <a:r>
                <a:rPr lang="zh-CN" altLang="en-US" sz="1600" b="1">
                  <a:ea typeface="楷体_GB2312" pitchFamily="49" charset="-122"/>
                </a:rPr>
                <a:t>⑥</a:t>
              </a:r>
            </a:p>
            <a:p>
              <a:pPr algn="ctr">
                <a:spcBef>
                  <a:spcPct val="0"/>
                </a:spcBef>
              </a:pPr>
              <a:r>
                <a:rPr lang="zh-CN" altLang="en-US" sz="1600" b="1">
                  <a:ea typeface="楷体_GB2312" pitchFamily="49" charset="-122"/>
                </a:rPr>
                <a:t>发送</a:t>
              </a:r>
              <a:r>
                <a:rPr lang="en-US" altLang="zh-CN" sz="1600" b="1">
                  <a:ea typeface="楷体_GB2312" pitchFamily="49" charset="-122"/>
                </a:rPr>
                <a:t>2</a:t>
              </a:r>
              <a:r>
                <a:rPr lang="zh-CN" altLang="en-US" sz="1600" b="1">
                  <a:ea typeface="楷体_GB2312" pitchFamily="49" charset="-122"/>
                </a:rPr>
                <a:t>号帧</a:t>
              </a:r>
            </a:p>
          </p:txBody>
        </p:sp>
      </p:grpSp>
      <p:grpSp>
        <p:nvGrpSpPr>
          <p:cNvPr id="656662" name="Group 278"/>
          <p:cNvGrpSpPr>
            <a:grpSpLocks/>
          </p:cNvGrpSpPr>
          <p:nvPr/>
        </p:nvGrpSpPr>
        <p:grpSpPr bwMode="auto">
          <a:xfrm>
            <a:off x="7019925" y="2708275"/>
            <a:ext cx="1008063" cy="3633788"/>
            <a:chOff x="4422" y="1706"/>
            <a:chExt cx="635" cy="2289"/>
          </a:xfrm>
        </p:grpSpPr>
        <p:sp>
          <p:nvSpPr>
            <p:cNvPr id="656468" name="Oval 84"/>
            <p:cNvSpPr>
              <a:spLocks noChangeArrowheads="1"/>
            </p:cNvSpPr>
            <p:nvPr/>
          </p:nvSpPr>
          <p:spPr bwMode="auto">
            <a:xfrm>
              <a:off x="4468" y="1752"/>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469" name="Line 85"/>
            <p:cNvSpPr>
              <a:spLocks noChangeShapeType="1"/>
            </p:cNvSpPr>
            <p:nvPr/>
          </p:nvSpPr>
          <p:spPr bwMode="auto">
            <a:xfrm>
              <a:off x="4513" y="1797"/>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70" name="Line 86"/>
            <p:cNvSpPr>
              <a:spLocks noChangeShapeType="1"/>
            </p:cNvSpPr>
            <p:nvPr/>
          </p:nvSpPr>
          <p:spPr bwMode="auto">
            <a:xfrm>
              <a:off x="4740" y="1706"/>
              <a:ext cx="0" cy="9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71" name="Line 87"/>
            <p:cNvSpPr>
              <a:spLocks noChangeShapeType="1"/>
            </p:cNvSpPr>
            <p:nvPr/>
          </p:nvSpPr>
          <p:spPr bwMode="auto">
            <a:xfrm>
              <a:off x="4967" y="2024"/>
              <a:ext cx="9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72" name="Line 88"/>
            <p:cNvSpPr>
              <a:spLocks noChangeShapeType="1"/>
            </p:cNvSpPr>
            <p:nvPr/>
          </p:nvSpPr>
          <p:spPr bwMode="auto">
            <a:xfrm flipH="1">
              <a:off x="4740" y="1797"/>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73" name="Line 89"/>
            <p:cNvSpPr>
              <a:spLocks noChangeShapeType="1"/>
            </p:cNvSpPr>
            <p:nvPr/>
          </p:nvSpPr>
          <p:spPr bwMode="auto">
            <a:xfrm>
              <a:off x="4740" y="2251"/>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74" name="Line 90"/>
            <p:cNvSpPr>
              <a:spLocks noChangeShapeType="1"/>
            </p:cNvSpPr>
            <p:nvPr/>
          </p:nvSpPr>
          <p:spPr bwMode="auto">
            <a:xfrm flipH="1">
              <a:off x="4513" y="2172"/>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75" name="Line 91"/>
            <p:cNvSpPr>
              <a:spLocks noChangeShapeType="1"/>
            </p:cNvSpPr>
            <p:nvPr/>
          </p:nvSpPr>
          <p:spPr bwMode="auto">
            <a:xfrm>
              <a:off x="4422" y="2024"/>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476" name="Line 92"/>
            <p:cNvSpPr>
              <a:spLocks noChangeShapeType="1"/>
            </p:cNvSpPr>
            <p:nvPr/>
          </p:nvSpPr>
          <p:spPr bwMode="auto">
            <a:xfrm>
              <a:off x="4740" y="2024"/>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94" name="Oval 210"/>
            <p:cNvSpPr>
              <a:spLocks noChangeArrowheads="1"/>
            </p:cNvSpPr>
            <p:nvPr/>
          </p:nvSpPr>
          <p:spPr bwMode="auto">
            <a:xfrm>
              <a:off x="4468" y="2795"/>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595" name="Line 211"/>
            <p:cNvSpPr>
              <a:spLocks noChangeShapeType="1"/>
            </p:cNvSpPr>
            <p:nvPr/>
          </p:nvSpPr>
          <p:spPr bwMode="auto">
            <a:xfrm>
              <a:off x="4513" y="2840"/>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96" name="Line 212"/>
            <p:cNvSpPr>
              <a:spLocks noChangeShapeType="1"/>
            </p:cNvSpPr>
            <p:nvPr/>
          </p:nvSpPr>
          <p:spPr bwMode="auto">
            <a:xfrm>
              <a:off x="4740" y="2749"/>
              <a:ext cx="0" cy="9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97" name="Line 213"/>
            <p:cNvSpPr>
              <a:spLocks noChangeShapeType="1"/>
            </p:cNvSpPr>
            <p:nvPr/>
          </p:nvSpPr>
          <p:spPr bwMode="auto">
            <a:xfrm>
              <a:off x="4740" y="3067"/>
              <a:ext cx="31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98" name="Line 214"/>
            <p:cNvSpPr>
              <a:spLocks noChangeShapeType="1"/>
            </p:cNvSpPr>
            <p:nvPr/>
          </p:nvSpPr>
          <p:spPr bwMode="auto">
            <a:xfrm flipH="1">
              <a:off x="4888" y="2840"/>
              <a:ext cx="79" cy="7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599" name="Line 215"/>
            <p:cNvSpPr>
              <a:spLocks noChangeShapeType="1"/>
            </p:cNvSpPr>
            <p:nvPr/>
          </p:nvSpPr>
          <p:spPr bwMode="auto">
            <a:xfrm>
              <a:off x="4740" y="3294"/>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00" name="Line 216"/>
            <p:cNvSpPr>
              <a:spLocks noChangeShapeType="1"/>
            </p:cNvSpPr>
            <p:nvPr/>
          </p:nvSpPr>
          <p:spPr bwMode="auto">
            <a:xfrm flipH="1">
              <a:off x="4513" y="3215"/>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01" name="Line 217"/>
            <p:cNvSpPr>
              <a:spLocks noChangeShapeType="1"/>
            </p:cNvSpPr>
            <p:nvPr/>
          </p:nvSpPr>
          <p:spPr bwMode="auto">
            <a:xfrm>
              <a:off x="4422" y="3067"/>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02" name="Line 218"/>
            <p:cNvSpPr>
              <a:spLocks noChangeShapeType="1"/>
            </p:cNvSpPr>
            <p:nvPr/>
          </p:nvSpPr>
          <p:spPr bwMode="auto">
            <a:xfrm>
              <a:off x="4740" y="3067"/>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8" name="Text Box 254"/>
            <p:cNvSpPr txBox="1">
              <a:spLocks noChangeArrowheads="1"/>
            </p:cNvSpPr>
            <p:nvPr/>
          </p:nvSpPr>
          <p:spPr bwMode="auto">
            <a:xfrm>
              <a:off x="4422" y="3475"/>
              <a:ext cx="635" cy="5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46800" rIns="0" bIns="46800">
              <a:spAutoFit/>
            </a:bodyPr>
            <a:lstStyle/>
            <a:p>
              <a:pPr algn="ctr">
                <a:spcBef>
                  <a:spcPct val="0"/>
                </a:spcBef>
              </a:pPr>
              <a:r>
                <a:rPr lang="zh-CN" altLang="en-US" sz="1600" b="1">
                  <a:ea typeface="楷体_GB2312" pitchFamily="49" charset="-122"/>
                </a:rPr>
                <a:t>⑦</a:t>
              </a:r>
            </a:p>
            <a:p>
              <a:pPr algn="ctr">
                <a:spcBef>
                  <a:spcPct val="0"/>
                </a:spcBef>
              </a:pPr>
              <a:r>
                <a:rPr lang="zh-CN" altLang="en-US" sz="1600" b="1">
                  <a:ea typeface="楷体_GB2312" pitchFamily="49" charset="-122"/>
                </a:rPr>
                <a:t>正确接收</a:t>
              </a:r>
              <a:r>
                <a:rPr lang="en-US" altLang="zh-CN" sz="1600" b="1">
                  <a:ea typeface="楷体_GB2312" pitchFamily="49" charset="-122"/>
                </a:rPr>
                <a:t>1</a:t>
              </a:r>
              <a:r>
                <a:rPr lang="zh-CN" altLang="en-US" sz="1600" b="1">
                  <a:ea typeface="楷体_GB2312" pitchFamily="49" charset="-122"/>
                </a:rPr>
                <a:t>号帧</a:t>
              </a:r>
            </a:p>
          </p:txBody>
        </p:sp>
      </p:grpSp>
      <p:grpSp>
        <p:nvGrpSpPr>
          <p:cNvPr id="656663" name="Group 279"/>
          <p:cNvGrpSpPr>
            <a:grpSpLocks/>
          </p:cNvGrpSpPr>
          <p:nvPr/>
        </p:nvGrpSpPr>
        <p:grpSpPr bwMode="auto">
          <a:xfrm>
            <a:off x="8099425" y="2708275"/>
            <a:ext cx="1044575" cy="3633788"/>
            <a:chOff x="5102" y="1706"/>
            <a:chExt cx="658" cy="2289"/>
          </a:xfrm>
        </p:grpSpPr>
        <p:sp>
          <p:nvSpPr>
            <p:cNvPr id="656616" name="Oval 232"/>
            <p:cNvSpPr>
              <a:spLocks noChangeArrowheads="1"/>
            </p:cNvSpPr>
            <p:nvPr/>
          </p:nvSpPr>
          <p:spPr bwMode="auto">
            <a:xfrm>
              <a:off x="5148" y="1752"/>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617" name="Line 233"/>
            <p:cNvSpPr>
              <a:spLocks noChangeShapeType="1"/>
            </p:cNvSpPr>
            <p:nvPr/>
          </p:nvSpPr>
          <p:spPr bwMode="auto">
            <a:xfrm>
              <a:off x="5193" y="1797"/>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18" name="Line 234"/>
            <p:cNvSpPr>
              <a:spLocks noChangeShapeType="1"/>
            </p:cNvSpPr>
            <p:nvPr/>
          </p:nvSpPr>
          <p:spPr bwMode="auto">
            <a:xfrm>
              <a:off x="5420" y="1706"/>
              <a:ext cx="0" cy="9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19" name="Line 235"/>
            <p:cNvSpPr>
              <a:spLocks noChangeShapeType="1"/>
            </p:cNvSpPr>
            <p:nvPr/>
          </p:nvSpPr>
          <p:spPr bwMode="auto">
            <a:xfrm>
              <a:off x="5420" y="2024"/>
              <a:ext cx="31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20" name="Line 236"/>
            <p:cNvSpPr>
              <a:spLocks noChangeShapeType="1"/>
            </p:cNvSpPr>
            <p:nvPr/>
          </p:nvSpPr>
          <p:spPr bwMode="auto">
            <a:xfrm flipH="1">
              <a:off x="5568" y="1797"/>
              <a:ext cx="79" cy="7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21" name="Line 237"/>
            <p:cNvSpPr>
              <a:spLocks noChangeShapeType="1"/>
            </p:cNvSpPr>
            <p:nvPr/>
          </p:nvSpPr>
          <p:spPr bwMode="auto">
            <a:xfrm>
              <a:off x="5420" y="2251"/>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22" name="Line 238"/>
            <p:cNvSpPr>
              <a:spLocks noChangeShapeType="1"/>
            </p:cNvSpPr>
            <p:nvPr/>
          </p:nvSpPr>
          <p:spPr bwMode="auto">
            <a:xfrm flipH="1">
              <a:off x="5193" y="2172"/>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23" name="Line 239"/>
            <p:cNvSpPr>
              <a:spLocks noChangeShapeType="1"/>
            </p:cNvSpPr>
            <p:nvPr/>
          </p:nvSpPr>
          <p:spPr bwMode="auto">
            <a:xfrm>
              <a:off x="5102" y="2024"/>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24" name="Line 240"/>
            <p:cNvSpPr>
              <a:spLocks noChangeShapeType="1"/>
            </p:cNvSpPr>
            <p:nvPr/>
          </p:nvSpPr>
          <p:spPr bwMode="auto">
            <a:xfrm>
              <a:off x="5420" y="2024"/>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25" name="Oval 241"/>
            <p:cNvSpPr>
              <a:spLocks noChangeArrowheads="1"/>
            </p:cNvSpPr>
            <p:nvPr/>
          </p:nvSpPr>
          <p:spPr bwMode="auto">
            <a:xfrm>
              <a:off x="5148" y="2795"/>
              <a:ext cx="544" cy="544"/>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626" name="Line 242"/>
            <p:cNvSpPr>
              <a:spLocks noChangeShapeType="1"/>
            </p:cNvSpPr>
            <p:nvPr/>
          </p:nvSpPr>
          <p:spPr bwMode="auto">
            <a:xfrm>
              <a:off x="5193" y="2840"/>
              <a:ext cx="85"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27" name="Line 243"/>
            <p:cNvSpPr>
              <a:spLocks noChangeShapeType="1"/>
            </p:cNvSpPr>
            <p:nvPr/>
          </p:nvSpPr>
          <p:spPr bwMode="auto">
            <a:xfrm>
              <a:off x="5420" y="2749"/>
              <a:ext cx="0" cy="9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28" name="Line 244"/>
            <p:cNvSpPr>
              <a:spLocks noChangeShapeType="1"/>
            </p:cNvSpPr>
            <p:nvPr/>
          </p:nvSpPr>
          <p:spPr bwMode="auto">
            <a:xfrm>
              <a:off x="5420" y="3067"/>
              <a:ext cx="31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29" name="Line 245"/>
            <p:cNvSpPr>
              <a:spLocks noChangeShapeType="1"/>
            </p:cNvSpPr>
            <p:nvPr/>
          </p:nvSpPr>
          <p:spPr bwMode="auto">
            <a:xfrm flipH="1">
              <a:off x="5568" y="2840"/>
              <a:ext cx="79" cy="7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0" name="Line 246"/>
            <p:cNvSpPr>
              <a:spLocks noChangeShapeType="1"/>
            </p:cNvSpPr>
            <p:nvPr/>
          </p:nvSpPr>
          <p:spPr bwMode="auto">
            <a:xfrm>
              <a:off x="5420" y="3294"/>
              <a:ext cx="0" cy="9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1" name="Line 247"/>
            <p:cNvSpPr>
              <a:spLocks noChangeShapeType="1"/>
            </p:cNvSpPr>
            <p:nvPr/>
          </p:nvSpPr>
          <p:spPr bwMode="auto">
            <a:xfrm flipH="1">
              <a:off x="5193" y="3215"/>
              <a:ext cx="79" cy="7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2" name="Line 248"/>
            <p:cNvSpPr>
              <a:spLocks noChangeShapeType="1"/>
            </p:cNvSpPr>
            <p:nvPr/>
          </p:nvSpPr>
          <p:spPr bwMode="auto">
            <a:xfrm>
              <a:off x="5102" y="3067"/>
              <a:ext cx="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3" name="Line 249"/>
            <p:cNvSpPr>
              <a:spLocks noChangeShapeType="1"/>
            </p:cNvSpPr>
            <p:nvPr/>
          </p:nvSpPr>
          <p:spPr bwMode="auto">
            <a:xfrm>
              <a:off x="5420" y="3067"/>
              <a:ext cx="227" cy="22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39" name="Text Box 255"/>
            <p:cNvSpPr txBox="1">
              <a:spLocks noChangeArrowheads="1"/>
            </p:cNvSpPr>
            <p:nvPr/>
          </p:nvSpPr>
          <p:spPr bwMode="auto">
            <a:xfrm>
              <a:off x="5125" y="3475"/>
              <a:ext cx="635" cy="5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46800" rIns="0" bIns="46800">
              <a:spAutoFit/>
            </a:bodyPr>
            <a:lstStyle/>
            <a:p>
              <a:pPr algn="ctr">
                <a:spcBef>
                  <a:spcPct val="0"/>
                </a:spcBef>
              </a:pPr>
              <a:r>
                <a:rPr lang="zh-CN" altLang="en-US" sz="1600" b="1">
                  <a:ea typeface="楷体_GB2312" pitchFamily="49" charset="-122"/>
                </a:rPr>
                <a:t>⑧</a:t>
              </a:r>
            </a:p>
            <a:p>
              <a:pPr algn="ctr">
                <a:spcBef>
                  <a:spcPct val="0"/>
                </a:spcBef>
              </a:pPr>
              <a:r>
                <a:rPr lang="zh-CN" altLang="en-US" sz="1600" b="1">
                  <a:ea typeface="楷体_GB2312" pitchFamily="49" charset="-122"/>
                </a:rPr>
                <a:t>接收确认</a:t>
              </a:r>
              <a:r>
                <a:rPr lang="en-US" altLang="zh-CN" sz="1600" b="1">
                  <a:ea typeface="楷体_GB2312" pitchFamily="49" charset="-122"/>
                </a:rPr>
                <a:t>1</a:t>
              </a:r>
              <a:r>
                <a:rPr lang="zh-CN" altLang="en-US" sz="1600" b="1">
                  <a:ea typeface="楷体_GB2312" pitchFamily="49" charset="-122"/>
                </a:rPr>
                <a:t>号帧</a:t>
              </a:r>
            </a:p>
          </p:txBody>
        </p:sp>
      </p:grpSp>
      <p:sp>
        <p:nvSpPr>
          <p:cNvPr id="656640" name="Oval 256"/>
          <p:cNvSpPr>
            <a:spLocks noChangeArrowheads="1"/>
          </p:cNvSpPr>
          <p:nvPr/>
        </p:nvSpPr>
        <p:spPr bwMode="auto">
          <a:xfrm>
            <a:off x="611188" y="4437063"/>
            <a:ext cx="863600" cy="86360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56641" name="Line 257"/>
          <p:cNvSpPr>
            <a:spLocks noChangeShapeType="1"/>
          </p:cNvSpPr>
          <p:nvPr/>
        </p:nvSpPr>
        <p:spPr bwMode="auto">
          <a:xfrm>
            <a:off x="682625" y="4508500"/>
            <a:ext cx="134938" cy="125413"/>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42" name="Line 258"/>
          <p:cNvSpPr>
            <a:spLocks noChangeShapeType="1"/>
          </p:cNvSpPr>
          <p:nvPr/>
        </p:nvSpPr>
        <p:spPr bwMode="auto">
          <a:xfrm>
            <a:off x="1042988" y="4364038"/>
            <a:ext cx="0" cy="5048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43" name="Line 259"/>
          <p:cNvSpPr>
            <a:spLocks noChangeShapeType="1"/>
          </p:cNvSpPr>
          <p:nvPr/>
        </p:nvSpPr>
        <p:spPr bwMode="auto">
          <a:xfrm>
            <a:off x="1403350" y="4868863"/>
            <a:ext cx="14287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44" name="Line 260"/>
          <p:cNvSpPr>
            <a:spLocks noChangeShapeType="1"/>
          </p:cNvSpPr>
          <p:nvPr/>
        </p:nvSpPr>
        <p:spPr bwMode="auto">
          <a:xfrm flipH="1">
            <a:off x="1042988" y="4508500"/>
            <a:ext cx="360362" cy="360363"/>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45" name="Line 261"/>
          <p:cNvSpPr>
            <a:spLocks noChangeShapeType="1"/>
          </p:cNvSpPr>
          <p:nvPr/>
        </p:nvSpPr>
        <p:spPr bwMode="auto">
          <a:xfrm>
            <a:off x="1042988" y="5229225"/>
            <a:ext cx="0" cy="14287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46" name="Line 262"/>
          <p:cNvSpPr>
            <a:spLocks noChangeShapeType="1"/>
          </p:cNvSpPr>
          <p:nvPr/>
        </p:nvSpPr>
        <p:spPr bwMode="auto">
          <a:xfrm flipH="1">
            <a:off x="682625" y="5103813"/>
            <a:ext cx="125413" cy="12541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47" name="Line 263"/>
          <p:cNvSpPr>
            <a:spLocks noChangeShapeType="1"/>
          </p:cNvSpPr>
          <p:nvPr/>
        </p:nvSpPr>
        <p:spPr bwMode="auto">
          <a:xfrm>
            <a:off x="538163" y="4868863"/>
            <a:ext cx="14605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48" name="Line 264"/>
          <p:cNvSpPr>
            <a:spLocks noChangeShapeType="1"/>
          </p:cNvSpPr>
          <p:nvPr/>
        </p:nvSpPr>
        <p:spPr bwMode="auto">
          <a:xfrm>
            <a:off x="1289050" y="5103813"/>
            <a:ext cx="114300" cy="12541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56649" name="Text Box 265"/>
          <p:cNvSpPr txBox="1">
            <a:spLocks noChangeArrowheads="1"/>
          </p:cNvSpPr>
          <p:nvPr/>
        </p:nvSpPr>
        <p:spPr bwMode="auto">
          <a:xfrm>
            <a:off x="1187450" y="4292600"/>
            <a:ext cx="71438" cy="182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0</a:t>
            </a:r>
          </a:p>
        </p:txBody>
      </p:sp>
      <p:sp>
        <p:nvSpPr>
          <p:cNvPr id="656650" name="Text Box 266"/>
          <p:cNvSpPr txBox="1">
            <a:spLocks noChangeArrowheads="1"/>
          </p:cNvSpPr>
          <p:nvPr/>
        </p:nvSpPr>
        <p:spPr bwMode="auto">
          <a:xfrm>
            <a:off x="1474788" y="4581525"/>
            <a:ext cx="71437" cy="182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1</a:t>
            </a:r>
          </a:p>
        </p:txBody>
      </p:sp>
      <p:sp>
        <p:nvSpPr>
          <p:cNvPr id="656651" name="Text Box 267"/>
          <p:cNvSpPr txBox="1">
            <a:spLocks noChangeArrowheads="1"/>
          </p:cNvSpPr>
          <p:nvPr/>
        </p:nvSpPr>
        <p:spPr bwMode="auto">
          <a:xfrm>
            <a:off x="1474788" y="4940300"/>
            <a:ext cx="71437" cy="182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2</a:t>
            </a:r>
          </a:p>
        </p:txBody>
      </p:sp>
      <p:sp>
        <p:nvSpPr>
          <p:cNvPr id="656652" name="Text Box 268"/>
          <p:cNvSpPr txBox="1">
            <a:spLocks noChangeArrowheads="1"/>
          </p:cNvSpPr>
          <p:nvPr/>
        </p:nvSpPr>
        <p:spPr bwMode="auto">
          <a:xfrm>
            <a:off x="1187450" y="5300663"/>
            <a:ext cx="71438" cy="1825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3</a:t>
            </a:r>
          </a:p>
        </p:txBody>
      </p:sp>
      <p:sp>
        <p:nvSpPr>
          <p:cNvPr id="656653" name="Text Box 269"/>
          <p:cNvSpPr txBox="1">
            <a:spLocks noChangeArrowheads="1"/>
          </p:cNvSpPr>
          <p:nvPr/>
        </p:nvSpPr>
        <p:spPr bwMode="auto">
          <a:xfrm>
            <a:off x="827088" y="5300663"/>
            <a:ext cx="71437" cy="1825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4</a:t>
            </a:r>
          </a:p>
        </p:txBody>
      </p:sp>
      <p:sp>
        <p:nvSpPr>
          <p:cNvPr id="656654" name="Text Box 270"/>
          <p:cNvSpPr txBox="1">
            <a:spLocks noChangeArrowheads="1"/>
          </p:cNvSpPr>
          <p:nvPr/>
        </p:nvSpPr>
        <p:spPr bwMode="auto">
          <a:xfrm>
            <a:off x="538163" y="5013325"/>
            <a:ext cx="71437" cy="182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5</a:t>
            </a:r>
          </a:p>
        </p:txBody>
      </p:sp>
      <p:sp>
        <p:nvSpPr>
          <p:cNvPr id="656655" name="Text Box 271"/>
          <p:cNvSpPr txBox="1">
            <a:spLocks noChangeArrowheads="1"/>
          </p:cNvSpPr>
          <p:nvPr/>
        </p:nvSpPr>
        <p:spPr bwMode="auto">
          <a:xfrm>
            <a:off x="538163" y="4581525"/>
            <a:ext cx="71437" cy="182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6</a:t>
            </a:r>
          </a:p>
        </p:txBody>
      </p:sp>
      <p:sp>
        <p:nvSpPr>
          <p:cNvPr id="656656" name="Text Box 272"/>
          <p:cNvSpPr txBox="1">
            <a:spLocks noChangeArrowheads="1"/>
          </p:cNvSpPr>
          <p:nvPr/>
        </p:nvSpPr>
        <p:spPr bwMode="auto">
          <a:xfrm>
            <a:off x="827088" y="4292600"/>
            <a:ext cx="71437" cy="182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200" b="1">
                <a:latin typeface="Arial" charset="0"/>
              </a:rPr>
              <a:t>7</a:t>
            </a:r>
          </a:p>
        </p:txBody>
      </p:sp>
      <p:sp>
        <p:nvSpPr>
          <p:cNvPr id="656664" name="Text Box 280"/>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4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6657"/>
                                        </p:tgtEl>
                                        <p:attrNameLst>
                                          <p:attrName>style.visibility</p:attrName>
                                        </p:attrNameLst>
                                      </p:cBhvr>
                                      <p:to>
                                        <p:strVal val="visible"/>
                                      </p:to>
                                    </p:set>
                                    <p:animEffect transition="in" filter="dissolve">
                                      <p:cBhvr>
                                        <p:cTn id="7" dur="500"/>
                                        <p:tgtEl>
                                          <p:spTgt spid="6566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56658"/>
                                        </p:tgtEl>
                                        <p:attrNameLst>
                                          <p:attrName>style.visibility</p:attrName>
                                        </p:attrNameLst>
                                      </p:cBhvr>
                                      <p:to>
                                        <p:strVal val="visible"/>
                                      </p:to>
                                    </p:set>
                                    <p:animEffect transition="in" filter="dissolve">
                                      <p:cBhvr>
                                        <p:cTn id="12" dur="500"/>
                                        <p:tgtEl>
                                          <p:spTgt spid="6566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56659"/>
                                        </p:tgtEl>
                                        <p:attrNameLst>
                                          <p:attrName>style.visibility</p:attrName>
                                        </p:attrNameLst>
                                      </p:cBhvr>
                                      <p:to>
                                        <p:strVal val="visible"/>
                                      </p:to>
                                    </p:set>
                                    <p:animEffect transition="in" filter="dissolve">
                                      <p:cBhvr>
                                        <p:cTn id="17" dur="500"/>
                                        <p:tgtEl>
                                          <p:spTgt spid="6566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56660"/>
                                        </p:tgtEl>
                                        <p:attrNameLst>
                                          <p:attrName>style.visibility</p:attrName>
                                        </p:attrNameLst>
                                      </p:cBhvr>
                                      <p:to>
                                        <p:strVal val="visible"/>
                                      </p:to>
                                    </p:set>
                                    <p:animEffect transition="in" filter="dissolve">
                                      <p:cBhvr>
                                        <p:cTn id="22" dur="500"/>
                                        <p:tgtEl>
                                          <p:spTgt spid="6566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56661"/>
                                        </p:tgtEl>
                                        <p:attrNameLst>
                                          <p:attrName>style.visibility</p:attrName>
                                        </p:attrNameLst>
                                      </p:cBhvr>
                                      <p:to>
                                        <p:strVal val="visible"/>
                                      </p:to>
                                    </p:set>
                                    <p:animEffect transition="in" filter="dissolve">
                                      <p:cBhvr>
                                        <p:cTn id="27" dur="500"/>
                                        <p:tgtEl>
                                          <p:spTgt spid="6566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56662"/>
                                        </p:tgtEl>
                                        <p:attrNameLst>
                                          <p:attrName>style.visibility</p:attrName>
                                        </p:attrNameLst>
                                      </p:cBhvr>
                                      <p:to>
                                        <p:strVal val="visible"/>
                                      </p:to>
                                    </p:set>
                                    <p:animEffect transition="in" filter="dissolve">
                                      <p:cBhvr>
                                        <p:cTn id="32" dur="500"/>
                                        <p:tgtEl>
                                          <p:spTgt spid="65666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56663"/>
                                        </p:tgtEl>
                                        <p:attrNameLst>
                                          <p:attrName>style.visibility</p:attrName>
                                        </p:attrNameLst>
                                      </p:cBhvr>
                                      <p:to>
                                        <p:strVal val="visible"/>
                                      </p:to>
                                    </p:set>
                                    <p:animEffect transition="in" filter="dissolve">
                                      <p:cBhvr>
                                        <p:cTn id="37" dur="500"/>
                                        <p:tgtEl>
                                          <p:spTgt spid="656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p:txBody>
          <a:bodyPr/>
          <a:lstStyle/>
          <a:p>
            <a:r>
              <a:rPr lang="zh-CN" altLang="en-US"/>
              <a:t>协议</a:t>
            </a:r>
            <a:r>
              <a:rPr lang="en-US" altLang="zh-CN"/>
              <a:t>4</a:t>
            </a:r>
            <a:r>
              <a:rPr lang="en-US" altLang="zh-CN" sz="4000"/>
              <a:t> </a:t>
            </a:r>
            <a:br>
              <a:rPr lang="en-US" altLang="zh-CN" sz="4000"/>
            </a:br>
            <a:r>
              <a:rPr lang="zh-CN" altLang="en-US" sz="2800"/>
              <a:t>（</a:t>
            </a:r>
            <a:r>
              <a:rPr lang="en-US" altLang="zh-CN" sz="2800"/>
              <a:t>sender + </a:t>
            </a:r>
            <a:r>
              <a:rPr lang="en-US" altLang="en-US" sz="2800"/>
              <a:t>receiver</a:t>
            </a:r>
            <a:r>
              <a:rPr lang="zh-CN" altLang="en-US" sz="2800"/>
              <a:t>）</a:t>
            </a:r>
          </a:p>
        </p:txBody>
      </p:sp>
      <p:sp>
        <p:nvSpPr>
          <p:cNvPr id="658435" name="Rectangle 3"/>
          <p:cNvSpPr>
            <a:spLocks noGrp="1" noChangeArrowheads="1"/>
          </p:cNvSpPr>
          <p:nvPr>
            <p:ph type="body" idx="1"/>
          </p:nvPr>
        </p:nvSpPr>
        <p:spPr>
          <a:xfrm>
            <a:off x="809625" y="1773238"/>
            <a:ext cx="7958138" cy="4679950"/>
          </a:xfrm>
        </p:spPr>
        <p:txBody>
          <a:bodyPr/>
          <a:lstStyle/>
          <a:p>
            <a:pPr marL="0" indent="0">
              <a:lnSpc>
                <a:spcPct val="90000"/>
              </a:lnSpc>
              <a:buFont typeface="Wingdings" pitchFamily="2" charset="2"/>
              <a:buNone/>
            </a:pPr>
            <a:r>
              <a:rPr lang="en-US" altLang="zh-CN" sz="1800" noProof="1"/>
              <a:t>typedef enum {frame_arrival, cksum_err, timeout} event_type;</a:t>
            </a:r>
          </a:p>
          <a:p>
            <a:pPr marL="0" indent="0">
              <a:lnSpc>
                <a:spcPct val="90000"/>
              </a:lnSpc>
              <a:buFont typeface="Wingdings" pitchFamily="2" charset="2"/>
              <a:buNone/>
            </a:pPr>
            <a:r>
              <a:rPr lang="en-US" altLang="zh-CN" sz="1800" noProof="1"/>
              <a:t>void protocol4 (void)</a:t>
            </a:r>
          </a:p>
          <a:p>
            <a:pPr marL="0" indent="0">
              <a:lnSpc>
                <a:spcPct val="90000"/>
              </a:lnSpc>
              <a:buFont typeface="Wingdings" pitchFamily="2" charset="2"/>
              <a:buNone/>
            </a:pPr>
            <a:r>
              <a:rPr lang="en-US" altLang="zh-CN" sz="1800" noProof="1"/>
              <a:t>{    seq_nr next_frame_to_send; </a:t>
            </a:r>
          </a:p>
          <a:p>
            <a:pPr marL="0" indent="0">
              <a:lnSpc>
                <a:spcPct val="90000"/>
              </a:lnSpc>
              <a:buFont typeface="Wingdings" pitchFamily="2" charset="2"/>
              <a:buNone/>
            </a:pPr>
            <a:r>
              <a:rPr lang="en-US" altLang="zh-CN" sz="1800" noProof="1"/>
              <a:t>      seq_nr frame_expected; </a:t>
            </a:r>
          </a:p>
          <a:p>
            <a:pPr marL="0" indent="0">
              <a:lnSpc>
                <a:spcPct val="90000"/>
              </a:lnSpc>
              <a:buFont typeface="Wingdings" pitchFamily="2" charset="2"/>
              <a:buNone/>
            </a:pPr>
            <a:r>
              <a:rPr lang="en-US" altLang="zh-CN" sz="1800" noProof="1"/>
              <a:t>      frame r, s; </a:t>
            </a:r>
          </a:p>
          <a:p>
            <a:pPr marL="0" indent="0">
              <a:lnSpc>
                <a:spcPct val="90000"/>
              </a:lnSpc>
              <a:buFont typeface="Wingdings" pitchFamily="2" charset="2"/>
              <a:buNone/>
            </a:pPr>
            <a:r>
              <a:rPr lang="en-US" altLang="zh-CN" sz="1800" noProof="1"/>
              <a:t>      packet buffer; </a:t>
            </a:r>
          </a:p>
          <a:p>
            <a:pPr marL="0" indent="0">
              <a:lnSpc>
                <a:spcPct val="90000"/>
              </a:lnSpc>
              <a:buFont typeface="Wingdings" pitchFamily="2" charset="2"/>
              <a:buNone/>
            </a:pPr>
            <a:r>
              <a:rPr lang="en-US" altLang="zh-CN" sz="1800" noProof="1"/>
              <a:t>      event_type event;</a:t>
            </a:r>
          </a:p>
          <a:p>
            <a:pPr marL="0" indent="0">
              <a:lnSpc>
                <a:spcPct val="90000"/>
              </a:lnSpc>
              <a:buFont typeface="Wingdings" pitchFamily="2" charset="2"/>
              <a:buNone/>
            </a:pPr>
            <a:r>
              <a:rPr lang="en-US" altLang="zh-CN" sz="1800" noProof="1"/>
              <a:t>      next_frame_to_send = 0; </a:t>
            </a:r>
          </a:p>
          <a:p>
            <a:pPr marL="0" indent="0">
              <a:lnSpc>
                <a:spcPct val="90000"/>
              </a:lnSpc>
              <a:buFont typeface="Wingdings" pitchFamily="2" charset="2"/>
              <a:buNone/>
            </a:pPr>
            <a:r>
              <a:rPr lang="en-US" altLang="zh-CN" sz="1800" noProof="1"/>
              <a:t>      frame_expected = 0; </a:t>
            </a:r>
          </a:p>
          <a:p>
            <a:pPr marL="0" indent="0">
              <a:lnSpc>
                <a:spcPct val="90000"/>
              </a:lnSpc>
              <a:buFont typeface="Wingdings" pitchFamily="2" charset="2"/>
              <a:buNone/>
            </a:pPr>
            <a:r>
              <a:rPr lang="en-US" altLang="zh-CN" sz="1800" noProof="1"/>
              <a:t>      from_network_layer(&amp;buffer); </a:t>
            </a:r>
          </a:p>
          <a:p>
            <a:pPr marL="0" indent="0">
              <a:lnSpc>
                <a:spcPct val="90000"/>
              </a:lnSpc>
              <a:buFont typeface="Wingdings" pitchFamily="2" charset="2"/>
              <a:buNone/>
            </a:pPr>
            <a:r>
              <a:rPr lang="en-US" altLang="zh-CN" sz="1800" noProof="1"/>
              <a:t>      s.info = buffer;</a:t>
            </a:r>
          </a:p>
          <a:p>
            <a:pPr marL="0" indent="0">
              <a:lnSpc>
                <a:spcPct val="90000"/>
              </a:lnSpc>
              <a:buFont typeface="Wingdings" pitchFamily="2" charset="2"/>
              <a:buNone/>
            </a:pPr>
            <a:r>
              <a:rPr lang="en-US" altLang="zh-CN" sz="1800" noProof="1"/>
              <a:t>      s.seq = next_frame_to_send;</a:t>
            </a:r>
          </a:p>
          <a:p>
            <a:pPr marL="0" indent="0">
              <a:lnSpc>
                <a:spcPct val="90000"/>
              </a:lnSpc>
              <a:buFont typeface="Wingdings" pitchFamily="2" charset="2"/>
              <a:buNone/>
            </a:pPr>
            <a:r>
              <a:rPr lang="en-US" altLang="zh-CN" sz="1800" noProof="1"/>
              <a:t>      s.ack = 1 - frame_expected; </a:t>
            </a:r>
          </a:p>
          <a:p>
            <a:pPr marL="0" indent="0">
              <a:lnSpc>
                <a:spcPct val="90000"/>
              </a:lnSpc>
              <a:buFont typeface="Wingdings" pitchFamily="2" charset="2"/>
              <a:buNone/>
            </a:pPr>
            <a:r>
              <a:rPr lang="en-US" altLang="zh-CN" sz="1800" noProof="1"/>
              <a:t>      to_physical_layer(&amp;s); </a:t>
            </a:r>
          </a:p>
          <a:p>
            <a:pPr marL="0" indent="0">
              <a:lnSpc>
                <a:spcPct val="90000"/>
              </a:lnSpc>
              <a:buFont typeface="Wingdings" pitchFamily="2" charset="2"/>
              <a:buNone/>
            </a:pPr>
            <a:r>
              <a:rPr lang="en-US" altLang="zh-CN" sz="1800" noProof="1"/>
              <a:t>      start_timer(s.seq); </a:t>
            </a:r>
            <a:endParaRPr lang="zh-CN" altLang="en-US" sz="1800"/>
          </a:p>
        </p:txBody>
      </p:sp>
      <p:sp>
        <p:nvSpPr>
          <p:cNvPr id="6584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5843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p:txBody>
          <a:bodyPr/>
          <a:lstStyle/>
          <a:p>
            <a:r>
              <a:rPr lang="zh-CN" altLang="en-US"/>
              <a:t>协议</a:t>
            </a:r>
            <a:r>
              <a:rPr lang="en-US" altLang="zh-CN"/>
              <a:t>4</a:t>
            </a:r>
            <a:r>
              <a:rPr lang="en-US" altLang="zh-CN" sz="4000"/>
              <a:t> </a:t>
            </a:r>
            <a:br>
              <a:rPr lang="en-US" altLang="zh-CN" sz="4000"/>
            </a:br>
            <a:r>
              <a:rPr lang="zh-CN" altLang="en-US" sz="2800"/>
              <a:t>（</a:t>
            </a:r>
            <a:r>
              <a:rPr lang="en-US" altLang="zh-CN" sz="2800"/>
              <a:t>sender + </a:t>
            </a:r>
            <a:r>
              <a:rPr lang="en-US" altLang="en-US" sz="2800"/>
              <a:t>receiver</a:t>
            </a:r>
            <a:r>
              <a:rPr lang="zh-CN" altLang="en-US" sz="2800"/>
              <a:t>）</a:t>
            </a:r>
          </a:p>
        </p:txBody>
      </p:sp>
      <p:sp>
        <p:nvSpPr>
          <p:cNvPr id="669699" name="Rectangle 3"/>
          <p:cNvSpPr>
            <a:spLocks noGrp="1" noChangeArrowheads="1"/>
          </p:cNvSpPr>
          <p:nvPr>
            <p:ph type="body" idx="1"/>
          </p:nvPr>
        </p:nvSpPr>
        <p:spPr/>
        <p:txBody>
          <a:bodyPr/>
          <a:lstStyle/>
          <a:p>
            <a:pPr marL="0" indent="0">
              <a:lnSpc>
                <a:spcPct val="80000"/>
              </a:lnSpc>
              <a:buFont typeface="Wingdings" pitchFamily="2" charset="2"/>
              <a:buNone/>
            </a:pPr>
            <a:r>
              <a:rPr lang="en-US" altLang="zh-CN" sz="1800"/>
              <a:t>      </a:t>
            </a:r>
            <a:r>
              <a:rPr lang="en-US" altLang="zh-CN" sz="1800" noProof="1"/>
              <a:t>while (true) </a:t>
            </a:r>
            <a:endParaRPr lang="en-US" altLang="zh-CN" sz="1800"/>
          </a:p>
          <a:p>
            <a:pPr marL="0" indent="0">
              <a:lnSpc>
                <a:spcPct val="80000"/>
              </a:lnSpc>
              <a:buFont typeface="Wingdings" pitchFamily="2" charset="2"/>
              <a:buNone/>
            </a:pPr>
            <a:r>
              <a:rPr lang="en-US" altLang="zh-CN" sz="1800"/>
              <a:t>      </a:t>
            </a:r>
            <a:r>
              <a:rPr lang="en-US" altLang="zh-CN" sz="1800" noProof="1"/>
              <a:t>{      wait_for_event(&amp;event); </a:t>
            </a:r>
          </a:p>
          <a:p>
            <a:pPr marL="0" indent="0">
              <a:lnSpc>
                <a:spcPct val="80000"/>
              </a:lnSpc>
              <a:buFont typeface="Wingdings" pitchFamily="2" charset="2"/>
              <a:buNone/>
            </a:pPr>
            <a:r>
              <a:rPr lang="en-US" altLang="zh-CN" sz="1800" noProof="1"/>
              <a:t>       </a:t>
            </a:r>
            <a:r>
              <a:rPr lang="en-US" altLang="zh-CN" sz="1800"/>
              <a:t>      </a:t>
            </a:r>
            <a:r>
              <a:rPr lang="en-US" altLang="zh-CN" sz="1800" noProof="1"/>
              <a:t> if (event == frame_arrival) </a:t>
            </a:r>
            <a:endParaRPr lang="en-US" altLang="zh-CN" sz="1800"/>
          </a:p>
          <a:p>
            <a:pPr marL="0" indent="0">
              <a:lnSpc>
                <a:spcPct val="80000"/>
              </a:lnSpc>
              <a:buFont typeface="Wingdings" pitchFamily="2" charset="2"/>
              <a:buNone/>
            </a:pPr>
            <a:r>
              <a:rPr lang="en-US" altLang="zh-CN" sz="1800"/>
              <a:t>              </a:t>
            </a:r>
            <a:r>
              <a:rPr lang="en-US" altLang="zh-CN" sz="1800" noProof="1"/>
              <a:t>{      from_physical_layer(&amp;r); </a:t>
            </a:r>
          </a:p>
          <a:p>
            <a:pPr marL="0" indent="0">
              <a:lnSpc>
                <a:spcPct val="80000"/>
              </a:lnSpc>
              <a:buFont typeface="Wingdings" pitchFamily="2" charset="2"/>
              <a:buNone/>
            </a:pPr>
            <a:r>
              <a:rPr lang="en-US" altLang="zh-CN" sz="1800" noProof="1"/>
              <a:t>                </a:t>
            </a:r>
            <a:r>
              <a:rPr lang="en-US" altLang="zh-CN" sz="1800"/>
              <a:t>      </a:t>
            </a:r>
            <a:r>
              <a:rPr lang="en-US" altLang="zh-CN" sz="1800" noProof="1"/>
              <a:t>if (r.seq == frame_expected) </a:t>
            </a:r>
            <a:endParaRPr lang="en-US" altLang="zh-CN" sz="1800"/>
          </a:p>
          <a:p>
            <a:pPr marL="0" indent="0">
              <a:lnSpc>
                <a:spcPct val="80000"/>
              </a:lnSpc>
              <a:buFont typeface="Wingdings" pitchFamily="2" charset="2"/>
              <a:buNone/>
            </a:pPr>
            <a:r>
              <a:rPr lang="en-US" altLang="zh-CN" sz="1800"/>
              <a:t>                      </a:t>
            </a:r>
            <a:r>
              <a:rPr lang="en-US" altLang="zh-CN" sz="1800" noProof="1"/>
              <a:t>{    to_network_layer(&amp;r.info); </a:t>
            </a:r>
          </a:p>
          <a:p>
            <a:pPr marL="0" indent="0">
              <a:lnSpc>
                <a:spcPct val="80000"/>
              </a:lnSpc>
              <a:buFont typeface="Wingdings" pitchFamily="2" charset="2"/>
              <a:buNone/>
            </a:pPr>
            <a:r>
              <a:rPr lang="en-US" altLang="zh-CN" sz="1800" noProof="1"/>
              <a:t>                       </a:t>
            </a:r>
            <a:r>
              <a:rPr lang="en-US" altLang="zh-CN" sz="1800"/>
              <a:t>    </a:t>
            </a:r>
            <a:r>
              <a:rPr lang="en-US" altLang="zh-CN" sz="1800" noProof="1"/>
              <a:t> inc(frame_expected);           }</a:t>
            </a:r>
          </a:p>
          <a:p>
            <a:pPr marL="0" indent="0">
              <a:lnSpc>
                <a:spcPct val="80000"/>
              </a:lnSpc>
              <a:buFont typeface="Wingdings" pitchFamily="2" charset="2"/>
              <a:buNone/>
            </a:pPr>
            <a:r>
              <a:rPr lang="en-US" altLang="zh-CN" sz="1800" noProof="1"/>
              <a:t>               </a:t>
            </a:r>
            <a:r>
              <a:rPr lang="en-US" altLang="zh-CN" sz="1800"/>
              <a:t>      </a:t>
            </a:r>
            <a:r>
              <a:rPr lang="en-US" altLang="zh-CN" sz="1800" noProof="1"/>
              <a:t> if (r.ack == next_frame_to_send) </a:t>
            </a:r>
            <a:endParaRPr lang="en-US" altLang="zh-CN" sz="1800"/>
          </a:p>
          <a:p>
            <a:pPr marL="0" indent="0">
              <a:lnSpc>
                <a:spcPct val="80000"/>
              </a:lnSpc>
              <a:buFont typeface="Wingdings" pitchFamily="2" charset="2"/>
              <a:buNone/>
            </a:pPr>
            <a:r>
              <a:rPr lang="en-US" altLang="zh-CN" sz="1800"/>
              <a:t>                      </a:t>
            </a:r>
            <a:r>
              <a:rPr lang="en-US" altLang="zh-CN" sz="1800" noProof="1"/>
              <a:t>{   </a:t>
            </a:r>
            <a:r>
              <a:rPr lang="en-US" altLang="zh-CN" sz="1800"/>
              <a:t> </a:t>
            </a:r>
            <a:r>
              <a:rPr lang="en-US" altLang="zh-CN" sz="1800" noProof="1"/>
              <a:t>stop_timer(r.ack); </a:t>
            </a:r>
          </a:p>
          <a:p>
            <a:pPr marL="0" indent="0">
              <a:lnSpc>
                <a:spcPct val="80000"/>
              </a:lnSpc>
              <a:buFont typeface="Wingdings" pitchFamily="2" charset="2"/>
              <a:buNone/>
            </a:pPr>
            <a:r>
              <a:rPr lang="en-US" altLang="zh-CN" sz="1800" noProof="1"/>
              <a:t>                        </a:t>
            </a:r>
            <a:r>
              <a:rPr lang="en-US" altLang="zh-CN" sz="1800"/>
              <a:t>    </a:t>
            </a:r>
            <a:r>
              <a:rPr lang="en-US" altLang="zh-CN" sz="1800" noProof="1"/>
              <a:t>from_network_layer(&amp;buffer);</a:t>
            </a:r>
          </a:p>
          <a:p>
            <a:pPr marL="0" indent="0">
              <a:lnSpc>
                <a:spcPct val="80000"/>
              </a:lnSpc>
              <a:buFont typeface="Wingdings" pitchFamily="2" charset="2"/>
              <a:buNone/>
            </a:pPr>
            <a:r>
              <a:rPr lang="en-US" altLang="zh-CN" sz="1800" noProof="1"/>
              <a:t>                        </a:t>
            </a:r>
            <a:r>
              <a:rPr lang="en-US" altLang="zh-CN" sz="1800"/>
              <a:t>    </a:t>
            </a:r>
            <a:r>
              <a:rPr lang="en-US" altLang="zh-CN" sz="1800" noProof="1"/>
              <a:t>inc(next_frame_to_send);    }        }</a:t>
            </a:r>
          </a:p>
          <a:p>
            <a:pPr marL="0" indent="0">
              <a:lnSpc>
                <a:spcPct val="80000"/>
              </a:lnSpc>
              <a:buFont typeface="Wingdings" pitchFamily="2" charset="2"/>
              <a:buNone/>
            </a:pPr>
            <a:r>
              <a:rPr lang="en-US" altLang="zh-CN" sz="1800" noProof="1"/>
              <a:t>        </a:t>
            </a:r>
            <a:r>
              <a:rPr lang="en-US" altLang="zh-CN" sz="1800"/>
              <a:t>      </a:t>
            </a:r>
            <a:r>
              <a:rPr lang="en-US" altLang="zh-CN" sz="1800" noProof="1"/>
              <a:t>s.info = buffer; </a:t>
            </a:r>
          </a:p>
          <a:p>
            <a:pPr marL="0" indent="0">
              <a:lnSpc>
                <a:spcPct val="80000"/>
              </a:lnSpc>
              <a:buFont typeface="Wingdings" pitchFamily="2" charset="2"/>
              <a:buNone/>
            </a:pPr>
            <a:r>
              <a:rPr lang="en-US" altLang="zh-CN" sz="1800" noProof="1"/>
              <a:t>        </a:t>
            </a:r>
            <a:r>
              <a:rPr lang="en-US" altLang="zh-CN" sz="1800"/>
              <a:t>      </a:t>
            </a:r>
            <a:r>
              <a:rPr lang="en-US" altLang="zh-CN" sz="1800" noProof="1"/>
              <a:t>s.seq = next_frame_to_send; </a:t>
            </a:r>
          </a:p>
          <a:p>
            <a:pPr marL="0" indent="0">
              <a:lnSpc>
                <a:spcPct val="80000"/>
              </a:lnSpc>
              <a:buFont typeface="Wingdings" pitchFamily="2" charset="2"/>
              <a:buNone/>
            </a:pPr>
            <a:r>
              <a:rPr lang="en-US" altLang="zh-CN" sz="1800" noProof="1"/>
              <a:t>        </a:t>
            </a:r>
            <a:r>
              <a:rPr lang="en-US" altLang="zh-CN" sz="1800"/>
              <a:t>      </a:t>
            </a:r>
            <a:r>
              <a:rPr lang="en-US" altLang="zh-CN" sz="1800" noProof="1"/>
              <a:t>s.ack = 1 - frame_expected; </a:t>
            </a:r>
          </a:p>
          <a:p>
            <a:pPr marL="0" indent="0">
              <a:lnSpc>
                <a:spcPct val="80000"/>
              </a:lnSpc>
              <a:buFont typeface="Wingdings" pitchFamily="2" charset="2"/>
              <a:buNone/>
            </a:pPr>
            <a:r>
              <a:rPr lang="en-US" altLang="zh-CN" sz="1800" noProof="1"/>
              <a:t>        </a:t>
            </a:r>
            <a:r>
              <a:rPr lang="en-US" altLang="zh-CN" sz="1800"/>
              <a:t>      </a:t>
            </a:r>
            <a:r>
              <a:rPr lang="en-US" altLang="zh-CN" sz="1800" noProof="1"/>
              <a:t>to_physical_layer(&amp;s); </a:t>
            </a:r>
          </a:p>
          <a:p>
            <a:pPr marL="0" indent="0">
              <a:lnSpc>
                <a:spcPct val="80000"/>
              </a:lnSpc>
              <a:buFont typeface="Wingdings" pitchFamily="2" charset="2"/>
              <a:buNone/>
            </a:pPr>
            <a:r>
              <a:rPr lang="en-US" altLang="zh-CN" sz="1800" noProof="1"/>
              <a:t>        </a:t>
            </a:r>
            <a:r>
              <a:rPr lang="en-US" altLang="zh-CN" sz="1800"/>
              <a:t>      </a:t>
            </a:r>
            <a:r>
              <a:rPr lang="en-US" altLang="zh-CN" sz="1800" noProof="1"/>
              <a:t>start_timer(s.seq);</a:t>
            </a:r>
            <a:r>
              <a:rPr lang="en-US" altLang="zh-CN" sz="1800"/>
              <a:t>     </a:t>
            </a:r>
            <a:r>
              <a:rPr lang="en-US" altLang="zh-CN" sz="1800" noProof="1"/>
              <a:t>}</a:t>
            </a:r>
            <a:endParaRPr lang="zh-CN" altLang="en-US" sz="1800"/>
          </a:p>
        </p:txBody>
      </p:sp>
      <p:sp>
        <p:nvSpPr>
          <p:cNvPr id="66970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6970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nvPr>
        </p:nvSpPr>
        <p:spPr/>
        <p:txBody>
          <a:bodyPr/>
          <a:lstStyle/>
          <a:p>
            <a:r>
              <a:rPr lang="zh-CN" altLang="en-US"/>
              <a:t>引  入</a:t>
            </a:r>
          </a:p>
        </p:txBody>
      </p:sp>
      <p:sp>
        <p:nvSpPr>
          <p:cNvPr id="620547" name="AutoShape 3"/>
          <p:cNvSpPr>
            <a:spLocks noGrp="1" noChangeAspect="1" noChangeArrowheads="1"/>
          </p:cNvSpPr>
          <p:nvPr>
            <p:ph type="body" idx="1"/>
          </p:nvPr>
        </p:nvSpPr>
        <p:spPr>
          <a:xfrm>
            <a:off x="809625" y="1773238"/>
            <a:ext cx="7958138" cy="4536082"/>
          </a:xfrm>
        </p:spPr>
        <p:txBody>
          <a:bodyPr/>
          <a:lstStyle/>
          <a:p>
            <a:pPr>
              <a:lnSpc>
                <a:spcPct val="115000"/>
              </a:lnSpc>
            </a:pPr>
            <a:r>
              <a:rPr lang="zh-CN" altLang="en-US" sz="2400" dirty="0">
                <a:solidFill>
                  <a:srgbClr val="FF0000"/>
                </a:solidFill>
              </a:rPr>
              <a:t>协议</a:t>
            </a:r>
            <a:r>
              <a:rPr lang="en-US" altLang="zh-CN" sz="2400" dirty="0">
                <a:solidFill>
                  <a:srgbClr val="FF0000"/>
                </a:solidFill>
              </a:rPr>
              <a:t>4</a:t>
            </a:r>
            <a:r>
              <a:rPr lang="zh-CN" altLang="en-US" sz="2400" dirty="0">
                <a:solidFill>
                  <a:srgbClr val="FF0000"/>
                </a:solidFill>
              </a:rPr>
              <a:t>存在的</a:t>
            </a:r>
            <a:r>
              <a:rPr lang="zh-CN" altLang="en-US" sz="2400" dirty="0" smtClean="0">
                <a:solidFill>
                  <a:srgbClr val="FF0000"/>
                </a:solidFill>
              </a:rPr>
              <a:t>问题：</a:t>
            </a:r>
            <a:r>
              <a:rPr lang="zh-CN" altLang="en-US" sz="2400" dirty="0" smtClean="0">
                <a:solidFill>
                  <a:schemeClr val="tx1"/>
                </a:solidFill>
              </a:rPr>
              <a:t>链路</a:t>
            </a:r>
            <a:r>
              <a:rPr lang="zh-CN" altLang="en-US" sz="2400" dirty="0" smtClean="0"/>
              <a:t>利用率</a:t>
            </a:r>
            <a:r>
              <a:rPr lang="zh-CN" altLang="en-US" sz="2400" dirty="0"/>
              <a:t>太低</a:t>
            </a:r>
          </a:p>
          <a:p>
            <a:pPr>
              <a:lnSpc>
                <a:spcPct val="115000"/>
              </a:lnSpc>
            </a:pPr>
            <a:r>
              <a:rPr lang="zh-CN" altLang="en-US" sz="2400" dirty="0">
                <a:solidFill>
                  <a:srgbClr val="FF0000"/>
                </a:solidFill>
              </a:rPr>
              <a:t>问题的解决</a:t>
            </a:r>
          </a:p>
          <a:p>
            <a:pPr lvl="1">
              <a:lnSpc>
                <a:spcPct val="115000"/>
              </a:lnSpc>
            </a:pPr>
            <a:r>
              <a:rPr lang="zh-CN" altLang="en-US" sz="2400" dirty="0">
                <a:solidFill>
                  <a:srgbClr val="0000FF"/>
                </a:solidFill>
              </a:rPr>
              <a:t>管道化技术</a:t>
            </a:r>
            <a:r>
              <a:rPr lang="zh-CN" altLang="en-US" sz="2400" dirty="0"/>
              <a:t>：发送方在发送窗口允许的范围内，不必等待确认帧的返回就连续发送多帧（即：发送窗口</a:t>
            </a:r>
            <a:r>
              <a:rPr lang="en-US" altLang="zh-CN" sz="2400" dirty="0"/>
              <a:t>&gt;1</a:t>
            </a:r>
            <a:r>
              <a:rPr lang="zh-CN" altLang="en-US" sz="2400" dirty="0" smtClean="0"/>
              <a:t>）</a:t>
            </a:r>
            <a:endParaRPr lang="en-US" altLang="zh-CN" sz="2400" dirty="0" smtClean="0"/>
          </a:p>
          <a:p>
            <a:pPr>
              <a:lnSpc>
                <a:spcPct val="115000"/>
              </a:lnSpc>
            </a:pPr>
            <a:r>
              <a:rPr lang="zh-CN" altLang="en-US" sz="2400" dirty="0" smtClean="0">
                <a:solidFill>
                  <a:srgbClr val="FF0000"/>
                </a:solidFill>
              </a:rPr>
              <a:t>如何</a:t>
            </a:r>
            <a:r>
              <a:rPr lang="zh-CN" altLang="en-US" sz="2400" dirty="0" smtClean="0">
                <a:solidFill>
                  <a:srgbClr val="FF0000"/>
                </a:solidFill>
              </a:rPr>
              <a:t>恢复错误？</a:t>
            </a:r>
          </a:p>
          <a:p>
            <a:pPr lvl="1">
              <a:lnSpc>
                <a:spcPct val="115000"/>
              </a:lnSpc>
            </a:pPr>
            <a:r>
              <a:rPr lang="zh-CN" altLang="en-US" sz="2400" dirty="0" smtClean="0"/>
              <a:t>后退</a:t>
            </a:r>
            <a:r>
              <a:rPr lang="en-US" altLang="zh-CN" sz="2400" dirty="0"/>
              <a:t>n</a:t>
            </a:r>
            <a:r>
              <a:rPr lang="zh-CN" altLang="en-US" sz="2400" dirty="0"/>
              <a:t>帧（</a:t>
            </a:r>
            <a:r>
              <a:rPr lang="en-US" altLang="zh-CN" sz="2400" dirty="0"/>
              <a:t>go back n</a:t>
            </a:r>
            <a:r>
              <a:rPr lang="zh-CN" altLang="en-US" sz="2400" dirty="0"/>
              <a:t>）</a:t>
            </a:r>
          </a:p>
          <a:p>
            <a:pPr lvl="1">
              <a:lnSpc>
                <a:spcPct val="115000"/>
              </a:lnSpc>
            </a:pPr>
            <a:r>
              <a:rPr lang="zh-CN" altLang="en-US" sz="2400" dirty="0"/>
              <a:t>选择重发（</a:t>
            </a:r>
            <a:r>
              <a:rPr lang="en-US" altLang="zh-CN" sz="2400" dirty="0"/>
              <a:t>selective repeat</a:t>
            </a:r>
            <a:r>
              <a:rPr lang="zh-CN" altLang="en-US" sz="2400" dirty="0"/>
              <a:t>）</a:t>
            </a:r>
          </a:p>
        </p:txBody>
      </p:sp>
      <p:sp>
        <p:nvSpPr>
          <p:cNvPr id="62054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2055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11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p:txBody>
          <a:bodyPr/>
          <a:lstStyle/>
          <a:p>
            <a:r>
              <a:rPr lang="zh-CN" altLang="en-US"/>
              <a:t>后退</a:t>
            </a:r>
            <a:r>
              <a:rPr lang="en-US" altLang="zh-CN"/>
              <a:t>n</a:t>
            </a:r>
            <a:r>
              <a:rPr lang="zh-CN" altLang="en-US"/>
              <a:t>帧</a:t>
            </a:r>
          </a:p>
        </p:txBody>
      </p:sp>
      <p:sp>
        <p:nvSpPr>
          <p:cNvPr id="6727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72773" name="Oval 5"/>
          <p:cNvSpPr>
            <a:spLocks noChangeArrowheads="1"/>
          </p:cNvSpPr>
          <p:nvPr/>
        </p:nvSpPr>
        <p:spPr bwMode="auto">
          <a:xfrm>
            <a:off x="755650"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0</a:t>
            </a:r>
          </a:p>
        </p:txBody>
      </p:sp>
      <p:sp>
        <p:nvSpPr>
          <p:cNvPr id="672774" name="Oval 6"/>
          <p:cNvSpPr>
            <a:spLocks noChangeArrowheads="1"/>
          </p:cNvSpPr>
          <p:nvPr/>
        </p:nvSpPr>
        <p:spPr bwMode="auto">
          <a:xfrm>
            <a:off x="1331913"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1</a:t>
            </a:r>
          </a:p>
        </p:txBody>
      </p:sp>
      <p:sp>
        <p:nvSpPr>
          <p:cNvPr id="672775" name="Oval 7"/>
          <p:cNvSpPr>
            <a:spLocks noChangeArrowheads="1"/>
          </p:cNvSpPr>
          <p:nvPr/>
        </p:nvSpPr>
        <p:spPr bwMode="auto">
          <a:xfrm>
            <a:off x="1908175"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2</a:t>
            </a:r>
          </a:p>
        </p:txBody>
      </p:sp>
      <p:sp>
        <p:nvSpPr>
          <p:cNvPr id="672776" name="Oval 8"/>
          <p:cNvSpPr>
            <a:spLocks noChangeArrowheads="1"/>
          </p:cNvSpPr>
          <p:nvPr/>
        </p:nvSpPr>
        <p:spPr bwMode="auto">
          <a:xfrm>
            <a:off x="2484438"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3</a:t>
            </a:r>
          </a:p>
        </p:txBody>
      </p:sp>
      <p:sp>
        <p:nvSpPr>
          <p:cNvPr id="672777" name="Oval 9"/>
          <p:cNvSpPr>
            <a:spLocks noChangeArrowheads="1"/>
          </p:cNvSpPr>
          <p:nvPr/>
        </p:nvSpPr>
        <p:spPr bwMode="auto">
          <a:xfrm>
            <a:off x="3060700"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4</a:t>
            </a:r>
          </a:p>
        </p:txBody>
      </p:sp>
      <p:sp>
        <p:nvSpPr>
          <p:cNvPr id="672778" name="Oval 10"/>
          <p:cNvSpPr>
            <a:spLocks noChangeArrowheads="1"/>
          </p:cNvSpPr>
          <p:nvPr/>
        </p:nvSpPr>
        <p:spPr bwMode="auto">
          <a:xfrm>
            <a:off x="3636963"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5</a:t>
            </a:r>
          </a:p>
        </p:txBody>
      </p:sp>
      <p:sp>
        <p:nvSpPr>
          <p:cNvPr id="672779" name="Oval 11"/>
          <p:cNvSpPr>
            <a:spLocks noChangeArrowheads="1"/>
          </p:cNvSpPr>
          <p:nvPr/>
        </p:nvSpPr>
        <p:spPr bwMode="auto">
          <a:xfrm>
            <a:off x="4213225"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6</a:t>
            </a:r>
          </a:p>
        </p:txBody>
      </p:sp>
      <p:sp>
        <p:nvSpPr>
          <p:cNvPr id="672780" name="Oval 12"/>
          <p:cNvSpPr>
            <a:spLocks noChangeArrowheads="1"/>
          </p:cNvSpPr>
          <p:nvPr/>
        </p:nvSpPr>
        <p:spPr bwMode="auto">
          <a:xfrm>
            <a:off x="4789488"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7</a:t>
            </a:r>
          </a:p>
        </p:txBody>
      </p:sp>
      <p:sp>
        <p:nvSpPr>
          <p:cNvPr id="672781" name="Oval 13"/>
          <p:cNvSpPr>
            <a:spLocks noChangeArrowheads="1"/>
          </p:cNvSpPr>
          <p:nvPr/>
        </p:nvSpPr>
        <p:spPr bwMode="auto">
          <a:xfrm>
            <a:off x="5364163"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8</a:t>
            </a:r>
          </a:p>
        </p:txBody>
      </p:sp>
      <p:sp>
        <p:nvSpPr>
          <p:cNvPr id="672782" name="Oval 14"/>
          <p:cNvSpPr>
            <a:spLocks noChangeArrowheads="1"/>
          </p:cNvSpPr>
          <p:nvPr/>
        </p:nvSpPr>
        <p:spPr bwMode="auto">
          <a:xfrm>
            <a:off x="5940425" y="2343150"/>
            <a:ext cx="468313" cy="450850"/>
          </a:xfrm>
          <a:prstGeom prst="ellipse">
            <a:avLst/>
          </a:prstGeom>
          <a:solidFill>
            <a:srgbClr val="FFFF00"/>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2</a:t>
            </a:r>
          </a:p>
        </p:txBody>
      </p:sp>
      <p:sp>
        <p:nvSpPr>
          <p:cNvPr id="672783" name="Oval 15"/>
          <p:cNvSpPr>
            <a:spLocks noChangeArrowheads="1"/>
          </p:cNvSpPr>
          <p:nvPr/>
        </p:nvSpPr>
        <p:spPr bwMode="auto">
          <a:xfrm>
            <a:off x="6516688" y="2343150"/>
            <a:ext cx="468312" cy="450850"/>
          </a:xfrm>
          <a:prstGeom prst="ellipse">
            <a:avLst/>
          </a:prstGeom>
          <a:solidFill>
            <a:srgbClr val="FFFF00"/>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3</a:t>
            </a:r>
          </a:p>
        </p:txBody>
      </p:sp>
      <p:sp>
        <p:nvSpPr>
          <p:cNvPr id="672784" name="Oval 16"/>
          <p:cNvSpPr>
            <a:spLocks noChangeArrowheads="1"/>
          </p:cNvSpPr>
          <p:nvPr/>
        </p:nvSpPr>
        <p:spPr bwMode="auto">
          <a:xfrm>
            <a:off x="7092950" y="2343150"/>
            <a:ext cx="468313" cy="450850"/>
          </a:xfrm>
          <a:prstGeom prst="ellipse">
            <a:avLst/>
          </a:prstGeom>
          <a:solidFill>
            <a:srgbClr val="FFFF00"/>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4</a:t>
            </a:r>
          </a:p>
        </p:txBody>
      </p:sp>
      <p:sp>
        <p:nvSpPr>
          <p:cNvPr id="672785" name="Oval 17"/>
          <p:cNvSpPr>
            <a:spLocks noChangeArrowheads="1"/>
          </p:cNvSpPr>
          <p:nvPr/>
        </p:nvSpPr>
        <p:spPr bwMode="auto">
          <a:xfrm>
            <a:off x="7669213" y="2343150"/>
            <a:ext cx="468312" cy="450850"/>
          </a:xfrm>
          <a:prstGeom prst="ellipse">
            <a:avLst/>
          </a:prstGeom>
          <a:solidFill>
            <a:srgbClr val="FFFF00"/>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5</a:t>
            </a:r>
          </a:p>
        </p:txBody>
      </p:sp>
      <p:sp>
        <p:nvSpPr>
          <p:cNvPr id="672786" name="Oval 18"/>
          <p:cNvSpPr>
            <a:spLocks noChangeArrowheads="1"/>
          </p:cNvSpPr>
          <p:nvPr/>
        </p:nvSpPr>
        <p:spPr bwMode="auto">
          <a:xfrm>
            <a:off x="8245475" y="2343150"/>
            <a:ext cx="468313" cy="450850"/>
          </a:xfrm>
          <a:prstGeom prst="ellipse">
            <a:avLst/>
          </a:prstGeom>
          <a:solidFill>
            <a:srgbClr val="FFFF00"/>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6</a:t>
            </a:r>
          </a:p>
        </p:txBody>
      </p:sp>
      <p:sp>
        <p:nvSpPr>
          <p:cNvPr id="672787" name="Oval 19"/>
          <p:cNvSpPr>
            <a:spLocks noChangeArrowheads="1"/>
          </p:cNvSpPr>
          <p:nvPr/>
        </p:nvSpPr>
        <p:spPr bwMode="auto">
          <a:xfrm>
            <a:off x="1547813" y="4791075"/>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0</a:t>
            </a:r>
          </a:p>
        </p:txBody>
      </p:sp>
      <p:sp>
        <p:nvSpPr>
          <p:cNvPr id="672788" name="Oval 20"/>
          <p:cNvSpPr>
            <a:spLocks noChangeArrowheads="1"/>
          </p:cNvSpPr>
          <p:nvPr/>
        </p:nvSpPr>
        <p:spPr bwMode="auto">
          <a:xfrm>
            <a:off x="2124075" y="4791075"/>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1</a:t>
            </a:r>
          </a:p>
        </p:txBody>
      </p:sp>
      <p:sp>
        <p:nvSpPr>
          <p:cNvPr id="672789" name="Oval 21"/>
          <p:cNvSpPr>
            <a:spLocks noChangeArrowheads="1"/>
          </p:cNvSpPr>
          <p:nvPr/>
        </p:nvSpPr>
        <p:spPr bwMode="auto">
          <a:xfrm>
            <a:off x="2700338" y="4791075"/>
            <a:ext cx="468312" cy="450850"/>
          </a:xfrm>
          <a:prstGeom prst="ellipse">
            <a:avLst/>
          </a:prstGeom>
          <a:solidFill>
            <a:srgbClr val="FF0000"/>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solidFill>
                  <a:schemeClr val="bg1"/>
                </a:solidFill>
                <a:latin typeface="华文新魏" pitchFamily="2" charset="-122"/>
                <a:ea typeface="华文新魏" pitchFamily="2" charset="-122"/>
              </a:rPr>
              <a:t>E</a:t>
            </a:r>
          </a:p>
        </p:txBody>
      </p:sp>
      <p:sp>
        <p:nvSpPr>
          <p:cNvPr id="672790" name="Oval 22"/>
          <p:cNvSpPr>
            <a:spLocks noChangeArrowheads="1"/>
          </p:cNvSpPr>
          <p:nvPr/>
        </p:nvSpPr>
        <p:spPr bwMode="auto">
          <a:xfrm>
            <a:off x="3276600" y="4791075"/>
            <a:ext cx="468313" cy="45085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D</a:t>
            </a:r>
          </a:p>
        </p:txBody>
      </p:sp>
      <p:sp>
        <p:nvSpPr>
          <p:cNvPr id="672791" name="Oval 23"/>
          <p:cNvSpPr>
            <a:spLocks noChangeArrowheads="1"/>
          </p:cNvSpPr>
          <p:nvPr/>
        </p:nvSpPr>
        <p:spPr bwMode="auto">
          <a:xfrm>
            <a:off x="3852863" y="4791075"/>
            <a:ext cx="468312" cy="45085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D</a:t>
            </a:r>
          </a:p>
        </p:txBody>
      </p:sp>
      <p:sp>
        <p:nvSpPr>
          <p:cNvPr id="672792" name="Oval 24"/>
          <p:cNvSpPr>
            <a:spLocks noChangeArrowheads="1"/>
          </p:cNvSpPr>
          <p:nvPr/>
        </p:nvSpPr>
        <p:spPr bwMode="auto">
          <a:xfrm>
            <a:off x="4429125" y="4791075"/>
            <a:ext cx="468313" cy="45085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D</a:t>
            </a:r>
          </a:p>
        </p:txBody>
      </p:sp>
      <p:sp>
        <p:nvSpPr>
          <p:cNvPr id="672793" name="Oval 25"/>
          <p:cNvSpPr>
            <a:spLocks noChangeArrowheads="1"/>
          </p:cNvSpPr>
          <p:nvPr/>
        </p:nvSpPr>
        <p:spPr bwMode="auto">
          <a:xfrm>
            <a:off x="5005388" y="4795838"/>
            <a:ext cx="468312" cy="45085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D</a:t>
            </a:r>
          </a:p>
        </p:txBody>
      </p:sp>
      <p:sp>
        <p:nvSpPr>
          <p:cNvPr id="672794" name="Oval 26"/>
          <p:cNvSpPr>
            <a:spLocks noChangeArrowheads="1"/>
          </p:cNvSpPr>
          <p:nvPr/>
        </p:nvSpPr>
        <p:spPr bwMode="auto">
          <a:xfrm>
            <a:off x="5581650" y="4791075"/>
            <a:ext cx="468313" cy="45085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D</a:t>
            </a:r>
          </a:p>
        </p:txBody>
      </p:sp>
      <p:sp>
        <p:nvSpPr>
          <p:cNvPr id="672795" name="Oval 27"/>
          <p:cNvSpPr>
            <a:spLocks noChangeArrowheads="1"/>
          </p:cNvSpPr>
          <p:nvPr/>
        </p:nvSpPr>
        <p:spPr bwMode="auto">
          <a:xfrm>
            <a:off x="6156325" y="4791075"/>
            <a:ext cx="468313" cy="45085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D</a:t>
            </a:r>
          </a:p>
        </p:txBody>
      </p:sp>
      <p:sp>
        <p:nvSpPr>
          <p:cNvPr id="672796" name="Oval 28"/>
          <p:cNvSpPr>
            <a:spLocks noChangeArrowheads="1"/>
          </p:cNvSpPr>
          <p:nvPr/>
        </p:nvSpPr>
        <p:spPr bwMode="auto">
          <a:xfrm>
            <a:off x="6732588" y="4791075"/>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2</a:t>
            </a:r>
          </a:p>
        </p:txBody>
      </p:sp>
      <p:sp>
        <p:nvSpPr>
          <p:cNvPr id="672797" name="Oval 29"/>
          <p:cNvSpPr>
            <a:spLocks noChangeArrowheads="1"/>
          </p:cNvSpPr>
          <p:nvPr/>
        </p:nvSpPr>
        <p:spPr bwMode="auto">
          <a:xfrm>
            <a:off x="7308850" y="4791075"/>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3</a:t>
            </a:r>
          </a:p>
        </p:txBody>
      </p:sp>
      <p:sp>
        <p:nvSpPr>
          <p:cNvPr id="672798" name="Oval 30"/>
          <p:cNvSpPr>
            <a:spLocks noChangeArrowheads="1"/>
          </p:cNvSpPr>
          <p:nvPr/>
        </p:nvSpPr>
        <p:spPr bwMode="auto">
          <a:xfrm>
            <a:off x="7885113" y="4791075"/>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4</a:t>
            </a:r>
          </a:p>
        </p:txBody>
      </p:sp>
      <p:sp>
        <p:nvSpPr>
          <p:cNvPr id="672799" name="Oval 31"/>
          <p:cNvSpPr>
            <a:spLocks noChangeArrowheads="1"/>
          </p:cNvSpPr>
          <p:nvPr/>
        </p:nvSpPr>
        <p:spPr bwMode="auto">
          <a:xfrm>
            <a:off x="8461375" y="4791075"/>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5</a:t>
            </a:r>
          </a:p>
        </p:txBody>
      </p:sp>
      <p:sp>
        <p:nvSpPr>
          <p:cNvPr id="672801" name="Line 33"/>
          <p:cNvSpPr>
            <a:spLocks noChangeShapeType="1"/>
          </p:cNvSpPr>
          <p:nvPr/>
        </p:nvSpPr>
        <p:spPr bwMode="auto">
          <a:xfrm>
            <a:off x="1044575"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02" name="Line 34"/>
          <p:cNvSpPr>
            <a:spLocks noChangeShapeType="1"/>
          </p:cNvSpPr>
          <p:nvPr/>
        </p:nvSpPr>
        <p:spPr bwMode="auto">
          <a:xfrm>
            <a:off x="1620838"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03" name="Line 35"/>
          <p:cNvSpPr>
            <a:spLocks noChangeShapeType="1"/>
          </p:cNvSpPr>
          <p:nvPr/>
        </p:nvSpPr>
        <p:spPr bwMode="auto">
          <a:xfrm>
            <a:off x="2197100"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04" name="Line 36"/>
          <p:cNvSpPr>
            <a:spLocks noChangeShapeType="1"/>
          </p:cNvSpPr>
          <p:nvPr/>
        </p:nvSpPr>
        <p:spPr bwMode="auto">
          <a:xfrm>
            <a:off x="2771775"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05" name="Line 37"/>
          <p:cNvSpPr>
            <a:spLocks noChangeShapeType="1"/>
          </p:cNvSpPr>
          <p:nvPr/>
        </p:nvSpPr>
        <p:spPr bwMode="auto">
          <a:xfrm>
            <a:off x="3348038"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06" name="Line 38"/>
          <p:cNvSpPr>
            <a:spLocks noChangeShapeType="1"/>
          </p:cNvSpPr>
          <p:nvPr/>
        </p:nvSpPr>
        <p:spPr bwMode="auto">
          <a:xfrm>
            <a:off x="3924300"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07" name="Line 39"/>
          <p:cNvSpPr>
            <a:spLocks noChangeShapeType="1"/>
          </p:cNvSpPr>
          <p:nvPr/>
        </p:nvSpPr>
        <p:spPr bwMode="auto">
          <a:xfrm>
            <a:off x="4500563"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08" name="Line 40"/>
          <p:cNvSpPr>
            <a:spLocks noChangeShapeType="1"/>
          </p:cNvSpPr>
          <p:nvPr/>
        </p:nvSpPr>
        <p:spPr bwMode="auto">
          <a:xfrm>
            <a:off x="5076825"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09" name="Line 41"/>
          <p:cNvSpPr>
            <a:spLocks noChangeShapeType="1"/>
          </p:cNvSpPr>
          <p:nvPr/>
        </p:nvSpPr>
        <p:spPr bwMode="auto">
          <a:xfrm>
            <a:off x="5653088"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0" name="Line 42"/>
          <p:cNvSpPr>
            <a:spLocks noChangeShapeType="1"/>
          </p:cNvSpPr>
          <p:nvPr/>
        </p:nvSpPr>
        <p:spPr bwMode="auto">
          <a:xfrm>
            <a:off x="6229350"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1" name="Line 43"/>
          <p:cNvSpPr>
            <a:spLocks noChangeShapeType="1"/>
          </p:cNvSpPr>
          <p:nvPr/>
        </p:nvSpPr>
        <p:spPr bwMode="auto">
          <a:xfrm>
            <a:off x="6805613"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2" name="Line 44"/>
          <p:cNvSpPr>
            <a:spLocks noChangeShapeType="1"/>
          </p:cNvSpPr>
          <p:nvPr/>
        </p:nvSpPr>
        <p:spPr bwMode="auto">
          <a:xfrm>
            <a:off x="7380288"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3" name="Line 45"/>
          <p:cNvSpPr>
            <a:spLocks noChangeShapeType="1"/>
          </p:cNvSpPr>
          <p:nvPr/>
        </p:nvSpPr>
        <p:spPr bwMode="auto">
          <a:xfrm>
            <a:off x="7956550"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4" name="Line 46"/>
          <p:cNvSpPr>
            <a:spLocks noChangeShapeType="1"/>
          </p:cNvSpPr>
          <p:nvPr/>
        </p:nvSpPr>
        <p:spPr bwMode="auto">
          <a:xfrm flipV="1">
            <a:off x="1836738" y="2779713"/>
            <a:ext cx="792162"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5" name="Line 47"/>
          <p:cNvSpPr>
            <a:spLocks noChangeShapeType="1"/>
          </p:cNvSpPr>
          <p:nvPr/>
        </p:nvSpPr>
        <p:spPr bwMode="auto">
          <a:xfrm flipV="1">
            <a:off x="2413000" y="2779713"/>
            <a:ext cx="792163"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6" name="Line 48"/>
          <p:cNvSpPr>
            <a:spLocks noChangeShapeType="1"/>
          </p:cNvSpPr>
          <p:nvPr/>
        </p:nvSpPr>
        <p:spPr bwMode="auto">
          <a:xfrm flipV="1">
            <a:off x="7021513" y="2779713"/>
            <a:ext cx="792162"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7" name="Line 49"/>
          <p:cNvSpPr>
            <a:spLocks noChangeShapeType="1"/>
          </p:cNvSpPr>
          <p:nvPr/>
        </p:nvSpPr>
        <p:spPr bwMode="auto">
          <a:xfrm flipV="1">
            <a:off x="7596188" y="2779713"/>
            <a:ext cx="792162"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8" name="Line 50"/>
          <p:cNvSpPr>
            <a:spLocks noChangeShapeType="1"/>
          </p:cNvSpPr>
          <p:nvPr/>
        </p:nvSpPr>
        <p:spPr bwMode="auto">
          <a:xfrm flipV="1">
            <a:off x="8172450" y="2779713"/>
            <a:ext cx="792163"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19" name="Text Box 51"/>
          <p:cNvSpPr txBox="1">
            <a:spLocks noChangeArrowheads="1"/>
          </p:cNvSpPr>
          <p:nvPr/>
        </p:nvSpPr>
        <p:spPr bwMode="auto">
          <a:xfrm rot="17473268">
            <a:off x="1745457"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Ack0</a:t>
            </a:r>
          </a:p>
        </p:txBody>
      </p:sp>
      <p:sp>
        <p:nvSpPr>
          <p:cNvPr id="672820" name="Text Box 52"/>
          <p:cNvSpPr txBox="1">
            <a:spLocks noChangeArrowheads="1"/>
          </p:cNvSpPr>
          <p:nvPr/>
        </p:nvSpPr>
        <p:spPr bwMode="auto">
          <a:xfrm rot="17473268">
            <a:off x="2321719"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Ack1</a:t>
            </a:r>
          </a:p>
        </p:txBody>
      </p:sp>
      <p:sp>
        <p:nvSpPr>
          <p:cNvPr id="672821" name="Text Box 53"/>
          <p:cNvSpPr txBox="1">
            <a:spLocks noChangeArrowheads="1"/>
          </p:cNvSpPr>
          <p:nvPr/>
        </p:nvSpPr>
        <p:spPr bwMode="auto">
          <a:xfrm rot="17473268">
            <a:off x="6930232"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Ack2</a:t>
            </a:r>
          </a:p>
        </p:txBody>
      </p:sp>
      <p:sp>
        <p:nvSpPr>
          <p:cNvPr id="672822" name="Text Box 54"/>
          <p:cNvSpPr txBox="1">
            <a:spLocks noChangeArrowheads="1"/>
          </p:cNvSpPr>
          <p:nvPr/>
        </p:nvSpPr>
        <p:spPr bwMode="auto">
          <a:xfrm rot="17473268">
            <a:off x="7506494"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Ack3</a:t>
            </a:r>
          </a:p>
        </p:txBody>
      </p:sp>
      <p:sp>
        <p:nvSpPr>
          <p:cNvPr id="672823" name="Text Box 55"/>
          <p:cNvSpPr txBox="1">
            <a:spLocks noChangeArrowheads="1"/>
          </p:cNvSpPr>
          <p:nvPr/>
        </p:nvSpPr>
        <p:spPr bwMode="auto">
          <a:xfrm rot="17473268">
            <a:off x="8082757"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Ack4</a:t>
            </a:r>
          </a:p>
        </p:txBody>
      </p:sp>
      <p:sp>
        <p:nvSpPr>
          <p:cNvPr id="672824" name="Text Box 56"/>
          <p:cNvSpPr txBox="1">
            <a:spLocks noChangeArrowheads="1"/>
          </p:cNvSpPr>
          <p:nvPr/>
        </p:nvSpPr>
        <p:spPr bwMode="auto">
          <a:xfrm>
            <a:off x="612775" y="1843088"/>
            <a:ext cx="12239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a:ea typeface="华文新魏" pitchFamily="2" charset="-122"/>
              </a:rPr>
              <a:t>发送方</a:t>
            </a:r>
          </a:p>
        </p:txBody>
      </p:sp>
      <p:sp>
        <p:nvSpPr>
          <p:cNvPr id="672825" name="Text Box 57"/>
          <p:cNvSpPr txBox="1">
            <a:spLocks noChangeArrowheads="1"/>
          </p:cNvSpPr>
          <p:nvPr/>
        </p:nvSpPr>
        <p:spPr bwMode="auto">
          <a:xfrm>
            <a:off x="612775" y="5300663"/>
            <a:ext cx="12239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a:ea typeface="华文新魏" pitchFamily="2" charset="-122"/>
              </a:rPr>
              <a:t>接收方</a:t>
            </a:r>
          </a:p>
        </p:txBody>
      </p:sp>
      <p:sp>
        <p:nvSpPr>
          <p:cNvPr id="672826" name="AutoShape 58"/>
          <p:cNvSpPr>
            <a:spLocks/>
          </p:cNvSpPr>
          <p:nvPr/>
        </p:nvSpPr>
        <p:spPr bwMode="auto">
          <a:xfrm rot="-5400000">
            <a:off x="4897437" y="3967163"/>
            <a:ext cx="142875" cy="2952750"/>
          </a:xfrm>
          <a:prstGeom prst="leftBrace">
            <a:avLst>
              <a:gd name="adj1" fmla="val 172222"/>
              <a:gd name="adj2" fmla="val 50000"/>
            </a:avLst>
          </a:prstGeom>
          <a:noFill/>
          <a:ln w="1905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72827" name="Text Box 59"/>
          <p:cNvSpPr txBox="1">
            <a:spLocks noChangeArrowheads="1"/>
          </p:cNvSpPr>
          <p:nvPr/>
        </p:nvSpPr>
        <p:spPr bwMode="auto">
          <a:xfrm>
            <a:off x="3348038" y="5516563"/>
            <a:ext cx="33115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a:ea typeface="华文新魏" pitchFamily="2" charset="-122"/>
              </a:rPr>
              <a:t>被数据链路层丢弃的帧</a:t>
            </a:r>
          </a:p>
        </p:txBody>
      </p:sp>
      <p:sp>
        <p:nvSpPr>
          <p:cNvPr id="672828" name="AutoShape 60"/>
          <p:cNvSpPr>
            <a:spLocks noChangeArrowheads="1"/>
          </p:cNvSpPr>
          <p:nvPr/>
        </p:nvSpPr>
        <p:spPr bwMode="auto">
          <a:xfrm>
            <a:off x="1979613" y="5659438"/>
            <a:ext cx="863600" cy="431800"/>
          </a:xfrm>
          <a:prstGeom prst="wedgeRoundRectCallout">
            <a:avLst>
              <a:gd name="adj1" fmla="val 47060"/>
              <a:gd name="adj2" fmla="val -147796"/>
              <a:gd name="adj3" fmla="val 16667"/>
            </a:avLst>
          </a:prstGeom>
          <a:solidFill>
            <a:srgbClr val="FF0000"/>
          </a:solidFill>
          <a:ln w="9525">
            <a:solidFill>
              <a:schemeClr val="tx1"/>
            </a:solidFill>
            <a:miter lim="800000"/>
            <a:headEnd/>
            <a:tailEnd/>
          </a:ln>
          <a:effectLst>
            <a:outerShdw dist="107763" dir="2700000" algn="ctr" rotWithShape="0">
              <a:srgbClr val="00002E">
                <a:alpha val="50000"/>
              </a:srgbClr>
            </a:outerShdw>
          </a:effectLst>
        </p:spPr>
        <p:txBody>
          <a:bodyPr lIns="0" tIns="0" rIns="0" bIns="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a:solidFill>
                  <a:schemeClr val="bg1"/>
                </a:solidFill>
                <a:ea typeface="华文新魏" pitchFamily="2" charset="-122"/>
              </a:rPr>
              <a:t>出错</a:t>
            </a:r>
          </a:p>
        </p:txBody>
      </p:sp>
      <p:sp>
        <p:nvSpPr>
          <p:cNvPr id="672829" name="Line 61"/>
          <p:cNvSpPr>
            <a:spLocks noChangeShapeType="1"/>
          </p:cNvSpPr>
          <p:nvPr/>
        </p:nvSpPr>
        <p:spPr bwMode="auto">
          <a:xfrm>
            <a:off x="2124075" y="1843088"/>
            <a:ext cx="0" cy="504825"/>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30" name="Line 62"/>
          <p:cNvSpPr>
            <a:spLocks noChangeShapeType="1"/>
          </p:cNvSpPr>
          <p:nvPr/>
        </p:nvSpPr>
        <p:spPr bwMode="auto">
          <a:xfrm>
            <a:off x="6156325" y="1843088"/>
            <a:ext cx="0" cy="504825"/>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31" name="Text Box 63"/>
          <p:cNvSpPr txBox="1">
            <a:spLocks noChangeArrowheads="1"/>
          </p:cNvSpPr>
          <p:nvPr/>
        </p:nvSpPr>
        <p:spPr bwMode="auto">
          <a:xfrm>
            <a:off x="3421063" y="1771650"/>
            <a:ext cx="1439862"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a:ea typeface="华文新魏" pitchFamily="2" charset="-122"/>
              </a:rPr>
              <a:t>超时间隔</a:t>
            </a:r>
          </a:p>
        </p:txBody>
      </p:sp>
      <p:sp>
        <p:nvSpPr>
          <p:cNvPr id="672832" name="Line 64"/>
          <p:cNvSpPr>
            <a:spLocks noChangeShapeType="1"/>
          </p:cNvSpPr>
          <p:nvPr/>
        </p:nvSpPr>
        <p:spPr bwMode="auto">
          <a:xfrm>
            <a:off x="4932363" y="1987550"/>
            <a:ext cx="1223962" cy="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33" name="Line 65"/>
          <p:cNvSpPr>
            <a:spLocks noChangeShapeType="1"/>
          </p:cNvSpPr>
          <p:nvPr/>
        </p:nvSpPr>
        <p:spPr bwMode="auto">
          <a:xfrm flipH="1">
            <a:off x="2124075" y="1987550"/>
            <a:ext cx="1152525" cy="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34" name="Line 66"/>
          <p:cNvSpPr>
            <a:spLocks noChangeShapeType="1"/>
          </p:cNvSpPr>
          <p:nvPr/>
        </p:nvSpPr>
        <p:spPr bwMode="auto">
          <a:xfrm>
            <a:off x="7092950" y="5589588"/>
            <a:ext cx="720725" cy="0"/>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72835" name="Text Box 67"/>
          <p:cNvSpPr txBox="1">
            <a:spLocks noChangeArrowheads="1"/>
          </p:cNvSpPr>
          <p:nvPr/>
        </p:nvSpPr>
        <p:spPr bwMode="auto">
          <a:xfrm>
            <a:off x="7740650" y="5373688"/>
            <a:ext cx="7921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a:ea typeface="华文新魏" pitchFamily="2" charset="-122"/>
              </a:rPr>
              <a:t>时间</a:t>
            </a:r>
          </a:p>
        </p:txBody>
      </p:sp>
      <p:sp>
        <p:nvSpPr>
          <p:cNvPr id="672836" name="Text Box 68"/>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11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Grp="1" noChangeArrowheads="1"/>
          </p:cNvSpPr>
          <p:nvPr>
            <p:ph type="title"/>
          </p:nvPr>
        </p:nvSpPr>
        <p:spPr>
          <a:xfrm>
            <a:off x="1403350" y="476250"/>
            <a:ext cx="6264275" cy="1008063"/>
          </a:xfrm>
        </p:spPr>
        <p:txBody>
          <a:bodyPr/>
          <a:lstStyle/>
          <a:p>
            <a:r>
              <a:rPr lang="zh-CN" altLang="en-US" sz="3600"/>
              <a:t>使用后退</a:t>
            </a:r>
            <a:r>
              <a:rPr lang="en-US" altLang="zh-CN" sz="3600"/>
              <a:t>n</a:t>
            </a:r>
            <a:r>
              <a:rPr lang="zh-CN" altLang="en-US" sz="3600"/>
              <a:t>帧的滑动窗口协议</a:t>
            </a:r>
            <a:r>
              <a:rPr lang="zh-CN" altLang="en-US" sz="2400"/>
              <a:t>（后退</a:t>
            </a:r>
            <a:r>
              <a:rPr lang="en-US" altLang="zh-CN" sz="2400"/>
              <a:t>n</a:t>
            </a:r>
            <a:r>
              <a:rPr lang="zh-CN" altLang="en-US" sz="2400"/>
              <a:t>帧</a:t>
            </a:r>
            <a:r>
              <a:rPr lang="en-US" altLang="zh-CN" sz="2400"/>
              <a:t>ARQ</a:t>
            </a:r>
            <a:r>
              <a:rPr lang="zh-CN" altLang="en-US" sz="2400"/>
              <a:t>协议）</a:t>
            </a:r>
          </a:p>
        </p:txBody>
      </p:sp>
      <p:sp>
        <p:nvSpPr>
          <p:cNvPr id="673795" name="Rectangle 3"/>
          <p:cNvSpPr>
            <a:spLocks noGrp="1" noChangeArrowheads="1"/>
          </p:cNvSpPr>
          <p:nvPr>
            <p:ph type="body" idx="1"/>
          </p:nvPr>
        </p:nvSpPr>
        <p:spPr>
          <a:xfrm>
            <a:off x="809625" y="1773238"/>
            <a:ext cx="7958138" cy="4608512"/>
          </a:xfrm>
        </p:spPr>
        <p:txBody>
          <a:bodyPr/>
          <a:lstStyle/>
          <a:p>
            <a:pPr>
              <a:lnSpc>
                <a:spcPct val="115000"/>
              </a:lnSpc>
            </a:pPr>
            <a:r>
              <a:rPr lang="zh-CN" altLang="en-US" dirty="0">
                <a:solidFill>
                  <a:srgbClr val="FF0000"/>
                </a:solidFill>
              </a:rPr>
              <a:t>发送窗口</a:t>
            </a:r>
            <a:r>
              <a:rPr lang="en-US" altLang="zh-CN" dirty="0">
                <a:solidFill>
                  <a:srgbClr val="FF0000"/>
                </a:solidFill>
              </a:rPr>
              <a:t>&gt;1</a:t>
            </a:r>
            <a:r>
              <a:rPr lang="zh-CN" altLang="en-US" dirty="0">
                <a:solidFill>
                  <a:srgbClr val="FF0000"/>
                </a:solidFill>
              </a:rPr>
              <a:t>，接收窗口</a:t>
            </a:r>
            <a:r>
              <a:rPr lang="en-US" altLang="zh-CN" dirty="0">
                <a:solidFill>
                  <a:srgbClr val="FF0000"/>
                </a:solidFill>
              </a:rPr>
              <a:t>=1</a:t>
            </a:r>
            <a:endParaRPr lang="zh-CN" altLang="en-US" dirty="0">
              <a:solidFill>
                <a:srgbClr val="FF0000"/>
              </a:solidFill>
            </a:endParaRPr>
          </a:p>
          <a:p>
            <a:pPr lvl="1">
              <a:lnSpc>
                <a:spcPct val="115000"/>
              </a:lnSpc>
            </a:pPr>
            <a:r>
              <a:rPr lang="zh-CN" altLang="en-US" dirty="0"/>
              <a:t>接收方仅接收正确且正期待的帧，并发确认；丢弃错帧或非期待帧及以后各帧。</a:t>
            </a:r>
          </a:p>
          <a:p>
            <a:pPr lvl="1">
              <a:lnSpc>
                <a:spcPct val="115000"/>
              </a:lnSpc>
            </a:pPr>
            <a:r>
              <a:rPr lang="zh-CN" altLang="en-US" dirty="0">
                <a:solidFill>
                  <a:srgbClr val="FF0000"/>
                </a:solidFill>
              </a:rPr>
              <a:t>发送方待数据帧定时器超时</a:t>
            </a:r>
            <a:r>
              <a:rPr lang="zh-CN" altLang="en-US" dirty="0"/>
              <a:t>，</a:t>
            </a:r>
            <a:r>
              <a:rPr lang="zh-CN" altLang="en-US" dirty="0">
                <a:solidFill>
                  <a:srgbClr val="0000FF"/>
                </a:solidFill>
              </a:rPr>
              <a:t>重发所有待确认帧，而不仅仅是错帧</a:t>
            </a:r>
            <a:r>
              <a:rPr lang="zh-CN" altLang="en-US" dirty="0"/>
              <a:t>。</a:t>
            </a:r>
          </a:p>
          <a:p>
            <a:pPr>
              <a:lnSpc>
                <a:spcPct val="115000"/>
              </a:lnSpc>
            </a:pPr>
            <a:r>
              <a:rPr lang="zh-CN" altLang="en-US" dirty="0">
                <a:solidFill>
                  <a:srgbClr val="FF0000"/>
                </a:solidFill>
              </a:rPr>
              <a:t>窗口大小</a:t>
            </a:r>
          </a:p>
          <a:p>
            <a:pPr lvl="1">
              <a:lnSpc>
                <a:spcPct val="115000"/>
              </a:lnSpc>
            </a:pPr>
            <a:r>
              <a:rPr lang="zh-CN" altLang="en-US" dirty="0"/>
              <a:t>对于帧序号位数为</a:t>
            </a:r>
            <a:r>
              <a:rPr lang="en-US" altLang="zh-CN" dirty="0" err="1" smtClean="0"/>
              <a:t>nbit</a:t>
            </a:r>
            <a:r>
              <a:rPr lang="zh-CN" altLang="en-US" dirty="0" smtClean="0"/>
              <a:t>，</a:t>
            </a:r>
            <a:r>
              <a:rPr lang="zh-CN" altLang="en-US" dirty="0"/>
              <a:t>其发送窗口大小</a:t>
            </a:r>
            <a:r>
              <a:rPr lang="en-US" altLang="zh-CN" dirty="0"/>
              <a:t>W</a:t>
            </a:r>
            <a:r>
              <a:rPr lang="en-US" altLang="zh-CN" baseline="-25000" dirty="0"/>
              <a:t>T</a:t>
            </a:r>
            <a:r>
              <a:rPr lang="zh-CN" altLang="en-US" dirty="0"/>
              <a:t>必满足</a:t>
            </a:r>
            <a:r>
              <a:rPr lang="en-US" altLang="zh-CN" dirty="0">
                <a:solidFill>
                  <a:srgbClr val="0000FF"/>
                </a:solidFill>
              </a:rPr>
              <a:t>W</a:t>
            </a:r>
            <a:r>
              <a:rPr lang="en-US" altLang="zh-CN" baseline="-25000" dirty="0">
                <a:solidFill>
                  <a:srgbClr val="0000FF"/>
                </a:solidFill>
              </a:rPr>
              <a:t>T</a:t>
            </a:r>
            <a:r>
              <a:rPr lang="en-US" altLang="zh-CN" dirty="0">
                <a:solidFill>
                  <a:srgbClr val="0000FF"/>
                </a:solidFill>
              </a:rPr>
              <a:t>≤2</a:t>
            </a:r>
            <a:r>
              <a:rPr lang="en-US" altLang="zh-CN" baseline="30000" dirty="0">
                <a:solidFill>
                  <a:srgbClr val="0000FF"/>
                </a:solidFill>
              </a:rPr>
              <a:t>n</a:t>
            </a:r>
            <a:r>
              <a:rPr lang="en-US" altLang="zh-CN" dirty="0">
                <a:solidFill>
                  <a:srgbClr val="0000FF"/>
                </a:solidFill>
              </a:rPr>
              <a:t>-1</a:t>
            </a:r>
            <a:r>
              <a:rPr lang="zh-CN" altLang="en-US" dirty="0"/>
              <a:t>。</a:t>
            </a:r>
          </a:p>
        </p:txBody>
      </p:sp>
      <p:sp>
        <p:nvSpPr>
          <p:cNvPr id="6737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737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11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p:txBody>
          <a:bodyPr/>
          <a:lstStyle/>
          <a:p>
            <a:r>
              <a:rPr lang="zh-CN" altLang="en-US"/>
              <a:t>定理证明</a:t>
            </a:r>
          </a:p>
        </p:txBody>
      </p:sp>
      <p:sp>
        <p:nvSpPr>
          <p:cNvPr id="674819" name="Rectangle 3"/>
          <p:cNvSpPr>
            <a:spLocks noGrp="1" noChangeArrowheads="1"/>
          </p:cNvSpPr>
          <p:nvPr>
            <p:ph type="body" idx="1"/>
          </p:nvPr>
        </p:nvSpPr>
        <p:spPr>
          <a:xfrm>
            <a:off x="809625" y="1773238"/>
            <a:ext cx="7958138" cy="4679950"/>
          </a:xfrm>
        </p:spPr>
        <p:txBody>
          <a:bodyPr/>
          <a:lstStyle/>
          <a:p>
            <a:pPr>
              <a:lnSpc>
                <a:spcPct val="115000"/>
              </a:lnSpc>
            </a:pPr>
            <a:r>
              <a:rPr lang="zh-CN" altLang="en-US" sz="2200" dirty="0">
                <a:solidFill>
                  <a:srgbClr val="FF0000"/>
                </a:solidFill>
              </a:rPr>
              <a:t>定理</a:t>
            </a:r>
            <a:r>
              <a:rPr lang="zh-CN" altLang="en-US" sz="2200" dirty="0"/>
              <a:t>：对于帧序号位数为</a:t>
            </a:r>
            <a:r>
              <a:rPr lang="en-US" altLang="zh-CN" sz="2200" dirty="0"/>
              <a:t>n</a:t>
            </a:r>
            <a:r>
              <a:rPr lang="zh-CN" altLang="en-US" sz="2200" dirty="0"/>
              <a:t>，其发送窗口大小</a:t>
            </a:r>
            <a:r>
              <a:rPr lang="en-US" altLang="zh-CN" sz="2200" dirty="0"/>
              <a:t>W</a:t>
            </a:r>
            <a:r>
              <a:rPr lang="en-US" altLang="zh-CN" sz="2200" baseline="-25000" dirty="0"/>
              <a:t>T</a:t>
            </a:r>
            <a:r>
              <a:rPr lang="zh-CN" altLang="en-US" sz="2200" dirty="0"/>
              <a:t>必满足</a:t>
            </a:r>
            <a:r>
              <a:rPr lang="en-US" altLang="zh-CN" sz="2200" dirty="0">
                <a:solidFill>
                  <a:srgbClr val="0000FF"/>
                </a:solidFill>
              </a:rPr>
              <a:t>W</a:t>
            </a:r>
            <a:r>
              <a:rPr lang="en-US" altLang="zh-CN" sz="2200" baseline="-25000" dirty="0">
                <a:solidFill>
                  <a:srgbClr val="0000FF"/>
                </a:solidFill>
              </a:rPr>
              <a:t>T</a:t>
            </a:r>
            <a:r>
              <a:rPr lang="en-US" altLang="zh-CN" sz="2200" dirty="0">
                <a:solidFill>
                  <a:srgbClr val="0000FF"/>
                </a:solidFill>
              </a:rPr>
              <a:t>≤2</a:t>
            </a:r>
            <a:r>
              <a:rPr lang="en-US" altLang="zh-CN" sz="2200" baseline="30000" dirty="0">
                <a:solidFill>
                  <a:srgbClr val="0000FF"/>
                </a:solidFill>
              </a:rPr>
              <a:t>n</a:t>
            </a:r>
            <a:r>
              <a:rPr lang="en-US" altLang="zh-CN" sz="2200" dirty="0">
                <a:solidFill>
                  <a:srgbClr val="0000FF"/>
                </a:solidFill>
              </a:rPr>
              <a:t>-1</a:t>
            </a:r>
            <a:r>
              <a:rPr lang="zh-CN" altLang="en-US" sz="2200" dirty="0"/>
              <a:t>。</a:t>
            </a:r>
          </a:p>
          <a:p>
            <a:pPr>
              <a:lnSpc>
                <a:spcPct val="115000"/>
              </a:lnSpc>
            </a:pPr>
            <a:r>
              <a:rPr lang="zh-CN" altLang="en-US" sz="2200" dirty="0">
                <a:solidFill>
                  <a:srgbClr val="FF0000"/>
                </a:solidFill>
              </a:rPr>
              <a:t>证明</a:t>
            </a:r>
            <a:r>
              <a:rPr lang="zh-CN" altLang="en-US" sz="2200" dirty="0"/>
              <a:t>：设接收窗口大小为</a:t>
            </a:r>
            <a:r>
              <a:rPr lang="en-US" altLang="zh-CN" sz="2200" dirty="0"/>
              <a:t>W</a:t>
            </a:r>
            <a:r>
              <a:rPr lang="en-US" altLang="zh-CN" sz="2200" baseline="-25000" dirty="0"/>
              <a:t>R</a:t>
            </a:r>
            <a:r>
              <a:rPr lang="zh-CN" altLang="en-US" sz="2200" dirty="0"/>
              <a:t>，由后退</a:t>
            </a:r>
            <a:r>
              <a:rPr lang="en-US" altLang="zh-CN" sz="2200" dirty="0"/>
              <a:t>n</a:t>
            </a:r>
            <a:r>
              <a:rPr lang="zh-CN" altLang="en-US" sz="2200" dirty="0"/>
              <a:t>帧协议 可知， </a:t>
            </a:r>
            <a:r>
              <a:rPr lang="en-US" altLang="zh-CN" sz="2200" dirty="0"/>
              <a:t>W</a:t>
            </a:r>
            <a:r>
              <a:rPr lang="en-US" altLang="zh-CN" sz="2200" baseline="-25000" dirty="0"/>
              <a:t>R</a:t>
            </a:r>
            <a:r>
              <a:rPr lang="en-US" altLang="zh-CN" sz="2200" dirty="0"/>
              <a:t>=1</a:t>
            </a:r>
            <a:r>
              <a:rPr lang="zh-CN" altLang="en-US" sz="2200" dirty="0"/>
              <a:t>。</a:t>
            </a:r>
          </a:p>
          <a:p>
            <a:pPr>
              <a:lnSpc>
                <a:spcPct val="115000"/>
              </a:lnSpc>
              <a:buFont typeface="Wingdings" pitchFamily="2" charset="2"/>
              <a:buNone/>
            </a:pPr>
            <a:r>
              <a:rPr lang="zh-CN" altLang="en-US" sz="2200" dirty="0"/>
              <a:t>       ∵ 帧序号为</a:t>
            </a:r>
            <a:r>
              <a:rPr lang="en-US" altLang="zh-CN" sz="2200" dirty="0"/>
              <a:t>n           ∴  </a:t>
            </a:r>
            <a:r>
              <a:rPr lang="zh-CN" altLang="en-US" sz="2200" dirty="0"/>
              <a:t>帧序号空间是 </a:t>
            </a:r>
            <a:r>
              <a:rPr lang="en-US" altLang="zh-CN" sz="2200" dirty="0"/>
              <a:t>mod 2</a:t>
            </a:r>
            <a:r>
              <a:rPr lang="en-US" altLang="zh-CN" sz="2200" baseline="30000" dirty="0"/>
              <a:t>n</a:t>
            </a:r>
          </a:p>
          <a:p>
            <a:pPr>
              <a:lnSpc>
                <a:spcPct val="115000"/>
              </a:lnSpc>
              <a:buFont typeface="Wingdings" pitchFamily="2" charset="2"/>
              <a:buNone/>
            </a:pPr>
            <a:r>
              <a:rPr lang="en-US" altLang="zh-CN" sz="2200" dirty="0"/>
              <a:t>      </a:t>
            </a:r>
            <a:r>
              <a:rPr lang="zh-CN" altLang="en-US" sz="2200" dirty="0"/>
              <a:t>显然，在</a:t>
            </a:r>
            <a:r>
              <a:rPr lang="en-US" altLang="zh-CN" sz="2200" dirty="0"/>
              <a:t>W</a:t>
            </a:r>
            <a:r>
              <a:rPr lang="en-US" altLang="zh-CN" sz="2200" baseline="-25000" dirty="0"/>
              <a:t>T</a:t>
            </a:r>
            <a:r>
              <a:rPr lang="zh-CN" altLang="en-US" sz="2200" dirty="0"/>
              <a:t>范围内序号不应重叠，</a:t>
            </a:r>
            <a:r>
              <a:rPr lang="zh-CN" altLang="en-US" sz="2200" dirty="0">
                <a:solidFill>
                  <a:srgbClr val="FF0000"/>
                </a:solidFill>
              </a:rPr>
              <a:t>否则产生二义性。</a:t>
            </a:r>
          </a:p>
          <a:p>
            <a:pPr>
              <a:lnSpc>
                <a:spcPct val="115000"/>
              </a:lnSpc>
              <a:buFont typeface="Wingdings" pitchFamily="2" charset="2"/>
              <a:buNone/>
            </a:pPr>
            <a:r>
              <a:rPr lang="zh-CN" altLang="en-US" sz="2200" dirty="0"/>
              <a:t>      又∵当且仅当对发送窗口上限帧序号的确认帧正在返回途中</a:t>
            </a:r>
          </a:p>
          <a:p>
            <a:pPr>
              <a:lnSpc>
                <a:spcPct val="115000"/>
              </a:lnSpc>
              <a:buFont typeface="Wingdings" pitchFamily="2" charset="2"/>
              <a:buNone/>
            </a:pPr>
            <a:r>
              <a:rPr lang="zh-CN" altLang="en-US" sz="2200" dirty="0"/>
              <a:t>             时，总存在 </a:t>
            </a:r>
            <a:r>
              <a:rPr lang="en-US" altLang="zh-CN" sz="2200" dirty="0"/>
              <a:t>W</a:t>
            </a:r>
            <a:r>
              <a:rPr lang="en-US" altLang="zh-CN" sz="2200" baseline="-25000" dirty="0"/>
              <a:t>R</a:t>
            </a:r>
            <a:r>
              <a:rPr lang="en-US" altLang="zh-CN" sz="2200" dirty="0"/>
              <a:t> + W</a:t>
            </a:r>
            <a:r>
              <a:rPr lang="en-US" altLang="zh-CN" sz="2200" baseline="-25000" dirty="0"/>
              <a:t>T </a:t>
            </a:r>
            <a:r>
              <a:rPr lang="zh-CN" altLang="en-US" sz="2200" dirty="0"/>
              <a:t>覆盖范围最大，且 </a:t>
            </a:r>
            <a:r>
              <a:rPr lang="en-US" altLang="zh-CN" sz="2200" dirty="0"/>
              <a:t>W</a:t>
            </a:r>
            <a:r>
              <a:rPr lang="en-US" altLang="zh-CN" sz="2200" baseline="-25000" dirty="0"/>
              <a:t>R</a:t>
            </a:r>
            <a:r>
              <a:rPr lang="en-US" altLang="zh-CN" sz="2200" dirty="0"/>
              <a:t> + W</a:t>
            </a:r>
            <a:r>
              <a:rPr lang="en-US" altLang="zh-CN" sz="2200" baseline="-25000" dirty="0"/>
              <a:t>T </a:t>
            </a:r>
            <a:r>
              <a:rPr lang="zh-CN" altLang="en-US" sz="2200" dirty="0"/>
              <a:t>范围</a:t>
            </a:r>
          </a:p>
          <a:p>
            <a:pPr>
              <a:lnSpc>
                <a:spcPct val="115000"/>
              </a:lnSpc>
              <a:buFont typeface="Wingdings" pitchFamily="2" charset="2"/>
              <a:buNone/>
            </a:pPr>
            <a:r>
              <a:rPr lang="zh-CN" altLang="en-US" sz="2200" dirty="0"/>
              <a:t>             内帧序号不重叠。</a:t>
            </a:r>
          </a:p>
          <a:p>
            <a:pPr>
              <a:lnSpc>
                <a:spcPct val="115000"/>
              </a:lnSpc>
              <a:buFont typeface="Wingdings" pitchFamily="2" charset="2"/>
              <a:buNone/>
            </a:pPr>
            <a:r>
              <a:rPr lang="zh-CN" altLang="en-US" sz="2200" dirty="0"/>
              <a:t>      于是 </a:t>
            </a:r>
            <a:r>
              <a:rPr lang="en-US" altLang="zh-CN" sz="2200" dirty="0"/>
              <a:t>W</a:t>
            </a:r>
            <a:r>
              <a:rPr lang="en-US" altLang="zh-CN" sz="2200" baseline="-25000" dirty="0"/>
              <a:t>R</a:t>
            </a:r>
            <a:r>
              <a:rPr lang="en-US" altLang="zh-CN" sz="2200" dirty="0"/>
              <a:t> + W</a:t>
            </a:r>
            <a:r>
              <a:rPr lang="en-US" altLang="zh-CN" sz="2200" baseline="-25000" dirty="0"/>
              <a:t>T</a:t>
            </a:r>
            <a:r>
              <a:rPr lang="en-US" altLang="zh-CN" sz="2200" dirty="0"/>
              <a:t> ≤2</a:t>
            </a:r>
            <a:r>
              <a:rPr lang="en-US" altLang="zh-CN" sz="2200" baseline="30000" dirty="0"/>
              <a:t>n </a:t>
            </a:r>
            <a:r>
              <a:rPr lang="zh-CN" altLang="en-US" sz="2200" dirty="0"/>
              <a:t>，当</a:t>
            </a:r>
            <a:r>
              <a:rPr lang="en-US" altLang="zh-CN" sz="2200" dirty="0"/>
              <a:t>W</a:t>
            </a:r>
            <a:r>
              <a:rPr lang="en-US" altLang="zh-CN" sz="2200" baseline="-25000" dirty="0"/>
              <a:t>R</a:t>
            </a:r>
            <a:r>
              <a:rPr lang="en-US" altLang="zh-CN" sz="2200" dirty="0"/>
              <a:t> =1</a:t>
            </a:r>
            <a:r>
              <a:rPr lang="zh-CN" altLang="en-US" sz="2200" dirty="0"/>
              <a:t>时，有 </a:t>
            </a:r>
            <a:r>
              <a:rPr lang="en-US" altLang="zh-CN" sz="2200" dirty="0"/>
              <a:t>W</a:t>
            </a:r>
            <a:r>
              <a:rPr lang="en-US" altLang="zh-CN" sz="2200" baseline="-25000" dirty="0"/>
              <a:t>T</a:t>
            </a:r>
            <a:r>
              <a:rPr lang="en-US" altLang="zh-CN" sz="2200" dirty="0"/>
              <a:t> ≤2</a:t>
            </a:r>
            <a:r>
              <a:rPr lang="en-US" altLang="zh-CN" sz="2200" baseline="30000" dirty="0"/>
              <a:t>n</a:t>
            </a:r>
            <a:r>
              <a:rPr lang="en-US" altLang="zh-CN" sz="2200" dirty="0"/>
              <a:t> –1  </a:t>
            </a:r>
            <a:r>
              <a:rPr lang="zh-CN" altLang="en-US" sz="2200" dirty="0"/>
              <a:t>成立。 </a:t>
            </a:r>
          </a:p>
          <a:p>
            <a:pPr algn="r">
              <a:lnSpc>
                <a:spcPct val="115000"/>
              </a:lnSpc>
              <a:buFont typeface="Wingdings" pitchFamily="2" charset="2"/>
              <a:buNone/>
            </a:pPr>
            <a:r>
              <a:rPr lang="en-US" altLang="zh-CN" sz="2200" dirty="0"/>
              <a:t>&lt;</a:t>
            </a:r>
            <a:r>
              <a:rPr lang="zh-CN" altLang="en-US" sz="2200" dirty="0"/>
              <a:t>证毕</a:t>
            </a:r>
            <a:r>
              <a:rPr lang="en-US" altLang="zh-CN" sz="2200" dirty="0"/>
              <a:t>&gt;</a:t>
            </a:r>
          </a:p>
        </p:txBody>
      </p:sp>
      <p:sp>
        <p:nvSpPr>
          <p:cNvPr id="67482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7482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11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74819">
                                            <p:txEl>
                                              <p:pRg st="1" end="1"/>
                                            </p:txEl>
                                          </p:spTgt>
                                        </p:tgtEl>
                                        <p:attrNameLst>
                                          <p:attrName>style.visibility</p:attrName>
                                        </p:attrNameLst>
                                      </p:cBhvr>
                                      <p:to>
                                        <p:strVal val="visible"/>
                                      </p:to>
                                    </p:set>
                                    <p:animEffect transition="in" filter="dissolve">
                                      <p:cBhvr>
                                        <p:cTn id="7" dur="500"/>
                                        <p:tgtEl>
                                          <p:spTgt spid="6748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74819">
                                            <p:txEl>
                                              <p:pRg st="2" end="2"/>
                                            </p:txEl>
                                          </p:spTgt>
                                        </p:tgtEl>
                                        <p:attrNameLst>
                                          <p:attrName>style.visibility</p:attrName>
                                        </p:attrNameLst>
                                      </p:cBhvr>
                                      <p:to>
                                        <p:strVal val="visible"/>
                                      </p:to>
                                    </p:set>
                                    <p:animEffect transition="in" filter="dissolve">
                                      <p:cBhvr>
                                        <p:cTn id="12" dur="500"/>
                                        <p:tgtEl>
                                          <p:spTgt spid="6748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74819">
                                            <p:txEl>
                                              <p:pRg st="3" end="3"/>
                                            </p:txEl>
                                          </p:spTgt>
                                        </p:tgtEl>
                                        <p:attrNameLst>
                                          <p:attrName>style.visibility</p:attrName>
                                        </p:attrNameLst>
                                      </p:cBhvr>
                                      <p:to>
                                        <p:strVal val="visible"/>
                                      </p:to>
                                    </p:set>
                                    <p:animEffect transition="in" filter="dissolve">
                                      <p:cBhvr>
                                        <p:cTn id="17" dur="500"/>
                                        <p:tgtEl>
                                          <p:spTgt spid="67481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74819">
                                            <p:txEl>
                                              <p:pRg st="4" end="4"/>
                                            </p:txEl>
                                          </p:spTgt>
                                        </p:tgtEl>
                                        <p:attrNameLst>
                                          <p:attrName>style.visibility</p:attrName>
                                        </p:attrNameLst>
                                      </p:cBhvr>
                                      <p:to>
                                        <p:strVal val="visible"/>
                                      </p:to>
                                    </p:set>
                                    <p:animEffect transition="in" filter="dissolve">
                                      <p:cBhvr>
                                        <p:cTn id="22" dur="500"/>
                                        <p:tgtEl>
                                          <p:spTgt spid="674819">
                                            <p:txEl>
                                              <p:pRg st="4" end="4"/>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674819">
                                            <p:txEl>
                                              <p:pRg st="5" end="5"/>
                                            </p:txEl>
                                          </p:spTgt>
                                        </p:tgtEl>
                                        <p:attrNameLst>
                                          <p:attrName>style.visibility</p:attrName>
                                        </p:attrNameLst>
                                      </p:cBhvr>
                                      <p:to>
                                        <p:strVal val="visible"/>
                                      </p:to>
                                    </p:set>
                                    <p:animEffect transition="in" filter="dissolve">
                                      <p:cBhvr>
                                        <p:cTn id="25" dur="500"/>
                                        <p:tgtEl>
                                          <p:spTgt spid="674819">
                                            <p:txEl>
                                              <p:pRg st="5" end="5"/>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674819">
                                            <p:txEl>
                                              <p:pRg st="6" end="6"/>
                                            </p:txEl>
                                          </p:spTgt>
                                        </p:tgtEl>
                                        <p:attrNameLst>
                                          <p:attrName>style.visibility</p:attrName>
                                        </p:attrNameLst>
                                      </p:cBhvr>
                                      <p:to>
                                        <p:strVal val="visible"/>
                                      </p:to>
                                    </p:set>
                                    <p:animEffect transition="in" filter="dissolve">
                                      <p:cBhvr>
                                        <p:cTn id="28" dur="500"/>
                                        <p:tgtEl>
                                          <p:spTgt spid="674819">
                                            <p:txEl>
                                              <p:pRg st="6" end="6"/>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674819">
                                            <p:txEl>
                                              <p:pRg st="7" end="7"/>
                                            </p:txEl>
                                          </p:spTgt>
                                        </p:tgtEl>
                                        <p:attrNameLst>
                                          <p:attrName>style.visibility</p:attrName>
                                        </p:attrNameLst>
                                      </p:cBhvr>
                                      <p:to>
                                        <p:strVal val="visible"/>
                                      </p:to>
                                    </p:set>
                                    <p:animEffect transition="in" filter="dissolve">
                                      <p:cBhvr>
                                        <p:cTn id="33" dur="500"/>
                                        <p:tgtEl>
                                          <p:spTgt spid="674819">
                                            <p:txEl>
                                              <p:pRg st="7" end="7"/>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674819">
                                            <p:txEl>
                                              <p:pRg st="8" end="8"/>
                                            </p:txEl>
                                          </p:spTgt>
                                        </p:tgtEl>
                                        <p:attrNameLst>
                                          <p:attrName>style.visibility</p:attrName>
                                        </p:attrNameLst>
                                      </p:cBhvr>
                                      <p:to>
                                        <p:strVal val="visible"/>
                                      </p:to>
                                    </p:set>
                                    <p:animEffect transition="in" filter="dissolve">
                                      <p:cBhvr>
                                        <p:cTn id="38" dur="500"/>
                                        <p:tgtEl>
                                          <p:spTgt spid="6748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r>
              <a:rPr lang="zh-CN" altLang="en-US"/>
              <a:t>选择重发</a:t>
            </a:r>
          </a:p>
        </p:txBody>
      </p:sp>
      <p:sp>
        <p:nvSpPr>
          <p:cNvPr id="684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84036" name="Oval 4"/>
          <p:cNvSpPr>
            <a:spLocks noChangeArrowheads="1"/>
          </p:cNvSpPr>
          <p:nvPr/>
        </p:nvSpPr>
        <p:spPr bwMode="auto">
          <a:xfrm>
            <a:off x="755650"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0</a:t>
            </a:r>
          </a:p>
        </p:txBody>
      </p:sp>
      <p:sp>
        <p:nvSpPr>
          <p:cNvPr id="684037" name="Oval 5"/>
          <p:cNvSpPr>
            <a:spLocks noChangeArrowheads="1"/>
          </p:cNvSpPr>
          <p:nvPr/>
        </p:nvSpPr>
        <p:spPr bwMode="auto">
          <a:xfrm>
            <a:off x="1331913"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1</a:t>
            </a:r>
          </a:p>
        </p:txBody>
      </p:sp>
      <p:sp>
        <p:nvSpPr>
          <p:cNvPr id="684038" name="Oval 6"/>
          <p:cNvSpPr>
            <a:spLocks noChangeArrowheads="1"/>
          </p:cNvSpPr>
          <p:nvPr/>
        </p:nvSpPr>
        <p:spPr bwMode="auto">
          <a:xfrm>
            <a:off x="1908175"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2</a:t>
            </a:r>
          </a:p>
        </p:txBody>
      </p:sp>
      <p:sp>
        <p:nvSpPr>
          <p:cNvPr id="684039" name="Oval 7"/>
          <p:cNvSpPr>
            <a:spLocks noChangeArrowheads="1"/>
          </p:cNvSpPr>
          <p:nvPr/>
        </p:nvSpPr>
        <p:spPr bwMode="auto">
          <a:xfrm>
            <a:off x="2484438"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3</a:t>
            </a:r>
          </a:p>
        </p:txBody>
      </p:sp>
      <p:sp>
        <p:nvSpPr>
          <p:cNvPr id="684040" name="Oval 8"/>
          <p:cNvSpPr>
            <a:spLocks noChangeArrowheads="1"/>
          </p:cNvSpPr>
          <p:nvPr/>
        </p:nvSpPr>
        <p:spPr bwMode="auto">
          <a:xfrm>
            <a:off x="3060700"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4</a:t>
            </a:r>
          </a:p>
        </p:txBody>
      </p:sp>
      <p:sp>
        <p:nvSpPr>
          <p:cNvPr id="684041" name="Oval 9"/>
          <p:cNvSpPr>
            <a:spLocks noChangeArrowheads="1"/>
          </p:cNvSpPr>
          <p:nvPr/>
        </p:nvSpPr>
        <p:spPr bwMode="auto">
          <a:xfrm>
            <a:off x="3636963"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5</a:t>
            </a:r>
          </a:p>
        </p:txBody>
      </p:sp>
      <p:sp>
        <p:nvSpPr>
          <p:cNvPr id="684042" name="Oval 10"/>
          <p:cNvSpPr>
            <a:spLocks noChangeArrowheads="1"/>
          </p:cNvSpPr>
          <p:nvPr/>
        </p:nvSpPr>
        <p:spPr bwMode="auto">
          <a:xfrm>
            <a:off x="4213225" y="2343150"/>
            <a:ext cx="468313" cy="450850"/>
          </a:xfrm>
          <a:prstGeom prst="ellipse">
            <a:avLst/>
          </a:prstGeom>
          <a:solidFill>
            <a:srgbClr val="FFFF00"/>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2</a:t>
            </a:r>
          </a:p>
        </p:txBody>
      </p:sp>
      <p:sp>
        <p:nvSpPr>
          <p:cNvPr id="684043" name="Oval 11"/>
          <p:cNvSpPr>
            <a:spLocks noChangeArrowheads="1"/>
          </p:cNvSpPr>
          <p:nvPr/>
        </p:nvSpPr>
        <p:spPr bwMode="auto">
          <a:xfrm>
            <a:off x="4789488"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6</a:t>
            </a:r>
          </a:p>
        </p:txBody>
      </p:sp>
      <p:sp>
        <p:nvSpPr>
          <p:cNvPr id="684044" name="Oval 12"/>
          <p:cNvSpPr>
            <a:spLocks noChangeArrowheads="1"/>
          </p:cNvSpPr>
          <p:nvPr/>
        </p:nvSpPr>
        <p:spPr bwMode="auto">
          <a:xfrm>
            <a:off x="5364163"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7</a:t>
            </a:r>
          </a:p>
        </p:txBody>
      </p:sp>
      <p:sp>
        <p:nvSpPr>
          <p:cNvPr id="684045" name="Oval 13"/>
          <p:cNvSpPr>
            <a:spLocks noChangeArrowheads="1"/>
          </p:cNvSpPr>
          <p:nvPr/>
        </p:nvSpPr>
        <p:spPr bwMode="auto">
          <a:xfrm>
            <a:off x="5940425"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8</a:t>
            </a:r>
          </a:p>
        </p:txBody>
      </p:sp>
      <p:sp>
        <p:nvSpPr>
          <p:cNvPr id="684046" name="Oval 14"/>
          <p:cNvSpPr>
            <a:spLocks noChangeArrowheads="1"/>
          </p:cNvSpPr>
          <p:nvPr/>
        </p:nvSpPr>
        <p:spPr bwMode="auto">
          <a:xfrm>
            <a:off x="6516688"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9</a:t>
            </a:r>
          </a:p>
        </p:txBody>
      </p:sp>
      <p:sp>
        <p:nvSpPr>
          <p:cNvPr id="684047" name="Oval 15"/>
          <p:cNvSpPr>
            <a:spLocks noChangeArrowheads="1"/>
          </p:cNvSpPr>
          <p:nvPr/>
        </p:nvSpPr>
        <p:spPr bwMode="auto">
          <a:xfrm>
            <a:off x="7092950"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10</a:t>
            </a:r>
          </a:p>
        </p:txBody>
      </p:sp>
      <p:sp>
        <p:nvSpPr>
          <p:cNvPr id="684048" name="Oval 16"/>
          <p:cNvSpPr>
            <a:spLocks noChangeArrowheads="1"/>
          </p:cNvSpPr>
          <p:nvPr/>
        </p:nvSpPr>
        <p:spPr bwMode="auto">
          <a:xfrm>
            <a:off x="7669213" y="2343150"/>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11</a:t>
            </a:r>
          </a:p>
        </p:txBody>
      </p:sp>
      <p:sp>
        <p:nvSpPr>
          <p:cNvPr id="684049" name="Oval 17"/>
          <p:cNvSpPr>
            <a:spLocks noChangeArrowheads="1"/>
          </p:cNvSpPr>
          <p:nvPr/>
        </p:nvSpPr>
        <p:spPr bwMode="auto">
          <a:xfrm>
            <a:off x="8245475" y="2343150"/>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12</a:t>
            </a:r>
          </a:p>
        </p:txBody>
      </p:sp>
      <p:sp>
        <p:nvSpPr>
          <p:cNvPr id="684050" name="Oval 18"/>
          <p:cNvSpPr>
            <a:spLocks noChangeArrowheads="1"/>
          </p:cNvSpPr>
          <p:nvPr/>
        </p:nvSpPr>
        <p:spPr bwMode="auto">
          <a:xfrm>
            <a:off x="1547813" y="4791075"/>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0</a:t>
            </a:r>
          </a:p>
        </p:txBody>
      </p:sp>
      <p:sp>
        <p:nvSpPr>
          <p:cNvPr id="684051" name="Oval 19"/>
          <p:cNvSpPr>
            <a:spLocks noChangeArrowheads="1"/>
          </p:cNvSpPr>
          <p:nvPr/>
        </p:nvSpPr>
        <p:spPr bwMode="auto">
          <a:xfrm>
            <a:off x="2124075" y="4791075"/>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1</a:t>
            </a:r>
          </a:p>
        </p:txBody>
      </p:sp>
      <p:sp>
        <p:nvSpPr>
          <p:cNvPr id="684052" name="Oval 20"/>
          <p:cNvSpPr>
            <a:spLocks noChangeArrowheads="1"/>
          </p:cNvSpPr>
          <p:nvPr/>
        </p:nvSpPr>
        <p:spPr bwMode="auto">
          <a:xfrm>
            <a:off x="2700338" y="4791075"/>
            <a:ext cx="468312" cy="450850"/>
          </a:xfrm>
          <a:prstGeom prst="ellipse">
            <a:avLst/>
          </a:prstGeom>
          <a:solidFill>
            <a:srgbClr val="FF0000"/>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solidFill>
                  <a:schemeClr val="bg1"/>
                </a:solidFill>
                <a:latin typeface="华文新魏" pitchFamily="2" charset="-122"/>
                <a:ea typeface="华文新魏" pitchFamily="2" charset="-122"/>
              </a:rPr>
              <a:t>E</a:t>
            </a:r>
          </a:p>
        </p:txBody>
      </p:sp>
      <p:sp>
        <p:nvSpPr>
          <p:cNvPr id="684053" name="Oval 21"/>
          <p:cNvSpPr>
            <a:spLocks noChangeArrowheads="1"/>
          </p:cNvSpPr>
          <p:nvPr/>
        </p:nvSpPr>
        <p:spPr bwMode="auto">
          <a:xfrm>
            <a:off x="3276600" y="4791075"/>
            <a:ext cx="468313" cy="45085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3</a:t>
            </a:r>
          </a:p>
        </p:txBody>
      </p:sp>
      <p:sp>
        <p:nvSpPr>
          <p:cNvPr id="684054" name="Oval 22"/>
          <p:cNvSpPr>
            <a:spLocks noChangeArrowheads="1"/>
          </p:cNvSpPr>
          <p:nvPr/>
        </p:nvSpPr>
        <p:spPr bwMode="auto">
          <a:xfrm>
            <a:off x="3852863" y="4791075"/>
            <a:ext cx="468312" cy="45085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4</a:t>
            </a:r>
          </a:p>
        </p:txBody>
      </p:sp>
      <p:sp>
        <p:nvSpPr>
          <p:cNvPr id="684055" name="Oval 23"/>
          <p:cNvSpPr>
            <a:spLocks noChangeArrowheads="1"/>
          </p:cNvSpPr>
          <p:nvPr/>
        </p:nvSpPr>
        <p:spPr bwMode="auto">
          <a:xfrm>
            <a:off x="4429125" y="4791075"/>
            <a:ext cx="468313" cy="450850"/>
          </a:xfrm>
          <a:prstGeom prst="ellipse">
            <a:avLst/>
          </a:prstGeom>
          <a:solidFill>
            <a:schemeClr val="bg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5</a:t>
            </a:r>
          </a:p>
        </p:txBody>
      </p:sp>
      <p:sp>
        <p:nvSpPr>
          <p:cNvPr id="684056" name="Oval 24"/>
          <p:cNvSpPr>
            <a:spLocks noChangeArrowheads="1"/>
          </p:cNvSpPr>
          <p:nvPr/>
        </p:nvSpPr>
        <p:spPr bwMode="auto">
          <a:xfrm>
            <a:off x="5005388" y="4795838"/>
            <a:ext cx="468312" cy="450850"/>
          </a:xfrm>
          <a:prstGeom prst="ellipse">
            <a:avLst/>
          </a:prstGeom>
          <a:solidFill>
            <a:srgbClr val="FFFF00"/>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2</a:t>
            </a:r>
          </a:p>
        </p:txBody>
      </p:sp>
      <p:sp>
        <p:nvSpPr>
          <p:cNvPr id="684057" name="Oval 25"/>
          <p:cNvSpPr>
            <a:spLocks noChangeArrowheads="1"/>
          </p:cNvSpPr>
          <p:nvPr/>
        </p:nvSpPr>
        <p:spPr bwMode="auto">
          <a:xfrm>
            <a:off x="5581650" y="4791075"/>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6</a:t>
            </a:r>
          </a:p>
        </p:txBody>
      </p:sp>
      <p:sp>
        <p:nvSpPr>
          <p:cNvPr id="684058" name="Oval 26"/>
          <p:cNvSpPr>
            <a:spLocks noChangeArrowheads="1"/>
          </p:cNvSpPr>
          <p:nvPr/>
        </p:nvSpPr>
        <p:spPr bwMode="auto">
          <a:xfrm>
            <a:off x="6156325" y="4791075"/>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7</a:t>
            </a:r>
          </a:p>
        </p:txBody>
      </p:sp>
      <p:sp>
        <p:nvSpPr>
          <p:cNvPr id="684059" name="Oval 27"/>
          <p:cNvSpPr>
            <a:spLocks noChangeArrowheads="1"/>
          </p:cNvSpPr>
          <p:nvPr/>
        </p:nvSpPr>
        <p:spPr bwMode="auto">
          <a:xfrm>
            <a:off x="6732588" y="4791075"/>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8</a:t>
            </a:r>
          </a:p>
        </p:txBody>
      </p:sp>
      <p:sp>
        <p:nvSpPr>
          <p:cNvPr id="684060" name="Oval 28"/>
          <p:cNvSpPr>
            <a:spLocks noChangeArrowheads="1"/>
          </p:cNvSpPr>
          <p:nvPr/>
        </p:nvSpPr>
        <p:spPr bwMode="auto">
          <a:xfrm>
            <a:off x="7308850" y="4791075"/>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9</a:t>
            </a:r>
          </a:p>
        </p:txBody>
      </p:sp>
      <p:sp>
        <p:nvSpPr>
          <p:cNvPr id="684061" name="Oval 29"/>
          <p:cNvSpPr>
            <a:spLocks noChangeArrowheads="1"/>
          </p:cNvSpPr>
          <p:nvPr/>
        </p:nvSpPr>
        <p:spPr bwMode="auto">
          <a:xfrm>
            <a:off x="7885113" y="4791075"/>
            <a:ext cx="468312"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10</a:t>
            </a:r>
          </a:p>
        </p:txBody>
      </p:sp>
      <p:sp>
        <p:nvSpPr>
          <p:cNvPr id="684062" name="Oval 30"/>
          <p:cNvSpPr>
            <a:spLocks noChangeArrowheads="1"/>
          </p:cNvSpPr>
          <p:nvPr/>
        </p:nvSpPr>
        <p:spPr bwMode="auto">
          <a:xfrm>
            <a:off x="8461375" y="4791075"/>
            <a:ext cx="468313" cy="450850"/>
          </a:xfrm>
          <a:prstGeom prst="ellipse">
            <a:avLst/>
          </a:prstGeom>
          <a:solidFill>
            <a:schemeClr val="accent1"/>
          </a:solidFill>
          <a:ln w="19050">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000">
                <a:latin typeface="华文新魏" pitchFamily="2" charset="-122"/>
                <a:ea typeface="华文新魏" pitchFamily="2" charset="-122"/>
              </a:rPr>
              <a:t>11</a:t>
            </a:r>
          </a:p>
        </p:txBody>
      </p:sp>
      <p:sp>
        <p:nvSpPr>
          <p:cNvPr id="684063" name="Line 31"/>
          <p:cNvSpPr>
            <a:spLocks noChangeShapeType="1"/>
          </p:cNvSpPr>
          <p:nvPr/>
        </p:nvSpPr>
        <p:spPr bwMode="auto">
          <a:xfrm>
            <a:off x="1044575"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64" name="Line 32"/>
          <p:cNvSpPr>
            <a:spLocks noChangeShapeType="1"/>
          </p:cNvSpPr>
          <p:nvPr/>
        </p:nvSpPr>
        <p:spPr bwMode="auto">
          <a:xfrm>
            <a:off x="1620838"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65" name="Line 33"/>
          <p:cNvSpPr>
            <a:spLocks noChangeShapeType="1"/>
          </p:cNvSpPr>
          <p:nvPr/>
        </p:nvSpPr>
        <p:spPr bwMode="auto">
          <a:xfrm>
            <a:off x="2197100"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66" name="Line 34"/>
          <p:cNvSpPr>
            <a:spLocks noChangeShapeType="1"/>
          </p:cNvSpPr>
          <p:nvPr/>
        </p:nvSpPr>
        <p:spPr bwMode="auto">
          <a:xfrm>
            <a:off x="2771775"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67" name="Line 35"/>
          <p:cNvSpPr>
            <a:spLocks noChangeShapeType="1"/>
          </p:cNvSpPr>
          <p:nvPr/>
        </p:nvSpPr>
        <p:spPr bwMode="auto">
          <a:xfrm>
            <a:off x="3348038"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68" name="Line 36"/>
          <p:cNvSpPr>
            <a:spLocks noChangeShapeType="1"/>
          </p:cNvSpPr>
          <p:nvPr/>
        </p:nvSpPr>
        <p:spPr bwMode="auto">
          <a:xfrm>
            <a:off x="3924300"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69" name="Line 37"/>
          <p:cNvSpPr>
            <a:spLocks noChangeShapeType="1"/>
          </p:cNvSpPr>
          <p:nvPr/>
        </p:nvSpPr>
        <p:spPr bwMode="auto">
          <a:xfrm>
            <a:off x="4500563"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0" name="Line 38"/>
          <p:cNvSpPr>
            <a:spLocks noChangeShapeType="1"/>
          </p:cNvSpPr>
          <p:nvPr/>
        </p:nvSpPr>
        <p:spPr bwMode="auto">
          <a:xfrm>
            <a:off x="5076825"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1" name="Line 39"/>
          <p:cNvSpPr>
            <a:spLocks noChangeShapeType="1"/>
          </p:cNvSpPr>
          <p:nvPr/>
        </p:nvSpPr>
        <p:spPr bwMode="auto">
          <a:xfrm>
            <a:off x="5653088"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2" name="Line 40"/>
          <p:cNvSpPr>
            <a:spLocks noChangeShapeType="1"/>
          </p:cNvSpPr>
          <p:nvPr/>
        </p:nvSpPr>
        <p:spPr bwMode="auto">
          <a:xfrm>
            <a:off x="6229350"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3" name="Line 41"/>
          <p:cNvSpPr>
            <a:spLocks noChangeShapeType="1"/>
          </p:cNvSpPr>
          <p:nvPr/>
        </p:nvSpPr>
        <p:spPr bwMode="auto">
          <a:xfrm>
            <a:off x="6805613"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4" name="Line 42"/>
          <p:cNvSpPr>
            <a:spLocks noChangeShapeType="1"/>
          </p:cNvSpPr>
          <p:nvPr/>
        </p:nvSpPr>
        <p:spPr bwMode="auto">
          <a:xfrm>
            <a:off x="7380288"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5" name="Line 43"/>
          <p:cNvSpPr>
            <a:spLocks noChangeShapeType="1"/>
          </p:cNvSpPr>
          <p:nvPr/>
        </p:nvSpPr>
        <p:spPr bwMode="auto">
          <a:xfrm>
            <a:off x="7956550" y="2779713"/>
            <a:ext cx="647700" cy="2016125"/>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6" name="Line 44"/>
          <p:cNvSpPr>
            <a:spLocks noChangeShapeType="1"/>
          </p:cNvSpPr>
          <p:nvPr/>
        </p:nvSpPr>
        <p:spPr bwMode="auto">
          <a:xfrm flipV="1">
            <a:off x="1836738" y="2779713"/>
            <a:ext cx="792162"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7" name="Line 45"/>
          <p:cNvSpPr>
            <a:spLocks noChangeShapeType="1"/>
          </p:cNvSpPr>
          <p:nvPr/>
        </p:nvSpPr>
        <p:spPr bwMode="auto">
          <a:xfrm flipV="1">
            <a:off x="2413000" y="2779713"/>
            <a:ext cx="792163"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8" name="Line 46"/>
          <p:cNvSpPr>
            <a:spLocks noChangeShapeType="1"/>
          </p:cNvSpPr>
          <p:nvPr/>
        </p:nvSpPr>
        <p:spPr bwMode="auto">
          <a:xfrm flipV="1">
            <a:off x="7021513" y="2779713"/>
            <a:ext cx="792162"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79" name="Line 47"/>
          <p:cNvSpPr>
            <a:spLocks noChangeShapeType="1"/>
          </p:cNvSpPr>
          <p:nvPr/>
        </p:nvSpPr>
        <p:spPr bwMode="auto">
          <a:xfrm flipV="1">
            <a:off x="7596188" y="2779713"/>
            <a:ext cx="792162"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80" name="Line 48"/>
          <p:cNvSpPr>
            <a:spLocks noChangeShapeType="1"/>
          </p:cNvSpPr>
          <p:nvPr/>
        </p:nvSpPr>
        <p:spPr bwMode="auto">
          <a:xfrm flipV="1">
            <a:off x="8172450" y="2779713"/>
            <a:ext cx="792163"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81" name="Text Box 49"/>
          <p:cNvSpPr txBox="1">
            <a:spLocks noChangeArrowheads="1"/>
          </p:cNvSpPr>
          <p:nvPr/>
        </p:nvSpPr>
        <p:spPr bwMode="auto">
          <a:xfrm rot="17473268">
            <a:off x="1745457"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Ack0</a:t>
            </a:r>
          </a:p>
        </p:txBody>
      </p:sp>
      <p:sp>
        <p:nvSpPr>
          <p:cNvPr id="684082" name="Text Box 50"/>
          <p:cNvSpPr txBox="1">
            <a:spLocks noChangeArrowheads="1"/>
          </p:cNvSpPr>
          <p:nvPr/>
        </p:nvSpPr>
        <p:spPr bwMode="auto">
          <a:xfrm rot="17473268">
            <a:off x="2321719"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Ack1</a:t>
            </a:r>
          </a:p>
        </p:txBody>
      </p:sp>
      <p:sp>
        <p:nvSpPr>
          <p:cNvPr id="684083" name="Text Box 51"/>
          <p:cNvSpPr txBox="1">
            <a:spLocks noChangeArrowheads="1"/>
          </p:cNvSpPr>
          <p:nvPr/>
        </p:nvSpPr>
        <p:spPr bwMode="auto">
          <a:xfrm rot="17473268">
            <a:off x="6930232"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Ack8</a:t>
            </a:r>
          </a:p>
        </p:txBody>
      </p:sp>
      <p:sp>
        <p:nvSpPr>
          <p:cNvPr id="684084" name="Text Box 52"/>
          <p:cNvSpPr txBox="1">
            <a:spLocks noChangeArrowheads="1"/>
          </p:cNvSpPr>
          <p:nvPr/>
        </p:nvSpPr>
        <p:spPr bwMode="auto">
          <a:xfrm rot="17473268">
            <a:off x="7506494"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Ack9</a:t>
            </a:r>
          </a:p>
        </p:txBody>
      </p:sp>
      <p:sp>
        <p:nvSpPr>
          <p:cNvPr id="684085" name="Text Box 53"/>
          <p:cNvSpPr txBox="1">
            <a:spLocks noChangeArrowheads="1"/>
          </p:cNvSpPr>
          <p:nvPr/>
        </p:nvSpPr>
        <p:spPr bwMode="auto">
          <a:xfrm rot="17473268">
            <a:off x="8082757" y="3301206"/>
            <a:ext cx="8651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Ack10</a:t>
            </a:r>
          </a:p>
        </p:txBody>
      </p:sp>
      <p:sp>
        <p:nvSpPr>
          <p:cNvPr id="684086" name="Text Box 54"/>
          <p:cNvSpPr txBox="1">
            <a:spLocks noChangeArrowheads="1"/>
          </p:cNvSpPr>
          <p:nvPr/>
        </p:nvSpPr>
        <p:spPr bwMode="auto">
          <a:xfrm>
            <a:off x="612775" y="1843088"/>
            <a:ext cx="12239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a:ea typeface="华文新魏" pitchFamily="2" charset="-122"/>
              </a:rPr>
              <a:t>发送方</a:t>
            </a:r>
          </a:p>
        </p:txBody>
      </p:sp>
      <p:sp>
        <p:nvSpPr>
          <p:cNvPr id="684087" name="Text Box 55"/>
          <p:cNvSpPr txBox="1">
            <a:spLocks noChangeArrowheads="1"/>
          </p:cNvSpPr>
          <p:nvPr/>
        </p:nvSpPr>
        <p:spPr bwMode="auto">
          <a:xfrm>
            <a:off x="612775" y="5300663"/>
            <a:ext cx="12239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a:ea typeface="华文新魏" pitchFamily="2" charset="-122"/>
              </a:rPr>
              <a:t>接收方</a:t>
            </a:r>
          </a:p>
        </p:txBody>
      </p:sp>
      <p:sp>
        <p:nvSpPr>
          <p:cNvPr id="684088" name="AutoShape 56"/>
          <p:cNvSpPr>
            <a:spLocks/>
          </p:cNvSpPr>
          <p:nvPr/>
        </p:nvSpPr>
        <p:spPr bwMode="auto">
          <a:xfrm rot="-5400000">
            <a:off x="4031456" y="4833144"/>
            <a:ext cx="217488" cy="1295400"/>
          </a:xfrm>
          <a:prstGeom prst="leftBrace">
            <a:avLst>
              <a:gd name="adj1" fmla="val 49635"/>
              <a:gd name="adj2" fmla="val 50000"/>
            </a:avLst>
          </a:prstGeom>
          <a:noFill/>
          <a:ln w="1905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84089" name="Text Box 57"/>
          <p:cNvSpPr txBox="1">
            <a:spLocks noChangeArrowheads="1"/>
          </p:cNvSpPr>
          <p:nvPr/>
        </p:nvSpPr>
        <p:spPr bwMode="auto">
          <a:xfrm>
            <a:off x="3276600" y="5589588"/>
            <a:ext cx="33115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a:ea typeface="华文新魏" pitchFamily="2" charset="-122"/>
              </a:rPr>
              <a:t>被数据链路层缓冲的帧</a:t>
            </a:r>
          </a:p>
        </p:txBody>
      </p:sp>
      <p:sp>
        <p:nvSpPr>
          <p:cNvPr id="684090" name="AutoShape 58"/>
          <p:cNvSpPr>
            <a:spLocks noChangeArrowheads="1"/>
          </p:cNvSpPr>
          <p:nvPr/>
        </p:nvSpPr>
        <p:spPr bwMode="auto">
          <a:xfrm>
            <a:off x="1979613" y="5659438"/>
            <a:ext cx="863600" cy="431800"/>
          </a:xfrm>
          <a:prstGeom prst="wedgeRoundRectCallout">
            <a:avLst>
              <a:gd name="adj1" fmla="val 47060"/>
              <a:gd name="adj2" fmla="val -147796"/>
              <a:gd name="adj3" fmla="val 16667"/>
            </a:avLst>
          </a:prstGeom>
          <a:solidFill>
            <a:srgbClr val="FF0000"/>
          </a:solidFill>
          <a:ln w="9525">
            <a:solidFill>
              <a:schemeClr val="tx1"/>
            </a:solidFill>
            <a:miter lim="800000"/>
            <a:headEnd/>
            <a:tailEnd/>
          </a:ln>
          <a:effectLst>
            <a:outerShdw dist="107763" dir="2700000" algn="ctr" rotWithShape="0">
              <a:srgbClr val="00002E">
                <a:alpha val="50000"/>
              </a:srgbClr>
            </a:outerShdw>
          </a:effectLst>
        </p:spPr>
        <p:txBody>
          <a:bodyPr lIns="0" tIns="0" rIns="0" bIns="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dirty="0" smtClean="0">
                <a:solidFill>
                  <a:schemeClr val="bg1"/>
                </a:solidFill>
                <a:ea typeface="华文新魏" pitchFamily="2" charset="-122"/>
              </a:rPr>
              <a:t>丢失</a:t>
            </a:r>
            <a:endParaRPr lang="zh-CN" altLang="en-US" dirty="0">
              <a:solidFill>
                <a:schemeClr val="bg1"/>
              </a:solidFill>
              <a:ea typeface="华文新魏" pitchFamily="2" charset="-122"/>
            </a:endParaRPr>
          </a:p>
        </p:txBody>
      </p:sp>
      <p:sp>
        <p:nvSpPr>
          <p:cNvPr id="684096" name="Line 64"/>
          <p:cNvSpPr>
            <a:spLocks noChangeShapeType="1"/>
          </p:cNvSpPr>
          <p:nvPr/>
        </p:nvSpPr>
        <p:spPr bwMode="auto">
          <a:xfrm>
            <a:off x="7092950" y="5589588"/>
            <a:ext cx="720725" cy="0"/>
          </a:xfrm>
          <a:prstGeom prst="line">
            <a:avLst/>
          </a:prstGeom>
          <a:noFill/>
          <a:ln w="19050">
            <a:solidFill>
              <a:schemeClr val="tx1"/>
            </a:solidFill>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097" name="Text Box 65"/>
          <p:cNvSpPr txBox="1">
            <a:spLocks noChangeArrowheads="1"/>
          </p:cNvSpPr>
          <p:nvPr/>
        </p:nvSpPr>
        <p:spPr bwMode="auto">
          <a:xfrm>
            <a:off x="7740650" y="5373688"/>
            <a:ext cx="7921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ea typeface="华文新魏" pitchFamily="2" charset="-122"/>
              </a:rPr>
              <a:t>时间</a:t>
            </a:r>
          </a:p>
        </p:txBody>
      </p:sp>
      <p:sp>
        <p:nvSpPr>
          <p:cNvPr id="684098" name="Text Box 6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684099" name="Line 67"/>
          <p:cNvSpPr>
            <a:spLocks noChangeShapeType="1"/>
          </p:cNvSpPr>
          <p:nvPr/>
        </p:nvSpPr>
        <p:spPr bwMode="auto">
          <a:xfrm flipV="1">
            <a:off x="3563938" y="2781300"/>
            <a:ext cx="792162"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100" name="Text Box 68"/>
          <p:cNvSpPr txBox="1">
            <a:spLocks noChangeArrowheads="1"/>
          </p:cNvSpPr>
          <p:nvPr/>
        </p:nvSpPr>
        <p:spPr bwMode="auto">
          <a:xfrm rot="17473268">
            <a:off x="3474244" y="3300086"/>
            <a:ext cx="865187" cy="402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dirty="0">
                <a:solidFill>
                  <a:srgbClr val="FF0000"/>
                </a:solidFill>
                <a:latin typeface="华文新魏" pitchFamily="2" charset="-122"/>
                <a:ea typeface="华文新魏" pitchFamily="2" charset="-122"/>
              </a:rPr>
              <a:t>Nak2</a:t>
            </a:r>
          </a:p>
        </p:txBody>
      </p:sp>
      <p:sp>
        <p:nvSpPr>
          <p:cNvPr id="684101" name="Text Box 69"/>
          <p:cNvSpPr txBox="1">
            <a:spLocks noChangeArrowheads="1"/>
          </p:cNvSpPr>
          <p:nvPr/>
        </p:nvSpPr>
        <p:spPr bwMode="auto">
          <a:xfrm rot="17473268">
            <a:off x="4050507" y="3302794"/>
            <a:ext cx="8651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Ack1</a:t>
            </a:r>
          </a:p>
        </p:txBody>
      </p:sp>
      <p:sp>
        <p:nvSpPr>
          <p:cNvPr id="684102" name="Line 70"/>
          <p:cNvSpPr>
            <a:spLocks noChangeShapeType="1"/>
          </p:cNvSpPr>
          <p:nvPr/>
        </p:nvSpPr>
        <p:spPr bwMode="auto">
          <a:xfrm flipV="1">
            <a:off x="4140200" y="2781300"/>
            <a:ext cx="792163"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103" name="Line 71"/>
          <p:cNvSpPr>
            <a:spLocks noChangeShapeType="1"/>
          </p:cNvSpPr>
          <p:nvPr/>
        </p:nvSpPr>
        <p:spPr bwMode="auto">
          <a:xfrm flipV="1">
            <a:off x="4716463" y="2781300"/>
            <a:ext cx="792162"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104" name="Line 72"/>
          <p:cNvSpPr>
            <a:spLocks noChangeShapeType="1"/>
          </p:cNvSpPr>
          <p:nvPr/>
        </p:nvSpPr>
        <p:spPr bwMode="auto">
          <a:xfrm flipV="1">
            <a:off x="5292725" y="2781300"/>
            <a:ext cx="792163"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105" name="Line 73"/>
          <p:cNvSpPr>
            <a:spLocks noChangeShapeType="1"/>
          </p:cNvSpPr>
          <p:nvPr/>
        </p:nvSpPr>
        <p:spPr bwMode="auto">
          <a:xfrm flipV="1">
            <a:off x="5867400" y="2781300"/>
            <a:ext cx="792163"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106" name="Line 74"/>
          <p:cNvSpPr>
            <a:spLocks noChangeShapeType="1"/>
          </p:cNvSpPr>
          <p:nvPr/>
        </p:nvSpPr>
        <p:spPr bwMode="auto">
          <a:xfrm flipV="1">
            <a:off x="6443663" y="2781300"/>
            <a:ext cx="792162" cy="2016125"/>
          </a:xfrm>
          <a:prstGeom prst="line">
            <a:avLst/>
          </a:prstGeom>
          <a:noFill/>
          <a:ln w="19050">
            <a:solidFill>
              <a:schemeClr val="tx1"/>
            </a:solidFill>
            <a:prstDash val="dash"/>
            <a:round/>
            <a:headEnd/>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84107" name="Text Box 75"/>
          <p:cNvSpPr txBox="1">
            <a:spLocks noChangeArrowheads="1"/>
          </p:cNvSpPr>
          <p:nvPr/>
        </p:nvSpPr>
        <p:spPr bwMode="auto">
          <a:xfrm rot="17473268">
            <a:off x="4625182" y="3302794"/>
            <a:ext cx="8651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Ack1</a:t>
            </a:r>
          </a:p>
        </p:txBody>
      </p:sp>
      <p:sp>
        <p:nvSpPr>
          <p:cNvPr id="684108" name="Text Box 76"/>
          <p:cNvSpPr txBox="1">
            <a:spLocks noChangeArrowheads="1"/>
          </p:cNvSpPr>
          <p:nvPr/>
        </p:nvSpPr>
        <p:spPr bwMode="auto">
          <a:xfrm rot="17473268">
            <a:off x="5201444" y="3302794"/>
            <a:ext cx="8651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Ack5</a:t>
            </a:r>
          </a:p>
        </p:txBody>
      </p:sp>
      <p:sp>
        <p:nvSpPr>
          <p:cNvPr id="684109" name="Text Box 77"/>
          <p:cNvSpPr txBox="1">
            <a:spLocks noChangeArrowheads="1"/>
          </p:cNvSpPr>
          <p:nvPr/>
        </p:nvSpPr>
        <p:spPr bwMode="auto">
          <a:xfrm rot="17473268">
            <a:off x="5777707" y="3302794"/>
            <a:ext cx="8651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Ack6</a:t>
            </a:r>
          </a:p>
        </p:txBody>
      </p:sp>
      <p:sp>
        <p:nvSpPr>
          <p:cNvPr id="684110" name="Text Box 78"/>
          <p:cNvSpPr txBox="1">
            <a:spLocks noChangeArrowheads="1"/>
          </p:cNvSpPr>
          <p:nvPr/>
        </p:nvSpPr>
        <p:spPr bwMode="auto">
          <a:xfrm rot="17473268">
            <a:off x="6353969" y="3302794"/>
            <a:ext cx="8651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a:latin typeface="华文新魏" pitchFamily="2" charset="-122"/>
                <a:ea typeface="华文新魏" pitchFamily="2" charset="-122"/>
              </a:rPr>
              <a:t>Ack7</a:t>
            </a:r>
          </a:p>
        </p:txBody>
      </p:sp>
      <p:sp>
        <p:nvSpPr>
          <p:cNvPr id="74" name="Text Box 65"/>
          <p:cNvSpPr txBox="1">
            <a:spLocks noChangeArrowheads="1"/>
          </p:cNvSpPr>
          <p:nvPr/>
        </p:nvSpPr>
        <p:spPr bwMode="auto">
          <a:xfrm>
            <a:off x="1835696" y="1690803"/>
            <a:ext cx="6480175" cy="46384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b="1" dirty="0" smtClean="0">
                <a:solidFill>
                  <a:srgbClr val="0000FF"/>
                </a:solidFill>
                <a:latin typeface="+mn-lt"/>
                <a:ea typeface="+mn-ea"/>
              </a:rPr>
              <a:t>本协议引入否定确认帧</a:t>
            </a:r>
            <a:r>
              <a:rPr lang="en-US" altLang="zh-CN" b="1" dirty="0" smtClean="0">
                <a:solidFill>
                  <a:srgbClr val="0000FF"/>
                </a:solidFill>
                <a:latin typeface="+mn-lt"/>
                <a:ea typeface="+mn-ea"/>
              </a:rPr>
              <a:t>NAK</a:t>
            </a:r>
            <a:r>
              <a:rPr lang="zh-CN" altLang="en-US" b="1" dirty="0" smtClean="0">
                <a:solidFill>
                  <a:srgbClr val="0000FF"/>
                </a:solidFill>
                <a:latin typeface="+mn-lt"/>
                <a:ea typeface="+mn-ea"/>
              </a:rPr>
              <a:t>以提高传输效率</a:t>
            </a:r>
            <a:endParaRPr lang="zh-CN" altLang="en-US" b="1" dirty="0">
              <a:solidFill>
                <a:srgbClr val="0000FF"/>
              </a:solidFill>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xfrm>
            <a:off x="1403350" y="476250"/>
            <a:ext cx="6192838" cy="1008063"/>
          </a:xfrm>
        </p:spPr>
        <p:txBody>
          <a:bodyPr/>
          <a:lstStyle/>
          <a:p>
            <a:r>
              <a:rPr lang="zh-CN" altLang="en-US" sz="3600"/>
              <a:t>使用选择重发的滑动窗口协议</a:t>
            </a:r>
            <a:r>
              <a:rPr lang="zh-CN" altLang="en-US" sz="2400"/>
              <a:t>（选择重发</a:t>
            </a:r>
            <a:r>
              <a:rPr lang="en-US" altLang="zh-CN" sz="2400"/>
              <a:t>ARQ</a:t>
            </a:r>
            <a:r>
              <a:rPr lang="zh-CN" altLang="en-US" sz="2400"/>
              <a:t>协议）</a:t>
            </a:r>
          </a:p>
        </p:txBody>
      </p:sp>
      <p:sp>
        <p:nvSpPr>
          <p:cNvPr id="685059" name="Rectangle 3"/>
          <p:cNvSpPr>
            <a:spLocks noGrp="1" noChangeArrowheads="1"/>
          </p:cNvSpPr>
          <p:nvPr>
            <p:ph type="body" idx="1"/>
          </p:nvPr>
        </p:nvSpPr>
        <p:spPr>
          <a:xfrm>
            <a:off x="809625" y="1773238"/>
            <a:ext cx="7958138" cy="4608512"/>
          </a:xfrm>
        </p:spPr>
        <p:txBody>
          <a:bodyPr/>
          <a:lstStyle/>
          <a:p>
            <a:r>
              <a:rPr lang="zh-CN" altLang="en-US" sz="2600" dirty="0">
                <a:solidFill>
                  <a:srgbClr val="FF0000"/>
                </a:solidFill>
              </a:rPr>
              <a:t>发送窗口</a:t>
            </a:r>
            <a:r>
              <a:rPr lang="en-US" altLang="zh-CN" sz="2600" dirty="0">
                <a:solidFill>
                  <a:srgbClr val="FF0000"/>
                </a:solidFill>
              </a:rPr>
              <a:t>&gt;1</a:t>
            </a:r>
            <a:r>
              <a:rPr lang="zh-CN" altLang="en-US" sz="2600" dirty="0">
                <a:solidFill>
                  <a:srgbClr val="FF0000"/>
                </a:solidFill>
              </a:rPr>
              <a:t>，接收窗口</a:t>
            </a:r>
            <a:r>
              <a:rPr lang="en-US" altLang="zh-CN" sz="2600" dirty="0">
                <a:solidFill>
                  <a:srgbClr val="FF0000"/>
                </a:solidFill>
              </a:rPr>
              <a:t>&gt;1</a:t>
            </a:r>
            <a:endParaRPr lang="zh-CN" altLang="en-US" sz="2600" dirty="0">
              <a:solidFill>
                <a:srgbClr val="FF0000"/>
              </a:solidFill>
            </a:endParaRPr>
          </a:p>
          <a:p>
            <a:pPr lvl="1"/>
            <a:r>
              <a:rPr lang="zh-CN" altLang="en-US" sz="2600" dirty="0"/>
              <a:t>接收方</a:t>
            </a:r>
            <a:r>
              <a:rPr lang="zh-CN" altLang="en-US" sz="2600" dirty="0" smtClean="0"/>
              <a:t>接收</a:t>
            </a:r>
            <a:r>
              <a:rPr lang="zh-CN" altLang="en-US" sz="2600" dirty="0"/>
              <a:t>到正确且正</a:t>
            </a:r>
            <a:r>
              <a:rPr lang="zh-CN" altLang="en-US" sz="2600" dirty="0" smtClean="0"/>
              <a:t>期待的帧，上交并发</a:t>
            </a:r>
            <a:r>
              <a:rPr lang="zh-CN" altLang="en-US" sz="2600" dirty="0">
                <a:solidFill>
                  <a:srgbClr val="0000FF"/>
                </a:solidFill>
              </a:rPr>
              <a:t>肯定确认帧</a:t>
            </a:r>
            <a:r>
              <a:rPr lang="zh-CN" altLang="en-US" sz="2600" dirty="0" smtClean="0"/>
              <a:t>；接收到出错</a:t>
            </a:r>
            <a:r>
              <a:rPr lang="zh-CN" altLang="en-US" sz="2600" dirty="0"/>
              <a:t>帧，丢弃并发</a:t>
            </a:r>
            <a:r>
              <a:rPr lang="zh-CN" altLang="en-US" sz="2600" dirty="0">
                <a:solidFill>
                  <a:srgbClr val="0000FF"/>
                </a:solidFill>
              </a:rPr>
              <a:t>否定确认</a:t>
            </a:r>
            <a:r>
              <a:rPr lang="zh-CN" altLang="en-US" sz="2600" dirty="0" smtClean="0">
                <a:solidFill>
                  <a:srgbClr val="0000FF"/>
                </a:solidFill>
              </a:rPr>
              <a:t>帧</a:t>
            </a:r>
            <a:r>
              <a:rPr lang="zh-CN" altLang="en-US" sz="2600" dirty="0" smtClean="0">
                <a:solidFill>
                  <a:schemeClr val="tx1"/>
                </a:solidFill>
              </a:rPr>
              <a:t>；</a:t>
            </a:r>
            <a:r>
              <a:rPr lang="zh-CN" altLang="en-US" sz="2600" dirty="0"/>
              <a:t>接收</a:t>
            </a:r>
            <a:r>
              <a:rPr lang="zh-CN" altLang="en-US" sz="2600" dirty="0" smtClean="0"/>
              <a:t>到正确</a:t>
            </a:r>
            <a:r>
              <a:rPr lang="zh-CN" altLang="en-US" sz="2600" dirty="0"/>
              <a:t>且</a:t>
            </a:r>
            <a:r>
              <a:rPr lang="zh-CN" altLang="en-US" sz="2600" dirty="0" smtClean="0"/>
              <a:t>非期待的帧，缓存该帧并发</a:t>
            </a:r>
            <a:r>
              <a:rPr lang="zh-CN" altLang="en-US" sz="2600" dirty="0">
                <a:solidFill>
                  <a:srgbClr val="0000FF"/>
                </a:solidFill>
              </a:rPr>
              <a:t>否定确认帧</a:t>
            </a:r>
            <a:r>
              <a:rPr lang="zh-CN" altLang="en-US" sz="2600" dirty="0">
                <a:solidFill>
                  <a:schemeClr val="tx1"/>
                </a:solidFill>
              </a:rPr>
              <a:t>； </a:t>
            </a:r>
            <a:r>
              <a:rPr lang="zh-CN" altLang="en-US" sz="2600" dirty="0" smtClean="0"/>
              <a:t>。</a:t>
            </a:r>
            <a:endParaRPr lang="zh-CN" altLang="en-US" sz="2600" dirty="0"/>
          </a:p>
          <a:p>
            <a:pPr lvl="1"/>
            <a:r>
              <a:rPr lang="zh-CN" altLang="en-US" sz="2600" dirty="0"/>
              <a:t>发送方收到否定确认帧或待</a:t>
            </a:r>
            <a:r>
              <a:rPr lang="zh-CN" altLang="en-US" sz="2600" dirty="0" smtClean="0"/>
              <a:t>数据帧定时器</a:t>
            </a:r>
            <a:r>
              <a:rPr lang="zh-CN" altLang="en-US" sz="2600" dirty="0"/>
              <a:t>超时，</a:t>
            </a:r>
            <a:r>
              <a:rPr lang="zh-CN" altLang="en-US" sz="2600" dirty="0">
                <a:solidFill>
                  <a:srgbClr val="0000FF"/>
                </a:solidFill>
              </a:rPr>
              <a:t>只重发错帧</a:t>
            </a:r>
            <a:r>
              <a:rPr lang="zh-CN" altLang="en-US" sz="2600" dirty="0"/>
              <a:t>。</a:t>
            </a:r>
          </a:p>
          <a:p>
            <a:r>
              <a:rPr lang="zh-CN" altLang="en-US" sz="2600" dirty="0">
                <a:solidFill>
                  <a:srgbClr val="FF0000"/>
                </a:solidFill>
              </a:rPr>
              <a:t>窗口大小</a:t>
            </a:r>
          </a:p>
          <a:p>
            <a:pPr lvl="1"/>
            <a:r>
              <a:rPr lang="zh-CN" altLang="en-US" sz="2600" dirty="0"/>
              <a:t>对于帧序号位数为</a:t>
            </a:r>
            <a:r>
              <a:rPr lang="en-US" altLang="zh-CN" sz="2600" dirty="0"/>
              <a:t>n</a:t>
            </a:r>
            <a:r>
              <a:rPr lang="zh-CN" altLang="en-US" sz="2600" dirty="0"/>
              <a:t>，其发送窗口大小</a:t>
            </a:r>
            <a:r>
              <a:rPr lang="en-US" altLang="zh-CN" sz="2600" dirty="0"/>
              <a:t>W</a:t>
            </a:r>
            <a:r>
              <a:rPr lang="en-US" altLang="zh-CN" sz="2600" baseline="-25000" dirty="0"/>
              <a:t>T</a:t>
            </a:r>
            <a:r>
              <a:rPr lang="zh-CN" altLang="en-US" sz="2600" dirty="0"/>
              <a:t>和接收窗口大小</a:t>
            </a:r>
            <a:r>
              <a:rPr lang="en-US" altLang="zh-CN" sz="2600" dirty="0"/>
              <a:t>W</a:t>
            </a:r>
            <a:r>
              <a:rPr lang="en-US" altLang="zh-CN" sz="2600" baseline="-25000" dirty="0"/>
              <a:t>R</a:t>
            </a:r>
            <a:r>
              <a:rPr lang="zh-CN" altLang="en-US" sz="2600" dirty="0"/>
              <a:t>必满足</a:t>
            </a:r>
            <a:r>
              <a:rPr lang="en-US" altLang="zh-CN" sz="2600" dirty="0">
                <a:solidFill>
                  <a:srgbClr val="0000FF"/>
                </a:solidFill>
              </a:rPr>
              <a:t>W</a:t>
            </a:r>
            <a:r>
              <a:rPr lang="en-US" altLang="zh-CN" sz="2600" baseline="-25000" dirty="0">
                <a:solidFill>
                  <a:srgbClr val="0000FF"/>
                </a:solidFill>
              </a:rPr>
              <a:t>R</a:t>
            </a:r>
            <a:r>
              <a:rPr lang="en-US" altLang="zh-CN" sz="2600" dirty="0">
                <a:solidFill>
                  <a:srgbClr val="0000FF"/>
                </a:solidFill>
              </a:rPr>
              <a:t>≤W</a:t>
            </a:r>
            <a:r>
              <a:rPr lang="en-US" altLang="zh-CN" sz="2600" baseline="-25000" dirty="0">
                <a:solidFill>
                  <a:srgbClr val="0000FF"/>
                </a:solidFill>
              </a:rPr>
              <a:t>T</a:t>
            </a:r>
            <a:r>
              <a:rPr lang="en-US" altLang="zh-CN" sz="2600" dirty="0">
                <a:solidFill>
                  <a:srgbClr val="0000FF"/>
                </a:solidFill>
              </a:rPr>
              <a:t>≤2</a:t>
            </a:r>
            <a:r>
              <a:rPr lang="en-US" altLang="zh-CN" sz="2600" baseline="30000" dirty="0">
                <a:solidFill>
                  <a:srgbClr val="0000FF"/>
                </a:solidFill>
              </a:rPr>
              <a:t>n-1</a:t>
            </a:r>
            <a:r>
              <a:rPr lang="zh-CN" altLang="en-US" sz="2600" dirty="0"/>
              <a:t>。</a:t>
            </a:r>
          </a:p>
        </p:txBody>
      </p:sp>
      <p:sp>
        <p:nvSpPr>
          <p:cNvPr id="68506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8506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p:txBody>
          <a:bodyPr/>
          <a:lstStyle/>
          <a:p>
            <a:r>
              <a:rPr lang="zh-CN" altLang="en-US"/>
              <a:t>定理证明</a:t>
            </a:r>
          </a:p>
        </p:txBody>
      </p:sp>
      <p:sp>
        <p:nvSpPr>
          <p:cNvPr id="686083" name="Rectangle 3"/>
          <p:cNvSpPr>
            <a:spLocks noGrp="1" noChangeArrowheads="1"/>
          </p:cNvSpPr>
          <p:nvPr>
            <p:ph type="body" idx="1"/>
          </p:nvPr>
        </p:nvSpPr>
        <p:spPr/>
        <p:txBody>
          <a:bodyPr/>
          <a:lstStyle/>
          <a:p>
            <a:pPr>
              <a:lnSpc>
                <a:spcPct val="115000"/>
              </a:lnSpc>
            </a:pPr>
            <a:r>
              <a:rPr lang="zh-CN" altLang="en-US" sz="2200">
                <a:solidFill>
                  <a:srgbClr val="FF0000"/>
                </a:solidFill>
              </a:rPr>
              <a:t>定理</a:t>
            </a:r>
            <a:r>
              <a:rPr lang="zh-CN" altLang="en-US" sz="2200"/>
              <a:t>：对于帧序号位数为</a:t>
            </a:r>
            <a:r>
              <a:rPr lang="en-US" altLang="zh-CN" sz="2200"/>
              <a:t>n</a:t>
            </a:r>
            <a:r>
              <a:rPr lang="zh-CN" altLang="en-US" sz="2200"/>
              <a:t>，其发送窗口大小</a:t>
            </a:r>
            <a:r>
              <a:rPr lang="en-US" altLang="zh-CN" sz="2200"/>
              <a:t>W</a:t>
            </a:r>
            <a:r>
              <a:rPr lang="en-US" altLang="zh-CN" sz="2200" baseline="-25000"/>
              <a:t>T</a:t>
            </a:r>
            <a:r>
              <a:rPr lang="zh-CN" altLang="en-US" sz="2200"/>
              <a:t>和接收窗口大小</a:t>
            </a:r>
            <a:r>
              <a:rPr lang="en-US" altLang="zh-CN" sz="2200"/>
              <a:t>W</a:t>
            </a:r>
            <a:r>
              <a:rPr lang="en-US" altLang="zh-CN" sz="2200" baseline="-25000"/>
              <a:t>R</a:t>
            </a:r>
            <a:r>
              <a:rPr lang="zh-CN" altLang="en-US" sz="2200"/>
              <a:t>必满足</a:t>
            </a:r>
            <a:r>
              <a:rPr lang="en-US" altLang="zh-CN" sz="2200">
                <a:solidFill>
                  <a:srgbClr val="0000FF"/>
                </a:solidFill>
              </a:rPr>
              <a:t>W</a:t>
            </a:r>
            <a:r>
              <a:rPr lang="en-US" altLang="zh-CN" sz="2200" baseline="-25000">
                <a:solidFill>
                  <a:srgbClr val="0000FF"/>
                </a:solidFill>
              </a:rPr>
              <a:t>R</a:t>
            </a:r>
            <a:r>
              <a:rPr lang="en-US" altLang="zh-CN" sz="2200">
                <a:solidFill>
                  <a:srgbClr val="0000FF"/>
                </a:solidFill>
              </a:rPr>
              <a:t>≤W</a:t>
            </a:r>
            <a:r>
              <a:rPr lang="en-US" altLang="zh-CN" sz="2200" baseline="-25000">
                <a:solidFill>
                  <a:srgbClr val="0000FF"/>
                </a:solidFill>
              </a:rPr>
              <a:t>T</a:t>
            </a:r>
            <a:r>
              <a:rPr lang="en-US" altLang="zh-CN" sz="2200">
                <a:solidFill>
                  <a:srgbClr val="0000FF"/>
                </a:solidFill>
              </a:rPr>
              <a:t>≤2</a:t>
            </a:r>
            <a:r>
              <a:rPr lang="en-US" altLang="zh-CN" sz="2200" baseline="30000">
                <a:solidFill>
                  <a:srgbClr val="0000FF"/>
                </a:solidFill>
              </a:rPr>
              <a:t>n-1</a:t>
            </a:r>
            <a:r>
              <a:rPr lang="zh-CN" altLang="en-US" sz="2200"/>
              <a:t>。</a:t>
            </a:r>
          </a:p>
          <a:p>
            <a:pPr>
              <a:lnSpc>
                <a:spcPct val="115000"/>
              </a:lnSpc>
            </a:pPr>
            <a:r>
              <a:rPr lang="zh-CN" altLang="en-US" sz="2200">
                <a:solidFill>
                  <a:srgbClr val="FF0000"/>
                </a:solidFill>
              </a:rPr>
              <a:t>证明</a:t>
            </a:r>
            <a:r>
              <a:rPr lang="zh-CN" altLang="en-US" sz="2200"/>
              <a:t>： ∵ 帧序号为</a:t>
            </a:r>
            <a:r>
              <a:rPr lang="en-US" altLang="zh-CN" sz="2200"/>
              <a:t>n           ∴  </a:t>
            </a:r>
            <a:r>
              <a:rPr lang="zh-CN" altLang="en-US" sz="2200"/>
              <a:t>帧序号空间是 </a:t>
            </a:r>
            <a:r>
              <a:rPr lang="en-US" altLang="zh-CN" sz="2200"/>
              <a:t>mod 2</a:t>
            </a:r>
            <a:r>
              <a:rPr lang="en-US" altLang="zh-CN" sz="2200" baseline="30000"/>
              <a:t>n</a:t>
            </a:r>
            <a:endParaRPr lang="zh-CN" altLang="en-US" sz="2200"/>
          </a:p>
          <a:p>
            <a:pPr>
              <a:lnSpc>
                <a:spcPct val="115000"/>
              </a:lnSpc>
              <a:buFont typeface="Wingdings" pitchFamily="2" charset="2"/>
              <a:buNone/>
            </a:pPr>
            <a:r>
              <a:rPr lang="zh-CN" altLang="en-US" sz="2200"/>
              <a:t>      显然，在</a:t>
            </a:r>
            <a:r>
              <a:rPr lang="en-US" altLang="zh-CN" sz="2200"/>
              <a:t>W</a:t>
            </a:r>
            <a:r>
              <a:rPr lang="en-US" altLang="zh-CN" sz="2200" baseline="-25000"/>
              <a:t>T</a:t>
            </a:r>
            <a:r>
              <a:rPr lang="zh-CN" altLang="en-US" sz="2200"/>
              <a:t>范围内序号不应重叠，否则产生二义性。</a:t>
            </a:r>
          </a:p>
          <a:p>
            <a:pPr>
              <a:lnSpc>
                <a:spcPct val="115000"/>
              </a:lnSpc>
              <a:buFont typeface="Wingdings" pitchFamily="2" charset="2"/>
              <a:buNone/>
            </a:pPr>
            <a:r>
              <a:rPr lang="zh-CN" altLang="en-US" sz="2200"/>
              <a:t>      又∵当且仅当对发送窗口上限帧序号的确认帧正在返回途中</a:t>
            </a:r>
          </a:p>
          <a:p>
            <a:pPr>
              <a:lnSpc>
                <a:spcPct val="115000"/>
              </a:lnSpc>
              <a:buFont typeface="Wingdings" pitchFamily="2" charset="2"/>
              <a:buNone/>
            </a:pPr>
            <a:r>
              <a:rPr lang="zh-CN" altLang="en-US" sz="2200"/>
              <a:t>             时，总存在 </a:t>
            </a:r>
            <a:r>
              <a:rPr lang="en-US" altLang="zh-CN" sz="2200"/>
              <a:t>W</a:t>
            </a:r>
            <a:r>
              <a:rPr lang="en-US" altLang="zh-CN" sz="2200" baseline="-25000"/>
              <a:t>R</a:t>
            </a:r>
            <a:r>
              <a:rPr lang="en-US" altLang="zh-CN" sz="2200"/>
              <a:t> + W</a:t>
            </a:r>
            <a:r>
              <a:rPr lang="en-US" altLang="zh-CN" sz="2200" baseline="-25000"/>
              <a:t>T </a:t>
            </a:r>
            <a:r>
              <a:rPr lang="zh-CN" altLang="en-US" sz="2200"/>
              <a:t>覆盖范围最大，且 </a:t>
            </a:r>
            <a:r>
              <a:rPr lang="en-US" altLang="zh-CN" sz="2200"/>
              <a:t>W</a:t>
            </a:r>
            <a:r>
              <a:rPr lang="en-US" altLang="zh-CN" sz="2200" baseline="-25000"/>
              <a:t>R</a:t>
            </a:r>
            <a:r>
              <a:rPr lang="en-US" altLang="zh-CN" sz="2200"/>
              <a:t> + W</a:t>
            </a:r>
            <a:r>
              <a:rPr lang="en-US" altLang="zh-CN" sz="2200" baseline="-25000"/>
              <a:t>T </a:t>
            </a:r>
            <a:r>
              <a:rPr lang="zh-CN" altLang="en-US" sz="2200"/>
              <a:t>范围</a:t>
            </a:r>
          </a:p>
          <a:p>
            <a:pPr>
              <a:lnSpc>
                <a:spcPct val="115000"/>
              </a:lnSpc>
              <a:buFont typeface="Wingdings" pitchFamily="2" charset="2"/>
              <a:buNone/>
            </a:pPr>
            <a:r>
              <a:rPr lang="zh-CN" altLang="en-US" sz="2200"/>
              <a:t>             内帧序号不重叠。</a:t>
            </a:r>
          </a:p>
          <a:p>
            <a:pPr>
              <a:lnSpc>
                <a:spcPct val="115000"/>
              </a:lnSpc>
              <a:buFont typeface="Wingdings" pitchFamily="2" charset="2"/>
              <a:buNone/>
            </a:pPr>
            <a:r>
              <a:rPr lang="zh-CN" altLang="en-US" sz="2200"/>
              <a:t>      于是 </a:t>
            </a:r>
            <a:r>
              <a:rPr lang="en-US" altLang="zh-CN" sz="2200"/>
              <a:t>W</a:t>
            </a:r>
            <a:r>
              <a:rPr lang="en-US" altLang="zh-CN" sz="2200" baseline="-25000"/>
              <a:t>R</a:t>
            </a:r>
            <a:r>
              <a:rPr lang="en-US" altLang="zh-CN" sz="2200"/>
              <a:t> + W</a:t>
            </a:r>
            <a:r>
              <a:rPr lang="en-US" altLang="zh-CN" sz="2200" baseline="-25000"/>
              <a:t>T</a:t>
            </a:r>
            <a:r>
              <a:rPr lang="en-US" altLang="zh-CN" sz="2200"/>
              <a:t> ≤2</a:t>
            </a:r>
            <a:r>
              <a:rPr lang="en-US" altLang="zh-CN" sz="2200" baseline="30000"/>
              <a:t>n </a:t>
            </a:r>
            <a:r>
              <a:rPr lang="zh-CN" altLang="en-US" sz="2200"/>
              <a:t>，又∵ </a:t>
            </a:r>
            <a:r>
              <a:rPr lang="en-US" altLang="zh-CN" sz="2200"/>
              <a:t>W</a:t>
            </a:r>
            <a:r>
              <a:rPr lang="en-US" altLang="zh-CN" sz="2200" baseline="-25000"/>
              <a:t>R</a:t>
            </a:r>
            <a:r>
              <a:rPr lang="en-US" altLang="zh-CN" sz="2200"/>
              <a:t> &gt; W</a:t>
            </a:r>
            <a:r>
              <a:rPr lang="en-US" altLang="zh-CN" sz="2200" baseline="-25000"/>
              <a:t>T </a:t>
            </a:r>
            <a:r>
              <a:rPr lang="en-US" altLang="en-US" sz="2200"/>
              <a:t>无意义</a:t>
            </a:r>
            <a:endParaRPr lang="en-US" altLang="zh-CN" sz="2200"/>
          </a:p>
          <a:p>
            <a:pPr>
              <a:lnSpc>
                <a:spcPct val="115000"/>
              </a:lnSpc>
              <a:buFont typeface="Wingdings" pitchFamily="2" charset="2"/>
              <a:buNone/>
            </a:pPr>
            <a:r>
              <a:rPr lang="en-US" altLang="zh-CN" sz="2200"/>
              <a:t>     </a:t>
            </a:r>
            <a:r>
              <a:rPr lang="en-US" altLang="en-US" sz="2200"/>
              <a:t> </a:t>
            </a:r>
            <a:r>
              <a:rPr lang="en-US" altLang="zh-CN" sz="2200"/>
              <a:t>∴</a:t>
            </a:r>
            <a:r>
              <a:rPr lang="zh-CN" altLang="en-US" sz="2200"/>
              <a:t>至多</a:t>
            </a:r>
            <a:r>
              <a:rPr lang="en-US" altLang="zh-CN" sz="2200"/>
              <a:t>W</a:t>
            </a:r>
            <a:r>
              <a:rPr lang="en-US" altLang="zh-CN" sz="2200" baseline="-25000"/>
              <a:t>R</a:t>
            </a:r>
            <a:r>
              <a:rPr lang="en-US" altLang="zh-CN" sz="2200"/>
              <a:t> = W</a:t>
            </a:r>
            <a:r>
              <a:rPr lang="en-US" altLang="zh-CN" sz="2200" baseline="-25000"/>
              <a:t>T</a:t>
            </a:r>
            <a:r>
              <a:rPr lang="zh-CN" altLang="en-US" sz="2200"/>
              <a:t>，因此有 </a:t>
            </a:r>
            <a:r>
              <a:rPr lang="en-US" altLang="zh-CN" sz="2200">
                <a:solidFill>
                  <a:schemeClr val="tx1"/>
                </a:solidFill>
              </a:rPr>
              <a:t>W</a:t>
            </a:r>
            <a:r>
              <a:rPr lang="en-US" altLang="zh-CN" sz="2200" baseline="-25000">
                <a:solidFill>
                  <a:schemeClr val="tx1"/>
                </a:solidFill>
              </a:rPr>
              <a:t>R</a:t>
            </a:r>
            <a:r>
              <a:rPr lang="en-US" altLang="zh-CN" sz="2200">
                <a:solidFill>
                  <a:schemeClr val="tx1"/>
                </a:solidFill>
              </a:rPr>
              <a:t>≤W</a:t>
            </a:r>
            <a:r>
              <a:rPr lang="en-US" altLang="zh-CN" sz="2200" baseline="-25000">
                <a:solidFill>
                  <a:schemeClr val="tx1"/>
                </a:solidFill>
              </a:rPr>
              <a:t>T</a:t>
            </a:r>
            <a:r>
              <a:rPr lang="en-US" altLang="zh-CN" sz="2200">
                <a:solidFill>
                  <a:schemeClr val="tx1"/>
                </a:solidFill>
              </a:rPr>
              <a:t>≤2</a:t>
            </a:r>
            <a:r>
              <a:rPr lang="en-US" altLang="zh-CN" sz="2200" baseline="30000">
                <a:solidFill>
                  <a:schemeClr val="tx1"/>
                </a:solidFill>
              </a:rPr>
              <a:t>n-1</a:t>
            </a:r>
            <a:r>
              <a:rPr lang="zh-CN" altLang="en-US" sz="2200"/>
              <a:t>成立。</a:t>
            </a:r>
            <a:endParaRPr lang="en-US" altLang="zh-CN" sz="2200"/>
          </a:p>
          <a:p>
            <a:pPr algn="r">
              <a:lnSpc>
                <a:spcPct val="115000"/>
              </a:lnSpc>
              <a:buFont typeface="Wingdings" pitchFamily="2" charset="2"/>
              <a:buNone/>
            </a:pPr>
            <a:r>
              <a:rPr lang="en-US" altLang="zh-CN" sz="2200"/>
              <a:t>&lt;</a:t>
            </a:r>
            <a:r>
              <a:rPr lang="zh-CN" altLang="en-US" sz="2200"/>
              <a:t>证毕</a:t>
            </a:r>
            <a:r>
              <a:rPr lang="en-US" altLang="zh-CN" sz="2200"/>
              <a:t>&gt;</a:t>
            </a:r>
          </a:p>
        </p:txBody>
      </p:sp>
      <p:sp>
        <p:nvSpPr>
          <p:cNvPr id="68608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860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86083">
                                            <p:txEl>
                                              <p:pRg st="1" end="1"/>
                                            </p:txEl>
                                          </p:spTgt>
                                        </p:tgtEl>
                                        <p:attrNameLst>
                                          <p:attrName>style.visibility</p:attrName>
                                        </p:attrNameLst>
                                      </p:cBhvr>
                                      <p:to>
                                        <p:strVal val="visible"/>
                                      </p:to>
                                    </p:set>
                                    <p:animEffect transition="in" filter="dissolve">
                                      <p:cBhvr>
                                        <p:cTn id="7" dur="500"/>
                                        <p:tgtEl>
                                          <p:spTgt spid="6860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86083">
                                            <p:txEl>
                                              <p:pRg st="2" end="2"/>
                                            </p:txEl>
                                          </p:spTgt>
                                        </p:tgtEl>
                                        <p:attrNameLst>
                                          <p:attrName>style.visibility</p:attrName>
                                        </p:attrNameLst>
                                      </p:cBhvr>
                                      <p:to>
                                        <p:strVal val="visible"/>
                                      </p:to>
                                    </p:set>
                                    <p:animEffect transition="in" filter="dissolve">
                                      <p:cBhvr>
                                        <p:cTn id="12" dur="500"/>
                                        <p:tgtEl>
                                          <p:spTgt spid="6860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86083">
                                            <p:txEl>
                                              <p:pRg st="3" end="3"/>
                                            </p:txEl>
                                          </p:spTgt>
                                        </p:tgtEl>
                                        <p:attrNameLst>
                                          <p:attrName>style.visibility</p:attrName>
                                        </p:attrNameLst>
                                      </p:cBhvr>
                                      <p:to>
                                        <p:strVal val="visible"/>
                                      </p:to>
                                    </p:set>
                                    <p:animEffect transition="in" filter="dissolve">
                                      <p:cBhvr>
                                        <p:cTn id="17" dur="500"/>
                                        <p:tgtEl>
                                          <p:spTgt spid="686083">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686083">
                                            <p:txEl>
                                              <p:pRg st="4" end="4"/>
                                            </p:txEl>
                                          </p:spTgt>
                                        </p:tgtEl>
                                        <p:attrNameLst>
                                          <p:attrName>style.visibility</p:attrName>
                                        </p:attrNameLst>
                                      </p:cBhvr>
                                      <p:to>
                                        <p:strVal val="visible"/>
                                      </p:to>
                                    </p:set>
                                    <p:animEffect transition="in" filter="dissolve">
                                      <p:cBhvr>
                                        <p:cTn id="20" dur="500"/>
                                        <p:tgtEl>
                                          <p:spTgt spid="686083">
                                            <p:txEl>
                                              <p:pRg st="4" end="4"/>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686083">
                                            <p:txEl>
                                              <p:pRg st="5" end="5"/>
                                            </p:txEl>
                                          </p:spTgt>
                                        </p:tgtEl>
                                        <p:attrNameLst>
                                          <p:attrName>style.visibility</p:attrName>
                                        </p:attrNameLst>
                                      </p:cBhvr>
                                      <p:to>
                                        <p:strVal val="visible"/>
                                      </p:to>
                                    </p:set>
                                    <p:animEffect transition="in" filter="dissolve">
                                      <p:cBhvr>
                                        <p:cTn id="23" dur="500"/>
                                        <p:tgtEl>
                                          <p:spTgt spid="686083">
                                            <p:txEl>
                                              <p:pRg st="5" end="5"/>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686083">
                                            <p:txEl>
                                              <p:pRg st="6" end="6"/>
                                            </p:txEl>
                                          </p:spTgt>
                                        </p:tgtEl>
                                        <p:attrNameLst>
                                          <p:attrName>style.visibility</p:attrName>
                                        </p:attrNameLst>
                                      </p:cBhvr>
                                      <p:to>
                                        <p:strVal val="visible"/>
                                      </p:to>
                                    </p:set>
                                    <p:animEffect transition="in" filter="dissolve">
                                      <p:cBhvr>
                                        <p:cTn id="28" dur="500"/>
                                        <p:tgtEl>
                                          <p:spTgt spid="686083">
                                            <p:txEl>
                                              <p:pRg st="6" end="6"/>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686083">
                                            <p:txEl>
                                              <p:pRg st="7" end="7"/>
                                            </p:txEl>
                                          </p:spTgt>
                                        </p:tgtEl>
                                        <p:attrNameLst>
                                          <p:attrName>style.visibility</p:attrName>
                                        </p:attrNameLst>
                                      </p:cBhvr>
                                      <p:to>
                                        <p:strVal val="visible"/>
                                      </p:to>
                                    </p:set>
                                    <p:animEffect transition="in" filter="dissolve">
                                      <p:cBhvr>
                                        <p:cTn id="33" dur="500"/>
                                        <p:tgtEl>
                                          <p:spTgt spid="686083">
                                            <p:txEl>
                                              <p:pRg st="7" end="7"/>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686083">
                                            <p:txEl>
                                              <p:pRg st="8" end="8"/>
                                            </p:txEl>
                                          </p:spTgt>
                                        </p:tgtEl>
                                        <p:attrNameLst>
                                          <p:attrName>style.visibility</p:attrName>
                                        </p:attrNameLst>
                                      </p:cBhvr>
                                      <p:to>
                                        <p:strVal val="visible"/>
                                      </p:to>
                                    </p:set>
                                    <p:animEffect transition="in" filter="dissolve">
                                      <p:cBhvr>
                                        <p:cTn id="38" dur="500"/>
                                        <p:tgtEl>
                                          <p:spTgt spid="6860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title"/>
          </p:nvPr>
        </p:nvSpPr>
        <p:spPr/>
        <p:txBody>
          <a:bodyPr/>
          <a:lstStyle/>
          <a:p>
            <a:r>
              <a:rPr lang="zh-CN" altLang="zh-CN"/>
              <a:t>协议</a:t>
            </a:r>
            <a:r>
              <a:rPr lang="zh-CN" altLang="zh-CN" noProof="1"/>
              <a:t>6</a:t>
            </a:r>
            <a:r>
              <a:rPr lang="zh-CN" altLang="zh-CN"/>
              <a:t>更具有实用性</a:t>
            </a:r>
            <a:endParaRPr lang="zh-CN" altLang="en-US" sz="3200"/>
          </a:p>
        </p:txBody>
      </p:sp>
      <p:sp>
        <p:nvSpPr>
          <p:cNvPr id="69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r>
              <a:rPr lang="en-US" altLang="zh-CN" sz="1200">
                <a:ea typeface="幼圆" pitchFamily="49" charset="-122"/>
              </a:rPr>
              <a:t>&gt;&gt;</a:t>
            </a:r>
            <a:r>
              <a:rPr lang="zh-CN" altLang="en-US" sz="1200">
                <a:ea typeface="幼圆" pitchFamily="49" charset="-122"/>
                <a:hlinkClick r:id="rId5" action="ppaction://hlinksldjump"/>
              </a:rPr>
              <a:t>滑动窗口协议 </a:t>
            </a:r>
            <a:endParaRPr lang="en-US" altLang="zh-CN" sz="1200">
              <a:ea typeface="幼圆" pitchFamily="49" charset="-122"/>
            </a:endParaRPr>
          </a:p>
        </p:txBody>
      </p:sp>
      <p:sp>
        <p:nvSpPr>
          <p:cNvPr id="69734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9</a:t>
            </a:r>
          </a:p>
        </p:txBody>
      </p:sp>
      <p:sp>
        <p:nvSpPr>
          <p:cNvPr id="697350" name="Rectangle 6"/>
          <p:cNvSpPr>
            <a:spLocks noGrp="1" noChangeArrowheads="1"/>
          </p:cNvSpPr>
          <p:nvPr>
            <p:ph type="body" idx="1"/>
          </p:nvPr>
        </p:nvSpPr>
        <p:spPr>
          <a:xfrm>
            <a:off x="809625" y="1773238"/>
            <a:ext cx="7958138" cy="4608512"/>
          </a:xfrm>
        </p:spPr>
        <p:txBody>
          <a:bodyPr/>
          <a:lstStyle/>
          <a:p>
            <a:pPr>
              <a:lnSpc>
                <a:spcPct val="120000"/>
              </a:lnSpc>
            </a:pPr>
            <a:r>
              <a:rPr lang="zh-CN" altLang="en-US" sz="2400" dirty="0" smtClean="0"/>
              <a:t>协议</a:t>
            </a:r>
            <a:r>
              <a:rPr lang="en-US" altLang="zh-CN" sz="2400" dirty="0"/>
              <a:t>6</a:t>
            </a:r>
            <a:r>
              <a:rPr lang="zh-CN" altLang="en-US" sz="2400" dirty="0"/>
              <a:t>中：增加了</a:t>
            </a:r>
            <a:r>
              <a:rPr lang="zh-CN" altLang="en-US" sz="2400" dirty="0">
                <a:solidFill>
                  <a:srgbClr val="FF0000"/>
                </a:solidFill>
              </a:rPr>
              <a:t>否定确认</a:t>
            </a:r>
            <a:r>
              <a:rPr lang="en-US" altLang="zh-CN" sz="2400" dirty="0" err="1">
                <a:solidFill>
                  <a:srgbClr val="FF0000"/>
                </a:solidFill>
              </a:rPr>
              <a:t>nak</a:t>
            </a:r>
            <a:r>
              <a:rPr lang="zh-CN" altLang="en-US" sz="2400" dirty="0"/>
              <a:t>，当收到一个错帧，或收到一个非期望的帧，则发送</a:t>
            </a:r>
            <a:r>
              <a:rPr lang="en-US" altLang="zh-CN" sz="2400" dirty="0" err="1"/>
              <a:t>nak</a:t>
            </a:r>
            <a:r>
              <a:rPr lang="zh-CN" altLang="en-US" sz="2400" dirty="0"/>
              <a:t>帧。</a:t>
            </a:r>
          </a:p>
          <a:p>
            <a:pPr>
              <a:lnSpc>
                <a:spcPct val="120000"/>
              </a:lnSpc>
            </a:pPr>
            <a:r>
              <a:rPr lang="zh-CN" altLang="en-US" sz="2400" dirty="0"/>
              <a:t>协议</a:t>
            </a:r>
            <a:r>
              <a:rPr lang="en-US" altLang="zh-CN" sz="2400" dirty="0"/>
              <a:t>6</a:t>
            </a:r>
            <a:r>
              <a:rPr lang="zh-CN" altLang="en-US" sz="2400" dirty="0"/>
              <a:t>中：增加了一个</a:t>
            </a:r>
            <a:r>
              <a:rPr lang="zh-CN" altLang="en-US" sz="2400" dirty="0">
                <a:solidFill>
                  <a:srgbClr val="FF0000"/>
                </a:solidFill>
              </a:rPr>
              <a:t>确认定时器</a:t>
            </a:r>
            <a:r>
              <a:rPr lang="zh-CN" altLang="en-US" sz="2400" dirty="0"/>
              <a:t>，当收到一个正确的帧，而反向没有可捎带确认的数据帧</a:t>
            </a:r>
            <a:r>
              <a:rPr lang="zh-CN" altLang="en-US" sz="2400" dirty="0" smtClean="0"/>
              <a:t>，则启动</a:t>
            </a:r>
            <a:r>
              <a:rPr lang="zh-CN" altLang="en-US" sz="2400" dirty="0">
                <a:solidFill>
                  <a:schemeClr val="tx1"/>
                </a:solidFill>
              </a:rPr>
              <a:t>确认</a:t>
            </a:r>
            <a:r>
              <a:rPr lang="zh-CN" altLang="en-US" sz="2400" dirty="0" smtClean="0">
                <a:solidFill>
                  <a:schemeClr val="tx1"/>
                </a:solidFill>
              </a:rPr>
              <a:t>定时器等待；如果在等待时间内来了数据帧则捎带确认；如果等待</a:t>
            </a:r>
            <a:r>
              <a:rPr lang="zh-CN" altLang="en-US" sz="2400" dirty="0" smtClean="0"/>
              <a:t>超时了还没有等到数据帧，</a:t>
            </a:r>
            <a:r>
              <a:rPr lang="zh-CN" altLang="en-US" sz="2400" dirty="0"/>
              <a:t>则立即发送一个单独的</a:t>
            </a:r>
            <a:r>
              <a:rPr lang="en-US" altLang="zh-CN" sz="2400" dirty="0" err="1"/>
              <a:t>ack</a:t>
            </a:r>
            <a:r>
              <a:rPr lang="zh-CN" altLang="en-US" sz="2400" dirty="0"/>
              <a:t>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p:txBody>
          <a:bodyPr/>
          <a:lstStyle/>
          <a:p>
            <a:r>
              <a:rPr lang="zh-CN" altLang="en-US"/>
              <a:t>协议描述和验证</a:t>
            </a:r>
          </a:p>
        </p:txBody>
      </p:sp>
      <p:sp>
        <p:nvSpPr>
          <p:cNvPr id="628741" name="Rectangle 5"/>
          <p:cNvSpPr>
            <a:spLocks noGrp="1" noChangeArrowheads="1"/>
          </p:cNvSpPr>
          <p:nvPr>
            <p:ph type="body" idx="1"/>
          </p:nvPr>
        </p:nvSpPr>
        <p:spPr>
          <a:xfrm>
            <a:off x="809625" y="1773238"/>
            <a:ext cx="7958138" cy="4679950"/>
          </a:xfrm>
        </p:spPr>
        <p:txBody>
          <a:bodyPr/>
          <a:lstStyle/>
          <a:p>
            <a:pPr>
              <a:lnSpc>
                <a:spcPct val="115000"/>
              </a:lnSpc>
            </a:pPr>
            <a:r>
              <a:rPr lang="zh-CN" altLang="en-US" sz="2800">
                <a:solidFill>
                  <a:srgbClr val="FF0000"/>
                </a:solidFill>
              </a:rPr>
              <a:t>目的</a:t>
            </a:r>
          </a:p>
          <a:p>
            <a:pPr lvl="1">
              <a:lnSpc>
                <a:spcPct val="115000"/>
              </a:lnSpc>
            </a:pPr>
            <a:r>
              <a:rPr lang="zh-CN" altLang="en-US" sz="2400"/>
              <a:t>由于实际使用的协议非常复杂，需有形式化的和数学的方法来验证协议的正确性。</a:t>
            </a:r>
          </a:p>
          <a:p>
            <a:pPr>
              <a:lnSpc>
                <a:spcPct val="115000"/>
              </a:lnSpc>
            </a:pPr>
            <a:r>
              <a:rPr lang="zh-CN" altLang="en-US" sz="2800">
                <a:solidFill>
                  <a:srgbClr val="FF0000"/>
                </a:solidFill>
              </a:rPr>
              <a:t>协议描述</a:t>
            </a:r>
          </a:p>
          <a:p>
            <a:pPr lvl="1">
              <a:lnSpc>
                <a:spcPct val="115000"/>
              </a:lnSpc>
            </a:pPr>
            <a:r>
              <a:rPr lang="zh-CN" altLang="en-US" sz="2400"/>
              <a:t>用描述语言描述协议实体的信息交互规则、格式和相关定义。</a:t>
            </a:r>
          </a:p>
          <a:p>
            <a:pPr>
              <a:lnSpc>
                <a:spcPct val="115000"/>
              </a:lnSpc>
            </a:pPr>
            <a:r>
              <a:rPr lang="zh-CN" altLang="en-US" sz="2800">
                <a:solidFill>
                  <a:srgbClr val="FF0000"/>
                </a:solidFill>
              </a:rPr>
              <a:t>协议验证</a:t>
            </a:r>
          </a:p>
          <a:p>
            <a:pPr lvl="1">
              <a:lnSpc>
                <a:spcPct val="115000"/>
              </a:lnSpc>
            </a:pPr>
            <a:r>
              <a:rPr lang="zh-CN" altLang="en-US" sz="2400"/>
              <a:t>用数学方法证实协议描述不存在逻辑错误（例如，死锁）。</a:t>
            </a:r>
          </a:p>
        </p:txBody>
      </p:sp>
      <p:sp>
        <p:nvSpPr>
          <p:cNvPr id="628742"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endParaRPr lang="en-US" altLang="zh-CN" sz="1200">
              <a:ea typeface="幼圆" pitchFamily="49" charset="-122"/>
            </a:endParaRPr>
          </a:p>
        </p:txBody>
      </p:sp>
      <p:sp>
        <p:nvSpPr>
          <p:cNvPr id="628743"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title"/>
          </p:nvPr>
        </p:nvSpPr>
        <p:spPr/>
        <p:txBody>
          <a:bodyPr/>
          <a:lstStyle/>
          <a:p>
            <a:r>
              <a:rPr lang="zh-CN" altLang="en-US"/>
              <a:t>两种基本方法</a:t>
            </a:r>
          </a:p>
        </p:txBody>
      </p:sp>
      <p:sp>
        <p:nvSpPr>
          <p:cNvPr id="6983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a:t>
            </a:r>
            <a:endParaRPr lang="en-US" altLang="zh-CN" sz="1200">
              <a:ea typeface="幼圆" pitchFamily="49" charset="-122"/>
            </a:endParaRPr>
          </a:p>
        </p:txBody>
      </p:sp>
      <p:sp>
        <p:nvSpPr>
          <p:cNvPr id="698373" name="Rectangle 5"/>
          <p:cNvSpPr>
            <a:spLocks noGrp="1" noChangeArrowheads="1"/>
          </p:cNvSpPr>
          <p:nvPr>
            <p:ph type="body" idx="1"/>
          </p:nvPr>
        </p:nvSpPr>
        <p:spPr>
          <a:xfrm>
            <a:off x="2268538" y="2924175"/>
            <a:ext cx="4267200" cy="2087563"/>
          </a:xfrm>
        </p:spPr>
        <p:txBody>
          <a:bodyPr/>
          <a:lstStyle/>
          <a:p>
            <a:r>
              <a:rPr lang="zh-CN" altLang="en-US">
                <a:hlinkClick r:id="" action="ppaction://noaction"/>
              </a:rPr>
              <a:t>有限状态机</a:t>
            </a:r>
            <a:r>
              <a:rPr lang="zh-CN" altLang="en-US"/>
              <a:t>（</a:t>
            </a:r>
            <a:r>
              <a:rPr lang="en-US" altLang="zh-CN"/>
              <a:t>FSM</a:t>
            </a:r>
            <a:r>
              <a:rPr lang="zh-CN" altLang="en-US"/>
              <a:t>） </a:t>
            </a:r>
          </a:p>
          <a:p>
            <a:endParaRPr lang="en-US" altLang="zh-CN"/>
          </a:p>
          <a:p>
            <a:r>
              <a:rPr lang="en-US" altLang="zh-CN">
                <a:hlinkClick r:id="" action="ppaction://noaction"/>
              </a:rPr>
              <a:t>Petri</a:t>
            </a:r>
            <a:r>
              <a:rPr lang="zh-CN" altLang="en-US">
                <a:hlinkClick r:id="" action="ppaction://noaction"/>
              </a:rPr>
              <a:t>网 </a:t>
            </a:r>
            <a:endParaRPr lang="en-US" altLang="zh-CN"/>
          </a:p>
        </p:txBody>
      </p:sp>
      <p:sp>
        <p:nvSpPr>
          <p:cNvPr id="69837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r>
              <a:rPr lang="zh-CN" altLang="en-US"/>
              <a:t>数据链路层协议举例</a:t>
            </a:r>
          </a:p>
        </p:txBody>
      </p:sp>
      <p:sp>
        <p:nvSpPr>
          <p:cNvPr id="526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526340" name="Rectangle 4"/>
          <p:cNvSpPr>
            <a:spLocks noGrp="1" noChangeArrowheads="1"/>
          </p:cNvSpPr>
          <p:nvPr>
            <p:ph type="body" idx="1"/>
          </p:nvPr>
        </p:nvSpPr>
        <p:spPr>
          <a:xfrm>
            <a:off x="3492500" y="2997200"/>
            <a:ext cx="2178050" cy="2016125"/>
          </a:xfrm>
        </p:spPr>
        <p:txBody>
          <a:bodyPr/>
          <a:lstStyle/>
          <a:p>
            <a:r>
              <a:rPr lang="en-US" altLang="zh-CN">
                <a:hlinkClick r:id="rId4" action="ppaction://hlinksldjump"/>
              </a:rPr>
              <a:t>HDLC</a:t>
            </a:r>
            <a:endParaRPr lang="en-US" altLang="zh-CN"/>
          </a:p>
          <a:p>
            <a:endParaRPr lang="en-US" altLang="zh-CN"/>
          </a:p>
          <a:p>
            <a:r>
              <a:rPr kumimoji="0" lang="en-US" altLang="zh-CN">
                <a:hlinkClick r:id="rId5" action="ppaction://hlinksldjump"/>
              </a:rPr>
              <a:t>PPP</a:t>
            </a:r>
            <a:endParaRPr kumimoji="0" lang="en-US" altLang="zh-CN"/>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p:cNvSpPr>
            <a:spLocks noGrp="1" noChangeArrowheads="1"/>
          </p:cNvSpPr>
          <p:nvPr>
            <p:ph type="title"/>
          </p:nvPr>
        </p:nvSpPr>
        <p:spPr/>
        <p:txBody>
          <a:bodyPr/>
          <a:lstStyle/>
          <a:p>
            <a:r>
              <a:rPr lang="en-US" altLang="zh-CN" sz="4000" b="1"/>
              <a:t>HDLC</a:t>
            </a:r>
            <a:r>
              <a:rPr lang="en-US" altLang="zh-CN" sz="4000"/>
              <a:t/>
            </a:r>
            <a:br>
              <a:rPr lang="en-US" altLang="zh-CN" sz="4000"/>
            </a:br>
            <a:r>
              <a:rPr lang="en-US" altLang="zh-CN" sz="2800"/>
              <a:t>(High-level Data Link Control)</a:t>
            </a:r>
          </a:p>
        </p:txBody>
      </p:sp>
      <p:sp>
        <p:nvSpPr>
          <p:cNvPr id="72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endParaRPr lang="en-US" altLang="zh-CN" sz="1200">
              <a:ea typeface="幼圆" pitchFamily="49" charset="-122"/>
            </a:endParaRPr>
          </a:p>
        </p:txBody>
      </p:sp>
      <p:sp>
        <p:nvSpPr>
          <p:cNvPr id="724997" name="Rectangle 5"/>
          <p:cNvSpPr>
            <a:spLocks noGrp="1" noChangeArrowheads="1"/>
          </p:cNvSpPr>
          <p:nvPr>
            <p:ph type="body" idx="1"/>
          </p:nvPr>
        </p:nvSpPr>
        <p:spPr/>
        <p:txBody>
          <a:bodyPr/>
          <a:lstStyle/>
          <a:p>
            <a:pPr>
              <a:lnSpc>
                <a:spcPct val="120000"/>
              </a:lnSpc>
            </a:pPr>
            <a:r>
              <a:rPr lang="zh-CN" altLang="en-US" sz="2400" dirty="0"/>
              <a:t>最早由</a:t>
            </a:r>
            <a:r>
              <a:rPr lang="en-US" altLang="zh-CN" sz="2400" dirty="0"/>
              <a:t>IBM</a:t>
            </a:r>
            <a:r>
              <a:rPr lang="zh-CN" altLang="en-US" sz="2400" dirty="0"/>
              <a:t>提出</a:t>
            </a:r>
            <a:r>
              <a:rPr lang="en-US" altLang="zh-CN" sz="2400" dirty="0">
                <a:solidFill>
                  <a:srgbClr val="FC0404"/>
                </a:solidFill>
              </a:rPr>
              <a:t>SDLC</a:t>
            </a:r>
            <a:r>
              <a:rPr lang="en-US" altLang="zh-CN" sz="2400" dirty="0"/>
              <a:t> (</a:t>
            </a:r>
            <a:r>
              <a:rPr lang="en-US" altLang="zh-CN" sz="2400" dirty="0">
                <a:solidFill>
                  <a:srgbClr val="0000FF"/>
                </a:solidFill>
              </a:rPr>
              <a:t>Synchronous Data Link Control</a:t>
            </a:r>
            <a:r>
              <a:rPr lang="en-US" altLang="zh-CN" sz="2400" dirty="0"/>
              <a:t>)</a:t>
            </a:r>
            <a:r>
              <a:rPr lang="zh-CN" altLang="en-US" sz="2400" dirty="0"/>
              <a:t>。</a:t>
            </a:r>
          </a:p>
          <a:p>
            <a:pPr>
              <a:lnSpc>
                <a:spcPct val="120000"/>
              </a:lnSpc>
            </a:pPr>
            <a:r>
              <a:rPr lang="en-US" altLang="zh-CN" sz="2400" dirty="0"/>
              <a:t>ISO</a:t>
            </a:r>
            <a:r>
              <a:rPr lang="zh-CN" altLang="en-US" sz="2400" dirty="0"/>
              <a:t>根据</a:t>
            </a:r>
            <a:r>
              <a:rPr lang="en-US" altLang="zh-CN" sz="2400" dirty="0"/>
              <a:t>SDLC</a:t>
            </a:r>
            <a:r>
              <a:rPr lang="zh-CN" altLang="en-US" sz="2400" dirty="0"/>
              <a:t>提出了</a:t>
            </a:r>
            <a:r>
              <a:rPr lang="en-US" altLang="zh-CN" sz="2400" dirty="0">
                <a:solidFill>
                  <a:srgbClr val="FC0404"/>
                </a:solidFill>
              </a:rPr>
              <a:t>HDLC</a:t>
            </a:r>
            <a:r>
              <a:rPr lang="en-US" altLang="zh-CN" sz="2400" dirty="0"/>
              <a:t> (</a:t>
            </a:r>
            <a:r>
              <a:rPr lang="en-US" altLang="zh-CN" sz="2400" dirty="0">
                <a:solidFill>
                  <a:srgbClr val="0000FF"/>
                </a:solidFill>
              </a:rPr>
              <a:t>High-level Data Link Control</a:t>
            </a:r>
            <a:r>
              <a:rPr lang="en-US" altLang="zh-CN" sz="2400" dirty="0"/>
              <a:t>)</a:t>
            </a:r>
            <a:r>
              <a:rPr lang="zh-CN" altLang="en-US" sz="2400" dirty="0"/>
              <a:t> ，作为国际标准</a:t>
            </a:r>
            <a:r>
              <a:rPr lang="en-US" altLang="zh-CN" sz="2400" dirty="0">
                <a:solidFill>
                  <a:srgbClr val="FC0404"/>
                </a:solidFill>
              </a:rPr>
              <a:t>ISO 3309</a:t>
            </a:r>
            <a:r>
              <a:rPr lang="zh-CN" altLang="en-US" sz="2400" dirty="0"/>
              <a:t>。</a:t>
            </a:r>
          </a:p>
          <a:p>
            <a:pPr>
              <a:lnSpc>
                <a:spcPct val="120000"/>
              </a:lnSpc>
            </a:pPr>
            <a:r>
              <a:rPr lang="en-US" altLang="zh-CN" sz="2400" dirty="0"/>
              <a:t>CCITT</a:t>
            </a:r>
            <a:r>
              <a:rPr lang="zh-CN" altLang="en-US" sz="2400" dirty="0"/>
              <a:t>将</a:t>
            </a:r>
            <a:r>
              <a:rPr lang="en-US" altLang="zh-CN" sz="2400" dirty="0"/>
              <a:t>HDLC</a:t>
            </a:r>
            <a:r>
              <a:rPr lang="zh-CN" altLang="en-US" sz="2400" dirty="0"/>
              <a:t>修改后称为</a:t>
            </a:r>
            <a:r>
              <a:rPr lang="en-US" altLang="zh-CN" sz="2400" dirty="0">
                <a:solidFill>
                  <a:srgbClr val="0000FF"/>
                </a:solidFill>
              </a:rPr>
              <a:t>LAP(Link Access Procedure</a:t>
            </a:r>
            <a:r>
              <a:rPr lang="en-US" altLang="zh-CN" sz="2400" dirty="0"/>
              <a:t>)</a:t>
            </a:r>
            <a:r>
              <a:rPr lang="zh-CN" altLang="en-US" sz="2400" dirty="0"/>
              <a:t>。</a:t>
            </a:r>
            <a:r>
              <a:rPr lang="en-US" altLang="zh-CN" sz="2400" dirty="0"/>
              <a:t>HDLC </a:t>
            </a:r>
            <a:r>
              <a:rPr lang="zh-CN" altLang="en-US" sz="2400" dirty="0"/>
              <a:t>的新版本又把 </a:t>
            </a:r>
            <a:r>
              <a:rPr lang="en-US" altLang="zh-CN" sz="2400" dirty="0"/>
              <a:t>LAP </a:t>
            </a:r>
            <a:r>
              <a:rPr lang="zh-CN" altLang="en-US" sz="2400" dirty="0"/>
              <a:t>修改为 </a:t>
            </a:r>
            <a:r>
              <a:rPr lang="en-US" altLang="zh-CN" sz="2400" dirty="0">
                <a:solidFill>
                  <a:srgbClr val="FC0404"/>
                </a:solidFill>
              </a:rPr>
              <a:t>LAPB</a:t>
            </a:r>
            <a:r>
              <a:rPr lang="zh-CN" altLang="en-US" sz="2400" dirty="0"/>
              <a:t>，“</a:t>
            </a:r>
            <a:r>
              <a:rPr lang="en-US" altLang="zh-CN" sz="2400" dirty="0"/>
              <a:t>B”</a:t>
            </a:r>
            <a:r>
              <a:rPr lang="zh-CN" altLang="en-US" sz="2400" dirty="0"/>
              <a:t>表示平衡型</a:t>
            </a:r>
            <a:r>
              <a:rPr lang="en-US" altLang="zh-CN" sz="2400" dirty="0"/>
              <a:t>(Balanced)</a:t>
            </a:r>
            <a:r>
              <a:rPr lang="zh-CN" altLang="en-US" sz="2400" dirty="0"/>
              <a:t> 。</a:t>
            </a:r>
          </a:p>
          <a:p>
            <a:pPr>
              <a:lnSpc>
                <a:spcPct val="120000"/>
              </a:lnSpc>
            </a:pPr>
            <a:r>
              <a:rPr lang="zh-CN" altLang="en-US" sz="2400" dirty="0"/>
              <a:t>我国的相应国家标准是</a:t>
            </a:r>
            <a:r>
              <a:rPr lang="en-US" altLang="zh-CN" sz="2400" dirty="0">
                <a:solidFill>
                  <a:srgbClr val="FC0404"/>
                </a:solidFill>
              </a:rPr>
              <a:t>GB 7496</a:t>
            </a:r>
            <a:r>
              <a:rPr lang="zh-CN" altLang="en-US" sz="2400" dirty="0"/>
              <a:t>。 </a:t>
            </a:r>
            <a:endParaRPr lang="en-US" altLang="zh-CN" sz="2400" dirty="0" smtClean="0"/>
          </a:p>
          <a:p>
            <a:pPr>
              <a:lnSpc>
                <a:spcPct val="120000"/>
              </a:lnSpc>
            </a:pPr>
            <a:r>
              <a:rPr lang="zh-CN" altLang="en-US" sz="2400" dirty="0" smtClean="0">
                <a:solidFill>
                  <a:srgbClr val="FF0000"/>
                </a:solidFill>
              </a:rPr>
              <a:t>协议特点：</a:t>
            </a:r>
            <a:r>
              <a:rPr lang="zh-CN" altLang="en-US" sz="2400" dirty="0" smtClean="0"/>
              <a:t>实现可靠传输（现已很少使用）。</a:t>
            </a:r>
            <a:endParaRPr lang="zh-CN" altLang="en-US" sz="2400" dirty="0"/>
          </a:p>
        </p:txBody>
      </p:sp>
      <p:sp>
        <p:nvSpPr>
          <p:cNvPr id="72499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p:cNvSpPr>
            <a:spLocks noGrp="1" noChangeArrowheads="1"/>
          </p:cNvSpPr>
          <p:nvPr>
            <p:ph type="title"/>
          </p:nvPr>
        </p:nvSpPr>
        <p:spPr/>
        <p:txBody>
          <a:bodyPr/>
          <a:lstStyle/>
          <a:p>
            <a:r>
              <a:rPr lang="en-US" altLang="zh-CN" b="1"/>
              <a:t>HDLC</a:t>
            </a:r>
            <a:endParaRPr lang="zh-CN" altLang="en-US" b="1"/>
          </a:p>
        </p:txBody>
      </p:sp>
      <p:sp>
        <p:nvSpPr>
          <p:cNvPr id="72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endParaRPr lang="en-US" altLang="zh-CN" sz="1200">
              <a:ea typeface="幼圆" pitchFamily="49" charset="-122"/>
            </a:endParaRPr>
          </a:p>
        </p:txBody>
      </p:sp>
      <p:sp>
        <p:nvSpPr>
          <p:cNvPr id="723973" name="Rectangle 5"/>
          <p:cNvSpPr>
            <a:spLocks noGrp="1" noChangeArrowheads="1"/>
          </p:cNvSpPr>
          <p:nvPr>
            <p:ph type="body" idx="1"/>
          </p:nvPr>
        </p:nvSpPr>
        <p:spPr>
          <a:xfrm>
            <a:off x="2987675" y="2492375"/>
            <a:ext cx="3114675" cy="3168650"/>
          </a:xfrm>
        </p:spPr>
        <p:txBody>
          <a:bodyPr/>
          <a:lstStyle/>
          <a:p>
            <a:r>
              <a:rPr lang="zh-CN" altLang="en-US" dirty="0">
                <a:latin typeface="+mn-ea"/>
                <a:hlinkClick r:id="rId5" action="ppaction://hlinksldjump"/>
              </a:rPr>
              <a:t>基本概念</a:t>
            </a:r>
            <a:endParaRPr lang="zh-CN" altLang="en-US" dirty="0">
              <a:latin typeface="+mn-ea"/>
            </a:endParaRPr>
          </a:p>
          <a:p>
            <a:endParaRPr lang="zh-CN" altLang="en-US" dirty="0">
              <a:latin typeface="+mn-ea"/>
            </a:endParaRPr>
          </a:p>
          <a:p>
            <a:r>
              <a:rPr lang="zh-CN" altLang="en-US" dirty="0">
                <a:latin typeface="+mn-ea"/>
                <a:hlinkClick r:id="rId6" action="ppaction://hlinksldjump"/>
              </a:rPr>
              <a:t>数据帧</a:t>
            </a:r>
            <a:endParaRPr lang="zh-CN" altLang="en-US" dirty="0">
              <a:latin typeface="+mn-ea"/>
            </a:endParaRPr>
          </a:p>
          <a:p>
            <a:endParaRPr lang="zh-CN" altLang="en-US" dirty="0">
              <a:latin typeface="+mn-ea"/>
            </a:endParaRPr>
          </a:p>
          <a:p>
            <a:r>
              <a:rPr lang="zh-CN" altLang="en-US" dirty="0">
                <a:latin typeface="+mn-ea"/>
                <a:hlinkClick r:id="rId7" action="ppaction://hlinksldjump"/>
              </a:rPr>
              <a:t>工作过程</a:t>
            </a:r>
            <a:endParaRPr lang="zh-CN" altLang="en-US" dirty="0">
              <a:latin typeface="+mn-ea"/>
            </a:endParaRPr>
          </a:p>
        </p:txBody>
      </p:sp>
      <p:sp>
        <p:nvSpPr>
          <p:cNvPr id="72397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p:txBody>
          <a:bodyPr/>
          <a:lstStyle/>
          <a:p>
            <a:r>
              <a:rPr lang="zh-CN" altLang="en-US"/>
              <a:t>基本概念</a:t>
            </a:r>
          </a:p>
        </p:txBody>
      </p:sp>
      <p:sp>
        <p:nvSpPr>
          <p:cNvPr id="72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endParaRPr lang="en-US" altLang="zh-CN" sz="1200">
              <a:ea typeface="幼圆" pitchFamily="49" charset="-122"/>
            </a:endParaRPr>
          </a:p>
        </p:txBody>
      </p:sp>
      <p:sp>
        <p:nvSpPr>
          <p:cNvPr id="728068" name="Rectangle 4"/>
          <p:cNvSpPr>
            <a:spLocks noGrp="1" noChangeArrowheads="1"/>
          </p:cNvSpPr>
          <p:nvPr>
            <p:ph type="body" idx="1"/>
          </p:nvPr>
        </p:nvSpPr>
        <p:spPr>
          <a:xfrm>
            <a:off x="3276600" y="2492375"/>
            <a:ext cx="2609850" cy="3095625"/>
          </a:xfrm>
        </p:spPr>
        <p:txBody>
          <a:bodyPr/>
          <a:lstStyle/>
          <a:p>
            <a:r>
              <a:rPr lang="zh-CN" altLang="en-US" dirty="0">
                <a:latin typeface="+mn-ea"/>
                <a:hlinkClick r:id="rId6" action="ppaction://hlinksldjump"/>
              </a:rPr>
              <a:t>站点类型</a:t>
            </a:r>
            <a:endParaRPr lang="zh-CN" altLang="en-US" dirty="0">
              <a:latin typeface="+mn-ea"/>
            </a:endParaRPr>
          </a:p>
          <a:p>
            <a:endParaRPr lang="zh-CN" altLang="en-US" dirty="0">
              <a:latin typeface="+mn-ea"/>
            </a:endParaRPr>
          </a:p>
          <a:p>
            <a:r>
              <a:rPr lang="zh-CN" altLang="en-US" dirty="0">
                <a:latin typeface="+mn-ea"/>
                <a:hlinkClick r:id="rId7" action="ppaction://hlinksldjump"/>
              </a:rPr>
              <a:t>链路类型</a:t>
            </a:r>
            <a:endParaRPr lang="zh-CN" altLang="en-US" dirty="0">
              <a:latin typeface="+mn-ea"/>
            </a:endParaRPr>
          </a:p>
          <a:p>
            <a:endParaRPr lang="zh-CN" altLang="en-US" dirty="0">
              <a:latin typeface="+mn-ea"/>
            </a:endParaRPr>
          </a:p>
          <a:p>
            <a:r>
              <a:rPr lang="zh-CN" altLang="en-US" dirty="0">
                <a:latin typeface="+mn-ea"/>
                <a:hlinkClick r:id="rId8" action="ppaction://hlinksldjump"/>
              </a:rPr>
              <a:t>传输模式</a:t>
            </a:r>
            <a:endParaRPr lang="zh-CN" altLang="en-US" dirty="0">
              <a:latin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Rectangle 2"/>
          <p:cNvSpPr>
            <a:spLocks noGrp="1" noChangeArrowheads="1"/>
          </p:cNvSpPr>
          <p:nvPr>
            <p:ph type="title"/>
          </p:nvPr>
        </p:nvSpPr>
        <p:spPr/>
        <p:txBody>
          <a:bodyPr/>
          <a:lstStyle/>
          <a:p>
            <a:r>
              <a:rPr lang="zh-CN" altLang="en-US"/>
              <a:t>站点类型</a:t>
            </a:r>
          </a:p>
        </p:txBody>
      </p:sp>
      <p:sp>
        <p:nvSpPr>
          <p:cNvPr id="7290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r>
              <a:rPr lang="en-US" altLang="zh-CN" sz="1200">
                <a:ea typeface="幼圆" pitchFamily="49" charset="-122"/>
              </a:rPr>
              <a:t>&gt;&gt;</a:t>
            </a:r>
            <a:r>
              <a:rPr lang="zh-CN" altLang="en-US" sz="1200">
                <a:ea typeface="幼圆" pitchFamily="49" charset="-122"/>
                <a:hlinkClick r:id="rId6" action="ppaction://hlinksldjump"/>
              </a:rPr>
              <a:t>基本概念</a:t>
            </a:r>
            <a:endParaRPr lang="en-US" altLang="zh-CN" sz="1200">
              <a:ea typeface="幼圆" pitchFamily="49" charset="-122"/>
            </a:endParaRPr>
          </a:p>
        </p:txBody>
      </p:sp>
      <p:sp>
        <p:nvSpPr>
          <p:cNvPr id="729092" name="Rectangle 4"/>
          <p:cNvSpPr>
            <a:spLocks noGrp="1" noChangeArrowheads="1"/>
          </p:cNvSpPr>
          <p:nvPr>
            <p:ph type="body" idx="1"/>
          </p:nvPr>
        </p:nvSpPr>
        <p:spPr>
          <a:xfrm>
            <a:off x="809625" y="1773238"/>
            <a:ext cx="7958138" cy="4679950"/>
          </a:xfrm>
        </p:spPr>
        <p:txBody>
          <a:bodyPr/>
          <a:lstStyle/>
          <a:p>
            <a:pPr>
              <a:lnSpc>
                <a:spcPct val="115000"/>
              </a:lnSpc>
            </a:pPr>
            <a:r>
              <a:rPr lang="zh-CN" altLang="en-US" sz="2800">
                <a:solidFill>
                  <a:srgbClr val="FC0404"/>
                </a:solidFill>
              </a:rPr>
              <a:t>主站</a:t>
            </a:r>
          </a:p>
          <a:p>
            <a:pPr lvl="1">
              <a:lnSpc>
                <a:spcPct val="115000"/>
              </a:lnSpc>
            </a:pPr>
            <a:r>
              <a:rPr lang="zh-CN" altLang="en-US" sz="2400"/>
              <a:t>负责链路控制，包括系统初启、组织传输数据、流量控制、差错控制等。</a:t>
            </a:r>
          </a:p>
          <a:p>
            <a:pPr>
              <a:lnSpc>
                <a:spcPct val="115000"/>
              </a:lnSpc>
            </a:pPr>
            <a:r>
              <a:rPr lang="zh-CN" altLang="en-US" sz="2800">
                <a:solidFill>
                  <a:srgbClr val="FC0404"/>
                </a:solidFill>
              </a:rPr>
              <a:t>从站</a:t>
            </a:r>
          </a:p>
          <a:p>
            <a:pPr lvl="1">
              <a:lnSpc>
                <a:spcPct val="115000"/>
              </a:lnSpc>
            </a:pPr>
            <a:r>
              <a:rPr lang="zh-CN" altLang="en-US" sz="2400"/>
              <a:t>在主站的控制下进行操作。主站通过命令帧控制从站，而从站通过响应帧接收控制。</a:t>
            </a:r>
          </a:p>
          <a:p>
            <a:pPr>
              <a:lnSpc>
                <a:spcPct val="115000"/>
              </a:lnSpc>
            </a:pPr>
            <a:r>
              <a:rPr lang="zh-CN" altLang="en-US" sz="2800">
                <a:solidFill>
                  <a:srgbClr val="FC0404"/>
                </a:solidFill>
              </a:rPr>
              <a:t>组合站</a:t>
            </a:r>
          </a:p>
          <a:p>
            <a:pPr lvl="1">
              <a:lnSpc>
                <a:spcPct val="115000"/>
              </a:lnSpc>
            </a:pPr>
            <a:r>
              <a:rPr lang="zh-CN" altLang="en-US" sz="2400"/>
              <a:t>兼具主站和从站的功能（既可发送命令帧，又可发送响应帧）。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Rectangle 2"/>
          <p:cNvSpPr>
            <a:spLocks noGrp="1" noChangeArrowheads="1"/>
          </p:cNvSpPr>
          <p:nvPr>
            <p:ph type="title"/>
          </p:nvPr>
        </p:nvSpPr>
        <p:spPr/>
        <p:txBody>
          <a:bodyPr/>
          <a:lstStyle/>
          <a:p>
            <a:r>
              <a:rPr lang="zh-CN" altLang="en-US"/>
              <a:t>数据帧</a:t>
            </a:r>
          </a:p>
        </p:txBody>
      </p:sp>
      <p:sp>
        <p:nvSpPr>
          <p:cNvPr id="79974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endParaRPr lang="en-US" altLang="zh-CN" sz="1200">
              <a:ea typeface="幼圆" pitchFamily="49" charset="-122"/>
            </a:endParaRPr>
          </a:p>
        </p:txBody>
      </p:sp>
      <p:sp>
        <p:nvSpPr>
          <p:cNvPr id="799750" name="Rectangle 6"/>
          <p:cNvSpPr>
            <a:spLocks noGrp="1" noChangeArrowheads="1"/>
          </p:cNvSpPr>
          <p:nvPr>
            <p:ph type="body" idx="1"/>
          </p:nvPr>
        </p:nvSpPr>
        <p:spPr>
          <a:xfrm>
            <a:off x="3348038" y="2997200"/>
            <a:ext cx="2232025" cy="2016125"/>
          </a:xfrm>
          <a:noFill/>
          <a:ln/>
        </p:spPr>
        <p:txBody>
          <a:bodyPr/>
          <a:lstStyle/>
          <a:p>
            <a:r>
              <a:rPr lang="zh-CN" altLang="en-US">
                <a:hlinkClick r:id="rId6" action="ppaction://hlinksldjump"/>
              </a:rPr>
              <a:t>帧格式</a:t>
            </a:r>
            <a:endParaRPr lang="zh-CN" altLang="en-US"/>
          </a:p>
          <a:p>
            <a:endParaRPr lang="zh-CN" altLang="en-US"/>
          </a:p>
          <a:p>
            <a:r>
              <a:rPr lang="zh-CN" altLang="en-US">
                <a:hlinkClick r:id="rId7" action="ppaction://hlinksldjump"/>
              </a:rPr>
              <a:t>帧类型</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p:cNvSpPr>
            <a:spLocks noGrp="1" noChangeArrowheads="1"/>
          </p:cNvSpPr>
          <p:nvPr>
            <p:ph type="title"/>
          </p:nvPr>
        </p:nvSpPr>
        <p:spPr/>
        <p:txBody>
          <a:bodyPr/>
          <a:lstStyle/>
          <a:p>
            <a:r>
              <a:rPr lang="en-US" altLang="zh-CN" b="1"/>
              <a:t>HDLC</a:t>
            </a:r>
            <a:r>
              <a:rPr lang="zh-CN" altLang="en-US"/>
              <a:t>的帧结构</a:t>
            </a:r>
          </a:p>
        </p:txBody>
      </p:sp>
      <p:sp>
        <p:nvSpPr>
          <p:cNvPr id="730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r>
              <a:rPr lang="en-US" altLang="zh-CN" sz="1200">
                <a:ea typeface="幼圆" pitchFamily="49" charset="-122"/>
              </a:rPr>
              <a:t>&gt;&gt;</a:t>
            </a:r>
            <a:r>
              <a:rPr lang="zh-CN" altLang="en-US" sz="1200">
                <a:ea typeface="幼圆" pitchFamily="49" charset="-122"/>
                <a:hlinkClick r:id="rId6" action="ppaction://hlinksldjump"/>
              </a:rPr>
              <a:t>数据帧</a:t>
            </a:r>
            <a:endParaRPr lang="en-US" altLang="zh-CN" sz="1200">
              <a:ea typeface="幼圆" pitchFamily="49" charset="-122"/>
            </a:endParaRPr>
          </a:p>
        </p:txBody>
      </p:sp>
      <p:sp>
        <p:nvSpPr>
          <p:cNvPr id="730117" name="Rectangle 5"/>
          <p:cNvSpPr>
            <a:spLocks noGrp="1" noChangeArrowheads="1"/>
          </p:cNvSpPr>
          <p:nvPr>
            <p:ph type="body" idx="1"/>
          </p:nvPr>
        </p:nvSpPr>
        <p:spPr>
          <a:xfrm>
            <a:off x="755650" y="3754438"/>
            <a:ext cx="8132763" cy="2698750"/>
          </a:xfrm>
          <a:noFill/>
          <a:ln/>
        </p:spPr>
        <p:txBody>
          <a:bodyPr/>
          <a:lstStyle/>
          <a:p>
            <a:pPr>
              <a:lnSpc>
                <a:spcPct val="120000"/>
              </a:lnSpc>
            </a:pPr>
            <a:r>
              <a:rPr lang="zh-CN" altLang="en-US" sz="2400">
                <a:solidFill>
                  <a:srgbClr val="FF0000"/>
                </a:solidFill>
              </a:rPr>
              <a:t>标志字段（</a:t>
            </a:r>
            <a:r>
              <a:rPr lang="en-US" altLang="zh-CN" sz="2400">
                <a:solidFill>
                  <a:srgbClr val="FF0000"/>
                </a:solidFill>
              </a:rPr>
              <a:t>F</a:t>
            </a:r>
            <a:r>
              <a:rPr lang="zh-CN" altLang="en-US" sz="2400">
                <a:solidFill>
                  <a:srgbClr val="FF0000"/>
                </a:solidFill>
              </a:rPr>
              <a:t>）</a:t>
            </a:r>
            <a:r>
              <a:rPr lang="zh-CN" altLang="en-US" sz="2400">
                <a:solidFill>
                  <a:schemeClr val="tx1"/>
                </a:solidFill>
              </a:rPr>
              <a:t>：</a:t>
            </a:r>
            <a:r>
              <a:rPr lang="en-US" altLang="zh-CN" sz="2400">
                <a:solidFill>
                  <a:schemeClr val="tx1"/>
                </a:solidFill>
              </a:rPr>
              <a:t>1B</a:t>
            </a:r>
            <a:r>
              <a:rPr lang="zh-CN" altLang="en-US" sz="2400">
                <a:solidFill>
                  <a:schemeClr val="tx1"/>
                </a:solidFill>
              </a:rPr>
              <a:t>（</a:t>
            </a:r>
            <a:r>
              <a:rPr lang="en-US" altLang="zh-CN" sz="2400">
                <a:solidFill>
                  <a:schemeClr val="tx1"/>
                </a:solidFill>
              </a:rPr>
              <a:t>01111110</a:t>
            </a:r>
            <a:r>
              <a:rPr lang="zh-CN" altLang="en-US" sz="2400">
                <a:solidFill>
                  <a:schemeClr val="tx1"/>
                </a:solidFill>
              </a:rPr>
              <a:t>）</a:t>
            </a:r>
          </a:p>
          <a:p>
            <a:pPr lvl="1">
              <a:lnSpc>
                <a:spcPct val="120000"/>
              </a:lnSpc>
            </a:pPr>
            <a:r>
              <a:rPr lang="zh-CN" altLang="en-US" sz="2000">
                <a:solidFill>
                  <a:schemeClr val="tx1"/>
                </a:solidFill>
              </a:rPr>
              <a:t>作用：标志一帧的开始和结束；帧间的同步信号。为实现数据透明性传输，采用“</a:t>
            </a:r>
            <a:r>
              <a:rPr lang="en-US" altLang="zh-CN" sz="2000">
                <a:solidFill>
                  <a:srgbClr val="0000FF"/>
                </a:solidFill>
              </a:rPr>
              <a:t>0</a:t>
            </a:r>
            <a:r>
              <a:rPr lang="zh-CN" altLang="en-US" sz="2000">
                <a:solidFill>
                  <a:srgbClr val="0000FF"/>
                </a:solidFill>
              </a:rPr>
              <a:t>比特插入</a:t>
            </a:r>
            <a:r>
              <a:rPr lang="en-US" altLang="zh-CN" sz="2000">
                <a:solidFill>
                  <a:srgbClr val="0000FF"/>
                </a:solidFill>
              </a:rPr>
              <a:t>/</a:t>
            </a:r>
            <a:r>
              <a:rPr lang="zh-CN" altLang="en-US" sz="2000">
                <a:solidFill>
                  <a:srgbClr val="0000FF"/>
                </a:solidFill>
              </a:rPr>
              <a:t>删除法</a:t>
            </a:r>
            <a:r>
              <a:rPr lang="zh-CN" altLang="en-US" sz="2000">
                <a:solidFill>
                  <a:schemeClr val="tx1"/>
                </a:solidFill>
              </a:rPr>
              <a:t>”。</a:t>
            </a:r>
          </a:p>
          <a:p>
            <a:pPr>
              <a:lnSpc>
                <a:spcPct val="120000"/>
              </a:lnSpc>
            </a:pPr>
            <a:r>
              <a:rPr lang="zh-CN" altLang="en-US" sz="2400">
                <a:solidFill>
                  <a:srgbClr val="FF0000"/>
                </a:solidFill>
              </a:rPr>
              <a:t>地址字段（</a:t>
            </a:r>
            <a:r>
              <a:rPr lang="en-US" altLang="zh-CN" sz="2400">
                <a:solidFill>
                  <a:srgbClr val="FF0000"/>
                </a:solidFill>
              </a:rPr>
              <a:t>A</a:t>
            </a:r>
            <a:r>
              <a:rPr lang="zh-CN" altLang="en-US" sz="2400">
                <a:solidFill>
                  <a:srgbClr val="FF0000"/>
                </a:solidFill>
              </a:rPr>
              <a:t>）</a:t>
            </a:r>
            <a:r>
              <a:rPr lang="zh-CN" altLang="en-US" sz="2400">
                <a:solidFill>
                  <a:schemeClr val="tx1"/>
                </a:solidFill>
              </a:rPr>
              <a:t>：</a:t>
            </a:r>
            <a:r>
              <a:rPr lang="en-US" altLang="zh-CN" sz="2400">
                <a:solidFill>
                  <a:schemeClr val="tx1"/>
                </a:solidFill>
              </a:rPr>
              <a:t>1B</a:t>
            </a:r>
          </a:p>
          <a:p>
            <a:pPr lvl="1">
              <a:lnSpc>
                <a:spcPct val="120000"/>
              </a:lnSpc>
            </a:pPr>
            <a:r>
              <a:rPr lang="zh-CN" altLang="en-US" sz="2000">
                <a:solidFill>
                  <a:schemeClr val="tx1"/>
                </a:solidFill>
              </a:rPr>
              <a:t>用于</a:t>
            </a:r>
            <a:r>
              <a:rPr lang="zh-CN" altLang="en-US" sz="2000">
                <a:solidFill>
                  <a:srgbClr val="0000FF"/>
                </a:solidFill>
              </a:rPr>
              <a:t>指明从站地址</a:t>
            </a:r>
            <a:r>
              <a:rPr lang="zh-CN" altLang="en-US" sz="2000">
                <a:solidFill>
                  <a:schemeClr val="tx1"/>
                </a:solidFill>
              </a:rPr>
              <a:t>（命令帧：接收帧的从站地址；响应帧：发出帧的从站地址）。</a:t>
            </a:r>
          </a:p>
        </p:txBody>
      </p:sp>
      <p:sp>
        <p:nvSpPr>
          <p:cNvPr id="730118" name="Rectangle 6"/>
          <p:cNvSpPr>
            <a:spLocks noChangeArrowheads="1"/>
          </p:cNvSpPr>
          <p:nvPr/>
        </p:nvSpPr>
        <p:spPr bwMode="auto">
          <a:xfrm>
            <a:off x="860425" y="2147888"/>
            <a:ext cx="7964488" cy="703262"/>
          </a:xfrm>
          <a:prstGeom prst="rect">
            <a:avLst/>
          </a:prstGeom>
          <a:solidFill>
            <a:srgbClr val="FFFF00"/>
          </a:solidFill>
          <a:ln w="28575">
            <a:solidFill>
              <a:srgbClr val="333399"/>
            </a:solidFill>
            <a:miter lim="800000"/>
            <a:headEnd/>
            <a:tailEnd/>
          </a:ln>
          <a:effectLst>
            <a:outerShdw dist="107763" dir="2700000" algn="ctr" rotWithShape="0">
              <a:srgbClr val="00002E">
                <a:alpha val="50000"/>
              </a:srgbClr>
            </a:outerShdw>
          </a:effectLst>
        </p:spPr>
        <p:txBody>
          <a:bodyPr wrap="none" anchor="ctr"/>
          <a:lstStyle/>
          <a:p>
            <a:endParaRPr lang="zh-CN" altLang="en-US"/>
          </a:p>
        </p:txBody>
      </p:sp>
      <p:sp>
        <p:nvSpPr>
          <p:cNvPr id="730119" name="Line 7"/>
          <p:cNvSpPr>
            <a:spLocks noChangeShapeType="1"/>
          </p:cNvSpPr>
          <p:nvPr/>
        </p:nvSpPr>
        <p:spPr bwMode="auto">
          <a:xfrm flipH="1">
            <a:off x="1946275" y="2162175"/>
            <a:ext cx="11113" cy="70167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20" name="Line 8"/>
          <p:cNvSpPr>
            <a:spLocks noChangeShapeType="1"/>
          </p:cNvSpPr>
          <p:nvPr/>
        </p:nvSpPr>
        <p:spPr bwMode="auto">
          <a:xfrm flipH="1">
            <a:off x="3016250" y="2162175"/>
            <a:ext cx="20638" cy="684213"/>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21" name="Line 9"/>
          <p:cNvSpPr>
            <a:spLocks noChangeShapeType="1"/>
          </p:cNvSpPr>
          <p:nvPr/>
        </p:nvSpPr>
        <p:spPr bwMode="auto">
          <a:xfrm flipH="1">
            <a:off x="7750175" y="2152650"/>
            <a:ext cx="7938" cy="69215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22" name="Rectangle 10"/>
          <p:cNvSpPr>
            <a:spLocks noChangeArrowheads="1"/>
          </p:cNvSpPr>
          <p:nvPr/>
        </p:nvSpPr>
        <p:spPr bwMode="auto">
          <a:xfrm>
            <a:off x="539750" y="1700213"/>
            <a:ext cx="688975"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比特</a:t>
            </a:r>
          </a:p>
        </p:txBody>
      </p:sp>
      <p:sp>
        <p:nvSpPr>
          <p:cNvPr id="730123" name="Rectangle 11"/>
          <p:cNvSpPr>
            <a:spLocks noChangeArrowheads="1"/>
          </p:cNvSpPr>
          <p:nvPr/>
        </p:nvSpPr>
        <p:spPr bwMode="auto">
          <a:xfrm>
            <a:off x="1235075" y="1744663"/>
            <a:ext cx="325438"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8</a:t>
            </a:r>
          </a:p>
        </p:txBody>
      </p:sp>
      <p:sp>
        <p:nvSpPr>
          <p:cNvPr id="730124" name="Rectangle 12"/>
          <p:cNvSpPr>
            <a:spLocks noChangeArrowheads="1"/>
          </p:cNvSpPr>
          <p:nvPr/>
        </p:nvSpPr>
        <p:spPr bwMode="auto">
          <a:xfrm>
            <a:off x="2270125" y="1744663"/>
            <a:ext cx="325438"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8</a:t>
            </a:r>
          </a:p>
        </p:txBody>
      </p:sp>
      <p:sp>
        <p:nvSpPr>
          <p:cNvPr id="730125" name="Rectangle 13"/>
          <p:cNvSpPr>
            <a:spLocks noChangeArrowheads="1"/>
          </p:cNvSpPr>
          <p:nvPr/>
        </p:nvSpPr>
        <p:spPr bwMode="auto">
          <a:xfrm>
            <a:off x="3305175" y="1744663"/>
            <a:ext cx="325438"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8</a:t>
            </a:r>
          </a:p>
        </p:txBody>
      </p:sp>
      <p:sp>
        <p:nvSpPr>
          <p:cNvPr id="730126" name="Rectangle 14"/>
          <p:cNvSpPr>
            <a:spLocks noChangeArrowheads="1"/>
          </p:cNvSpPr>
          <p:nvPr/>
        </p:nvSpPr>
        <p:spPr bwMode="auto">
          <a:xfrm>
            <a:off x="4486275" y="1744663"/>
            <a:ext cx="688975"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可变</a:t>
            </a:r>
          </a:p>
        </p:txBody>
      </p:sp>
      <p:sp>
        <p:nvSpPr>
          <p:cNvPr id="730127" name="Rectangle 15"/>
          <p:cNvSpPr>
            <a:spLocks noChangeArrowheads="1"/>
          </p:cNvSpPr>
          <p:nvPr/>
        </p:nvSpPr>
        <p:spPr bwMode="auto">
          <a:xfrm>
            <a:off x="4135438" y="2170113"/>
            <a:ext cx="1446212" cy="650875"/>
          </a:xfrm>
          <a:prstGeom prst="rect">
            <a:avLst/>
          </a:prstGeom>
          <a:solidFill>
            <a:srgbClr val="FFCCFF"/>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28" name="Rectangle 16"/>
          <p:cNvSpPr>
            <a:spLocks noChangeArrowheads="1"/>
          </p:cNvSpPr>
          <p:nvPr/>
        </p:nvSpPr>
        <p:spPr bwMode="auto">
          <a:xfrm>
            <a:off x="6354763" y="1744663"/>
            <a:ext cx="427037"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16</a:t>
            </a:r>
          </a:p>
        </p:txBody>
      </p:sp>
      <p:sp>
        <p:nvSpPr>
          <p:cNvPr id="730129" name="Rectangle 17"/>
          <p:cNvSpPr>
            <a:spLocks noChangeArrowheads="1"/>
          </p:cNvSpPr>
          <p:nvPr/>
        </p:nvSpPr>
        <p:spPr bwMode="auto">
          <a:xfrm>
            <a:off x="8134350" y="1744663"/>
            <a:ext cx="325438"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8</a:t>
            </a:r>
          </a:p>
        </p:txBody>
      </p:sp>
      <p:sp>
        <p:nvSpPr>
          <p:cNvPr id="730130" name="Rectangle 18"/>
          <p:cNvSpPr>
            <a:spLocks noChangeArrowheads="1"/>
          </p:cNvSpPr>
          <p:nvPr/>
        </p:nvSpPr>
        <p:spPr bwMode="auto">
          <a:xfrm>
            <a:off x="4503738" y="2133600"/>
            <a:ext cx="692150"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信息</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Info</a:t>
            </a:r>
          </a:p>
        </p:txBody>
      </p:sp>
      <p:sp>
        <p:nvSpPr>
          <p:cNvPr id="730131" name="Rectangle 19"/>
          <p:cNvSpPr>
            <a:spLocks noChangeArrowheads="1"/>
          </p:cNvSpPr>
          <p:nvPr/>
        </p:nvSpPr>
        <p:spPr bwMode="auto">
          <a:xfrm>
            <a:off x="1108075" y="2133600"/>
            <a:ext cx="688975"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标志</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F</a:t>
            </a:r>
          </a:p>
        </p:txBody>
      </p:sp>
      <p:sp>
        <p:nvSpPr>
          <p:cNvPr id="730132" name="Rectangle 20"/>
          <p:cNvSpPr>
            <a:spLocks noChangeArrowheads="1"/>
          </p:cNvSpPr>
          <p:nvPr/>
        </p:nvSpPr>
        <p:spPr bwMode="auto">
          <a:xfrm>
            <a:off x="7989888" y="2133600"/>
            <a:ext cx="688975"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标志</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F</a:t>
            </a:r>
          </a:p>
        </p:txBody>
      </p:sp>
      <p:sp>
        <p:nvSpPr>
          <p:cNvPr id="730133" name="Rectangle 21"/>
          <p:cNvSpPr>
            <a:spLocks noChangeArrowheads="1"/>
          </p:cNvSpPr>
          <p:nvPr/>
        </p:nvSpPr>
        <p:spPr bwMode="auto">
          <a:xfrm>
            <a:off x="2124075" y="2133600"/>
            <a:ext cx="750888"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地址 </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A</a:t>
            </a:r>
          </a:p>
        </p:txBody>
      </p:sp>
      <p:sp>
        <p:nvSpPr>
          <p:cNvPr id="730134" name="Rectangle 22"/>
          <p:cNvSpPr>
            <a:spLocks noChangeArrowheads="1"/>
          </p:cNvSpPr>
          <p:nvPr/>
        </p:nvSpPr>
        <p:spPr bwMode="auto">
          <a:xfrm>
            <a:off x="3195638" y="2133600"/>
            <a:ext cx="688975"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控制</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C</a:t>
            </a:r>
          </a:p>
        </p:txBody>
      </p:sp>
      <p:sp>
        <p:nvSpPr>
          <p:cNvPr id="730135" name="Rectangle 23"/>
          <p:cNvSpPr>
            <a:spLocks noChangeArrowheads="1"/>
          </p:cNvSpPr>
          <p:nvPr/>
        </p:nvSpPr>
        <p:spPr bwMode="auto">
          <a:xfrm>
            <a:off x="6084888" y="2133600"/>
            <a:ext cx="1450975"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帧检验序列</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FCS</a:t>
            </a:r>
          </a:p>
        </p:txBody>
      </p:sp>
      <p:sp>
        <p:nvSpPr>
          <p:cNvPr id="730136" name="Line 24"/>
          <p:cNvSpPr>
            <a:spLocks noChangeShapeType="1"/>
          </p:cNvSpPr>
          <p:nvPr/>
        </p:nvSpPr>
        <p:spPr bwMode="auto">
          <a:xfrm flipH="1">
            <a:off x="1936750" y="2909888"/>
            <a:ext cx="9525" cy="788987"/>
          </a:xfrm>
          <a:prstGeom prst="line">
            <a:avLst/>
          </a:prstGeom>
          <a:noFill/>
          <a:ln w="19050">
            <a:solidFill>
              <a:srgbClr val="FC0404"/>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37" name="Line 25"/>
          <p:cNvSpPr>
            <a:spLocks noChangeShapeType="1"/>
          </p:cNvSpPr>
          <p:nvPr/>
        </p:nvSpPr>
        <p:spPr bwMode="auto">
          <a:xfrm>
            <a:off x="5580063" y="2924175"/>
            <a:ext cx="0" cy="322263"/>
          </a:xfrm>
          <a:prstGeom prst="line">
            <a:avLst/>
          </a:prstGeom>
          <a:noFill/>
          <a:ln w="19050">
            <a:solidFill>
              <a:srgbClr val="FC0404"/>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38" name="Line 26"/>
          <p:cNvSpPr>
            <a:spLocks noChangeShapeType="1"/>
          </p:cNvSpPr>
          <p:nvPr/>
        </p:nvSpPr>
        <p:spPr bwMode="auto">
          <a:xfrm>
            <a:off x="1979613" y="3068638"/>
            <a:ext cx="3619500" cy="0"/>
          </a:xfrm>
          <a:prstGeom prst="line">
            <a:avLst/>
          </a:prstGeom>
          <a:noFill/>
          <a:ln w="28575">
            <a:solidFill>
              <a:srgbClr val="FC0404"/>
            </a:solidFill>
            <a:round/>
            <a:headEnd type="triangl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39" name="Line 27"/>
          <p:cNvSpPr>
            <a:spLocks noChangeShapeType="1"/>
          </p:cNvSpPr>
          <p:nvPr/>
        </p:nvSpPr>
        <p:spPr bwMode="auto">
          <a:xfrm>
            <a:off x="7767638" y="2998788"/>
            <a:ext cx="0" cy="700087"/>
          </a:xfrm>
          <a:prstGeom prst="line">
            <a:avLst/>
          </a:prstGeom>
          <a:noFill/>
          <a:ln w="19050">
            <a:solidFill>
              <a:srgbClr val="FC0404"/>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0" name="Line 28"/>
          <p:cNvSpPr>
            <a:spLocks noChangeShapeType="1"/>
          </p:cNvSpPr>
          <p:nvPr/>
        </p:nvSpPr>
        <p:spPr bwMode="auto">
          <a:xfrm>
            <a:off x="1962150" y="3559175"/>
            <a:ext cx="5799138" cy="0"/>
          </a:xfrm>
          <a:prstGeom prst="line">
            <a:avLst/>
          </a:prstGeom>
          <a:noFill/>
          <a:ln w="28575">
            <a:solidFill>
              <a:srgbClr val="FC0404"/>
            </a:solidFill>
            <a:round/>
            <a:headEnd type="triangl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1" name="Rectangle 29"/>
          <p:cNvSpPr>
            <a:spLocks noChangeArrowheads="1"/>
          </p:cNvSpPr>
          <p:nvPr/>
        </p:nvSpPr>
        <p:spPr bwMode="auto">
          <a:xfrm>
            <a:off x="5867400" y="3141663"/>
            <a:ext cx="1704975" cy="3937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lgn="ctr">
                <a:solidFill>
                  <a:schemeClr val="bg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透明传输区间</a:t>
            </a:r>
          </a:p>
        </p:txBody>
      </p:sp>
      <p:sp>
        <p:nvSpPr>
          <p:cNvPr id="730142" name="Line 30"/>
          <p:cNvSpPr>
            <a:spLocks noChangeShapeType="1"/>
          </p:cNvSpPr>
          <p:nvPr/>
        </p:nvSpPr>
        <p:spPr bwMode="auto">
          <a:xfrm flipH="1">
            <a:off x="4125913" y="2162175"/>
            <a:ext cx="0" cy="6604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3" name="Line 31"/>
          <p:cNvSpPr>
            <a:spLocks noChangeShapeType="1"/>
          </p:cNvSpPr>
          <p:nvPr/>
        </p:nvSpPr>
        <p:spPr bwMode="auto">
          <a:xfrm flipH="1">
            <a:off x="5573713" y="2162175"/>
            <a:ext cx="14287" cy="655638"/>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4" name="Freeform 32"/>
          <p:cNvSpPr>
            <a:spLocks/>
          </p:cNvSpPr>
          <p:nvPr/>
        </p:nvSpPr>
        <p:spPr bwMode="auto">
          <a:xfrm>
            <a:off x="5213350" y="2078038"/>
            <a:ext cx="144463" cy="927100"/>
          </a:xfrm>
          <a:custGeom>
            <a:avLst/>
            <a:gdLst>
              <a:gd name="T0" fmla="*/ 96 w 96"/>
              <a:gd name="T1" fmla="*/ 0 h 528"/>
              <a:gd name="T2" fmla="*/ 32 w 96"/>
              <a:gd name="T3" fmla="*/ 144 h 528"/>
              <a:gd name="T4" fmla="*/ 96 w 96"/>
              <a:gd name="T5" fmla="*/ 288 h 528"/>
              <a:gd name="T6" fmla="*/ 0 w 96"/>
              <a:gd name="T7" fmla="*/ 368 h 528"/>
              <a:gd name="T8" fmla="*/ 88 w 96"/>
              <a:gd name="T9" fmla="*/ 528 h 528"/>
            </a:gdLst>
            <a:ahLst/>
            <a:cxnLst>
              <a:cxn ang="0">
                <a:pos x="T0" y="T1"/>
              </a:cxn>
              <a:cxn ang="0">
                <a:pos x="T2" y="T3"/>
              </a:cxn>
              <a:cxn ang="0">
                <a:pos x="T4" y="T5"/>
              </a:cxn>
              <a:cxn ang="0">
                <a:pos x="T6" y="T7"/>
              </a:cxn>
              <a:cxn ang="0">
                <a:pos x="T8" y="T9"/>
              </a:cxn>
            </a:cxnLst>
            <a:rect l="0" t="0" r="r" b="b"/>
            <a:pathLst>
              <a:path w="96" h="528">
                <a:moveTo>
                  <a:pt x="96" y="0"/>
                </a:moveTo>
                <a:lnTo>
                  <a:pt x="32" y="144"/>
                </a:lnTo>
                <a:lnTo>
                  <a:pt x="96" y="288"/>
                </a:lnTo>
                <a:lnTo>
                  <a:pt x="0" y="368"/>
                </a:lnTo>
                <a:lnTo>
                  <a:pt x="88" y="528"/>
                </a:lnTo>
              </a:path>
            </a:pathLst>
          </a:custGeom>
          <a:noFill/>
          <a:ln w="57150" cap="flat" cmpd="sng">
            <a:solidFill>
              <a:srgbClr val="FC0404"/>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0145" name="Rectangle 33"/>
          <p:cNvSpPr>
            <a:spLocks noChangeArrowheads="1"/>
          </p:cNvSpPr>
          <p:nvPr/>
        </p:nvSpPr>
        <p:spPr bwMode="auto">
          <a:xfrm>
            <a:off x="2916238" y="3068638"/>
            <a:ext cx="1668462" cy="3937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bg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FCS </a:t>
            </a:r>
            <a:r>
              <a:rPr lang="zh-CN" altLang="en-US" sz="2000">
                <a:latin typeface="华文新魏" pitchFamily="2" charset="-122"/>
                <a:ea typeface="华文新魏" pitchFamily="2" charset="-122"/>
              </a:rPr>
              <a:t>检验区间</a:t>
            </a:r>
          </a:p>
        </p:txBody>
      </p:sp>
      <p:sp>
        <p:nvSpPr>
          <p:cNvPr id="730146" name="Text Box 34"/>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p:cNvSpPr>
            <a:spLocks noGrp="1" noChangeArrowheads="1"/>
          </p:cNvSpPr>
          <p:nvPr>
            <p:ph type="title"/>
          </p:nvPr>
        </p:nvSpPr>
        <p:spPr/>
        <p:txBody>
          <a:bodyPr/>
          <a:lstStyle/>
          <a:p>
            <a:r>
              <a:rPr lang="en-US" altLang="zh-CN" b="1"/>
              <a:t>HDLC</a:t>
            </a:r>
            <a:r>
              <a:rPr lang="zh-CN" altLang="en-US"/>
              <a:t>的帧结构</a:t>
            </a:r>
          </a:p>
        </p:txBody>
      </p:sp>
      <p:sp>
        <p:nvSpPr>
          <p:cNvPr id="766980" name="Rectangle 4"/>
          <p:cNvSpPr>
            <a:spLocks noGrp="1" noChangeArrowheads="1"/>
          </p:cNvSpPr>
          <p:nvPr>
            <p:ph type="body" idx="1"/>
          </p:nvPr>
        </p:nvSpPr>
        <p:spPr>
          <a:xfrm>
            <a:off x="755650" y="3754438"/>
            <a:ext cx="8208963" cy="2736850"/>
          </a:xfrm>
          <a:noFill/>
          <a:ln/>
        </p:spPr>
        <p:txBody>
          <a:bodyPr/>
          <a:lstStyle/>
          <a:p>
            <a:r>
              <a:rPr lang="zh-CN" altLang="en-US" sz="2400">
                <a:solidFill>
                  <a:srgbClr val="FF0000"/>
                </a:solidFill>
              </a:rPr>
              <a:t>控制字段（</a:t>
            </a:r>
            <a:r>
              <a:rPr lang="en-US" altLang="zh-CN" sz="2400">
                <a:solidFill>
                  <a:srgbClr val="FF0000"/>
                </a:solidFill>
              </a:rPr>
              <a:t>C</a:t>
            </a:r>
            <a:r>
              <a:rPr lang="zh-CN" altLang="en-US" sz="2400">
                <a:solidFill>
                  <a:srgbClr val="FF0000"/>
                </a:solidFill>
              </a:rPr>
              <a:t>）</a:t>
            </a:r>
            <a:r>
              <a:rPr lang="zh-CN" altLang="en-US" sz="2400">
                <a:solidFill>
                  <a:schemeClr val="tx1"/>
                </a:solidFill>
              </a:rPr>
              <a:t>：</a:t>
            </a:r>
            <a:r>
              <a:rPr lang="en-US" altLang="zh-CN" sz="2400">
                <a:solidFill>
                  <a:schemeClr val="tx1"/>
                </a:solidFill>
              </a:rPr>
              <a:t>1B</a:t>
            </a:r>
          </a:p>
          <a:p>
            <a:pPr lvl="1"/>
            <a:r>
              <a:rPr lang="zh-CN" altLang="en-US" sz="2000">
                <a:solidFill>
                  <a:schemeClr val="tx1"/>
                </a:solidFill>
              </a:rPr>
              <a:t>用于</a:t>
            </a:r>
            <a:r>
              <a:rPr lang="en-US" altLang="zh-CN" sz="2000">
                <a:solidFill>
                  <a:schemeClr val="tx1"/>
                </a:solidFill>
              </a:rPr>
              <a:t>HDLC</a:t>
            </a:r>
            <a:r>
              <a:rPr lang="zh-CN" altLang="en-US" sz="2000">
                <a:solidFill>
                  <a:schemeClr val="tx1"/>
                </a:solidFill>
              </a:rPr>
              <a:t>帧的分类：信息帧（</a:t>
            </a:r>
            <a:r>
              <a:rPr lang="en-US" altLang="zh-CN" sz="2000">
                <a:solidFill>
                  <a:schemeClr val="tx1"/>
                </a:solidFill>
              </a:rPr>
              <a:t>I</a:t>
            </a:r>
            <a:r>
              <a:rPr lang="zh-CN" altLang="en-US" sz="2000">
                <a:solidFill>
                  <a:schemeClr val="tx1"/>
                </a:solidFill>
              </a:rPr>
              <a:t>帧）、监控帧（</a:t>
            </a:r>
            <a:r>
              <a:rPr lang="en-US" altLang="zh-CN" sz="2000">
                <a:solidFill>
                  <a:schemeClr val="tx1"/>
                </a:solidFill>
              </a:rPr>
              <a:t>S</a:t>
            </a:r>
            <a:r>
              <a:rPr lang="zh-CN" altLang="en-US" sz="2000">
                <a:solidFill>
                  <a:schemeClr val="tx1"/>
                </a:solidFill>
              </a:rPr>
              <a:t>帧）和无编号帧（</a:t>
            </a:r>
            <a:r>
              <a:rPr lang="en-US" altLang="zh-CN" sz="2000">
                <a:solidFill>
                  <a:schemeClr val="tx1"/>
                </a:solidFill>
              </a:rPr>
              <a:t>U</a:t>
            </a:r>
            <a:r>
              <a:rPr lang="zh-CN" altLang="en-US" sz="2000">
                <a:solidFill>
                  <a:schemeClr val="tx1"/>
                </a:solidFill>
              </a:rPr>
              <a:t>帧）。不同类型的帧其控制字段格式不同，后面介绍。</a:t>
            </a:r>
          </a:p>
          <a:p>
            <a:r>
              <a:rPr lang="zh-CN" altLang="en-US" sz="2400">
                <a:solidFill>
                  <a:srgbClr val="FF0000"/>
                </a:solidFill>
              </a:rPr>
              <a:t>信息字段（</a:t>
            </a:r>
            <a:r>
              <a:rPr lang="en-US" altLang="zh-CN" sz="2400">
                <a:solidFill>
                  <a:srgbClr val="FF0000"/>
                </a:solidFill>
              </a:rPr>
              <a:t>I</a:t>
            </a:r>
            <a:r>
              <a:rPr lang="zh-CN" altLang="en-US" sz="2400">
                <a:solidFill>
                  <a:srgbClr val="FF0000"/>
                </a:solidFill>
              </a:rPr>
              <a:t>）</a:t>
            </a:r>
          </a:p>
          <a:p>
            <a:pPr lvl="1"/>
            <a:r>
              <a:rPr lang="zh-CN" altLang="en-US" sz="2000">
                <a:solidFill>
                  <a:schemeClr val="tx1"/>
                </a:solidFill>
              </a:rPr>
              <a:t>用于存放用户数据，可有可无，长度未作限制（下限为</a:t>
            </a:r>
            <a:r>
              <a:rPr lang="en-US" altLang="zh-CN" sz="2000">
                <a:solidFill>
                  <a:schemeClr val="tx1"/>
                </a:solidFill>
              </a:rPr>
              <a:t>0</a:t>
            </a:r>
            <a:r>
              <a:rPr lang="zh-CN" altLang="en-US" sz="2000">
                <a:solidFill>
                  <a:schemeClr val="tx1"/>
                </a:solidFill>
              </a:rPr>
              <a:t>，上限由</a:t>
            </a:r>
            <a:r>
              <a:rPr lang="en-US" altLang="zh-CN" sz="2000">
                <a:solidFill>
                  <a:schemeClr val="tx1"/>
                </a:solidFill>
              </a:rPr>
              <a:t>FCS</a:t>
            </a:r>
            <a:r>
              <a:rPr lang="zh-CN" altLang="en-US" sz="2000">
                <a:solidFill>
                  <a:schemeClr val="tx1"/>
                </a:solidFill>
              </a:rPr>
              <a:t>字段或缓冲器容量决定）。</a:t>
            </a:r>
          </a:p>
          <a:p>
            <a:r>
              <a:rPr lang="zh-CN" altLang="en-US" sz="2400">
                <a:solidFill>
                  <a:srgbClr val="FF0000"/>
                </a:solidFill>
              </a:rPr>
              <a:t>帧校验序列（</a:t>
            </a:r>
            <a:r>
              <a:rPr lang="en-US" altLang="zh-CN" sz="2400">
                <a:solidFill>
                  <a:srgbClr val="FF0000"/>
                </a:solidFill>
              </a:rPr>
              <a:t>FCS</a:t>
            </a:r>
            <a:r>
              <a:rPr lang="zh-CN" altLang="en-US" sz="2400">
                <a:solidFill>
                  <a:srgbClr val="FF0000"/>
                </a:solidFill>
              </a:rPr>
              <a:t>）</a:t>
            </a:r>
            <a:r>
              <a:rPr lang="zh-CN" altLang="en-US" sz="2400">
                <a:solidFill>
                  <a:schemeClr val="tx1"/>
                </a:solidFill>
              </a:rPr>
              <a:t>：</a:t>
            </a:r>
            <a:r>
              <a:rPr lang="en-US" altLang="zh-CN" sz="2400">
                <a:solidFill>
                  <a:schemeClr val="tx1"/>
                </a:solidFill>
              </a:rPr>
              <a:t>2B</a:t>
            </a:r>
            <a:r>
              <a:rPr lang="zh-CN" altLang="en-US" sz="2400">
                <a:solidFill>
                  <a:schemeClr val="tx1"/>
                </a:solidFill>
              </a:rPr>
              <a:t>，生成多项式采用</a:t>
            </a:r>
            <a:r>
              <a:rPr lang="en-US" altLang="zh-CN" sz="2400">
                <a:solidFill>
                  <a:schemeClr val="tx1"/>
                </a:solidFill>
              </a:rPr>
              <a:t>CRC-CCITT</a:t>
            </a:r>
            <a:endParaRPr lang="zh-CN" altLang="en-US" sz="2400">
              <a:solidFill>
                <a:schemeClr val="tx1"/>
              </a:solidFill>
            </a:endParaRPr>
          </a:p>
        </p:txBody>
      </p:sp>
      <p:sp>
        <p:nvSpPr>
          <p:cNvPr id="766981" name="Rectangle 5"/>
          <p:cNvSpPr>
            <a:spLocks noChangeArrowheads="1"/>
          </p:cNvSpPr>
          <p:nvPr/>
        </p:nvSpPr>
        <p:spPr bwMode="auto">
          <a:xfrm>
            <a:off x="860425" y="2147888"/>
            <a:ext cx="7964488" cy="703262"/>
          </a:xfrm>
          <a:prstGeom prst="rect">
            <a:avLst/>
          </a:prstGeom>
          <a:solidFill>
            <a:srgbClr val="FFFF00"/>
          </a:solidFill>
          <a:ln w="28575">
            <a:solidFill>
              <a:srgbClr val="333399"/>
            </a:solidFill>
            <a:miter lim="800000"/>
            <a:headEnd/>
            <a:tailEnd/>
          </a:ln>
          <a:effectLst>
            <a:outerShdw dist="107763" dir="2700000" algn="ctr" rotWithShape="0">
              <a:srgbClr val="00002E">
                <a:alpha val="50000"/>
              </a:srgbClr>
            </a:outerShdw>
          </a:effectLst>
        </p:spPr>
        <p:txBody>
          <a:bodyPr wrap="none" anchor="ctr"/>
          <a:lstStyle/>
          <a:p>
            <a:endParaRPr lang="zh-CN" altLang="en-US"/>
          </a:p>
        </p:txBody>
      </p:sp>
      <p:sp>
        <p:nvSpPr>
          <p:cNvPr id="766982" name="Line 6"/>
          <p:cNvSpPr>
            <a:spLocks noChangeShapeType="1"/>
          </p:cNvSpPr>
          <p:nvPr/>
        </p:nvSpPr>
        <p:spPr bwMode="auto">
          <a:xfrm flipH="1">
            <a:off x="1946275" y="2162175"/>
            <a:ext cx="11113" cy="701675"/>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983" name="Line 7"/>
          <p:cNvSpPr>
            <a:spLocks noChangeShapeType="1"/>
          </p:cNvSpPr>
          <p:nvPr/>
        </p:nvSpPr>
        <p:spPr bwMode="auto">
          <a:xfrm flipH="1">
            <a:off x="3016250" y="2162175"/>
            <a:ext cx="20638" cy="684213"/>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984" name="Line 8"/>
          <p:cNvSpPr>
            <a:spLocks noChangeShapeType="1"/>
          </p:cNvSpPr>
          <p:nvPr/>
        </p:nvSpPr>
        <p:spPr bwMode="auto">
          <a:xfrm flipH="1">
            <a:off x="7750175" y="2152650"/>
            <a:ext cx="7938" cy="69215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985" name="Rectangle 9"/>
          <p:cNvSpPr>
            <a:spLocks noChangeArrowheads="1"/>
          </p:cNvSpPr>
          <p:nvPr/>
        </p:nvSpPr>
        <p:spPr bwMode="auto">
          <a:xfrm>
            <a:off x="539750" y="1700213"/>
            <a:ext cx="688975"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比特</a:t>
            </a:r>
          </a:p>
        </p:txBody>
      </p:sp>
      <p:sp>
        <p:nvSpPr>
          <p:cNvPr id="766986" name="Rectangle 10"/>
          <p:cNvSpPr>
            <a:spLocks noChangeArrowheads="1"/>
          </p:cNvSpPr>
          <p:nvPr/>
        </p:nvSpPr>
        <p:spPr bwMode="auto">
          <a:xfrm>
            <a:off x="1235075" y="1744663"/>
            <a:ext cx="325438"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8</a:t>
            </a:r>
          </a:p>
        </p:txBody>
      </p:sp>
      <p:sp>
        <p:nvSpPr>
          <p:cNvPr id="766987" name="Rectangle 11"/>
          <p:cNvSpPr>
            <a:spLocks noChangeArrowheads="1"/>
          </p:cNvSpPr>
          <p:nvPr/>
        </p:nvSpPr>
        <p:spPr bwMode="auto">
          <a:xfrm>
            <a:off x="2270125" y="1744663"/>
            <a:ext cx="325438"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8</a:t>
            </a:r>
          </a:p>
        </p:txBody>
      </p:sp>
      <p:sp>
        <p:nvSpPr>
          <p:cNvPr id="766988" name="Rectangle 12"/>
          <p:cNvSpPr>
            <a:spLocks noChangeArrowheads="1"/>
          </p:cNvSpPr>
          <p:nvPr/>
        </p:nvSpPr>
        <p:spPr bwMode="auto">
          <a:xfrm>
            <a:off x="3305175" y="1744663"/>
            <a:ext cx="325438"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8</a:t>
            </a:r>
          </a:p>
        </p:txBody>
      </p:sp>
      <p:sp>
        <p:nvSpPr>
          <p:cNvPr id="766989" name="Rectangle 13"/>
          <p:cNvSpPr>
            <a:spLocks noChangeArrowheads="1"/>
          </p:cNvSpPr>
          <p:nvPr/>
        </p:nvSpPr>
        <p:spPr bwMode="auto">
          <a:xfrm>
            <a:off x="4486275" y="1744663"/>
            <a:ext cx="688975"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可变</a:t>
            </a:r>
          </a:p>
        </p:txBody>
      </p:sp>
      <p:sp>
        <p:nvSpPr>
          <p:cNvPr id="766990" name="Rectangle 14"/>
          <p:cNvSpPr>
            <a:spLocks noChangeArrowheads="1"/>
          </p:cNvSpPr>
          <p:nvPr/>
        </p:nvSpPr>
        <p:spPr bwMode="auto">
          <a:xfrm>
            <a:off x="4135438" y="2170113"/>
            <a:ext cx="1446212" cy="650875"/>
          </a:xfrm>
          <a:prstGeom prst="rect">
            <a:avLst/>
          </a:prstGeom>
          <a:solidFill>
            <a:srgbClr val="FFCCFF"/>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991" name="Rectangle 15"/>
          <p:cNvSpPr>
            <a:spLocks noChangeArrowheads="1"/>
          </p:cNvSpPr>
          <p:nvPr/>
        </p:nvSpPr>
        <p:spPr bwMode="auto">
          <a:xfrm>
            <a:off x="6354763" y="1744663"/>
            <a:ext cx="427037"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16</a:t>
            </a:r>
          </a:p>
        </p:txBody>
      </p:sp>
      <p:sp>
        <p:nvSpPr>
          <p:cNvPr id="766992" name="Rectangle 16"/>
          <p:cNvSpPr>
            <a:spLocks noChangeArrowheads="1"/>
          </p:cNvSpPr>
          <p:nvPr/>
        </p:nvSpPr>
        <p:spPr bwMode="auto">
          <a:xfrm>
            <a:off x="8134350" y="1744663"/>
            <a:ext cx="325438" cy="393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8</a:t>
            </a:r>
          </a:p>
        </p:txBody>
      </p:sp>
      <p:sp>
        <p:nvSpPr>
          <p:cNvPr id="766993" name="Rectangle 17"/>
          <p:cNvSpPr>
            <a:spLocks noChangeArrowheads="1"/>
          </p:cNvSpPr>
          <p:nvPr/>
        </p:nvSpPr>
        <p:spPr bwMode="auto">
          <a:xfrm>
            <a:off x="4503738" y="2133600"/>
            <a:ext cx="692150"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信息</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Info</a:t>
            </a:r>
          </a:p>
        </p:txBody>
      </p:sp>
      <p:sp>
        <p:nvSpPr>
          <p:cNvPr id="766994" name="Rectangle 18"/>
          <p:cNvSpPr>
            <a:spLocks noChangeArrowheads="1"/>
          </p:cNvSpPr>
          <p:nvPr/>
        </p:nvSpPr>
        <p:spPr bwMode="auto">
          <a:xfrm>
            <a:off x="1108075" y="2133600"/>
            <a:ext cx="688975"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标志</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F</a:t>
            </a:r>
          </a:p>
        </p:txBody>
      </p:sp>
      <p:sp>
        <p:nvSpPr>
          <p:cNvPr id="766995" name="Rectangle 19"/>
          <p:cNvSpPr>
            <a:spLocks noChangeArrowheads="1"/>
          </p:cNvSpPr>
          <p:nvPr/>
        </p:nvSpPr>
        <p:spPr bwMode="auto">
          <a:xfrm>
            <a:off x="7989888" y="2133600"/>
            <a:ext cx="688975"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标志</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F</a:t>
            </a:r>
          </a:p>
        </p:txBody>
      </p:sp>
      <p:sp>
        <p:nvSpPr>
          <p:cNvPr id="766996" name="Rectangle 20"/>
          <p:cNvSpPr>
            <a:spLocks noChangeArrowheads="1"/>
          </p:cNvSpPr>
          <p:nvPr/>
        </p:nvSpPr>
        <p:spPr bwMode="auto">
          <a:xfrm>
            <a:off x="2124075" y="2133600"/>
            <a:ext cx="750888"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地址 </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A</a:t>
            </a:r>
          </a:p>
        </p:txBody>
      </p:sp>
      <p:sp>
        <p:nvSpPr>
          <p:cNvPr id="766997" name="Rectangle 21"/>
          <p:cNvSpPr>
            <a:spLocks noChangeArrowheads="1"/>
          </p:cNvSpPr>
          <p:nvPr/>
        </p:nvSpPr>
        <p:spPr bwMode="auto">
          <a:xfrm>
            <a:off x="3195638" y="2133600"/>
            <a:ext cx="688975"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控制</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C</a:t>
            </a:r>
          </a:p>
        </p:txBody>
      </p:sp>
      <p:sp>
        <p:nvSpPr>
          <p:cNvPr id="766998" name="Rectangle 22"/>
          <p:cNvSpPr>
            <a:spLocks noChangeArrowheads="1"/>
          </p:cNvSpPr>
          <p:nvPr/>
        </p:nvSpPr>
        <p:spPr bwMode="auto">
          <a:xfrm>
            <a:off x="6084888" y="2133600"/>
            <a:ext cx="1450975" cy="6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帧检验序列</a:t>
            </a:r>
          </a:p>
          <a:p>
            <a:pPr eaLnBrk="0" hangingPunct="0">
              <a:buClrTx/>
              <a:buFontTx/>
              <a:buNone/>
            </a:pPr>
            <a:r>
              <a:rPr lang="zh-CN" altLang="en-US" sz="2000">
                <a:latin typeface="华文新魏" pitchFamily="2" charset="-122"/>
                <a:ea typeface="华文新魏" pitchFamily="2" charset="-122"/>
              </a:rPr>
              <a:t>      </a:t>
            </a:r>
            <a:r>
              <a:rPr lang="en-US" altLang="zh-CN" sz="2000">
                <a:latin typeface="华文新魏" pitchFamily="2" charset="-122"/>
                <a:ea typeface="华文新魏" pitchFamily="2" charset="-122"/>
              </a:rPr>
              <a:t>FCS</a:t>
            </a:r>
          </a:p>
        </p:txBody>
      </p:sp>
      <p:sp>
        <p:nvSpPr>
          <p:cNvPr id="766999" name="Line 23"/>
          <p:cNvSpPr>
            <a:spLocks noChangeShapeType="1"/>
          </p:cNvSpPr>
          <p:nvPr/>
        </p:nvSpPr>
        <p:spPr bwMode="auto">
          <a:xfrm flipH="1">
            <a:off x="1936750" y="2909888"/>
            <a:ext cx="9525" cy="788987"/>
          </a:xfrm>
          <a:prstGeom prst="line">
            <a:avLst/>
          </a:prstGeom>
          <a:noFill/>
          <a:ln w="19050">
            <a:solidFill>
              <a:srgbClr val="FC0404"/>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000" name="Line 24"/>
          <p:cNvSpPr>
            <a:spLocks noChangeShapeType="1"/>
          </p:cNvSpPr>
          <p:nvPr/>
        </p:nvSpPr>
        <p:spPr bwMode="auto">
          <a:xfrm>
            <a:off x="5580063" y="2924175"/>
            <a:ext cx="0" cy="322263"/>
          </a:xfrm>
          <a:prstGeom prst="line">
            <a:avLst/>
          </a:prstGeom>
          <a:noFill/>
          <a:ln w="19050">
            <a:solidFill>
              <a:srgbClr val="FC0404"/>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001" name="Line 25"/>
          <p:cNvSpPr>
            <a:spLocks noChangeShapeType="1"/>
          </p:cNvSpPr>
          <p:nvPr/>
        </p:nvSpPr>
        <p:spPr bwMode="auto">
          <a:xfrm>
            <a:off x="1979613" y="3068638"/>
            <a:ext cx="3619500" cy="0"/>
          </a:xfrm>
          <a:prstGeom prst="line">
            <a:avLst/>
          </a:prstGeom>
          <a:noFill/>
          <a:ln w="28575">
            <a:solidFill>
              <a:srgbClr val="FC0404"/>
            </a:solidFill>
            <a:round/>
            <a:headEnd type="triangl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002" name="Line 26"/>
          <p:cNvSpPr>
            <a:spLocks noChangeShapeType="1"/>
          </p:cNvSpPr>
          <p:nvPr/>
        </p:nvSpPr>
        <p:spPr bwMode="auto">
          <a:xfrm>
            <a:off x="7767638" y="2998788"/>
            <a:ext cx="0" cy="700087"/>
          </a:xfrm>
          <a:prstGeom prst="line">
            <a:avLst/>
          </a:prstGeom>
          <a:noFill/>
          <a:ln w="19050">
            <a:solidFill>
              <a:srgbClr val="FC0404"/>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003" name="Line 27"/>
          <p:cNvSpPr>
            <a:spLocks noChangeShapeType="1"/>
          </p:cNvSpPr>
          <p:nvPr/>
        </p:nvSpPr>
        <p:spPr bwMode="auto">
          <a:xfrm>
            <a:off x="1962150" y="3559175"/>
            <a:ext cx="5799138" cy="0"/>
          </a:xfrm>
          <a:prstGeom prst="line">
            <a:avLst/>
          </a:prstGeom>
          <a:noFill/>
          <a:ln w="28575">
            <a:solidFill>
              <a:srgbClr val="FC0404"/>
            </a:solidFill>
            <a:round/>
            <a:headEnd type="triangle" w="sm" len="lg"/>
            <a:tailEnd type="triangle" w="sm"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004" name="Rectangle 28"/>
          <p:cNvSpPr>
            <a:spLocks noChangeArrowheads="1"/>
          </p:cNvSpPr>
          <p:nvPr/>
        </p:nvSpPr>
        <p:spPr bwMode="auto">
          <a:xfrm>
            <a:off x="5867400" y="3141663"/>
            <a:ext cx="1704975" cy="3937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lgn="ctr">
                <a:solidFill>
                  <a:schemeClr val="bg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a:latin typeface="华文新魏" pitchFamily="2" charset="-122"/>
                <a:ea typeface="华文新魏" pitchFamily="2" charset="-122"/>
              </a:rPr>
              <a:t>透明传输区间</a:t>
            </a:r>
          </a:p>
        </p:txBody>
      </p:sp>
      <p:sp>
        <p:nvSpPr>
          <p:cNvPr id="767005" name="Line 29"/>
          <p:cNvSpPr>
            <a:spLocks noChangeShapeType="1"/>
          </p:cNvSpPr>
          <p:nvPr/>
        </p:nvSpPr>
        <p:spPr bwMode="auto">
          <a:xfrm flipH="1">
            <a:off x="4125913" y="2162175"/>
            <a:ext cx="0" cy="6604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006" name="Line 30"/>
          <p:cNvSpPr>
            <a:spLocks noChangeShapeType="1"/>
          </p:cNvSpPr>
          <p:nvPr/>
        </p:nvSpPr>
        <p:spPr bwMode="auto">
          <a:xfrm flipH="1">
            <a:off x="5573713" y="2162175"/>
            <a:ext cx="14287" cy="655638"/>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007" name="Freeform 31"/>
          <p:cNvSpPr>
            <a:spLocks/>
          </p:cNvSpPr>
          <p:nvPr/>
        </p:nvSpPr>
        <p:spPr bwMode="auto">
          <a:xfrm>
            <a:off x="5213350" y="2078038"/>
            <a:ext cx="144463" cy="927100"/>
          </a:xfrm>
          <a:custGeom>
            <a:avLst/>
            <a:gdLst>
              <a:gd name="T0" fmla="*/ 96 w 96"/>
              <a:gd name="T1" fmla="*/ 0 h 528"/>
              <a:gd name="T2" fmla="*/ 32 w 96"/>
              <a:gd name="T3" fmla="*/ 144 h 528"/>
              <a:gd name="T4" fmla="*/ 96 w 96"/>
              <a:gd name="T5" fmla="*/ 288 h 528"/>
              <a:gd name="T6" fmla="*/ 0 w 96"/>
              <a:gd name="T7" fmla="*/ 368 h 528"/>
              <a:gd name="T8" fmla="*/ 88 w 96"/>
              <a:gd name="T9" fmla="*/ 528 h 528"/>
            </a:gdLst>
            <a:ahLst/>
            <a:cxnLst>
              <a:cxn ang="0">
                <a:pos x="T0" y="T1"/>
              </a:cxn>
              <a:cxn ang="0">
                <a:pos x="T2" y="T3"/>
              </a:cxn>
              <a:cxn ang="0">
                <a:pos x="T4" y="T5"/>
              </a:cxn>
              <a:cxn ang="0">
                <a:pos x="T6" y="T7"/>
              </a:cxn>
              <a:cxn ang="0">
                <a:pos x="T8" y="T9"/>
              </a:cxn>
            </a:cxnLst>
            <a:rect l="0" t="0" r="r" b="b"/>
            <a:pathLst>
              <a:path w="96" h="528">
                <a:moveTo>
                  <a:pt x="96" y="0"/>
                </a:moveTo>
                <a:lnTo>
                  <a:pt x="32" y="144"/>
                </a:lnTo>
                <a:lnTo>
                  <a:pt x="96" y="288"/>
                </a:lnTo>
                <a:lnTo>
                  <a:pt x="0" y="368"/>
                </a:lnTo>
                <a:lnTo>
                  <a:pt x="88" y="528"/>
                </a:lnTo>
              </a:path>
            </a:pathLst>
          </a:custGeom>
          <a:noFill/>
          <a:ln w="57150" cap="flat" cmpd="sng">
            <a:solidFill>
              <a:srgbClr val="FC0404"/>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7008" name="Rectangle 32"/>
          <p:cNvSpPr>
            <a:spLocks noChangeArrowheads="1"/>
          </p:cNvSpPr>
          <p:nvPr/>
        </p:nvSpPr>
        <p:spPr bwMode="auto">
          <a:xfrm>
            <a:off x="2916238" y="3068638"/>
            <a:ext cx="1668462" cy="3937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bg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a:latin typeface="华文新魏" pitchFamily="2" charset="-122"/>
                <a:ea typeface="华文新魏" pitchFamily="2" charset="-122"/>
              </a:rPr>
              <a:t>FCS </a:t>
            </a:r>
            <a:r>
              <a:rPr lang="zh-CN" altLang="en-US" sz="2000">
                <a:latin typeface="华文新魏" pitchFamily="2" charset="-122"/>
                <a:ea typeface="华文新魏" pitchFamily="2" charset="-122"/>
              </a:rPr>
              <a:t>检验区间</a:t>
            </a:r>
          </a:p>
        </p:txBody>
      </p:sp>
      <p:sp>
        <p:nvSpPr>
          <p:cNvPr id="767009" name="Text Box 33"/>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767010" name="Text Box 3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r>
              <a:rPr lang="en-US" altLang="zh-CN" sz="1200">
                <a:ea typeface="幼圆" pitchFamily="49" charset="-122"/>
              </a:rPr>
              <a:t>&gt;&gt;</a:t>
            </a:r>
            <a:r>
              <a:rPr lang="zh-CN" altLang="en-US" sz="1200">
                <a:ea typeface="幼圆" pitchFamily="49" charset="-122"/>
                <a:hlinkClick r:id="rId6" action="ppaction://hlinksldjump"/>
              </a:rPr>
              <a:t>数据帧</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p:cNvSpPr>
            <a:spLocks noGrp="1" noChangeArrowheads="1"/>
          </p:cNvSpPr>
          <p:nvPr>
            <p:ph type="title"/>
          </p:nvPr>
        </p:nvSpPr>
        <p:spPr/>
        <p:txBody>
          <a:bodyPr/>
          <a:lstStyle/>
          <a:p>
            <a:r>
              <a:rPr lang="zh-CN" altLang="en-US"/>
              <a:t>帧类型</a:t>
            </a:r>
          </a:p>
        </p:txBody>
      </p:sp>
      <p:sp>
        <p:nvSpPr>
          <p:cNvPr id="731140" name="Rectangle 4"/>
          <p:cNvSpPr>
            <a:spLocks noGrp="1" noChangeArrowheads="1"/>
          </p:cNvSpPr>
          <p:nvPr>
            <p:ph type="body" idx="1"/>
          </p:nvPr>
        </p:nvSpPr>
        <p:spPr>
          <a:xfrm>
            <a:off x="2484438" y="2565400"/>
            <a:ext cx="3978275" cy="3168650"/>
          </a:xfrm>
        </p:spPr>
        <p:txBody>
          <a:bodyPr/>
          <a:lstStyle/>
          <a:p>
            <a:r>
              <a:rPr lang="zh-CN" altLang="en-US" dirty="0">
                <a:hlinkClick r:id="rId3" action="ppaction://hlinksldjump"/>
              </a:rPr>
              <a:t>信息帧（</a:t>
            </a:r>
            <a:r>
              <a:rPr lang="en-US" altLang="zh-CN" dirty="0">
                <a:hlinkClick r:id="rId3" action="ppaction://hlinksldjump"/>
              </a:rPr>
              <a:t>I</a:t>
            </a:r>
            <a:r>
              <a:rPr lang="zh-CN" altLang="en-US" dirty="0">
                <a:hlinkClick r:id="rId3" action="ppaction://hlinksldjump"/>
              </a:rPr>
              <a:t>帧）</a:t>
            </a:r>
            <a:endParaRPr lang="zh-CN" altLang="en-US" dirty="0"/>
          </a:p>
          <a:p>
            <a:endParaRPr lang="zh-CN" altLang="en-US" dirty="0"/>
          </a:p>
          <a:p>
            <a:r>
              <a:rPr lang="zh-CN" altLang="en-US" dirty="0">
                <a:hlinkClick r:id="rId4" action="ppaction://hlinksldjump"/>
              </a:rPr>
              <a:t>监控帧（</a:t>
            </a:r>
            <a:r>
              <a:rPr lang="en-US" altLang="zh-CN" dirty="0">
                <a:hlinkClick r:id="rId4" action="ppaction://hlinksldjump"/>
              </a:rPr>
              <a:t>S</a:t>
            </a:r>
            <a:r>
              <a:rPr lang="zh-CN" altLang="en-US" dirty="0">
                <a:hlinkClick r:id="rId4" action="ppaction://hlinksldjump"/>
              </a:rPr>
              <a:t>帧）</a:t>
            </a:r>
            <a:endParaRPr lang="zh-CN" altLang="en-US" dirty="0"/>
          </a:p>
          <a:p>
            <a:endParaRPr lang="zh-CN" altLang="en-US" dirty="0"/>
          </a:p>
          <a:p>
            <a:r>
              <a:rPr lang="zh-CN" altLang="en-US" dirty="0">
                <a:hlinkClick r:id="rId4" action="ppaction://hlinksldjump"/>
              </a:rPr>
              <a:t>无编号帧（</a:t>
            </a:r>
            <a:r>
              <a:rPr lang="en-US" altLang="zh-CN" dirty="0">
                <a:hlinkClick r:id="rId4" action="ppaction://hlinksldjump"/>
              </a:rPr>
              <a:t>U</a:t>
            </a:r>
            <a:r>
              <a:rPr lang="zh-CN" altLang="en-US" dirty="0">
                <a:hlinkClick r:id="rId4" action="ppaction://hlinksldjump"/>
              </a:rPr>
              <a:t>帧）</a:t>
            </a:r>
            <a:endParaRPr lang="zh-CN" altLang="en-US" dirty="0"/>
          </a:p>
        </p:txBody>
      </p:sp>
      <p:sp>
        <p:nvSpPr>
          <p:cNvPr id="731141"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数据链路层协议举例</a:t>
            </a:r>
            <a:r>
              <a:rPr lang="en-US" altLang="zh-CN" sz="1200">
                <a:ea typeface="幼圆" pitchFamily="49" charset="-122"/>
              </a:rPr>
              <a:t>&gt;&gt;</a:t>
            </a:r>
            <a:r>
              <a:rPr lang="en-US" altLang="zh-CN" sz="1200">
                <a:ea typeface="幼圆" pitchFamily="49" charset="-122"/>
                <a:hlinkClick r:id="rId7" action="ppaction://hlinksldjump"/>
              </a:rPr>
              <a:t>HDLC</a:t>
            </a:r>
            <a:r>
              <a:rPr lang="en-US" altLang="zh-CN" sz="1200">
                <a:ea typeface="幼圆" pitchFamily="49" charset="-122"/>
              </a:rPr>
              <a:t>&gt;&gt;</a:t>
            </a:r>
            <a:r>
              <a:rPr lang="zh-CN" altLang="en-US" sz="1200">
                <a:ea typeface="幼圆" pitchFamily="49" charset="-122"/>
                <a:hlinkClick r:id="rId8" action="ppaction://hlinksldjump"/>
              </a:rPr>
              <a:t>数据帧</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2" name="Rectangle 2"/>
          <p:cNvSpPr>
            <a:spLocks noGrp="1" noChangeArrowheads="1"/>
          </p:cNvSpPr>
          <p:nvPr>
            <p:ph type="title"/>
          </p:nvPr>
        </p:nvSpPr>
        <p:spPr/>
        <p:txBody>
          <a:bodyPr/>
          <a:lstStyle/>
          <a:p>
            <a:r>
              <a:rPr lang="zh-CN" altLang="en-US"/>
              <a:t>信息帧（</a:t>
            </a:r>
            <a:r>
              <a:rPr lang="en-US" altLang="zh-CN" b="1"/>
              <a:t>I</a:t>
            </a:r>
            <a:r>
              <a:rPr lang="zh-CN" altLang="en-US"/>
              <a:t>帧）</a:t>
            </a:r>
          </a:p>
        </p:txBody>
      </p:sp>
      <p:sp>
        <p:nvSpPr>
          <p:cNvPr id="732165" name="Rectangle 5"/>
          <p:cNvSpPr>
            <a:spLocks noChangeArrowheads="1"/>
          </p:cNvSpPr>
          <p:nvPr/>
        </p:nvSpPr>
        <p:spPr bwMode="auto">
          <a:xfrm>
            <a:off x="428625" y="1838325"/>
            <a:ext cx="798296"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比特</a:t>
            </a:r>
          </a:p>
        </p:txBody>
      </p:sp>
      <p:sp>
        <p:nvSpPr>
          <p:cNvPr id="732166" name="Rectangle 6"/>
          <p:cNvSpPr>
            <a:spLocks noChangeArrowheads="1"/>
          </p:cNvSpPr>
          <p:nvPr/>
        </p:nvSpPr>
        <p:spPr bwMode="auto">
          <a:xfrm>
            <a:off x="1220788" y="1838325"/>
            <a:ext cx="354265"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8</a:t>
            </a:r>
          </a:p>
        </p:txBody>
      </p:sp>
      <p:sp>
        <p:nvSpPr>
          <p:cNvPr id="732167" name="Rectangle 7"/>
          <p:cNvSpPr>
            <a:spLocks noChangeArrowheads="1"/>
          </p:cNvSpPr>
          <p:nvPr/>
        </p:nvSpPr>
        <p:spPr bwMode="auto">
          <a:xfrm>
            <a:off x="2157413" y="1838325"/>
            <a:ext cx="354265"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8</a:t>
            </a:r>
          </a:p>
        </p:txBody>
      </p:sp>
      <p:sp>
        <p:nvSpPr>
          <p:cNvPr id="732168" name="Rectangle 8"/>
          <p:cNvSpPr>
            <a:spLocks noChangeArrowheads="1"/>
          </p:cNvSpPr>
          <p:nvPr/>
        </p:nvSpPr>
        <p:spPr bwMode="auto">
          <a:xfrm>
            <a:off x="3165475" y="1838325"/>
            <a:ext cx="354265"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8</a:t>
            </a:r>
          </a:p>
        </p:txBody>
      </p:sp>
      <p:sp>
        <p:nvSpPr>
          <p:cNvPr id="732169" name="Rectangle 9"/>
          <p:cNvSpPr>
            <a:spLocks noChangeArrowheads="1"/>
          </p:cNvSpPr>
          <p:nvPr/>
        </p:nvSpPr>
        <p:spPr bwMode="auto">
          <a:xfrm>
            <a:off x="4389438" y="1838325"/>
            <a:ext cx="798296"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可变</a:t>
            </a:r>
          </a:p>
        </p:txBody>
      </p:sp>
      <p:sp>
        <p:nvSpPr>
          <p:cNvPr id="732170" name="Rectangle 10"/>
          <p:cNvSpPr>
            <a:spLocks noChangeArrowheads="1"/>
          </p:cNvSpPr>
          <p:nvPr/>
        </p:nvSpPr>
        <p:spPr bwMode="auto">
          <a:xfrm>
            <a:off x="6621463" y="1838325"/>
            <a:ext cx="525786"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16</a:t>
            </a:r>
          </a:p>
        </p:txBody>
      </p:sp>
      <p:sp>
        <p:nvSpPr>
          <p:cNvPr id="732171" name="Rectangle 11"/>
          <p:cNvSpPr>
            <a:spLocks noChangeArrowheads="1"/>
          </p:cNvSpPr>
          <p:nvPr/>
        </p:nvSpPr>
        <p:spPr bwMode="auto">
          <a:xfrm>
            <a:off x="8172450" y="1844675"/>
            <a:ext cx="354265"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8</a:t>
            </a:r>
          </a:p>
        </p:txBody>
      </p:sp>
      <p:sp>
        <p:nvSpPr>
          <p:cNvPr id="732172" name="Rectangle 12"/>
          <p:cNvSpPr>
            <a:spLocks noChangeArrowheads="1"/>
          </p:cNvSpPr>
          <p:nvPr/>
        </p:nvSpPr>
        <p:spPr bwMode="auto">
          <a:xfrm>
            <a:off x="1476375" y="5511800"/>
            <a:ext cx="4464050"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 1    2     3     4    5    6     7     8</a:t>
            </a:r>
          </a:p>
        </p:txBody>
      </p:sp>
      <p:graphicFrame>
        <p:nvGraphicFramePr>
          <p:cNvPr id="732212" name="Group 52"/>
          <p:cNvGraphicFramePr>
            <a:graphicFrameLocks noGrp="1"/>
          </p:cNvGraphicFramePr>
          <p:nvPr>
            <p:extLst>
              <p:ext uri="{D42A27DB-BD31-4B8C-83A1-F6EECF244321}">
                <p14:modId xmlns="" xmlns:p14="http://schemas.microsoft.com/office/powerpoint/2010/main" val="4042636756"/>
              </p:ext>
            </p:extLst>
          </p:nvPr>
        </p:nvGraphicFramePr>
        <p:xfrm>
          <a:off x="1487488" y="4725988"/>
          <a:ext cx="4321175" cy="792163"/>
        </p:xfrm>
        <a:graphic>
          <a:graphicData uri="http://schemas.openxmlformats.org/drawingml/2006/table">
            <a:tbl>
              <a:tblPr/>
              <a:tblGrid>
                <a:gridCol w="541337"/>
                <a:gridCol w="1619250"/>
                <a:gridCol w="541338"/>
                <a:gridCol w="1619250"/>
              </a:tblGrid>
              <a:tr h="7921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0</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N(S)</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P/F</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N(R) </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r>
            </a:tbl>
          </a:graphicData>
        </a:graphic>
      </p:graphicFrame>
      <p:sp>
        <p:nvSpPr>
          <p:cNvPr id="732185" name="Rectangle 25"/>
          <p:cNvSpPr>
            <a:spLocks noChangeArrowheads="1"/>
          </p:cNvSpPr>
          <p:nvPr/>
        </p:nvSpPr>
        <p:spPr bwMode="auto">
          <a:xfrm>
            <a:off x="6011863" y="5516563"/>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比特序号</a:t>
            </a:r>
          </a:p>
        </p:txBody>
      </p:sp>
      <p:graphicFrame>
        <p:nvGraphicFramePr>
          <p:cNvPr id="732224" name="Group 64"/>
          <p:cNvGraphicFramePr>
            <a:graphicFrameLocks noGrp="1"/>
          </p:cNvGraphicFramePr>
          <p:nvPr>
            <p:extLst>
              <p:ext uri="{D42A27DB-BD31-4B8C-83A1-F6EECF244321}">
                <p14:modId xmlns="" xmlns:p14="http://schemas.microsoft.com/office/powerpoint/2010/main" val="3441650956"/>
              </p:ext>
            </p:extLst>
          </p:nvPr>
        </p:nvGraphicFramePr>
        <p:xfrm>
          <a:off x="755650" y="2349500"/>
          <a:ext cx="8128000" cy="935038"/>
        </p:xfrm>
        <a:graphic>
          <a:graphicData uri="http://schemas.openxmlformats.org/drawingml/2006/table">
            <a:tbl>
              <a:tblPr/>
              <a:tblGrid>
                <a:gridCol w="1008063"/>
                <a:gridCol w="1023937"/>
                <a:gridCol w="1016000"/>
                <a:gridCol w="2032000"/>
                <a:gridCol w="2032000"/>
                <a:gridCol w="1016000"/>
              </a:tblGrid>
              <a:tr h="93503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mn-lt"/>
                          <a:ea typeface="+mn-ea"/>
                        </a:rPr>
                        <a:t>标志</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mn-lt"/>
                          <a:ea typeface="+mn-ea"/>
                        </a:rPr>
                        <a:t>F</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mn-lt"/>
                          <a:ea typeface="+mn-ea"/>
                        </a:rPr>
                        <a:t>地址</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mn-lt"/>
                          <a:ea typeface="+mn-ea"/>
                        </a:rPr>
                        <a:t>A</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bg1"/>
                          </a:solidFill>
                          <a:effectLst/>
                          <a:latin typeface="+mn-lt"/>
                          <a:ea typeface="+mn-ea"/>
                        </a:rPr>
                        <a:t>控制</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bg1"/>
                          </a:solidFill>
                          <a:effectLst/>
                          <a:latin typeface="+mn-lt"/>
                          <a:ea typeface="+mn-ea"/>
                        </a:rPr>
                        <a:t>C</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C0404"/>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mn-lt"/>
                          <a:ea typeface="+mn-ea"/>
                        </a:rPr>
                        <a:t>信息</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mn-lt"/>
                          <a:ea typeface="+mn-ea"/>
                        </a:rPr>
                        <a:t>Info</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mn-lt"/>
                          <a:ea typeface="+mn-ea"/>
                        </a:rPr>
                        <a:t>帧校验</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mn-lt"/>
                          <a:ea typeface="+mn-ea"/>
                        </a:rPr>
                        <a:t>FCS</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mn-lt"/>
                          <a:ea typeface="+mn-ea"/>
                        </a:rPr>
                        <a:t>标志</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mn-lt"/>
                          <a:ea typeface="+mn-ea"/>
                        </a:rPr>
                        <a:t>F</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r>
            </a:tbl>
          </a:graphicData>
        </a:graphic>
      </p:graphicFrame>
      <p:sp>
        <p:nvSpPr>
          <p:cNvPr id="732202" name="Freeform 42"/>
          <p:cNvSpPr>
            <a:spLocks/>
          </p:cNvSpPr>
          <p:nvPr/>
        </p:nvSpPr>
        <p:spPr bwMode="auto">
          <a:xfrm>
            <a:off x="5254625" y="2198688"/>
            <a:ext cx="215900" cy="1223962"/>
          </a:xfrm>
          <a:custGeom>
            <a:avLst/>
            <a:gdLst>
              <a:gd name="T0" fmla="*/ 96 w 96"/>
              <a:gd name="T1" fmla="*/ 0 h 528"/>
              <a:gd name="T2" fmla="*/ 32 w 96"/>
              <a:gd name="T3" fmla="*/ 144 h 528"/>
              <a:gd name="T4" fmla="*/ 96 w 96"/>
              <a:gd name="T5" fmla="*/ 288 h 528"/>
              <a:gd name="T6" fmla="*/ 0 w 96"/>
              <a:gd name="T7" fmla="*/ 368 h 528"/>
              <a:gd name="T8" fmla="*/ 88 w 96"/>
              <a:gd name="T9" fmla="*/ 528 h 528"/>
            </a:gdLst>
            <a:ahLst/>
            <a:cxnLst>
              <a:cxn ang="0">
                <a:pos x="T0" y="T1"/>
              </a:cxn>
              <a:cxn ang="0">
                <a:pos x="T2" y="T3"/>
              </a:cxn>
              <a:cxn ang="0">
                <a:pos x="T4" y="T5"/>
              </a:cxn>
              <a:cxn ang="0">
                <a:pos x="T6" y="T7"/>
              </a:cxn>
              <a:cxn ang="0">
                <a:pos x="T8" y="T9"/>
              </a:cxn>
            </a:cxnLst>
            <a:rect l="0" t="0" r="r" b="b"/>
            <a:pathLst>
              <a:path w="96" h="528">
                <a:moveTo>
                  <a:pt x="96" y="0"/>
                </a:moveTo>
                <a:lnTo>
                  <a:pt x="32" y="144"/>
                </a:lnTo>
                <a:lnTo>
                  <a:pt x="96" y="288"/>
                </a:lnTo>
                <a:lnTo>
                  <a:pt x="0" y="368"/>
                </a:lnTo>
                <a:lnTo>
                  <a:pt x="88" y="528"/>
                </a:lnTo>
              </a:path>
            </a:pathLst>
          </a:custGeom>
          <a:noFill/>
          <a:ln w="57150" cap="flat" cmpd="sng">
            <a:solidFill>
              <a:srgbClr val="FC0404"/>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732203" name="Freeform 43"/>
          <p:cNvSpPr>
            <a:spLocks/>
          </p:cNvSpPr>
          <p:nvPr/>
        </p:nvSpPr>
        <p:spPr bwMode="auto">
          <a:xfrm>
            <a:off x="1476375" y="3284538"/>
            <a:ext cx="4321175" cy="1436687"/>
          </a:xfrm>
          <a:custGeom>
            <a:avLst/>
            <a:gdLst>
              <a:gd name="T0" fmla="*/ 817 w 2722"/>
              <a:gd name="T1" fmla="*/ 0 h 953"/>
              <a:gd name="T2" fmla="*/ 1452 w 2722"/>
              <a:gd name="T3" fmla="*/ 0 h 953"/>
              <a:gd name="T4" fmla="*/ 2722 w 2722"/>
              <a:gd name="T5" fmla="*/ 953 h 953"/>
              <a:gd name="T6" fmla="*/ 0 w 2722"/>
              <a:gd name="T7" fmla="*/ 953 h 953"/>
              <a:gd name="T8" fmla="*/ 817 w 2722"/>
              <a:gd name="T9" fmla="*/ 0 h 953"/>
            </a:gdLst>
            <a:ahLst/>
            <a:cxnLst>
              <a:cxn ang="0">
                <a:pos x="T0" y="T1"/>
              </a:cxn>
              <a:cxn ang="0">
                <a:pos x="T2" y="T3"/>
              </a:cxn>
              <a:cxn ang="0">
                <a:pos x="T4" y="T5"/>
              </a:cxn>
              <a:cxn ang="0">
                <a:pos x="T6" y="T7"/>
              </a:cxn>
              <a:cxn ang="0">
                <a:pos x="T8" y="T9"/>
              </a:cxn>
            </a:cxnLst>
            <a:rect l="0" t="0" r="r" b="b"/>
            <a:pathLst>
              <a:path w="2722" h="953">
                <a:moveTo>
                  <a:pt x="817" y="0"/>
                </a:moveTo>
                <a:lnTo>
                  <a:pt x="1452" y="0"/>
                </a:lnTo>
                <a:lnTo>
                  <a:pt x="2722" y="953"/>
                </a:lnTo>
                <a:lnTo>
                  <a:pt x="0" y="953"/>
                </a:lnTo>
                <a:lnTo>
                  <a:pt x="817" y="0"/>
                </a:lnTo>
                <a:close/>
              </a:path>
            </a:pathLst>
          </a:custGeom>
          <a:gradFill rotWithShape="1">
            <a:gsLst>
              <a:gs pos="0">
                <a:srgbClr val="969696">
                  <a:gamma/>
                  <a:shade val="46275"/>
                  <a:invGamma/>
                </a:srgbClr>
              </a:gs>
              <a:gs pos="100000">
                <a:srgbClr val="969696"/>
              </a:gs>
            </a:gsLst>
            <a:lin ang="5400000" scaled="1"/>
          </a:gradFill>
          <a:ln w="9525" cap="flat" cmpd="sng">
            <a:solidFill>
              <a:schemeClr val="folHlink"/>
            </a:solidFill>
            <a:prstDash val="solid"/>
            <a:round/>
            <a:headEnd type="none" w="med" len="med"/>
            <a:tailEnd type="none" w="sm" len="lg"/>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732204" name="Rectangle 44"/>
          <p:cNvSpPr>
            <a:spLocks noChangeArrowheads="1"/>
          </p:cNvSpPr>
          <p:nvPr/>
        </p:nvSpPr>
        <p:spPr bwMode="auto">
          <a:xfrm>
            <a:off x="5435600" y="3716338"/>
            <a:ext cx="3398838"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lgn="ctr">
              <a:buClrTx/>
              <a:buSzPct val="100000"/>
              <a:buFontTx/>
              <a:buNone/>
            </a:pPr>
            <a:r>
              <a:rPr lang="zh-CN" altLang="en-US" b="1">
                <a:latin typeface="+mn-lt"/>
                <a:ea typeface="+mn-ea"/>
              </a:rPr>
              <a:t>传送有效信息或数据</a:t>
            </a:r>
          </a:p>
        </p:txBody>
      </p:sp>
      <p:sp>
        <p:nvSpPr>
          <p:cNvPr id="732225" name="Text Box 6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732226" name="Text Box 6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r>
              <a:rPr lang="en-US" altLang="zh-CN" sz="1200">
                <a:ea typeface="幼圆" pitchFamily="49" charset="-122"/>
              </a:rPr>
              <a:t>&gt;&gt;</a:t>
            </a:r>
            <a:r>
              <a:rPr lang="zh-CN" altLang="en-US" sz="1200">
                <a:ea typeface="幼圆" pitchFamily="49" charset="-122"/>
                <a:hlinkClick r:id="rId6" action="ppaction://hlinksldjump"/>
              </a:rPr>
              <a:t>数据帧</a:t>
            </a:r>
            <a:r>
              <a:rPr lang="en-US" altLang="zh-CN" sz="1200">
                <a:ea typeface="幼圆" pitchFamily="49" charset="-122"/>
              </a:rPr>
              <a:t>&gt;&gt;</a:t>
            </a:r>
            <a:r>
              <a:rPr lang="zh-CN" altLang="en-US" sz="1200">
                <a:ea typeface="幼圆" pitchFamily="49" charset="-122"/>
                <a:hlinkClick r:id="rId7" action="ppaction://hlinksldjump"/>
              </a:rPr>
              <a:t>帧类型</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p:cNvSpPr>
            <a:spLocks noGrp="1" noChangeArrowheads="1"/>
          </p:cNvSpPr>
          <p:nvPr>
            <p:ph type="title"/>
          </p:nvPr>
        </p:nvSpPr>
        <p:spPr/>
        <p:txBody>
          <a:bodyPr/>
          <a:lstStyle/>
          <a:p>
            <a:r>
              <a:rPr lang="zh-CN" altLang="en-US"/>
              <a:t>控制字段的格式</a:t>
            </a:r>
          </a:p>
        </p:txBody>
      </p:sp>
      <p:sp>
        <p:nvSpPr>
          <p:cNvPr id="768004" name="Rectangle 4"/>
          <p:cNvSpPr>
            <a:spLocks noGrp="1" noChangeArrowheads="1"/>
          </p:cNvSpPr>
          <p:nvPr>
            <p:ph type="body" idx="1"/>
          </p:nvPr>
        </p:nvSpPr>
        <p:spPr/>
        <p:txBody>
          <a:bodyPr/>
          <a:lstStyle/>
          <a:p>
            <a:pPr>
              <a:lnSpc>
                <a:spcPct val="110000"/>
              </a:lnSpc>
            </a:pPr>
            <a:r>
              <a:rPr lang="en-US" altLang="zh-CN" sz="2800" dirty="0">
                <a:solidFill>
                  <a:srgbClr val="FC0404"/>
                </a:solidFill>
              </a:rPr>
              <a:t>N(S)</a:t>
            </a:r>
          </a:p>
          <a:p>
            <a:pPr lvl="1">
              <a:lnSpc>
                <a:spcPct val="110000"/>
              </a:lnSpc>
            </a:pPr>
            <a:r>
              <a:rPr lang="zh-CN" altLang="en-US" sz="2400" dirty="0"/>
              <a:t>发送方当前发送的帧编号。</a:t>
            </a:r>
          </a:p>
          <a:p>
            <a:pPr>
              <a:lnSpc>
                <a:spcPct val="110000"/>
              </a:lnSpc>
            </a:pPr>
            <a:r>
              <a:rPr lang="en-US" altLang="zh-CN" sz="2800" dirty="0">
                <a:solidFill>
                  <a:srgbClr val="FC0404"/>
                </a:solidFill>
              </a:rPr>
              <a:t>N(R)</a:t>
            </a:r>
          </a:p>
          <a:p>
            <a:pPr lvl="1">
              <a:lnSpc>
                <a:spcPct val="110000"/>
              </a:lnSpc>
            </a:pPr>
            <a:r>
              <a:rPr lang="zh-CN" altLang="en-US" sz="2400" dirty="0"/>
              <a:t>接收方希望接收的帧编号（捎带确认）。</a:t>
            </a:r>
          </a:p>
          <a:p>
            <a:pPr>
              <a:lnSpc>
                <a:spcPct val="110000"/>
              </a:lnSpc>
            </a:pPr>
            <a:r>
              <a:rPr lang="en-US" altLang="zh-CN" sz="2800" dirty="0">
                <a:solidFill>
                  <a:srgbClr val="FC0404"/>
                </a:solidFill>
              </a:rPr>
              <a:t>P/F (Poll/Final)</a:t>
            </a:r>
            <a:endParaRPr lang="zh-CN" altLang="en-US" sz="2800" dirty="0">
              <a:solidFill>
                <a:srgbClr val="FC0404"/>
              </a:solidFill>
            </a:endParaRPr>
          </a:p>
          <a:p>
            <a:pPr lvl="1">
              <a:lnSpc>
                <a:spcPct val="110000"/>
              </a:lnSpc>
            </a:pPr>
            <a:r>
              <a:rPr lang="zh-CN" altLang="en-US" sz="2400" dirty="0"/>
              <a:t>主站发出的命令帧中若将</a:t>
            </a:r>
            <a:r>
              <a:rPr lang="en-US" altLang="zh-CN" sz="2400" dirty="0"/>
              <a:t>P</a:t>
            </a:r>
            <a:r>
              <a:rPr lang="zh-CN" altLang="en-US" sz="2400" dirty="0"/>
              <a:t>比特置为</a:t>
            </a:r>
            <a:r>
              <a:rPr lang="en-US" altLang="zh-CN" sz="2400" dirty="0"/>
              <a:t>1</a:t>
            </a:r>
            <a:r>
              <a:rPr lang="zh-CN" altLang="en-US" sz="2400" dirty="0"/>
              <a:t>则表示要求对方立即发送响应。</a:t>
            </a:r>
          </a:p>
          <a:p>
            <a:pPr lvl="1">
              <a:lnSpc>
                <a:spcPct val="110000"/>
              </a:lnSpc>
            </a:pPr>
            <a:r>
              <a:rPr lang="zh-CN" altLang="en-US" sz="2400" dirty="0"/>
              <a:t>从站发出的响应帧中若将</a:t>
            </a:r>
            <a:r>
              <a:rPr lang="en-US" altLang="zh-CN" sz="2400" dirty="0"/>
              <a:t>F</a:t>
            </a:r>
            <a:r>
              <a:rPr lang="zh-CN" altLang="en-US" sz="2400" dirty="0"/>
              <a:t>比特置为</a:t>
            </a:r>
            <a:r>
              <a:rPr lang="en-US" altLang="zh-CN" sz="2400" dirty="0"/>
              <a:t>1</a:t>
            </a:r>
            <a:r>
              <a:rPr lang="zh-CN" altLang="en-US" sz="2400" dirty="0"/>
              <a:t>则表示要发送的数据已经发送完毕。</a:t>
            </a:r>
          </a:p>
        </p:txBody>
      </p:sp>
      <p:sp>
        <p:nvSpPr>
          <p:cNvPr id="7680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768006"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r>
              <a:rPr lang="en-US" altLang="zh-CN" sz="1200">
                <a:ea typeface="幼圆" pitchFamily="49" charset="-122"/>
              </a:rPr>
              <a:t>&gt;&gt;</a:t>
            </a:r>
            <a:r>
              <a:rPr lang="zh-CN" altLang="en-US" sz="1200">
                <a:ea typeface="幼圆" pitchFamily="49" charset="-122"/>
                <a:hlinkClick r:id="rId6" action="ppaction://hlinksldjump"/>
              </a:rPr>
              <a:t>数据帧</a:t>
            </a:r>
            <a:r>
              <a:rPr lang="en-US" altLang="zh-CN" sz="1200">
                <a:ea typeface="幼圆" pitchFamily="49" charset="-122"/>
              </a:rPr>
              <a:t>&gt;&gt;</a:t>
            </a:r>
            <a:r>
              <a:rPr lang="zh-CN" altLang="en-US" sz="1200">
                <a:ea typeface="幼圆" pitchFamily="49" charset="-122"/>
                <a:hlinkClick r:id="rId7" action="ppaction://hlinksldjump"/>
              </a:rPr>
              <a:t>帧类型</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a:lstStyle/>
          <a:p>
            <a:r>
              <a:rPr lang="zh-CN" altLang="en-US"/>
              <a:t>监控帧的类型 </a:t>
            </a:r>
            <a:r>
              <a:rPr lang="zh-CN" altLang="en-US" baseline="-25000"/>
              <a:t>流量控制</a:t>
            </a:r>
          </a:p>
        </p:txBody>
      </p:sp>
      <p:sp>
        <p:nvSpPr>
          <p:cNvPr id="775208" name="Rectangle 40"/>
          <p:cNvSpPr>
            <a:spLocks noGrp="1" noChangeArrowheads="1"/>
          </p:cNvSpPr>
          <p:nvPr>
            <p:ph type="body" idx="1"/>
          </p:nvPr>
        </p:nvSpPr>
        <p:spPr>
          <a:xfrm>
            <a:off x="827088" y="1773238"/>
            <a:ext cx="7993062" cy="3816350"/>
          </a:xfrm>
          <a:noFill/>
          <a:ln/>
        </p:spPr>
        <p:txBody>
          <a:bodyPr/>
          <a:lstStyle/>
          <a:p>
            <a:pPr>
              <a:lnSpc>
                <a:spcPct val="110000"/>
              </a:lnSpc>
            </a:pPr>
            <a:r>
              <a:rPr lang="zh-CN" altLang="en-US" sz="2400">
                <a:solidFill>
                  <a:srgbClr val="FF0000"/>
                </a:solidFill>
              </a:rPr>
              <a:t>接收准备好（</a:t>
            </a:r>
            <a:r>
              <a:rPr lang="en-US" altLang="zh-CN" sz="2400">
                <a:solidFill>
                  <a:srgbClr val="FF0000"/>
                </a:solidFill>
              </a:rPr>
              <a:t>RR: Receive Ready</a:t>
            </a:r>
            <a:r>
              <a:rPr lang="zh-CN" altLang="en-US" sz="2400">
                <a:solidFill>
                  <a:srgbClr val="FF0000"/>
                </a:solidFill>
              </a:rPr>
              <a:t>）</a:t>
            </a:r>
          </a:p>
          <a:p>
            <a:pPr lvl="1">
              <a:lnSpc>
                <a:spcPct val="110000"/>
              </a:lnSpc>
            </a:pPr>
            <a:r>
              <a:rPr lang="zh-CN" altLang="en-US" sz="2000"/>
              <a:t>准备收</a:t>
            </a:r>
            <a:r>
              <a:rPr lang="en-US" altLang="zh-CN" sz="2000"/>
              <a:t>N(R)</a:t>
            </a:r>
            <a:r>
              <a:rPr lang="zh-CN" altLang="en-US" sz="2000"/>
              <a:t>帧，并确认序号为</a:t>
            </a:r>
            <a:r>
              <a:rPr lang="en-US" altLang="zh-CN" sz="2000"/>
              <a:t>N(R)-1</a:t>
            </a:r>
            <a:r>
              <a:rPr lang="zh-CN" altLang="en-US" sz="2000"/>
              <a:t>及其前的各帧。</a:t>
            </a:r>
          </a:p>
          <a:p>
            <a:pPr>
              <a:lnSpc>
                <a:spcPct val="110000"/>
              </a:lnSpc>
            </a:pPr>
            <a:endParaRPr lang="zh-CN" altLang="en-US" sz="2400"/>
          </a:p>
          <a:p>
            <a:pPr>
              <a:lnSpc>
                <a:spcPct val="110000"/>
              </a:lnSpc>
            </a:pPr>
            <a:endParaRPr lang="zh-CN" altLang="en-US" sz="2400"/>
          </a:p>
          <a:p>
            <a:pPr>
              <a:lnSpc>
                <a:spcPct val="110000"/>
              </a:lnSpc>
            </a:pPr>
            <a:endParaRPr lang="zh-CN" altLang="en-US" sz="2400"/>
          </a:p>
          <a:p>
            <a:pPr>
              <a:lnSpc>
                <a:spcPct val="110000"/>
              </a:lnSpc>
            </a:pPr>
            <a:r>
              <a:rPr lang="zh-CN" altLang="en-US" sz="2400">
                <a:solidFill>
                  <a:srgbClr val="FF0000"/>
                </a:solidFill>
              </a:rPr>
              <a:t>接收未准备好（</a:t>
            </a:r>
            <a:r>
              <a:rPr lang="en-US" altLang="zh-CN" sz="2400">
                <a:solidFill>
                  <a:srgbClr val="FF0000"/>
                </a:solidFill>
              </a:rPr>
              <a:t>RNR: Receive Not Ready</a:t>
            </a:r>
            <a:r>
              <a:rPr lang="zh-CN" altLang="en-US" sz="2400">
                <a:solidFill>
                  <a:srgbClr val="FF0000"/>
                </a:solidFill>
              </a:rPr>
              <a:t>）</a:t>
            </a:r>
          </a:p>
          <a:p>
            <a:pPr lvl="1">
              <a:lnSpc>
                <a:spcPct val="110000"/>
              </a:lnSpc>
            </a:pPr>
            <a:r>
              <a:rPr lang="zh-CN" altLang="en-US" sz="2000"/>
              <a:t>暂停接收</a:t>
            </a:r>
            <a:r>
              <a:rPr lang="en-US" altLang="zh-CN" sz="2000"/>
              <a:t>N(R)</a:t>
            </a:r>
            <a:r>
              <a:rPr lang="zh-CN" altLang="en-US" sz="2000"/>
              <a:t>帧，并确认序号为</a:t>
            </a:r>
            <a:r>
              <a:rPr lang="en-US" altLang="zh-CN" sz="2000"/>
              <a:t>N(R)-1</a:t>
            </a:r>
            <a:r>
              <a:rPr lang="zh-CN" altLang="en-US" sz="2000"/>
              <a:t>及其以前的各帧。</a:t>
            </a:r>
          </a:p>
        </p:txBody>
      </p:sp>
      <p:sp>
        <p:nvSpPr>
          <p:cNvPr id="775209" name="Rectangle 41"/>
          <p:cNvSpPr>
            <a:spLocks noChangeArrowheads="1"/>
          </p:cNvSpPr>
          <p:nvPr/>
        </p:nvSpPr>
        <p:spPr bwMode="auto">
          <a:xfrm>
            <a:off x="1260475" y="3638550"/>
            <a:ext cx="453707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   1    2    3    4     5      6     7    8</a:t>
            </a:r>
          </a:p>
        </p:txBody>
      </p:sp>
      <p:graphicFrame>
        <p:nvGraphicFramePr>
          <p:cNvPr id="775262" name="Group 94"/>
          <p:cNvGraphicFramePr>
            <a:graphicFrameLocks noGrp="1"/>
          </p:cNvGraphicFramePr>
          <p:nvPr>
            <p:extLst>
              <p:ext uri="{D42A27DB-BD31-4B8C-83A1-F6EECF244321}">
                <p14:modId xmlns="" xmlns:p14="http://schemas.microsoft.com/office/powerpoint/2010/main" val="1283554733"/>
              </p:ext>
            </p:extLst>
          </p:nvPr>
        </p:nvGraphicFramePr>
        <p:xfrm>
          <a:off x="1404938" y="2781300"/>
          <a:ext cx="4465637" cy="792163"/>
        </p:xfrm>
        <a:graphic>
          <a:graphicData uri="http://schemas.openxmlformats.org/drawingml/2006/table">
            <a:tbl>
              <a:tblPr/>
              <a:tblGrid>
                <a:gridCol w="541337"/>
                <a:gridCol w="539750"/>
                <a:gridCol w="1079500"/>
                <a:gridCol w="576263"/>
                <a:gridCol w="1728787"/>
              </a:tblGrid>
              <a:tr h="7921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1</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0</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FF0000"/>
                          </a:solidFill>
                          <a:effectLst/>
                          <a:latin typeface="Arial" charset="0"/>
                          <a:ea typeface="楷体_GB2312" pitchFamily="49" charset="-122"/>
                        </a:rPr>
                        <a:t>0   0</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00"/>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P/F</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N(R)</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r>
            </a:tbl>
          </a:graphicData>
        </a:graphic>
      </p:graphicFrame>
      <p:sp>
        <p:nvSpPr>
          <p:cNvPr id="775224" name="Rectangle 56"/>
          <p:cNvSpPr>
            <a:spLocks noChangeArrowheads="1"/>
          </p:cNvSpPr>
          <p:nvPr/>
        </p:nvSpPr>
        <p:spPr bwMode="auto">
          <a:xfrm>
            <a:off x="5940425" y="3573463"/>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比特序号</a:t>
            </a:r>
          </a:p>
        </p:txBody>
      </p:sp>
      <p:sp>
        <p:nvSpPr>
          <p:cNvPr id="775225" name="Rectangle 57"/>
          <p:cNvSpPr>
            <a:spLocks noChangeArrowheads="1"/>
          </p:cNvSpPr>
          <p:nvPr/>
        </p:nvSpPr>
        <p:spPr bwMode="auto">
          <a:xfrm>
            <a:off x="5940425" y="2852738"/>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控制字段</a:t>
            </a:r>
          </a:p>
        </p:txBody>
      </p:sp>
      <p:sp>
        <p:nvSpPr>
          <p:cNvPr id="775226" name="Rectangle 58"/>
          <p:cNvSpPr>
            <a:spLocks noChangeArrowheads="1"/>
          </p:cNvSpPr>
          <p:nvPr/>
        </p:nvSpPr>
        <p:spPr bwMode="auto">
          <a:xfrm>
            <a:off x="1524000" y="5870575"/>
            <a:ext cx="4319588"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1    2    3     4    5     6     7     8</a:t>
            </a:r>
          </a:p>
        </p:txBody>
      </p:sp>
      <p:graphicFrame>
        <p:nvGraphicFramePr>
          <p:cNvPr id="775263" name="Group 95"/>
          <p:cNvGraphicFramePr>
            <a:graphicFrameLocks noGrp="1"/>
          </p:cNvGraphicFramePr>
          <p:nvPr>
            <p:extLst>
              <p:ext uri="{D42A27DB-BD31-4B8C-83A1-F6EECF244321}">
                <p14:modId xmlns="" xmlns:p14="http://schemas.microsoft.com/office/powerpoint/2010/main" val="1787755784"/>
              </p:ext>
            </p:extLst>
          </p:nvPr>
        </p:nvGraphicFramePr>
        <p:xfrm>
          <a:off x="1379538" y="5084763"/>
          <a:ext cx="4465637" cy="792163"/>
        </p:xfrm>
        <a:graphic>
          <a:graphicData uri="http://schemas.openxmlformats.org/drawingml/2006/table">
            <a:tbl>
              <a:tblPr/>
              <a:tblGrid>
                <a:gridCol w="541337"/>
                <a:gridCol w="539750"/>
                <a:gridCol w="1079500"/>
                <a:gridCol w="576263"/>
                <a:gridCol w="1728787"/>
              </a:tblGrid>
              <a:tr h="7921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1</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0</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FF0000"/>
                          </a:solidFill>
                          <a:effectLst/>
                          <a:latin typeface="Arial" charset="0"/>
                          <a:ea typeface="楷体_GB2312" pitchFamily="49" charset="-122"/>
                        </a:rPr>
                        <a:t>1   0</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00"/>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P/F</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N(R)</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r>
            </a:tbl>
          </a:graphicData>
        </a:graphic>
      </p:graphicFrame>
      <p:sp>
        <p:nvSpPr>
          <p:cNvPr id="775241" name="Rectangle 73"/>
          <p:cNvSpPr>
            <a:spLocks noChangeArrowheads="1"/>
          </p:cNvSpPr>
          <p:nvPr/>
        </p:nvSpPr>
        <p:spPr bwMode="auto">
          <a:xfrm>
            <a:off x="5988050" y="5805488"/>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比特序号</a:t>
            </a:r>
          </a:p>
        </p:txBody>
      </p:sp>
      <p:sp>
        <p:nvSpPr>
          <p:cNvPr id="775242" name="Rectangle 74"/>
          <p:cNvSpPr>
            <a:spLocks noChangeArrowheads="1"/>
          </p:cNvSpPr>
          <p:nvPr/>
        </p:nvSpPr>
        <p:spPr bwMode="auto">
          <a:xfrm>
            <a:off x="5988050" y="5229225"/>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控制字段</a:t>
            </a:r>
          </a:p>
        </p:txBody>
      </p:sp>
      <p:sp>
        <p:nvSpPr>
          <p:cNvPr id="775261" name="Text Box 93"/>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775264" name="Text Box 9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r>
              <a:rPr lang="en-US" altLang="zh-CN" sz="1200">
                <a:ea typeface="幼圆" pitchFamily="49" charset="-122"/>
              </a:rPr>
              <a:t>&gt;&gt;</a:t>
            </a:r>
            <a:r>
              <a:rPr lang="zh-CN" altLang="en-US" sz="1200">
                <a:ea typeface="幼圆" pitchFamily="49" charset="-122"/>
                <a:hlinkClick r:id="rId6" action="ppaction://hlinksldjump"/>
              </a:rPr>
              <a:t>数据帧</a:t>
            </a:r>
            <a:r>
              <a:rPr lang="en-US" altLang="zh-CN" sz="1200">
                <a:ea typeface="幼圆" pitchFamily="49" charset="-122"/>
              </a:rPr>
              <a:t>&gt;&gt;</a:t>
            </a:r>
            <a:r>
              <a:rPr lang="zh-CN" altLang="en-US" sz="1200">
                <a:ea typeface="幼圆" pitchFamily="49" charset="-122"/>
                <a:hlinkClick r:id="rId7" action="ppaction://hlinksldjump"/>
              </a:rPr>
              <a:t>帧类型</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p:txBody>
          <a:bodyPr/>
          <a:lstStyle/>
          <a:p>
            <a:r>
              <a:rPr lang="zh-CN" altLang="en-US"/>
              <a:t>监控帧的类型 </a:t>
            </a:r>
            <a:r>
              <a:rPr lang="zh-CN" altLang="en-US" baseline="-25000"/>
              <a:t>差错控制</a:t>
            </a:r>
          </a:p>
        </p:txBody>
      </p:sp>
      <p:sp>
        <p:nvSpPr>
          <p:cNvPr id="776196" name="Rectangle 4"/>
          <p:cNvSpPr>
            <a:spLocks noGrp="1" noChangeArrowheads="1"/>
          </p:cNvSpPr>
          <p:nvPr>
            <p:ph type="body" idx="1"/>
          </p:nvPr>
        </p:nvSpPr>
        <p:spPr>
          <a:xfrm>
            <a:off x="827088" y="1773238"/>
            <a:ext cx="7993062" cy="3455987"/>
          </a:xfrm>
          <a:noFill/>
          <a:ln/>
        </p:spPr>
        <p:txBody>
          <a:bodyPr/>
          <a:lstStyle/>
          <a:p>
            <a:pPr>
              <a:lnSpc>
                <a:spcPct val="110000"/>
              </a:lnSpc>
            </a:pPr>
            <a:r>
              <a:rPr lang="zh-CN" altLang="en-US" sz="2400">
                <a:solidFill>
                  <a:srgbClr val="FC0404"/>
                </a:solidFill>
              </a:rPr>
              <a:t>拒绝（</a:t>
            </a:r>
            <a:r>
              <a:rPr lang="en-US" altLang="zh-CN" sz="2400">
                <a:solidFill>
                  <a:srgbClr val="FC0404"/>
                </a:solidFill>
              </a:rPr>
              <a:t>REJ: REJect</a:t>
            </a:r>
            <a:r>
              <a:rPr lang="zh-CN" altLang="en-US" sz="2400">
                <a:solidFill>
                  <a:srgbClr val="FC0404"/>
                </a:solidFill>
              </a:rPr>
              <a:t>）</a:t>
            </a:r>
          </a:p>
          <a:p>
            <a:pPr lvl="1">
              <a:lnSpc>
                <a:spcPct val="110000"/>
              </a:lnSpc>
            </a:pPr>
            <a:r>
              <a:rPr lang="zh-CN" altLang="en-US" sz="2000"/>
              <a:t>要求重发</a:t>
            </a:r>
            <a:r>
              <a:rPr lang="en-US" altLang="zh-CN" sz="2000"/>
              <a:t>N(R)</a:t>
            </a:r>
            <a:r>
              <a:rPr lang="zh-CN" altLang="en-US" sz="2000"/>
              <a:t>开始的所有</a:t>
            </a:r>
            <a:r>
              <a:rPr lang="en-US" altLang="zh-CN" sz="2000"/>
              <a:t>I</a:t>
            </a:r>
            <a:r>
              <a:rPr lang="zh-CN" altLang="en-US" sz="2000"/>
              <a:t>帧，属退后</a:t>
            </a:r>
            <a:r>
              <a:rPr lang="en-US" altLang="zh-CN" sz="2000"/>
              <a:t>n</a:t>
            </a:r>
            <a:r>
              <a:rPr lang="zh-CN" altLang="en-US" sz="2000"/>
              <a:t>帧策略。</a:t>
            </a:r>
            <a:endParaRPr lang="zh-CN" altLang="en-US">
              <a:ea typeface="楷体_GB2312" pitchFamily="49" charset="-122"/>
            </a:endParaRPr>
          </a:p>
          <a:p>
            <a:pPr>
              <a:lnSpc>
                <a:spcPct val="110000"/>
              </a:lnSpc>
            </a:pPr>
            <a:endParaRPr lang="zh-CN" altLang="en-US" sz="2400">
              <a:ea typeface="楷体_GB2312" pitchFamily="49" charset="-122"/>
            </a:endParaRPr>
          </a:p>
          <a:p>
            <a:pPr>
              <a:lnSpc>
                <a:spcPct val="110000"/>
              </a:lnSpc>
            </a:pPr>
            <a:endParaRPr lang="zh-CN" altLang="en-US" sz="2400">
              <a:ea typeface="楷体_GB2312" pitchFamily="49" charset="-122"/>
            </a:endParaRPr>
          </a:p>
          <a:p>
            <a:pPr>
              <a:lnSpc>
                <a:spcPct val="110000"/>
              </a:lnSpc>
            </a:pPr>
            <a:endParaRPr lang="zh-CN" altLang="en-US" sz="2400">
              <a:ea typeface="楷体_GB2312" pitchFamily="49" charset="-122"/>
            </a:endParaRPr>
          </a:p>
          <a:p>
            <a:pPr>
              <a:lnSpc>
                <a:spcPct val="110000"/>
              </a:lnSpc>
            </a:pPr>
            <a:r>
              <a:rPr lang="zh-CN" altLang="en-US" sz="2400">
                <a:solidFill>
                  <a:srgbClr val="FC0404"/>
                </a:solidFill>
              </a:rPr>
              <a:t>选择拒绝（</a:t>
            </a:r>
            <a:r>
              <a:rPr lang="en-US" altLang="zh-CN" sz="2400">
                <a:solidFill>
                  <a:srgbClr val="FC0404"/>
                </a:solidFill>
              </a:rPr>
              <a:t>SREJ: Selective Reject</a:t>
            </a:r>
            <a:r>
              <a:rPr lang="zh-CN" altLang="en-US" sz="2400">
                <a:solidFill>
                  <a:srgbClr val="FC0404"/>
                </a:solidFill>
              </a:rPr>
              <a:t>）</a:t>
            </a:r>
          </a:p>
          <a:p>
            <a:pPr lvl="1">
              <a:lnSpc>
                <a:spcPct val="110000"/>
              </a:lnSpc>
            </a:pPr>
            <a:r>
              <a:rPr lang="zh-CN" altLang="en-US" sz="2000"/>
              <a:t>仅要求重发</a:t>
            </a:r>
            <a:r>
              <a:rPr lang="en-US" altLang="zh-CN" sz="2000"/>
              <a:t>N(R)</a:t>
            </a:r>
            <a:r>
              <a:rPr lang="zh-CN" altLang="en-US" sz="2000"/>
              <a:t>的单独帧，属选择重传策略。</a:t>
            </a:r>
          </a:p>
        </p:txBody>
      </p:sp>
      <p:sp>
        <p:nvSpPr>
          <p:cNvPr id="776197" name="Rectangle 5"/>
          <p:cNvSpPr>
            <a:spLocks noChangeArrowheads="1"/>
          </p:cNvSpPr>
          <p:nvPr/>
        </p:nvSpPr>
        <p:spPr bwMode="auto">
          <a:xfrm>
            <a:off x="1260475" y="3638550"/>
            <a:ext cx="4537075" cy="45402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Arial" charset="0"/>
                <a:ea typeface="楷体_GB2312" pitchFamily="49" charset="-122"/>
              </a:rPr>
              <a:t>   1    2    3    4     5      6     7    8</a:t>
            </a:r>
          </a:p>
        </p:txBody>
      </p:sp>
      <p:graphicFrame>
        <p:nvGraphicFramePr>
          <p:cNvPr id="776233" name="Group 41"/>
          <p:cNvGraphicFramePr>
            <a:graphicFrameLocks noGrp="1"/>
          </p:cNvGraphicFramePr>
          <p:nvPr/>
        </p:nvGraphicFramePr>
        <p:xfrm>
          <a:off x="1404938" y="2781300"/>
          <a:ext cx="4465637" cy="792163"/>
        </p:xfrm>
        <a:graphic>
          <a:graphicData uri="http://schemas.openxmlformats.org/drawingml/2006/table">
            <a:tbl>
              <a:tblPr/>
              <a:tblGrid>
                <a:gridCol w="541337"/>
                <a:gridCol w="539750"/>
                <a:gridCol w="1079500"/>
                <a:gridCol w="576263"/>
                <a:gridCol w="1728787"/>
              </a:tblGrid>
              <a:tr h="7921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1</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0</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FF0000"/>
                          </a:solidFill>
                          <a:effectLst/>
                          <a:latin typeface="Arial" charset="0"/>
                          <a:ea typeface="楷体_GB2312" pitchFamily="49" charset="-122"/>
                        </a:rPr>
                        <a:t>0   1</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00"/>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P/F</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N(R)</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r>
            </a:tbl>
          </a:graphicData>
        </a:graphic>
      </p:graphicFrame>
      <p:sp>
        <p:nvSpPr>
          <p:cNvPr id="776212" name="Rectangle 20"/>
          <p:cNvSpPr>
            <a:spLocks noChangeArrowheads="1"/>
          </p:cNvSpPr>
          <p:nvPr/>
        </p:nvSpPr>
        <p:spPr bwMode="auto">
          <a:xfrm>
            <a:off x="5940425" y="3573463"/>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ea"/>
                <a:ea typeface="+mn-ea"/>
              </a:rPr>
              <a:t>比特序号</a:t>
            </a:r>
          </a:p>
        </p:txBody>
      </p:sp>
      <p:sp>
        <p:nvSpPr>
          <p:cNvPr id="776213" name="Rectangle 21"/>
          <p:cNvSpPr>
            <a:spLocks noChangeArrowheads="1"/>
          </p:cNvSpPr>
          <p:nvPr/>
        </p:nvSpPr>
        <p:spPr bwMode="auto">
          <a:xfrm>
            <a:off x="5940425" y="2852738"/>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ea"/>
                <a:ea typeface="+mn-ea"/>
              </a:rPr>
              <a:t>控制字段</a:t>
            </a:r>
          </a:p>
        </p:txBody>
      </p:sp>
      <p:sp>
        <p:nvSpPr>
          <p:cNvPr id="776214" name="Rectangle 22"/>
          <p:cNvSpPr>
            <a:spLocks noChangeArrowheads="1"/>
          </p:cNvSpPr>
          <p:nvPr/>
        </p:nvSpPr>
        <p:spPr bwMode="auto">
          <a:xfrm>
            <a:off x="1524000" y="5870575"/>
            <a:ext cx="4319588" cy="45402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Arial" charset="0"/>
                <a:ea typeface="楷体_GB2312" pitchFamily="49" charset="-122"/>
              </a:rPr>
              <a:t>1    2    3     4    5     6     7     8</a:t>
            </a:r>
          </a:p>
        </p:txBody>
      </p:sp>
      <p:graphicFrame>
        <p:nvGraphicFramePr>
          <p:cNvPr id="776234" name="Group 42"/>
          <p:cNvGraphicFramePr>
            <a:graphicFrameLocks noGrp="1"/>
          </p:cNvGraphicFramePr>
          <p:nvPr/>
        </p:nvGraphicFramePr>
        <p:xfrm>
          <a:off x="1379538" y="5084763"/>
          <a:ext cx="4465637" cy="792163"/>
        </p:xfrm>
        <a:graphic>
          <a:graphicData uri="http://schemas.openxmlformats.org/drawingml/2006/table">
            <a:tbl>
              <a:tblPr/>
              <a:tblGrid>
                <a:gridCol w="541337"/>
                <a:gridCol w="539750"/>
                <a:gridCol w="1079500"/>
                <a:gridCol w="576263"/>
                <a:gridCol w="1728787"/>
              </a:tblGrid>
              <a:tr h="7921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1</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0</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FF0000"/>
                          </a:solidFill>
                          <a:effectLst/>
                          <a:latin typeface="Arial" charset="0"/>
                          <a:ea typeface="楷体_GB2312" pitchFamily="49" charset="-122"/>
                        </a:rPr>
                        <a:t>1   1</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00"/>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P/F</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N(R)</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r>
            </a:tbl>
          </a:graphicData>
        </a:graphic>
      </p:graphicFrame>
      <p:sp>
        <p:nvSpPr>
          <p:cNvPr id="776229" name="Rectangle 37"/>
          <p:cNvSpPr>
            <a:spLocks noChangeArrowheads="1"/>
          </p:cNvSpPr>
          <p:nvPr/>
        </p:nvSpPr>
        <p:spPr bwMode="auto">
          <a:xfrm>
            <a:off x="5988050" y="5805488"/>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ea"/>
                <a:ea typeface="+mn-ea"/>
              </a:rPr>
              <a:t>比特序号</a:t>
            </a:r>
          </a:p>
        </p:txBody>
      </p:sp>
      <p:sp>
        <p:nvSpPr>
          <p:cNvPr id="776230" name="Rectangle 38"/>
          <p:cNvSpPr>
            <a:spLocks noChangeArrowheads="1"/>
          </p:cNvSpPr>
          <p:nvPr/>
        </p:nvSpPr>
        <p:spPr bwMode="auto">
          <a:xfrm>
            <a:off x="5988050" y="5229225"/>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ea"/>
                <a:ea typeface="+mn-ea"/>
              </a:rPr>
              <a:t>控制字段</a:t>
            </a:r>
          </a:p>
        </p:txBody>
      </p:sp>
      <p:sp>
        <p:nvSpPr>
          <p:cNvPr id="776231" name="Text Box 39"/>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776235" name="Text Box 4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r>
              <a:rPr lang="en-US" altLang="zh-CN" sz="1200">
                <a:ea typeface="幼圆" pitchFamily="49" charset="-122"/>
              </a:rPr>
              <a:t>&gt;&gt;</a:t>
            </a:r>
            <a:r>
              <a:rPr lang="zh-CN" altLang="en-US" sz="1200">
                <a:ea typeface="幼圆" pitchFamily="49" charset="-122"/>
                <a:hlinkClick r:id="rId6" action="ppaction://hlinksldjump"/>
              </a:rPr>
              <a:t>数据帧</a:t>
            </a:r>
            <a:r>
              <a:rPr lang="en-US" altLang="zh-CN" sz="1200">
                <a:ea typeface="幼圆" pitchFamily="49" charset="-122"/>
              </a:rPr>
              <a:t>&gt;&gt;</a:t>
            </a:r>
            <a:r>
              <a:rPr lang="zh-CN" altLang="en-US" sz="1200">
                <a:ea typeface="幼圆" pitchFamily="49" charset="-122"/>
                <a:hlinkClick r:id="rId7" action="ppaction://hlinksldjump"/>
              </a:rPr>
              <a:t>帧类型</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ChangeArrowheads="1"/>
          </p:cNvSpPr>
          <p:nvPr>
            <p:ph type="title"/>
          </p:nvPr>
        </p:nvSpPr>
        <p:spPr/>
        <p:txBody>
          <a:bodyPr/>
          <a:lstStyle/>
          <a:p>
            <a:r>
              <a:rPr lang="zh-CN" altLang="en-US"/>
              <a:t>无编号帧（</a:t>
            </a:r>
            <a:r>
              <a:rPr lang="en-US" altLang="zh-CN" b="1"/>
              <a:t>U</a:t>
            </a:r>
            <a:r>
              <a:rPr lang="zh-CN" altLang="en-US"/>
              <a:t>帧）</a:t>
            </a:r>
          </a:p>
        </p:txBody>
      </p:sp>
      <p:sp>
        <p:nvSpPr>
          <p:cNvPr id="771077" name="Rectangle 5"/>
          <p:cNvSpPr>
            <a:spLocks noChangeArrowheads="1"/>
          </p:cNvSpPr>
          <p:nvPr/>
        </p:nvSpPr>
        <p:spPr bwMode="auto">
          <a:xfrm>
            <a:off x="357188" y="1765300"/>
            <a:ext cx="798296"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比特</a:t>
            </a:r>
          </a:p>
        </p:txBody>
      </p:sp>
      <p:sp>
        <p:nvSpPr>
          <p:cNvPr id="771078" name="Rectangle 6"/>
          <p:cNvSpPr>
            <a:spLocks noChangeArrowheads="1"/>
          </p:cNvSpPr>
          <p:nvPr/>
        </p:nvSpPr>
        <p:spPr bwMode="auto">
          <a:xfrm>
            <a:off x="1149350" y="1765300"/>
            <a:ext cx="354265"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8</a:t>
            </a:r>
          </a:p>
        </p:txBody>
      </p:sp>
      <p:sp>
        <p:nvSpPr>
          <p:cNvPr id="771079" name="Rectangle 7"/>
          <p:cNvSpPr>
            <a:spLocks noChangeArrowheads="1"/>
          </p:cNvSpPr>
          <p:nvPr/>
        </p:nvSpPr>
        <p:spPr bwMode="auto">
          <a:xfrm>
            <a:off x="2085975" y="1765300"/>
            <a:ext cx="354265"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8</a:t>
            </a:r>
          </a:p>
        </p:txBody>
      </p:sp>
      <p:sp>
        <p:nvSpPr>
          <p:cNvPr id="771080" name="Rectangle 8"/>
          <p:cNvSpPr>
            <a:spLocks noChangeArrowheads="1"/>
          </p:cNvSpPr>
          <p:nvPr/>
        </p:nvSpPr>
        <p:spPr bwMode="auto">
          <a:xfrm>
            <a:off x="3094038" y="1765300"/>
            <a:ext cx="354265"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8</a:t>
            </a:r>
          </a:p>
        </p:txBody>
      </p:sp>
      <p:sp>
        <p:nvSpPr>
          <p:cNvPr id="771081" name="Rectangle 9"/>
          <p:cNvSpPr>
            <a:spLocks noChangeArrowheads="1"/>
          </p:cNvSpPr>
          <p:nvPr/>
        </p:nvSpPr>
        <p:spPr bwMode="auto">
          <a:xfrm>
            <a:off x="4318000" y="1765300"/>
            <a:ext cx="798296"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可变</a:t>
            </a:r>
          </a:p>
        </p:txBody>
      </p:sp>
      <p:sp>
        <p:nvSpPr>
          <p:cNvPr id="771082" name="Rectangle 10"/>
          <p:cNvSpPr>
            <a:spLocks noChangeArrowheads="1"/>
          </p:cNvSpPr>
          <p:nvPr/>
        </p:nvSpPr>
        <p:spPr bwMode="auto">
          <a:xfrm>
            <a:off x="6550025" y="1765300"/>
            <a:ext cx="525786"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16</a:t>
            </a:r>
          </a:p>
        </p:txBody>
      </p:sp>
      <p:sp>
        <p:nvSpPr>
          <p:cNvPr id="771083" name="Rectangle 11"/>
          <p:cNvSpPr>
            <a:spLocks noChangeArrowheads="1"/>
          </p:cNvSpPr>
          <p:nvPr/>
        </p:nvSpPr>
        <p:spPr bwMode="auto">
          <a:xfrm>
            <a:off x="8101013" y="1771650"/>
            <a:ext cx="354265" cy="45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8</a:t>
            </a:r>
          </a:p>
        </p:txBody>
      </p:sp>
      <p:sp>
        <p:nvSpPr>
          <p:cNvPr id="771084" name="Rectangle 12"/>
          <p:cNvSpPr>
            <a:spLocks noChangeArrowheads="1"/>
          </p:cNvSpPr>
          <p:nvPr/>
        </p:nvSpPr>
        <p:spPr bwMode="auto">
          <a:xfrm>
            <a:off x="5902325" y="5438775"/>
            <a:ext cx="1800225"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比特序号</a:t>
            </a:r>
          </a:p>
        </p:txBody>
      </p:sp>
      <p:graphicFrame>
        <p:nvGraphicFramePr>
          <p:cNvPr id="771129" name="Group 57"/>
          <p:cNvGraphicFramePr>
            <a:graphicFrameLocks noGrp="1"/>
          </p:cNvGraphicFramePr>
          <p:nvPr>
            <p:extLst>
              <p:ext uri="{D42A27DB-BD31-4B8C-83A1-F6EECF244321}">
                <p14:modId xmlns="" xmlns:p14="http://schemas.microsoft.com/office/powerpoint/2010/main" val="3856185141"/>
              </p:ext>
            </p:extLst>
          </p:nvPr>
        </p:nvGraphicFramePr>
        <p:xfrm>
          <a:off x="684213" y="2276475"/>
          <a:ext cx="8128000" cy="898272"/>
        </p:xfrm>
        <a:graphic>
          <a:graphicData uri="http://schemas.openxmlformats.org/drawingml/2006/table">
            <a:tbl>
              <a:tblPr/>
              <a:tblGrid>
                <a:gridCol w="1016000"/>
                <a:gridCol w="1016000"/>
                <a:gridCol w="1016000"/>
                <a:gridCol w="2032000"/>
                <a:gridCol w="2032000"/>
                <a:gridCol w="1016000"/>
              </a:tblGrid>
              <a:tr h="72072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mn-lt"/>
                          <a:ea typeface="+mn-ea"/>
                        </a:rPr>
                        <a:t>标志</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mn-lt"/>
                          <a:ea typeface="+mn-ea"/>
                        </a:rPr>
                        <a:t>F</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mn-lt"/>
                          <a:ea typeface="+mn-ea"/>
                        </a:rPr>
                        <a:t>地址</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mn-lt"/>
                          <a:ea typeface="+mn-ea"/>
                        </a:rPr>
                        <a:t>A</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bg1"/>
                          </a:solidFill>
                          <a:effectLst/>
                          <a:latin typeface="+mn-lt"/>
                          <a:ea typeface="+mn-ea"/>
                        </a:rPr>
                        <a:t>控制</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bg1"/>
                          </a:solidFill>
                          <a:effectLst/>
                          <a:latin typeface="+mn-lt"/>
                          <a:ea typeface="+mn-ea"/>
                        </a:rPr>
                        <a:t>C</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C0404"/>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mn-lt"/>
                          <a:ea typeface="+mn-ea"/>
                        </a:rPr>
                        <a:t>管理信息</a:t>
                      </a:r>
                      <a:endParaRPr kumimoji="1" lang="en-US" altLang="zh-CN" sz="2400" b="1" i="0" u="none" strike="noStrike" cap="none" normalizeH="0" baseline="0" smtClean="0">
                        <a:ln>
                          <a:noFill/>
                        </a:ln>
                        <a:solidFill>
                          <a:schemeClr val="tx1"/>
                        </a:solidFill>
                        <a:effectLst/>
                        <a:latin typeface="+mn-lt"/>
                        <a:ea typeface="+mn-ea"/>
                      </a:endParaRP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mn-lt"/>
                          <a:ea typeface="+mn-ea"/>
                        </a:rPr>
                        <a:t>帧校验</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mn-lt"/>
                          <a:ea typeface="+mn-ea"/>
                        </a:rPr>
                        <a:t>FCS</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mn-lt"/>
                          <a:ea typeface="+mn-ea"/>
                        </a:rPr>
                        <a:t>标志</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mn-lt"/>
                          <a:ea typeface="+mn-ea"/>
                        </a:rPr>
                        <a:t>F</a:t>
                      </a:r>
                    </a:p>
                  </a:txBody>
                  <a:tcPr marL="90000" marR="9000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66"/>
                    </a:solidFill>
                  </a:tcPr>
                </a:tc>
              </a:tr>
            </a:tbl>
          </a:graphicData>
        </a:graphic>
      </p:graphicFrame>
      <p:sp>
        <p:nvSpPr>
          <p:cNvPr id="771101" name="Freeform 29"/>
          <p:cNvSpPr>
            <a:spLocks/>
          </p:cNvSpPr>
          <p:nvPr/>
        </p:nvSpPr>
        <p:spPr bwMode="auto">
          <a:xfrm>
            <a:off x="5183188" y="2125663"/>
            <a:ext cx="215900" cy="1223962"/>
          </a:xfrm>
          <a:custGeom>
            <a:avLst/>
            <a:gdLst>
              <a:gd name="T0" fmla="*/ 96 w 96"/>
              <a:gd name="T1" fmla="*/ 0 h 528"/>
              <a:gd name="T2" fmla="*/ 32 w 96"/>
              <a:gd name="T3" fmla="*/ 144 h 528"/>
              <a:gd name="T4" fmla="*/ 96 w 96"/>
              <a:gd name="T5" fmla="*/ 288 h 528"/>
              <a:gd name="T6" fmla="*/ 0 w 96"/>
              <a:gd name="T7" fmla="*/ 368 h 528"/>
              <a:gd name="T8" fmla="*/ 88 w 96"/>
              <a:gd name="T9" fmla="*/ 528 h 528"/>
            </a:gdLst>
            <a:ahLst/>
            <a:cxnLst>
              <a:cxn ang="0">
                <a:pos x="T0" y="T1"/>
              </a:cxn>
              <a:cxn ang="0">
                <a:pos x="T2" y="T3"/>
              </a:cxn>
              <a:cxn ang="0">
                <a:pos x="T4" y="T5"/>
              </a:cxn>
              <a:cxn ang="0">
                <a:pos x="T6" y="T7"/>
              </a:cxn>
              <a:cxn ang="0">
                <a:pos x="T8" y="T9"/>
              </a:cxn>
            </a:cxnLst>
            <a:rect l="0" t="0" r="r" b="b"/>
            <a:pathLst>
              <a:path w="96" h="528">
                <a:moveTo>
                  <a:pt x="96" y="0"/>
                </a:moveTo>
                <a:lnTo>
                  <a:pt x="32" y="144"/>
                </a:lnTo>
                <a:lnTo>
                  <a:pt x="96" y="288"/>
                </a:lnTo>
                <a:lnTo>
                  <a:pt x="0" y="368"/>
                </a:lnTo>
                <a:lnTo>
                  <a:pt x="88" y="528"/>
                </a:lnTo>
              </a:path>
            </a:pathLst>
          </a:custGeom>
          <a:noFill/>
          <a:ln w="57150" cap="flat" cmpd="sng">
            <a:solidFill>
              <a:srgbClr val="FC0404"/>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771102" name="Freeform 30"/>
          <p:cNvSpPr>
            <a:spLocks/>
          </p:cNvSpPr>
          <p:nvPr/>
        </p:nvSpPr>
        <p:spPr bwMode="auto">
          <a:xfrm>
            <a:off x="1404938" y="3175000"/>
            <a:ext cx="4437062" cy="1473200"/>
          </a:xfrm>
          <a:custGeom>
            <a:avLst/>
            <a:gdLst>
              <a:gd name="T0" fmla="*/ 817 w 2795"/>
              <a:gd name="T1" fmla="*/ 0 h 928"/>
              <a:gd name="T2" fmla="*/ 1452 w 2795"/>
              <a:gd name="T3" fmla="*/ 0 h 928"/>
              <a:gd name="T4" fmla="*/ 2795 w 2795"/>
              <a:gd name="T5" fmla="*/ 928 h 928"/>
              <a:gd name="T6" fmla="*/ 0 w 2795"/>
              <a:gd name="T7" fmla="*/ 928 h 928"/>
              <a:gd name="T8" fmla="*/ 817 w 2795"/>
              <a:gd name="T9" fmla="*/ 0 h 928"/>
            </a:gdLst>
            <a:ahLst/>
            <a:cxnLst>
              <a:cxn ang="0">
                <a:pos x="T0" y="T1"/>
              </a:cxn>
              <a:cxn ang="0">
                <a:pos x="T2" y="T3"/>
              </a:cxn>
              <a:cxn ang="0">
                <a:pos x="T4" y="T5"/>
              </a:cxn>
              <a:cxn ang="0">
                <a:pos x="T6" y="T7"/>
              </a:cxn>
              <a:cxn ang="0">
                <a:pos x="T8" y="T9"/>
              </a:cxn>
            </a:cxnLst>
            <a:rect l="0" t="0" r="r" b="b"/>
            <a:pathLst>
              <a:path w="2795" h="928">
                <a:moveTo>
                  <a:pt x="817" y="0"/>
                </a:moveTo>
                <a:lnTo>
                  <a:pt x="1452" y="0"/>
                </a:lnTo>
                <a:lnTo>
                  <a:pt x="2795" y="928"/>
                </a:lnTo>
                <a:lnTo>
                  <a:pt x="0" y="928"/>
                </a:lnTo>
                <a:lnTo>
                  <a:pt x="817" y="0"/>
                </a:lnTo>
                <a:close/>
              </a:path>
            </a:pathLst>
          </a:custGeom>
          <a:gradFill rotWithShape="1">
            <a:gsLst>
              <a:gs pos="0">
                <a:srgbClr val="969696">
                  <a:gamma/>
                  <a:shade val="46275"/>
                  <a:invGamma/>
                </a:srgbClr>
              </a:gs>
              <a:gs pos="100000">
                <a:srgbClr val="969696"/>
              </a:gs>
            </a:gsLst>
            <a:lin ang="5400000" scaled="1"/>
          </a:gradFill>
          <a:ln w="9525" cap="flat" cmpd="sng">
            <a:solidFill>
              <a:schemeClr val="folHlink"/>
            </a:solidFill>
            <a:prstDash val="solid"/>
            <a:round/>
            <a:headEnd type="none" w="med" len="med"/>
            <a:tailEnd type="none" w="sm" len="lg"/>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771103" name="Rectangle 31"/>
          <p:cNvSpPr>
            <a:spLocks noChangeArrowheads="1"/>
          </p:cNvSpPr>
          <p:nvPr/>
        </p:nvSpPr>
        <p:spPr bwMode="auto">
          <a:xfrm>
            <a:off x="5364163" y="3357563"/>
            <a:ext cx="3484562"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buClrTx/>
              <a:buSzPct val="100000"/>
              <a:buFontTx/>
              <a:buNone/>
            </a:pPr>
            <a:r>
              <a:rPr lang="zh-CN" altLang="en-US" sz="2400" b="1">
                <a:latin typeface="+mn-lt"/>
                <a:ea typeface="+mn-ea"/>
              </a:rPr>
              <a:t>       提供对链路的建立、拆除以及多种控制功能。</a:t>
            </a:r>
          </a:p>
        </p:txBody>
      </p:sp>
      <p:sp>
        <p:nvSpPr>
          <p:cNvPr id="771104" name="Rectangle 32"/>
          <p:cNvSpPr>
            <a:spLocks noChangeArrowheads="1"/>
          </p:cNvSpPr>
          <p:nvPr/>
        </p:nvSpPr>
        <p:spPr bwMode="auto">
          <a:xfrm>
            <a:off x="1581150" y="5438775"/>
            <a:ext cx="4176713" cy="4591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1    2    3    4     5     6     7    8</a:t>
            </a:r>
          </a:p>
        </p:txBody>
      </p:sp>
      <p:graphicFrame>
        <p:nvGraphicFramePr>
          <p:cNvPr id="771138" name="Group 66"/>
          <p:cNvGraphicFramePr>
            <a:graphicFrameLocks noGrp="1"/>
          </p:cNvGraphicFramePr>
          <p:nvPr>
            <p:extLst>
              <p:ext uri="{D42A27DB-BD31-4B8C-83A1-F6EECF244321}">
                <p14:modId xmlns="" xmlns:p14="http://schemas.microsoft.com/office/powerpoint/2010/main" val="737929259"/>
              </p:ext>
            </p:extLst>
          </p:nvPr>
        </p:nvGraphicFramePr>
        <p:xfrm>
          <a:off x="1416050" y="4652963"/>
          <a:ext cx="4465638" cy="792163"/>
        </p:xfrm>
        <a:graphic>
          <a:graphicData uri="http://schemas.openxmlformats.org/drawingml/2006/table">
            <a:tbl>
              <a:tblPr/>
              <a:tblGrid>
                <a:gridCol w="541338"/>
                <a:gridCol w="539750"/>
                <a:gridCol w="1079500"/>
                <a:gridCol w="576262"/>
                <a:gridCol w="1728788"/>
              </a:tblGrid>
              <a:tr h="7921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1</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1</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M</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P/F</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Arial" charset="0"/>
                          <a:ea typeface="楷体_GB2312" pitchFamily="49" charset="-122"/>
                        </a:rPr>
                        <a:t>M</a:t>
                      </a:r>
                    </a:p>
                  </a:txBody>
                  <a:tcPr marL="0" marR="0" marT="46800" marB="46800" anchor="ctr" anchorCtr="1" horzOverflow="overflow">
                    <a:lnL w="28575"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bg1"/>
                    </a:solidFill>
                  </a:tcPr>
                </a:tc>
              </a:tr>
            </a:tbl>
          </a:graphicData>
        </a:graphic>
      </p:graphicFrame>
      <p:sp>
        <p:nvSpPr>
          <p:cNvPr id="771139" name="Text Box 67"/>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771140" name="Text Box 6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r>
              <a:rPr lang="en-US" altLang="zh-CN" sz="1200">
                <a:ea typeface="幼圆" pitchFamily="49" charset="-122"/>
              </a:rPr>
              <a:t>&gt;&gt;</a:t>
            </a:r>
            <a:r>
              <a:rPr lang="zh-CN" altLang="en-US" sz="1200">
                <a:ea typeface="幼圆" pitchFamily="49" charset="-122"/>
                <a:hlinkClick r:id="rId6" action="ppaction://hlinksldjump"/>
              </a:rPr>
              <a:t>数据帧</a:t>
            </a:r>
            <a:r>
              <a:rPr lang="en-US" altLang="zh-CN" sz="1200">
                <a:ea typeface="幼圆" pitchFamily="49" charset="-122"/>
              </a:rPr>
              <a:t>&gt;&gt;</a:t>
            </a:r>
            <a:r>
              <a:rPr lang="zh-CN" altLang="en-US" sz="1200">
                <a:ea typeface="幼圆" pitchFamily="49" charset="-122"/>
                <a:hlinkClick r:id="rId7" action="ppaction://hlinksldjump"/>
              </a:rPr>
              <a:t>帧类型</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p:txBody>
          <a:bodyPr/>
          <a:lstStyle/>
          <a:p>
            <a:r>
              <a:rPr lang="zh-CN" altLang="en-US"/>
              <a:t>控制字段的格式</a:t>
            </a:r>
          </a:p>
        </p:txBody>
      </p:sp>
      <p:sp>
        <p:nvSpPr>
          <p:cNvPr id="772100" name="Rectangle 4"/>
          <p:cNvSpPr>
            <a:spLocks noGrp="1" noChangeArrowheads="1"/>
          </p:cNvSpPr>
          <p:nvPr>
            <p:ph type="body" idx="1"/>
          </p:nvPr>
        </p:nvSpPr>
        <p:spPr>
          <a:xfrm>
            <a:off x="809625" y="1773238"/>
            <a:ext cx="7958138" cy="4608512"/>
          </a:xfrm>
        </p:spPr>
        <p:txBody>
          <a:bodyPr/>
          <a:lstStyle/>
          <a:p>
            <a:pPr>
              <a:lnSpc>
                <a:spcPct val="115000"/>
              </a:lnSpc>
            </a:pPr>
            <a:r>
              <a:rPr lang="en-US" altLang="zh-CN" dirty="0">
                <a:solidFill>
                  <a:srgbClr val="FC0404"/>
                </a:solidFill>
              </a:rPr>
              <a:t>P/F (Poll/Final)</a:t>
            </a:r>
            <a:endParaRPr lang="zh-CN" altLang="en-US" dirty="0">
              <a:solidFill>
                <a:srgbClr val="FC0404"/>
              </a:solidFill>
            </a:endParaRPr>
          </a:p>
          <a:p>
            <a:pPr lvl="1">
              <a:lnSpc>
                <a:spcPct val="115000"/>
              </a:lnSpc>
            </a:pPr>
            <a:r>
              <a:rPr lang="zh-CN" altLang="en-US" dirty="0"/>
              <a:t>主站发出的命令帧中若将</a:t>
            </a:r>
            <a:r>
              <a:rPr lang="en-US" altLang="zh-CN" dirty="0"/>
              <a:t>P</a:t>
            </a:r>
            <a:r>
              <a:rPr lang="zh-CN" altLang="en-US" dirty="0"/>
              <a:t>比特置为</a:t>
            </a:r>
            <a:r>
              <a:rPr lang="en-US" altLang="zh-CN" dirty="0"/>
              <a:t>1</a:t>
            </a:r>
            <a:r>
              <a:rPr lang="zh-CN" altLang="en-US" dirty="0"/>
              <a:t>则表示要求对方立即发送响应。</a:t>
            </a:r>
          </a:p>
          <a:p>
            <a:pPr lvl="1">
              <a:lnSpc>
                <a:spcPct val="115000"/>
              </a:lnSpc>
            </a:pPr>
            <a:r>
              <a:rPr lang="zh-CN" altLang="en-US" dirty="0"/>
              <a:t>从站发出的响应帧中若将</a:t>
            </a:r>
            <a:r>
              <a:rPr lang="en-US" altLang="zh-CN" dirty="0"/>
              <a:t>F</a:t>
            </a:r>
            <a:r>
              <a:rPr lang="zh-CN" altLang="en-US" dirty="0"/>
              <a:t>比特置为</a:t>
            </a:r>
            <a:r>
              <a:rPr lang="en-US" altLang="zh-CN" dirty="0"/>
              <a:t>1</a:t>
            </a:r>
            <a:r>
              <a:rPr lang="zh-CN" altLang="en-US" dirty="0"/>
              <a:t>则表示要发送的数据已经发送完毕。</a:t>
            </a:r>
          </a:p>
          <a:p>
            <a:pPr>
              <a:lnSpc>
                <a:spcPct val="115000"/>
              </a:lnSpc>
            </a:pPr>
            <a:r>
              <a:rPr lang="en-US" altLang="zh-CN" dirty="0">
                <a:solidFill>
                  <a:srgbClr val="FC0404"/>
                </a:solidFill>
              </a:rPr>
              <a:t>M</a:t>
            </a:r>
          </a:p>
          <a:p>
            <a:pPr lvl="1">
              <a:lnSpc>
                <a:spcPct val="115000"/>
              </a:lnSpc>
            </a:pPr>
            <a:r>
              <a:rPr lang="zh-CN" altLang="en-US" dirty="0"/>
              <a:t>类型，用于对各类无编号帧的区分，具体见后表。</a:t>
            </a:r>
          </a:p>
        </p:txBody>
      </p:sp>
      <p:sp>
        <p:nvSpPr>
          <p:cNvPr id="77210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772102"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HDLC</a:t>
            </a:r>
            <a:r>
              <a:rPr lang="en-US" altLang="zh-CN" sz="1200">
                <a:ea typeface="幼圆" pitchFamily="49" charset="-122"/>
              </a:rPr>
              <a:t>&gt;&gt;</a:t>
            </a:r>
            <a:r>
              <a:rPr lang="zh-CN" altLang="en-US" sz="1200">
                <a:ea typeface="幼圆" pitchFamily="49" charset="-122"/>
                <a:hlinkClick r:id="rId6" action="ppaction://hlinksldjump"/>
              </a:rPr>
              <a:t>数据帧</a:t>
            </a:r>
            <a:r>
              <a:rPr lang="en-US" altLang="zh-CN" sz="1200">
                <a:ea typeface="幼圆" pitchFamily="49" charset="-122"/>
              </a:rPr>
              <a:t>&gt;&gt;</a:t>
            </a:r>
            <a:r>
              <a:rPr lang="zh-CN" altLang="en-US" sz="1200">
                <a:ea typeface="幼圆" pitchFamily="49" charset="-122"/>
                <a:hlinkClick r:id="rId7" action="ppaction://hlinksldjump"/>
              </a:rPr>
              <a:t>帧类型</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p:txBody>
          <a:bodyPr/>
          <a:lstStyle/>
          <a:p>
            <a:r>
              <a:rPr lang="en-US" altLang="zh-CN" sz="4000" b="1"/>
              <a:t>PPP</a:t>
            </a:r>
            <a:br>
              <a:rPr lang="en-US" altLang="zh-CN" sz="4000" b="1"/>
            </a:br>
            <a:r>
              <a:rPr lang="zh-CN" altLang="en-US" sz="2800"/>
              <a:t>（</a:t>
            </a:r>
            <a:r>
              <a:rPr lang="en-US" altLang="zh-CN" sz="2800"/>
              <a:t>Point-to-Point Protocol</a:t>
            </a:r>
            <a:r>
              <a:rPr lang="zh-CN" altLang="en-US" sz="2800"/>
              <a:t>）</a:t>
            </a:r>
          </a:p>
        </p:txBody>
      </p:sp>
      <p:sp>
        <p:nvSpPr>
          <p:cNvPr id="72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endParaRPr lang="en-US" altLang="zh-CN" sz="1200">
              <a:ea typeface="幼圆" pitchFamily="49" charset="-122"/>
            </a:endParaRPr>
          </a:p>
        </p:txBody>
      </p:sp>
      <p:sp>
        <p:nvSpPr>
          <p:cNvPr id="726021" name="Rectangle 5"/>
          <p:cNvSpPr>
            <a:spLocks noGrp="1" noChangeArrowheads="1"/>
          </p:cNvSpPr>
          <p:nvPr>
            <p:ph type="body" idx="1"/>
          </p:nvPr>
        </p:nvSpPr>
        <p:spPr>
          <a:xfrm>
            <a:off x="2987675" y="1844675"/>
            <a:ext cx="2682875" cy="4392613"/>
          </a:xfrm>
        </p:spPr>
        <p:txBody>
          <a:bodyPr/>
          <a:lstStyle/>
          <a:p>
            <a:pPr>
              <a:lnSpc>
                <a:spcPct val="120000"/>
              </a:lnSpc>
            </a:pPr>
            <a:r>
              <a:rPr kumimoji="0" lang="zh-CN" altLang="en-US" dirty="0">
                <a:solidFill>
                  <a:schemeClr val="tx1"/>
                </a:solidFill>
                <a:hlinkClick r:id="rId5" action="ppaction://hlinksldjump"/>
              </a:rPr>
              <a:t>基本概念</a:t>
            </a:r>
            <a:endParaRPr kumimoji="0" lang="zh-CN" altLang="en-US" dirty="0">
              <a:solidFill>
                <a:schemeClr val="tx1"/>
              </a:solidFill>
            </a:endParaRPr>
          </a:p>
          <a:p>
            <a:pPr>
              <a:lnSpc>
                <a:spcPct val="120000"/>
              </a:lnSpc>
            </a:pPr>
            <a:r>
              <a:rPr lang="zh-CN" altLang="en-US" dirty="0">
                <a:solidFill>
                  <a:schemeClr val="tx1"/>
                </a:solidFill>
                <a:hlinkClick r:id="rId6" action="ppaction://hlinksldjump"/>
              </a:rPr>
              <a:t>帧格式</a:t>
            </a:r>
            <a:endParaRPr lang="zh-CN" altLang="en-US" dirty="0">
              <a:solidFill>
                <a:schemeClr val="tx1"/>
              </a:solidFill>
            </a:endParaRPr>
          </a:p>
          <a:p>
            <a:pPr>
              <a:lnSpc>
                <a:spcPct val="120000"/>
              </a:lnSpc>
            </a:pPr>
            <a:r>
              <a:rPr lang="en-US" altLang="zh-CN" dirty="0">
                <a:solidFill>
                  <a:schemeClr val="tx1"/>
                </a:solidFill>
                <a:hlinkClick r:id="" action="ppaction://noaction"/>
              </a:rPr>
              <a:t>LCP</a:t>
            </a:r>
            <a:endParaRPr lang="en-US" altLang="zh-CN" dirty="0">
              <a:solidFill>
                <a:schemeClr val="tx1"/>
              </a:solidFill>
            </a:endParaRPr>
          </a:p>
          <a:p>
            <a:pPr>
              <a:lnSpc>
                <a:spcPct val="120000"/>
              </a:lnSpc>
            </a:pPr>
            <a:r>
              <a:rPr kumimoji="0" lang="zh-CN" altLang="en-US" dirty="0">
                <a:solidFill>
                  <a:schemeClr val="tx1"/>
                </a:solidFill>
                <a:hlinkClick r:id="" action="ppaction://noaction"/>
              </a:rPr>
              <a:t>认证协议</a:t>
            </a:r>
            <a:endParaRPr kumimoji="0" lang="zh-CN" altLang="en-US" dirty="0">
              <a:solidFill>
                <a:schemeClr val="tx1"/>
              </a:solidFill>
            </a:endParaRPr>
          </a:p>
          <a:p>
            <a:pPr>
              <a:lnSpc>
                <a:spcPct val="120000"/>
              </a:lnSpc>
            </a:pPr>
            <a:r>
              <a:rPr kumimoji="0" lang="en-US" altLang="zh-CN" dirty="0">
                <a:solidFill>
                  <a:schemeClr val="tx1"/>
                </a:solidFill>
                <a:hlinkClick r:id="" action="ppaction://noaction"/>
              </a:rPr>
              <a:t>NCP</a:t>
            </a:r>
            <a:endParaRPr kumimoji="0" lang="en-US" altLang="zh-CN" dirty="0">
              <a:solidFill>
                <a:schemeClr val="tx1"/>
              </a:solidFill>
            </a:endParaRPr>
          </a:p>
          <a:p>
            <a:pPr>
              <a:lnSpc>
                <a:spcPct val="120000"/>
              </a:lnSpc>
            </a:pPr>
            <a:r>
              <a:rPr lang="zh-CN" altLang="en-US" dirty="0">
                <a:solidFill>
                  <a:schemeClr val="tx1"/>
                </a:solidFill>
                <a:hlinkClick r:id="" action="ppaction://noaction"/>
              </a:rPr>
              <a:t>工作过程</a:t>
            </a:r>
            <a:endParaRPr lang="zh-CN" altLang="en-US" dirty="0">
              <a:solidFill>
                <a:schemeClr val="tx1"/>
              </a:solidFill>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r>
              <a:rPr lang="sv-SE" altLang="zh-CN" b="1"/>
              <a:t>Internet</a:t>
            </a:r>
            <a:r>
              <a:rPr lang="zh-CN" altLang="sv-SE"/>
              <a:t>接入方式</a:t>
            </a:r>
            <a:br>
              <a:rPr lang="zh-CN" altLang="sv-SE"/>
            </a:br>
            <a:r>
              <a:rPr lang="zh-CN" altLang="sv-SE" sz="2800"/>
              <a:t>（</a:t>
            </a:r>
            <a:r>
              <a:rPr lang="zh-CN" altLang="en-US" sz="2800"/>
              <a:t>路由器</a:t>
            </a:r>
            <a:r>
              <a:rPr lang="en-US" altLang="zh-CN" sz="2800"/>
              <a:t>-</a:t>
            </a:r>
            <a:r>
              <a:rPr lang="zh-CN" altLang="en-US" sz="2800"/>
              <a:t>路由器接入）</a:t>
            </a:r>
          </a:p>
        </p:txBody>
      </p:sp>
      <p:sp>
        <p:nvSpPr>
          <p:cNvPr id="780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780293" name="Rectangle 5"/>
          <p:cNvSpPr>
            <a:spLocks noGrp="1" noChangeArrowheads="1"/>
          </p:cNvSpPr>
          <p:nvPr>
            <p:ph type="body" idx="1"/>
          </p:nvPr>
        </p:nvSpPr>
        <p:spPr>
          <a:xfrm>
            <a:off x="809625" y="5589588"/>
            <a:ext cx="7958138" cy="792162"/>
          </a:xfrm>
        </p:spPr>
        <p:txBody>
          <a:bodyPr/>
          <a:lstStyle/>
          <a:p>
            <a:pPr>
              <a:lnSpc>
                <a:spcPct val="110000"/>
              </a:lnSpc>
            </a:pPr>
            <a:r>
              <a:rPr lang="zh-CN" altLang="en-US" sz="2000">
                <a:solidFill>
                  <a:srgbClr val="FC0404"/>
                </a:solidFill>
              </a:rPr>
              <a:t>用于一个机构的一个或多个</a:t>
            </a:r>
            <a:r>
              <a:rPr lang="en-US" altLang="zh-CN" sz="2000">
                <a:solidFill>
                  <a:srgbClr val="FC0404"/>
                </a:solidFill>
              </a:rPr>
              <a:t>LAN</a:t>
            </a:r>
            <a:r>
              <a:rPr lang="zh-CN" altLang="en-US" sz="2000">
                <a:solidFill>
                  <a:srgbClr val="FC0404"/>
                </a:solidFill>
              </a:rPr>
              <a:t>的接入</a:t>
            </a:r>
            <a:r>
              <a:rPr lang="zh-CN" altLang="en-US" sz="2000"/>
              <a:t>。其中路由器</a:t>
            </a:r>
            <a:r>
              <a:rPr lang="en-US" altLang="zh-CN" sz="2000"/>
              <a:t>-</a:t>
            </a:r>
            <a:r>
              <a:rPr lang="zh-CN" altLang="en-US" sz="2000"/>
              <a:t>路由器之间是通过</a:t>
            </a:r>
            <a:r>
              <a:rPr lang="zh-CN" altLang="en-US" sz="2000">
                <a:solidFill>
                  <a:srgbClr val="FC0404"/>
                </a:solidFill>
              </a:rPr>
              <a:t>点</a:t>
            </a:r>
            <a:r>
              <a:rPr lang="en-US" altLang="zh-CN" sz="2000">
                <a:solidFill>
                  <a:srgbClr val="FC0404"/>
                </a:solidFill>
              </a:rPr>
              <a:t>-</a:t>
            </a:r>
            <a:r>
              <a:rPr lang="zh-CN" altLang="en-US" sz="2000">
                <a:solidFill>
                  <a:srgbClr val="FC0404"/>
                </a:solidFill>
              </a:rPr>
              <a:t>点连接</a:t>
            </a:r>
            <a:r>
              <a:rPr lang="zh-CN" altLang="en-US" sz="2000"/>
              <a:t>来实现。</a:t>
            </a:r>
          </a:p>
        </p:txBody>
      </p:sp>
      <p:pic>
        <p:nvPicPr>
          <p:cNvPr id="780294" name="Picture 6"/>
          <p:cNvPicPr>
            <a:picLocks noChangeAspect="1" noChangeArrowheads="1"/>
          </p:cNvPicPr>
          <p:nvPr/>
        </p:nvPicPr>
        <p:blipFill>
          <a:blip r:embed="rId6" cstate="print">
            <a:clrChange>
              <a:clrFrom>
                <a:srgbClr val="FEFEFE"/>
              </a:clrFrom>
              <a:clrTo>
                <a:srgbClr val="FEFEFE">
                  <a:alpha val="0"/>
                </a:srgbClr>
              </a:clrTo>
            </a:clrChange>
            <a:lum bright="-36000"/>
            <a:extLst>
              <a:ext uri="{28A0092B-C50C-407E-A947-70E740481C1C}">
                <a14:useLocalDpi xmlns="" xmlns:a14="http://schemas.microsoft.com/office/drawing/2010/main" val="0"/>
              </a:ext>
            </a:extLst>
          </a:blip>
          <a:srcRect r="916" b="1500"/>
          <a:stretch>
            <a:fillRect/>
          </a:stretch>
        </p:blipFill>
        <p:spPr bwMode="auto">
          <a:xfrm>
            <a:off x="1547813" y="1773238"/>
            <a:ext cx="6135687" cy="3721100"/>
          </a:xfrm>
          <a:prstGeom prst="rect">
            <a:avLst/>
          </a:prstGeom>
          <a:noFill/>
          <a:extLst>
            <a:ext uri="{909E8E84-426E-40DD-AFC4-6F175D3DCCD1}">
              <a14:hiddenFill xmlns="" xmlns:a14="http://schemas.microsoft.com/office/drawing/2010/main">
                <a:solidFill>
                  <a:srgbClr val="FFFFFF"/>
                </a:solidFill>
              </a14:hiddenFill>
            </a:ext>
          </a:extLst>
        </p:spPr>
      </p:pic>
      <p:sp>
        <p:nvSpPr>
          <p:cNvPr id="780295" name="Line 7"/>
          <p:cNvSpPr>
            <a:spLocks noChangeShapeType="1"/>
          </p:cNvSpPr>
          <p:nvPr/>
        </p:nvSpPr>
        <p:spPr bwMode="auto">
          <a:xfrm flipV="1">
            <a:off x="3492500" y="2781300"/>
            <a:ext cx="2087563" cy="360363"/>
          </a:xfrm>
          <a:prstGeom prst="line">
            <a:avLst/>
          </a:prstGeom>
          <a:noFill/>
          <a:ln w="381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80296" name="Line 8"/>
          <p:cNvSpPr>
            <a:spLocks noChangeShapeType="1"/>
          </p:cNvSpPr>
          <p:nvPr/>
        </p:nvSpPr>
        <p:spPr bwMode="auto">
          <a:xfrm>
            <a:off x="3563938" y="4149725"/>
            <a:ext cx="503237" cy="431800"/>
          </a:xfrm>
          <a:prstGeom prst="line">
            <a:avLst/>
          </a:prstGeom>
          <a:noFill/>
          <a:ln w="381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80297" name="Text Box 9"/>
          <p:cNvSpPr txBox="1">
            <a:spLocks noChangeArrowheads="1"/>
          </p:cNvSpPr>
          <p:nvPr/>
        </p:nvSpPr>
        <p:spPr bwMode="auto">
          <a:xfrm>
            <a:off x="4211638" y="2492375"/>
            <a:ext cx="576262"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800" b="1">
                <a:solidFill>
                  <a:srgbClr val="FF0000"/>
                </a:solidFill>
              </a:rPr>
              <a:t>？</a:t>
            </a:r>
          </a:p>
        </p:txBody>
      </p:sp>
      <p:sp>
        <p:nvSpPr>
          <p:cNvPr id="780298" name="Text Box 10"/>
          <p:cNvSpPr txBox="1">
            <a:spLocks noChangeArrowheads="1"/>
          </p:cNvSpPr>
          <p:nvPr/>
        </p:nvSpPr>
        <p:spPr bwMode="auto">
          <a:xfrm>
            <a:off x="3708400" y="3860800"/>
            <a:ext cx="576263"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800" b="1">
                <a:solidFill>
                  <a:srgbClr val="FF0000"/>
                </a:solidFill>
              </a:rPr>
              <a:t>？</a:t>
            </a:r>
          </a:p>
        </p:txBody>
      </p:sp>
      <p:sp>
        <p:nvSpPr>
          <p:cNvPr id="780299"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0295"/>
                                        </p:tgtEl>
                                        <p:attrNameLst>
                                          <p:attrName>style.visibility</p:attrName>
                                        </p:attrNameLst>
                                      </p:cBhvr>
                                      <p:to>
                                        <p:strVal val="visible"/>
                                      </p:to>
                                    </p:set>
                                    <p:animEffect transition="in" filter="wipe(left)">
                                      <p:cBhvr>
                                        <p:cTn id="7" dur="1000"/>
                                        <p:tgtEl>
                                          <p:spTgt spid="7802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80297"/>
                                        </p:tgtEl>
                                        <p:attrNameLst>
                                          <p:attrName>style.visibility</p:attrName>
                                        </p:attrNameLst>
                                      </p:cBhvr>
                                      <p:to>
                                        <p:strVal val="visible"/>
                                      </p:to>
                                    </p:set>
                                    <p:animEffect transition="in" filter="dissolve">
                                      <p:cBhvr>
                                        <p:cTn id="12" dur="500"/>
                                        <p:tgtEl>
                                          <p:spTgt spid="7802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80296"/>
                                        </p:tgtEl>
                                        <p:attrNameLst>
                                          <p:attrName>style.visibility</p:attrName>
                                        </p:attrNameLst>
                                      </p:cBhvr>
                                      <p:to>
                                        <p:strVal val="visible"/>
                                      </p:to>
                                    </p:set>
                                    <p:animEffect transition="in" filter="wipe(up)">
                                      <p:cBhvr>
                                        <p:cTn id="17" dur="1000"/>
                                        <p:tgtEl>
                                          <p:spTgt spid="7802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80298"/>
                                        </p:tgtEl>
                                        <p:attrNameLst>
                                          <p:attrName>style.visibility</p:attrName>
                                        </p:attrNameLst>
                                      </p:cBhvr>
                                      <p:to>
                                        <p:strVal val="visible"/>
                                      </p:to>
                                    </p:set>
                                    <p:animEffect transition="in" filter="dissolve">
                                      <p:cBhvr>
                                        <p:cTn id="22" dur="500"/>
                                        <p:tgtEl>
                                          <p:spTgt spid="780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0295" grpId="0" animBg="1"/>
      <p:bldP spid="780296" grpId="0" animBg="1"/>
      <p:bldP spid="780297" grpId="0"/>
      <p:bldP spid="780298"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Rectangle 2"/>
          <p:cNvSpPr>
            <a:spLocks noGrp="1" noChangeArrowheads="1"/>
          </p:cNvSpPr>
          <p:nvPr>
            <p:ph type="title"/>
          </p:nvPr>
        </p:nvSpPr>
        <p:spPr/>
        <p:txBody>
          <a:bodyPr/>
          <a:lstStyle/>
          <a:p>
            <a:r>
              <a:rPr lang="sv-SE" altLang="zh-CN" b="1"/>
              <a:t>Internet</a:t>
            </a:r>
            <a:r>
              <a:rPr lang="zh-CN" altLang="sv-SE"/>
              <a:t>接入方式</a:t>
            </a:r>
            <a:br>
              <a:rPr lang="zh-CN" altLang="sv-SE"/>
            </a:br>
            <a:r>
              <a:rPr lang="zh-CN" altLang="sv-SE" sz="2800"/>
              <a:t>（</a:t>
            </a:r>
            <a:r>
              <a:rPr lang="zh-CN" altLang="en-US" sz="2800"/>
              <a:t>拨号主机</a:t>
            </a:r>
            <a:r>
              <a:rPr lang="en-US" altLang="zh-CN" sz="2800"/>
              <a:t>-</a:t>
            </a:r>
            <a:r>
              <a:rPr lang="zh-CN" altLang="en-US" sz="2800"/>
              <a:t>路由器接入）</a:t>
            </a:r>
          </a:p>
        </p:txBody>
      </p:sp>
      <p:sp>
        <p:nvSpPr>
          <p:cNvPr id="781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781316" name="Rectangle 4"/>
          <p:cNvSpPr>
            <a:spLocks noGrp="1" noChangeArrowheads="1"/>
          </p:cNvSpPr>
          <p:nvPr>
            <p:ph type="body" idx="1"/>
          </p:nvPr>
        </p:nvSpPr>
        <p:spPr>
          <a:xfrm>
            <a:off x="809625" y="5589588"/>
            <a:ext cx="7958138" cy="792162"/>
          </a:xfrm>
        </p:spPr>
        <p:txBody>
          <a:bodyPr/>
          <a:lstStyle/>
          <a:p>
            <a:pPr>
              <a:lnSpc>
                <a:spcPct val="110000"/>
              </a:lnSpc>
            </a:pPr>
            <a:r>
              <a:rPr lang="zh-CN" altLang="en-US" sz="2000">
                <a:solidFill>
                  <a:srgbClr val="FC0404"/>
                </a:solidFill>
              </a:rPr>
              <a:t>用于个人的接入</a:t>
            </a:r>
            <a:r>
              <a:rPr lang="zh-CN" altLang="en-US" sz="2000"/>
              <a:t>。远程家庭用户通过拨号与</a:t>
            </a:r>
            <a:r>
              <a:rPr lang="en-US" altLang="zh-CN" sz="2000"/>
              <a:t>ISP</a:t>
            </a:r>
            <a:r>
              <a:rPr lang="zh-CN" altLang="en-US" sz="2000"/>
              <a:t>连接后采用</a:t>
            </a:r>
            <a:r>
              <a:rPr lang="zh-CN" altLang="en-US" sz="2000">
                <a:solidFill>
                  <a:srgbClr val="FC0404"/>
                </a:solidFill>
              </a:rPr>
              <a:t>点</a:t>
            </a:r>
            <a:r>
              <a:rPr lang="en-US" altLang="zh-CN" sz="2000">
                <a:solidFill>
                  <a:srgbClr val="FC0404"/>
                </a:solidFill>
              </a:rPr>
              <a:t>-</a:t>
            </a:r>
            <a:r>
              <a:rPr lang="zh-CN" altLang="en-US" sz="2000">
                <a:solidFill>
                  <a:srgbClr val="FC0404"/>
                </a:solidFill>
              </a:rPr>
              <a:t>点连接</a:t>
            </a:r>
            <a:r>
              <a:rPr lang="zh-CN" altLang="en-US" sz="2000"/>
              <a:t>。</a:t>
            </a:r>
          </a:p>
        </p:txBody>
      </p:sp>
      <p:pic>
        <p:nvPicPr>
          <p:cNvPr id="781318" name="Picture 6"/>
          <p:cNvPicPr>
            <a:picLocks noChangeAspect="1" noChangeArrowheads="1"/>
          </p:cNvPicPr>
          <p:nvPr/>
        </p:nvPicPr>
        <p:blipFill>
          <a:blip r:embed="rId6" cstate="print">
            <a:clrChange>
              <a:clrFrom>
                <a:srgbClr val="FEFEFE"/>
              </a:clrFrom>
              <a:clrTo>
                <a:srgbClr val="FEFEFE">
                  <a:alpha val="0"/>
                </a:srgbClr>
              </a:clrTo>
            </a:clrChange>
            <a:lum bright="-30000"/>
            <a:extLst>
              <a:ext uri="{28A0092B-C50C-407E-A947-70E740481C1C}">
                <a14:useLocalDpi xmlns="" xmlns:a14="http://schemas.microsoft.com/office/drawing/2010/main" val="0"/>
              </a:ext>
            </a:extLst>
          </a:blip>
          <a:srcRect r="874" b="1871"/>
          <a:stretch>
            <a:fillRect/>
          </a:stretch>
        </p:blipFill>
        <p:spPr bwMode="auto">
          <a:xfrm>
            <a:off x="1042988" y="1700213"/>
            <a:ext cx="7424737" cy="34369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FF00"/>
                </a:solidFill>
                <a:miter lim="800000"/>
                <a:headEnd/>
                <a:tailEnd type="none" w="sm"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781319" name="Freeform 7"/>
          <p:cNvSpPr>
            <a:spLocks/>
          </p:cNvSpPr>
          <p:nvPr/>
        </p:nvSpPr>
        <p:spPr bwMode="auto">
          <a:xfrm>
            <a:off x="2627313" y="3860800"/>
            <a:ext cx="3024187" cy="792163"/>
          </a:xfrm>
          <a:custGeom>
            <a:avLst/>
            <a:gdLst>
              <a:gd name="T0" fmla="*/ 1905 w 1905"/>
              <a:gd name="T1" fmla="*/ 272 h 499"/>
              <a:gd name="T2" fmla="*/ 1089 w 1905"/>
              <a:gd name="T3" fmla="*/ 499 h 499"/>
              <a:gd name="T4" fmla="*/ 363 w 1905"/>
              <a:gd name="T5" fmla="*/ 272 h 499"/>
              <a:gd name="T6" fmla="*/ 0 w 1905"/>
              <a:gd name="T7" fmla="*/ 0 h 499"/>
            </a:gdLst>
            <a:ahLst/>
            <a:cxnLst>
              <a:cxn ang="0">
                <a:pos x="T0" y="T1"/>
              </a:cxn>
              <a:cxn ang="0">
                <a:pos x="T2" y="T3"/>
              </a:cxn>
              <a:cxn ang="0">
                <a:pos x="T4" y="T5"/>
              </a:cxn>
              <a:cxn ang="0">
                <a:pos x="T6" y="T7"/>
              </a:cxn>
            </a:cxnLst>
            <a:rect l="0" t="0" r="r" b="b"/>
            <a:pathLst>
              <a:path w="1905" h="499">
                <a:moveTo>
                  <a:pt x="1905" y="272"/>
                </a:moveTo>
                <a:cubicBezTo>
                  <a:pt x="1625" y="385"/>
                  <a:pt x="1346" y="499"/>
                  <a:pt x="1089" y="499"/>
                </a:cubicBezTo>
                <a:cubicBezTo>
                  <a:pt x="832" y="499"/>
                  <a:pt x="544" y="355"/>
                  <a:pt x="363" y="272"/>
                </a:cubicBezTo>
                <a:cubicBezTo>
                  <a:pt x="182" y="189"/>
                  <a:pt x="91" y="94"/>
                  <a:pt x="0" y="0"/>
                </a:cubicBezTo>
              </a:path>
            </a:pathLst>
          </a:custGeom>
          <a:noFill/>
          <a:ln w="38100" cap="flat" cmpd="sng">
            <a:solidFill>
              <a:srgbClr val="FF0000"/>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81320" name="Text Box 8"/>
          <p:cNvSpPr txBox="1">
            <a:spLocks noChangeArrowheads="1"/>
          </p:cNvSpPr>
          <p:nvPr/>
        </p:nvSpPr>
        <p:spPr bwMode="auto">
          <a:xfrm>
            <a:off x="3924300" y="4005263"/>
            <a:ext cx="576263"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800" b="1">
                <a:solidFill>
                  <a:srgbClr val="FF0000"/>
                </a:solidFill>
              </a:rPr>
              <a:t>？</a:t>
            </a:r>
          </a:p>
        </p:txBody>
      </p:sp>
      <p:sp>
        <p:nvSpPr>
          <p:cNvPr id="781321"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781319"/>
                                        </p:tgtEl>
                                        <p:attrNameLst>
                                          <p:attrName>style.visibility</p:attrName>
                                        </p:attrNameLst>
                                      </p:cBhvr>
                                      <p:to>
                                        <p:strVal val="visible"/>
                                      </p:to>
                                    </p:set>
                                    <p:animEffect transition="in" filter="wipe(right)">
                                      <p:cBhvr>
                                        <p:cTn id="7" dur="1000"/>
                                        <p:tgtEl>
                                          <p:spTgt spid="7813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81320"/>
                                        </p:tgtEl>
                                        <p:attrNameLst>
                                          <p:attrName>style.visibility</p:attrName>
                                        </p:attrNameLst>
                                      </p:cBhvr>
                                      <p:to>
                                        <p:strVal val="visible"/>
                                      </p:to>
                                    </p:set>
                                    <p:animEffect transition="in" filter="dissolve">
                                      <p:cBhvr>
                                        <p:cTn id="12" dur="500"/>
                                        <p:tgtEl>
                                          <p:spTgt spid="781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319" grpId="0" animBg="1"/>
      <p:bldP spid="781320"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38" name="Rectangle 2"/>
          <p:cNvSpPr>
            <a:spLocks noGrp="1" noChangeArrowheads="1"/>
          </p:cNvSpPr>
          <p:nvPr>
            <p:ph type="title"/>
          </p:nvPr>
        </p:nvSpPr>
        <p:spPr/>
        <p:txBody>
          <a:bodyPr/>
          <a:lstStyle/>
          <a:p>
            <a:r>
              <a:rPr lang="sv-SE" altLang="zh-CN" b="1"/>
              <a:t>PPP</a:t>
            </a:r>
            <a:endParaRPr lang="zh-CN" altLang="en-US"/>
          </a:p>
        </p:txBody>
      </p:sp>
      <p:sp>
        <p:nvSpPr>
          <p:cNvPr id="78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782344" name="Rectangle 8"/>
          <p:cNvSpPr>
            <a:spLocks noGrp="1" noChangeArrowheads="1"/>
          </p:cNvSpPr>
          <p:nvPr>
            <p:ph type="body" idx="1"/>
          </p:nvPr>
        </p:nvSpPr>
        <p:spPr>
          <a:xfrm>
            <a:off x="809625" y="1773238"/>
            <a:ext cx="8010525" cy="4464050"/>
          </a:xfrm>
        </p:spPr>
        <p:txBody>
          <a:bodyPr/>
          <a:lstStyle/>
          <a:p>
            <a:pPr>
              <a:lnSpc>
                <a:spcPct val="160000"/>
              </a:lnSpc>
            </a:pPr>
            <a:r>
              <a:rPr kumimoji="0" lang="en-US" altLang="zh-CN" sz="2400" dirty="0" smtClean="0"/>
              <a:t>PPP</a:t>
            </a:r>
            <a:r>
              <a:rPr kumimoji="0" lang="zh-CN" altLang="en-US" sz="2400" dirty="0" smtClean="0"/>
              <a:t>（</a:t>
            </a:r>
            <a:r>
              <a:rPr kumimoji="0" lang="en-US" altLang="zh-CN" sz="2400" dirty="0" smtClean="0">
                <a:solidFill>
                  <a:srgbClr val="FF0000"/>
                </a:solidFill>
              </a:rPr>
              <a:t>RFC1661</a:t>
            </a:r>
            <a:r>
              <a:rPr kumimoji="0" lang="zh-CN" altLang="en-US" sz="2400" dirty="0" smtClean="0"/>
              <a:t>）</a:t>
            </a:r>
            <a:r>
              <a:rPr lang="zh-CN" altLang="en-US" sz="2400" dirty="0" smtClean="0"/>
              <a:t>是</a:t>
            </a:r>
            <a:r>
              <a:rPr lang="en-US" altLang="zh-CN" sz="2400" dirty="0"/>
              <a:t>Internet</a:t>
            </a:r>
            <a:r>
              <a:rPr lang="zh-CN" altLang="en-US" sz="2400" dirty="0"/>
              <a:t>上广泛使用的数据链路层协议，用于点对点的链路。例如：</a:t>
            </a:r>
            <a:r>
              <a:rPr lang="zh-CN" altLang="en-US" sz="2400" dirty="0">
                <a:solidFill>
                  <a:srgbClr val="0000FF"/>
                </a:solidFill>
              </a:rPr>
              <a:t>通过电话线拨号接入</a:t>
            </a:r>
            <a:r>
              <a:rPr lang="en-US" altLang="zh-CN" sz="2400" dirty="0">
                <a:solidFill>
                  <a:srgbClr val="0000FF"/>
                </a:solidFill>
              </a:rPr>
              <a:t>Internet</a:t>
            </a:r>
            <a:r>
              <a:rPr lang="zh-CN" altLang="en-US" sz="2400" dirty="0">
                <a:solidFill>
                  <a:srgbClr val="0000FF"/>
                </a:solidFill>
              </a:rPr>
              <a:t>的线路</a:t>
            </a:r>
            <a:r>
              <a:rPr lang="zh-CN" altLang="en-US" sz="2400" dirty="0"/>
              <a:t>，</a:t>
            </a:r>
            <a:r>
              <a:rPr lang="zh-CN" altLang="en-US" sz="2400" dirty="0">
                <a:solidFill>
                  <a:srgbClr val="0000FF"/>
                </a:solidFill>
              </a:rPr>
              <a:t>路由器与路由器连接的线路</a:t>
            </a:r>
            <a:r>
              <a:rPr lang="zh-CN" altLang="en-US" sz="2400" dirty="0"/>
              <a:t>。</a:t>
            </a:r>
          </a:p>
          <a:p>
            <a:pPr>
              <a:lnSpc>
                <a:spcPct val="160000"/>
              </a:lnSpc>
            </a:pPr>
            <a:r>
              <a:rPr lang="en-US" altLang="zh-CN" sz="2400" dirty="0"/>
              <a:t>PPP</a:t>
            </a:r>
            <a:r>
              <a:rPr lang="zh-CN" altLang="en-US" sz="2400" dirty="0"/>
              <a:t>在宽带接入中也衍生出新的协议，例如：</a:t>
            </a:r>
            <a:r>
              <a:rPr lang="en-US" altLang="zh-CN" sz="2400" dirty="0"/>
              <a:t>ADSL</a:t>
            </a:r>
            <a:r>
              <a:rPr lang="zh-CN" altLang="en-US" sz="2400" dirty="0"/>
              <a:t>接入中的</a:t>
            </a:r>
            <a:r>
              <a:rPr lang="en-US" altLang="zh-CN" sz="2400" dirty="0" err="1">
                <a:solidFill>
                  <a:srgbClr val="FF0000"/>
                </a:solidFill>
              </a:rPr>
              <a:t>PPPoE</a:t>
            </a:r>
            <a:r>
              <a:rPr lang="zh-CN" altLang="en-US" sz="2400" dirty="0"/>
              <a:t>（</a:t>
            </a:r>
            <a:r>
              <a:rPr lang="en-US" altLang="zh-CN" sz="2400" dirty="0"/>
              <a:t>PPP over Ethernet</a:t>
            </a:r>
            <a:r>
              <a:rPr lang="zh-CN" altLang="en-US" sz="2400" dirty="0"/>
              <a:t>）、 </a:t>
            </a:r>
            <a:r>
              <a:rPr lang="en-US" altLang="zh-CN" sz="2400" dirty="0" err="1">
                <a:solidFill>
                  <a:srgbClr val="FF0000"/>
                </a:solidFill>
              </a:rPr>
              <a:t>PPPoA</a:t>
            </a:r>
            <a:r>
              <a:rPr lang="zh-CN" altLang="en-US" sz="2400" dirty="0"/>
              <a:t>（</a:t>
            </a:r>
            <a:r>
              <a:rPr lang="en-US" altLang="zh-CN" sz="2400" dirty="0"/>
              <a:t>PPP over ATM</a:t>
            </a:r>
            <a:r>
              <a:rPr lang="zh-CN" altLang="en-US" sz="2400" dirty="0"/>
              <a:t>）</a:t>
            </a:r>
            <a:r>
              <a:rPr lang="zh-CN" altLang="en-US" sz="2400" dirty="0" smtClean="0"/>
              <a:t>。</a:t>
            </a:r>
            <a:endParaRPr lang="en-US" altLang="zh-CN" sz="2400" dirty="0" smtClean="0"/>
          </a:p>
          <a:p>
            <a:pPr>
              <a:lnSpc>
                <a:spcPct val="160000"/>
              </a:lnSpc>
            </a:pPr>
            <a:r>
              <a:rPr lang="zh-CN" altLang="en-US" sz="2400" dirty="0" smtClean="0">
                <a:solidFill>
                  <a:srgbClr val="FF0000"/>
                </a:solidFill>
              </a:rPr>
              <a:t>协议特点：</a:t>
            </a:r>
            <a:r>
              <a:rPr lang="zh-CN" altLang="en-US" sz="2400" dirty="0" smtClean="0"/>
              <a:t>不可靠的数据传输（目前应用较多）</a:t>
            </a:r>
            <a:endParaRPr lang="zh-CN" altLang="en-US" sz="2400" dirty="0"/>
          </a:p>
        </p:txBody>
      </p:sp>
      <p:sp>
        <p:nvSpPr>
          <p:cNvPr id="782345"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p:cNvSpPr>
            <a:spLocks noGrp="1" noChangeArrowheads="1"/>
          </p:cNvSpPr>
          <p:nvPr>
            <p:ph type="title"/>
          </p:nvPr>
        </p:nvSpPr>
        <p:spPr/>
        <p:txBody>
          <a:bodyPr/>
          <a:lstStyle/>
          <a:p>
            <a:r>
              <a:rPr lang="sv-SE" altLang="zh-CN" b="1" dirty="0"/>
              <a:t>PPP</a:t>
            </a:r>
            <a:r>
              <a:rPr lang="zh-CN" altLang="en-US" dirty="0"/>
              <a:t>协议的组成</a:t>
            </a:r>
          </a:p>
        </p:txBody>
      </p:sp>
      <p:sp>
        <p:nvSpPr>
          <p:cNvPr id="78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783366" name="Rectangle 6"/>
          <p:cNvSpPr>
            <a:spLocks noGrp="1" noChangeArrowheads="1"/>
          </p:cNvSpPr>
          <p:nvPr>
            <p:ph type="body" idx="1"/>
          </p:nvPr>
        </p:nvSpPr>
        <p:spPr>
          <a:xfrm>
            <a:off x="809625" y="1773238"/>
            <a:ext cx="7958138" cy="4608512"/>
          </a:xfrm>
        </p:spPr>
        <p:txBody>
          <a:bodyPr/>
          <a:lstStyle/>
          <a:p>
            <a:pPr>
              <a:lnSpc>
                <a:spcPct val="115000"/>
              </a:lnSpc>
            </a:pPr>
            <a:r>
              <a:rPr lang="zh-CN" altLang="en-US" sz="2400" dirty="0">
                <a:solidFill>
                  <a:srgbClr val="FC0404"/>
                </a:solidFill>
              </a:rPr>
              <a:t>串行链路上封装</a:t>
            </a:r>
            <a:r>
              <a:rPr lang="en-US" altLang="zh-CN" sz="2400" dirty="0">
                <a:solidFill>
                  <a:srgbClr val="FC0404"/>
                </a:solidFill>
              </a:rPr>
              <a:t>IP</a:t>
            </a:r>
            <a:r>
              <a:rPr lang="zh-CN" altLang="en-US" sz="2400" dirty="0">
                <a:solidFill>
                  <a:srgbClr val="FC0404"/>
                </a:solidFill>
              </a:rPr>
              <a:t>数据报的</a:t>
            </a:r>
            <a:r>
              <a:rPr lang="zh-CN" altLang="en-US" sz="2400" dirty="0" smtClean="0">
                <a:solidFill>
                  <a:srgbClr val="FC0404"/>
                </a:solidFill>
              </a:rPr>
              <a:t>方法（</a:t>
            </a:r>
            <a:r>
              <a:rPr lang="zh-CN" altLang="en-US" sz="2400" dirty="0" smtClean="0">
                <a:solidFill>
                  <a:srgbClr val="0000FF"/>
                </a:solidFill>
              </a:rPr>
              <a:t>数据成帧</a:t>
            </a:r>
            <a:r>
              <a:rPr lang="zh-CN" altLang="en-US" sz="2400" dirty="0" smtClean="0">
                <a:solidFill>
                  <a:srgbClr val="FC0404"/>
                </a:solidFill>
              </a:rPr>
              <a:t>）</a:t>
            </a:r>
            <a:endParaRPr lang="zh-CN" altLang="en-US" sz="2400" dirty="0"/>
          </a:p>
          <a:p>
            <a:pPr lvl="1">
              <a:lnSpc>
                <a:spcPct val="115000"/>
              </a:lnSpc>
            </a:pPr>
            <a:r>
              <a:rPr lang="zh-CN" altLang="en-US" sz="2400" dirty="0"/>
              <a:t>既支持异步</a:t>
            </a:r>
            <a:r>
              <a:rPr lang="zh-CN" altLang="en-US" sz="2400" dirty="0" smtClean="0"/>
              <a:t>链路（以字符单位进行传输），</a:t>
            </a:r>
            <a:r>
              <a:rPr lang="zh-CN" altLang="en-US" sz="2400" dirty="0"/>
              <a:t>也支持面向比特的同步</a:t>
            </a:r>
            <a:r>
              <a:rPr lang="zh-CN" altLang="en-US" sz="2400" dirty="0" smtClean="0"/>
              <a:t>链路（例如：</a:t>
            </a:r>
            <a:r>
              <a:rPr lang="en-US" altLang="zh-CN" sz="2400" dirty="0" smtClean="0"/>
              <a:t>SONET/SDH</a:t>
            </a:r>
            <a:r>
              <a:rPr lang="zh-CN" altLang="en-US" sz="2400" dirty="0" smtClean="0"/>
              <a:t>）。</a:t>
            </a:r>
            <a:endParaRPr lang="zh-CN" altLang="en-US" sz="2400" dirty="0"/>
          </a:p>
          <a:p>
            <a:pPr>
              <a:lnSpc>
                <a:spcPct val="115000"/>
              </a:lnSpc>
            </a:pPr>
            <a:r>
              <a:rPr lang="en-US" altLang="zh-CN" sz="2400" dirty="0">
                <a:solidFill>
                  <a:srgbClr val="FC0404"/>
                </a:solidFill>
              </a:rPr>
              <a:t>LCP</a:t>
            </a:r>
            <a:r>
              <a:rPr lang="zh-CN" altLang="en-US" sz="2400" dirty="0">
                <a:solidFill>
                  <a:srgbClr val="FC0404"/>
                </a:solidFill>
              </a:rPr>
              <a:t>（</a:t>
            </a:r>
            <a:r>
              <a:rPr lang="en-US" altLang="zh-CN" sz="2400" dirty="0">
                <a:solidFill>
                  <a:srgbClr val="FC0404"/>
                </a:solidFill>
              </a:rPr>
              <a:t>Link Control Protocol</a:t>
            </a:r>
            <a:r>
              <a:rPr lang="zh-CN" altLang="en-US" sz="2400" dirty="0">
                <a:solidFill>
                  <a:srgbClr val="FC0404"/>
                </a:solidFill>
              </a:rPr>
              <a:t>）</a:t>
            </a:r>
          </a:p>
          <a:p>
            <a:pPr lvl="1">
              <a:lnSpc>
                <a:spcPct val="115000"/>
              </a:lnSpc>
            </a:pPr>
            <a:r>
              <a:rPr lang="zh-CN" altLang="en-US" sz="2400" dirty="0"/>
              <a:t>用来建立、维持和拆除数据链路，还有测试线路及协商选项等功能。</a:t>
            </a:r>
          </a:p>
          <a:p>
            <a:pPr>
              <a:lnSpc>
                <a:spcPct val="115000"/>
              </a:lnSpc>
            </a:pPr>
            <a:r>
              <a:rPr lang="en-US" altLang="zh-CN" sz="2400" dirty="0">
                <a:solidFill>
                  <a:srgbClr val="FC0404"/>
                </a:solidFill>
              </a:rPr>
              <a:t>NCP</a:t>
            </a:r>
            <a:r>
              <a:rPr lang="zh-CN" altLang="en-US" sz="2400" dirty="0">
                <a:solidFill>
                  <a:srgbClr val="FC0404"/>
                </a:solidFill>
              </a:rPr>
              <a:t>（</a:t>
            </a:r>
            <a:r>
              <a:rPr lang="en-US" altLang="zh-CN" sz="2400" dirty="0">
                <a:solidFill>
                  <a:srgbClr val="FC0404"/>
                </a:solidFill>
              </a:rPr>
              <a:t>Network Control Protocol</a:t>
            </a:r>
            <a:r>
              <a:rPr lang="zh-CN" altLang="en-US" sz="2400" dirty="0">
                <a:solidFill>
                  <a:srgbClr val="FC0404"/>
                </a:solidFill>
              </a:rPr>
              <a:t>）</a:t>
            </a:r>
          </a:p>
          <a:p>
            <a:pPr lvl="1">
              <a:lnSpc>
                <a:spcPct val="115000"/>
              </a:lnSpc>
            </a:pPr>
            <a:r>
              <a:rPr lang="en-US" altLang="zh-CN" sz="2400" dirty="0"/>
              <a:t>NCP</a:t>
            </a:r>
            <a:r>
              <a:rPr lang="zh-CN" altLang="en-US" sz="2400" dirty="0"/>
              <a:t>是多个协议的总称，以与网络层无关的方法协商网络层选项，不同的网络层协议有不同的</a:t>
            </a:r>
            <a:r>
              <a:rPr lang="en-US" altLang="zh-CN" sz="2400" dirty="0"/>
              <a:t>NCP</a:t>
            </a:r>
            <a:r>
              <a:rPr lang="zh-CN" altLang="en-US" sz="2400" dirty="0"/>
              <a:t>，例如：适用于</a:t>
            </a:r>
            <a:r>
              <a:rPr lang="en-US" altLang="zh-CN" sz="2400" dirty="0"/>
              <a:t>IP</a:t>
            </a:r>
            <a:r>
              <a:rPr lang="zh-CN" altLang="en-US" sz="2400" dirty="0"/>
              <a:t>的</a:t>
            </a:r>
            <a:r>
              <a:rPr lang="en-US" altLang="zh-CN" sz="2400" dirty="0"/>
              <a:t>IPCP</a:t>
            </a:r>
            <a:r>
              <a:rPr lang="zh-CN" altLang="en-US" sz="2400" dirty="0"/>
              <a:t>、适用于</a:t>
            </a:r>
            <a:r>
              <a:rPr lang="en-US" altLang="zh-CN" sz="2400" dirty="0"/>
              <a:t>IPX</a:t>
            </a:r>
            <a:r>
              <a:rPr lang="zh-CN" altLang="en-US" sz="2400" dirty="0"/>
              <a:t>的</a:t>
            </a:r>
            <a:r>
              <a:rPr lang="en-US" altLang="zh-CN" sz="2400" dirty="0"/>
              <a:t>IPXCP</a:t>
            </a:r>
            <a:r>
              <a:rPr lang="zh-CN" altLang="en-US" sz="2400" dirty="0"/>
              <a:t>等。</a:t>
            </a:r>
          </a:p>
        </p:txBody>
      </p:sp>
      <p:sp>
        <p:nvSpPr>
          <p:cNvPr id="78336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p:cNvSpPr>
            <a:spLocks noGrp="1" noChangeArrowheads="1"/>
          </p:cNvSpPr>
          <p:nvPr>
            <p:ph type="title"/>
          </p:nvPr>
        </p:nvSpPr>
        <p:spPr/>
        <p:txBody>
          <a:bodyPr/>
          <a:lstStyle/>
          <a:p>
            <a:r>
              <a:rPr lang="en-US" altLang="zh-CN" b="1"/>
              <a:t>PPP</a:t>
            </a:r>
            <a:r>
              <a:rPr lang="zh-CN" altLang="en-US"/>
              <a:t>协议的状态图</a:t>
            </a:r>
          </a:p>
        </p:txBody>
      </p:sp>
      <p:sp>
        <p:nvSpPr>
          <p:cNvPr id="8017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8017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pic>
        <p:nvPicPr>
          <p:cNvPr id="6" name="Picture 2"/>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 xmlns:a14="http://schemas.microsoft.com/office/drawing/2010/main" val="0"/>
              </a:ext>
            </a:extLst>
          </a:blip>
          <a:srcRect t="6508" b="4338"/>
          <a:stretch>
            <a:fillRect/>
          </a:stretch>
        </p:blipFill>
        <p:spPr bwMode="auto">
          <a:xfrm>
            <a:off x="971600" y="1842691"/>
            <a:ext cx="7609184" cy="45365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Rectangle 2"/>
          <p:cNvSpPr>
            <a:spLocks noGrp="1" noChangeArrowheads="1"/>
          </p:cNvSpPr>
          <p:nvPr>
            <p:ph type="title"/>
          </p:nvPr>
        </p:nvSpPr>
        <p:spPr/>
        <p:txBody>
          <a:bodyPr/>
          <a:lstStyle/>
          <a:p>
            <a:r>
              <a:rPr lang="sv-SE" altLang="zh-CN" b="1"/>
              <a:t>PPP</a:t>
            </a:r>
            <a:r>
              <a:rPr lang="zh-CN" altLang="en-US"/>
              <a:t>协议的帧格式</a:t>
            </a:r>
          </a:p>
        </p:txBody>
      </p:sp>
      <p:sp>
        <p:nvSpPr>
          <p:cNvPr id="784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784389" name="Rectangle 5"/>
          <p:cNvSpPr>
            <a:spLocks noGrp="1" noChangeArrowheads="1"/>
          </p:cNvSpPr>
          <p:nvPr>
            <p:ph type="body" idx="1"/>
          </p:nvPr>
        </p:nvSpPr>
        <p:spPr>
          <a:xfrm>
            <a:off x="755650" y="4005263"/>
            <a:ext cx="7993063" cy="2303462"/>
          </a:xfrm>
          <a:noFill/>
          <a:ln/>
        </p:spPr>
        <p:txBody>
          <a:bodyPr/>
          <a:lstStyle/>
          <a:p>
            <a:pPr>
              <a:lnSpc>
                <a:spcPct val="120000"/>
              </a:lnSpc>
            </a:pPr>
            <a:r>
              <a:rPr lang="zh-CN" altLang="en-US" sz="2400" dirty="0">
                <a:solidFill>
                  <a:srgbClr val="FF0000"/>
                </a:solidFill>
              </a:rPr>
              <a:t>标志字段（</a:t>
            </a:r>
            <a:r>
              <a:rPr lang="en-US" altLang="zh-CN" sz="2400" dirty="0">
                <a:solidFill>
                  <a:srgbClr val="FF0000"/>
                </a:solidFill>
              </a:rPr>
              <a:t>F</a:t>
            </a:r>
            <a:r>
              <a:rPr lang="zh-CN" altLang="en-US" sz="2400" dirty="0">
                <a:solidFill>
                  <a:srgbClr val="FF0000"/>
                </a:solidFill>
              </a:rPr>
              <a:t>）</a:t>
            </a:r>
            <a:r>
              <a:rPr lang="zh-CN" altLang="en-US" sz="2400" dirty="0">
                <a:solidFill>
                  <a:schemeClr val="tx1"/>
                </a:solidFill>
              </a:rPr>
              <a:t>：</a:t>
            </a:r>
            <a:r>
              <a:rPr lang="en-US" altLang="zh-CN" sz="2400" dirty="0">
                <a:solidFill>
                  <a:schemeClr val="tx1"/>
                </a:solidFill>
              </a:rPr>
              <a:t>1B</a:t>
            </a:r>
            <a:r>
              <a:rPr lang="zh-CN" altLang="en-US" sz="2400" dirty="0">
                <a:solidFill>
                  <a:schemeClr val="tx1"/>
                </a:solidFill>
              </a:rPr>
              <a:t>（</a:t>
            </a:r>
            <a:r>
              <a:rPr lang="en-US" altLang="zh-CN" sz="2400" dirty="0">
                <a:solidFill>
                  <a:schemeClr val="tx1"/>
                </a:solidFill>
              </a:rPr>
              <a:t>0x7E</a:t>
            </a:r>
            <a:r>
              <a:rPr lang="zh-CN" altLang="en-US" sz="2400" dirty="0">
                <a:solidFill>
                  <a:schemeClr val="tx1"/>
                </a:solidFill>
              </a:rPr>
              <a:t>）</a:t>
            </a:r>
          </a:p>
          <a:p>
            <a:pPr lvl="1">
              <a:lnSpc>
                <a:spcPct val="120000"/>
              </a:lnSpc>
            </a:pPr>
            <a:r>
              <a:rPr lang="zh-CN" altLang="en-US" sz="2000" dirty="0">
                <a:solidFill>
                  <a:schemeClr val="tx1"/>
                </a:solidFill>
              </a:rPr>
              <a:t>标志一帧的开始和结束，为实现数据透明性传输，采用“</a:t>
            </a:r>
            <a:r>
              <a:rPr lang="zh-CN" altLang="en-US" sz="2000" dirty="0">
                <a:solidFill>
                  <a:srgbClr val="0000FF"/>
                </a:solidFill>
              </a:rPr>
              <a:t>字符插入</a:t>
            </a:r>
            <a:r>
              <a:rPr lang="en-US" altLang="zh-CN" sz="2000" dirty="0">
                <a:solidFill>
                  <a:srgbClr val="0000FF"/>
                </a:solidFill>
              </a:rPr>
              <a:t>/</a:t>
            </a:r>
            <a:r>
              <a:rPr lang="zh-CN" altLang="en-US" sz="2000" dirty="0">
                <a:solidFill>
                  <a:srgbClr val="0000FF"/>
                </a:solidFill>
              </a:rPr>
              <a:t>删除</a:t>
            </a:r>
            <a:r>
              <a:rPr lang="zh-CN" altLang="en-US" sz="2000" dirty="0">
                <a:solidFill>
                  <a:schemeClr val="tx1"/>
                </a:solidFill>
              </a:rPr>
              <a:t>”技术。</a:t>
            </a:r>
          </a:p>
          <a:p>
            <a:pPr>
              <a:lnSpc>
                <a:spcPct val="120000"/>
              </a:lnSpc>
            </a:pPr>
            <a:r>
              <a:rPr lang="zh-CN" altLang="en-US" sz="2400" dirty="0">
                <a:solidFill>
                  <a:srgbClr val="FF0000"/>
                </a:solidFill>
              </a:rPr>
              <a:t>地址字段（</a:t>
            </a:r>
            <a:r>
              <a:rPr lang="en-US" altLang="zh-CN" sz="2400" dirty="0">
                <a:solidFill>
                  <a:srgbClr val="FF0000"/>
                </a:solidFill>
              </a:rPr>
              <a:t>A</a:t>
            </a:r>
            <a:r>
              <a:rPr lang="zh-CN" altLang="en-US" sz="2400" dirty="0">
                <a:solidFill>
                  <a:srgbClr val="FF0000"/>
                </a:solidFill>
              </a:rPr>
              <a:t>）</a:t>
            </a:r>
            <a:r>
              <a:rPr lang="zh-CN" altLang="en-US" sz="2400" dirty="0">
                <a:solidFill>
                  <a:schemeClr val="tx1"/>
                </a:solidFill>
              </a:rPr>
              <a:t>：</a:t>
            </a:r>
            <a:r>
              <a:rPr lang="en-US" altLang="zh-CN" sz="2400" dirty="0">
                <a:solidFill>
                  <a:schemeClr val="tx1"/>
                </a:solidFill>
              </a:rPr>
              <a:t>1B</a:t>
            </a:r>
            <a:r>
              <a:rPr lang="zh-CN" altLang="en-US" sz="2400" dirty="0">
                <a:solidFill>
                  <a:schemeClr val="tx1"/>
                </a:solidFill>
              </a:rPr>
              <a:t>（</a:t>
            </a:r>
            <a:r>
              <a:rPr lang="en-US" altLang="zh-CN" sz="2400" dirty="0">
                <a:solidFill>
                  <a:schemeClr val="tx1"/>
                </a:solidFill>
              </a:rPr>
              <a:t>0xFF</a:t>
            </a:r>
            <a:r>
              <a:rPr lang="zh-CN" altLang="en-US" sz="2400" dirty="0">
                <a:solidFill>
                  <a:schemeClr val="tx1"/>
                </a:solidFill>
              </a:rPr>
              <a:t>）</a:t>
            </a:r>
          </a:p>
          <a:p>
            <a:pPr lvl="1">
              <a:lnSpc>
                <a:spcPct val="120000"/>
              </a:lnSpc>
            </a:pPr>
            <a:r>
              <a:rPr lang="zh-CN" altLang="en-US" sz="2000" dirty="0">
                <a:solidFill>
                  <a:schemeClr val="tx1"/>
                </a:solidFill>
              </a:rPr>
              <a:t>广播地址。</a:t>
            </a:r>
          </a:p>
        </p:txBody>
      </p:sp>
      <p:sp>
        <p:nvSpPr>
          <p:cNvPr id="784390" name="Rectangle 6"/>
          <p:cNvSpPr>
            <a:spLocks noChangeArrowheads="1"/>
          </p:cNvSpPr>
          <p:nvPr/>
        </p:nvSpPr>
        <p:spPr bwMode="auto">
          <a:xfrm>
            <a:off x="3960813" y="1731963"/>
            <a:ext cx="2898775" cy="465137"/>
          </a:xfrm>
          <a:prstGeom prst="rect">
            <a:avLst/>
          </a:prstGeom>
          <a:solidFill>
            <a:srgbClr val="FFCCFF"/>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2000">
                <a:latin typeface="华文新魏" pitchFamily="2" charset="-122"/>
                <a:ea typeface="华文新魏" pitchFamily="2" charset="-122"/>
              </a:rPr>
              <a:t>IP </a:t>
            </a:r>
            <a:r>
              <a:rPr lang="zh-CN" altLang="en-US" sz="2000">
                <a:latin typeface="华文新魏" pitchFamily="2" charset="-122"/>
                <a:ea typeface="华文新魏" pitchFamily="2" charset="-122"/>
              </a:rPr>
              <a:t>数据报</a:t>
            </a:r>
          </a:p>
        </p:txBody>
      </p:sp>
      <p:sp>
        <p:nvSpPr>
          <p:cNvPr id="784391" name="Text Box 7"/>
          <p:cNvSpPr txBox="1">
            <a:spLocks noChangeArrowheads="1"/>
          </p:cNvSpPr>
          <p:nvPr/>
        </p:nvSpPr>
        <p:spPr bwMode="auto">
          <a:xfrm>
            <a:off x="1333500"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84392" name="Text Box 8"/>
          <p:cNvSpPr txBox="1">
            <a:spLocks noChangeArrowheads="1"/>
          </p:cNvSpPr>
          <p:nvPr/>
        </p:nvSpPr>
        <p:spPr bwMode="auto">
          <a:xfrm>
            <a:off x="3059832" y="3178175"/>
            <a:ext cx="68961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dirty="0" smtClean="0">
                <a:latin typeface="华文新魏" pitchFamily="2" charset="-122"/>
                <a:ea typeface="华文新魏" pitchFamily="2" charset="-122"/>
              </a:rPr>
              <a:t>1</a:t>
            </a:r>
            <a:r>
              <a:rPr lang="zh-CN" altLang="en-US" sz="2000" dirty="0" smtClean="0">
                <a:latin typeface="华文新魏" pitchFamily="2" charset="-122"/>
                <a:ea typeface="华文新魏" pitchFamily="2" charset="-122"/>
              </a:rPr>
              <a:t>或</a:t>
            </a:r>
            <a:r>
              <a:rPr lang="en-US" altLang="zh-CN" sz="2000" dirty="0" smtClean="0">
                <a:latin typeface="华文新魏" pitchFamily="2" charset="-122"/>
                <a:ea typeface="华文新魏" pitchFamily="2" charset="-122"/>
              </a:rPr>
              <a:t>2</a:t>
            </a:r>
            <a:endParaRPr lang="en-US" altLang="zh-CN" sz="2000" dirty="0">
              <a:latin typeface="华文新魏" pitchFamily="2" charset="-122"/>
              <a:ea typeface="华文新魏" pitchFamily="2" charset="-122"/>
            </a:endParaRPr>
          </a:p>
        </p:txBody>
      </p:sp>
      <p:sp>
        <p:nvSpPr>
          <p:cNvPr id="784393" name="Text Box 9"/>
          <p:cNvSpPr txBox="1">
            <a:spLocks noChangeArrowheads="1"/>
          </p:cNvSpPr>
          <p:nvPr/>
        </p:nvSpPr>
        <p:spPr bwMode="auto">
          <a:xfrm>
            <a:off x="1878013"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84394" name="Text Box 10"/>
          <p:cNvSpPr txBox="1">
            <a:spLocks noChangeArrowheads="1"/>
          </p:cNvSpPr>
          <p:nvPr/>
        </p:nvSpPr>
        <p:spPr bwMode="auto">
          <a:xfrm>
            <a:off x="8126413"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84395" name="Text Box 11"/>
          <p:cNvSpPr txBox="1">
            <a:spLocks noChangeArrowheads="1"/>
          </p:cNvSpPr>
          <p:nvPr/>
        </p:nvSpPr>
        <p:spPr bwMode="auto">
          <a:xfrm>
            <a:off x="649288" y="3143250"/>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字节</a:t>
            </a:r>
          </a:p>
        </p:txBody>
      </p:sp>
      <p:sp>
        <p:nvSpPr>
          <p:cNvPr id="784396" name="Text Box 12"/>
          <p:cNvSpPr txBox="1">
            <a:spLocks noChangeArrowheads="1"/>
          </p:cNvSpPr>
          <p:nvPr/>
        </p:nvSpPr>
        <p:spPr bwMode="auto">
          <a:xfrm>
            <a:off x="2420938"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84398" name="Line 14"/>
          <p:cNvSpPr>
            <a:spLocks noChangeShapeType="1"/>
          </p:cNvSpPr>
          <p:nvPr/>
        </p:nvSpPr>
        <p:spPr bwMode="auto">
          <a:xfrm>
            <a:off x="3960813" y="1719263"/>
            <a:ext cx="17462" cy="923925"/>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399" name="Line 15"/>
          <p:cNvSpPr>
            <a:spLocks noChangeShapeType="1"/>
          </p:cNvSpPr>
          <p:nvPr/>
        </p:nvSpPr>
        <p:spPr bwMode="auto">
          <a:xfrm>
            <a:off x="6859588" y="1719263"/>
            <a:ext cx="0" cy="889000"/>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00" name="Text Box 16"/>
          <p:cNvSpPr txBox="1">
            <a:spLocks noChangeArrowheads="1"/>
          </p:cNvSpPr>
          <p:nvPr/>
        </p:nvSpPr>
        <p:spPr bwMode="auto">
          <a:xfrm>
            <a:off x="4322763" y="3178175"/>
            <a:ext cx="21224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不超过 </a:t>
            </a:r>
            <a:r>
              <a:rPr lang="en-US" altLang="zh-CN" sz="2000">
                <a:latin typeface="华文新魏" pitchFamily="2" charset="-122"/>
                <a:ea typeface="华文新魏" pitchFamily="2" charset="-122"/>
              </a:rPr>
              <a:t>1500 </a:t>
            </a:r>
            <a:r>
              <a:rPr lang="zh-CN" altLang="en-US" sz="2000">
                <a:latin typeface="华文新魏" pitchFamily="2" charset="-122"/>
                <a:ea typeface="华文新魏" pitchFamily="2" charset="-122"/>
              </a:rPr>
              <a:t>字节</a:t>
            </a:r>
          </a:p>
        </p:txBody>
      </p:sp>
      <p:sp>
        <p:nvSpPr>
          <p:cNvPr id="784401" name="Line 17"/>
          <p:cNvSpPr>
            <a:spLocks noChangeShapeType="1"/>
          </p:cNvSpPr>
          <p:nvPr/>
        </p:nvSpPr>
        <p:spPr bwMode="auto">
          <a:xfrm>
            <a:off x="1258888" y="3716338"/>
            <a:ext cx="7335837" cy="0"/>
          </a:xfrm>
          <a:prstGeom prst="line">
            <a:avLst/>
          </a:prstGeom>
          <a:noFill/>
          <a:ln w="28575">
            <a:solidFill>
              <a:srgbClr val="FC0404"/>
            </a:solidFill>
            <a:round/>
            <a:headEnd type="triangle" w="med" len="lg"/>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4402" name="Text Box 18"/>
          <p:cNvSpPr txBox="1">
            <a:spLocks noChangeArrowheads="1"/>
          </p:cNvSpPr>
          <p:nvPr/>
        </p:nvSpPr>
        <p:spPr bwMode="auto">
          <a:xfrm>
            <a:off x="4249738" y="3509963"/>
            <a:ext cx="914400" cy="3968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PPP </a:t>
            </a:r>
            <a:r>
              <a:rPr lang="zh-CN" altLang="en-US" sz="2000">
                <a:latin typeface="华文新魏" pitchFamily="2" charset="-122"/>
                <a:ea typeface="华文新魏" pitchFamily="2" charset="-122"/>
              </a:rPr>
              <a:t>帧</a:t>
            </a:r>
          </a:p>
        </p:txBody>
      </p:sp>
      <p:sp>
        <p:nvSpPr>
          <p:cNvPr id="784403" name="Text Box 19"/>
          <p:cNvSpPr txBox="1">
            <a:spLocks noChangeArrowheads="1"/>
          </p:cNvSpPr>
          <p:nvPr/>
        </p:nvSpPr>
        <p:spPr bwMode="auto">
          <a:xfrm>
            <a:off x="1225550" y="1919288"/>
            <a:ext cx="946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先发送</a:t>
            </a:r>
          </a:p>
        </p:txBody>
      </p:sp>
      <p:sp>
        <p:nvSpPr>
          <p:cNvPr id="784404" name="Rectangle 20"/>
          <p:cNvSpPr>
            <a:spLocks noChangeArrowheads="1"/>
          </p:cNvSpPr>
          <p:nvPr/>
        </p:nvSpPr>
        <p:spPr bwMode="auto">
          <a:xfrm>
            <a:off x="1243013" y="2566988"/>
            <a:ext cx="7335837" cy="566737"/>
          </a:xfrm>
          <a:prstGeom prst="rect">
            <a:avLst/>
          </a:prstGeom>
          <a:solidFill>
            <a:srgbClr val="FFFFCC"/>
          </a:solidFill>
          <a:ln w="28575">
            <a:solidFill>
              <a:schemeClr val="tx1"/>
            </a:solidFill>
            <a:miter lim="800000"/>
            <a:headEnd/>
            <a:tailEnd/>
          </a:ln>
          <a:effectLst>
            <a:outerShdw dist="107763" dir="2700000" algn="ctr" rotWithShape="0">
              <a:srgbClr val="00002E">
                <a:alpha val="50000"/>
              </a:srgbClr>
            </a:outerShdw>
          </a:effectLst>
        </p:spPr>
        <p:txBody>
          <a:bodyPr wrap="none" anchor="ctr"/>
          <a:lstStyle/>
          <a:p>
            <a:pPr algn="ctr">
              <a:spcBef>
                <a:spcPct val="0"/>
              </a:spcBef>
              <a:buClrTx/>
              <a:buFontTx/>
              <a:buNone/>
            </a:pPr>
            <a:endParaRPr lang="zh-CN" altLang="en-US" sz="2000">
              <a:latin typeface="华文新魏" pitchFamily="2" charset="-122"/>
              <a:ea typeface="华文新魏" pitchFamily="2" charset="-122"/>
            </a:endParaRPr>
          </a:p>
        </p:txBody>
      </p:sp>
      <p:sp>
        <p:nvSpPr>
          <p:cNvPr id="784405" name="Line 21"/>
          <p:cNvSpPr>
            <a:spLocks noChangeShapeType="1"/>
          </p:cNvSpPr>
          <p:nvPr/>
        </p:nvSpPr>
        <p:spPr bwMode="auto">
          <a:xfrm>
            <a:off x="1787525" y="2566988"/>
            <a:ext cx="0" cy="56673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06" name="Line 22"/>
          <p:cNvSpPr>
            <a:spLocks noChangeShapeType="1"/>
          </p:cNvSpPr>
          <p:nvPr/>
        </p:nvSpPr>
        <p:spPr bwMode="auto">
          <a:xfrm>
            <a:off x="7945438"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07" name="Text Box 23"/>
          <p:cNvSpPr txBox="1">
            <a:spLocks noChangeArrowheads="1"/>
          </p:cNvSpPr>
          <p:nvPr/>
        </p:nvSpPr>
        <p:spPr bwMode="auto">
          <a:xfrm>
            <a:off x="1239838" y="2781300"/>
            <a:ext cx="4587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7E</a:t>
            </a:r>
          </a:p>
        </p:txBody>
      </p:sp>
      <p:sp>
        <p:nvSpPr>
          <p:cNvPr id="784408" name="Line 24"/>
          <p:cNvSpPr>
            <a:spLocks noChangeShapeType="1"/>
          </p:cNvSpPr>
          <p:nvPr/>
        </p:nvSpPr>
        <p:spPr bwMode="auto">
          <a:xfrm>
            <a:off x="2330450"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09" name="Line 25"/>
          <p:cNvSpPr>
            <a:spLocks noChangeShapeType="1"/>
          </p:cNvSpPr>
          <p:nvPr/>
        </p:nvSpPr>
        <p:spPr bwMode="auto">
          <a:xfrm>
            <a:off x="2873375" y="2566988"/>
            <a:ext cx="0" cy="56673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10" name="Text Box 26"/>
          <p:cNvSpPr txBox="1">
            <a:spLocks noChangeArrowheads="1"/>
          </p:cNvSpPr>
          <p:nvPr/>
        </p:nvSpPr>
        <p:spPr bwMode="auto">
          <a:xfrm>
            <a:off x="1782763" y="2781300"/>
            <a:ext cx="4508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FF</a:t>
            </a:r>
          </a:p>
        </p:txBody>
      </p:sp>
      <p:sp>
        <p:nvSpPr>
          <p:cNvPr id="784411" name="Text Box 27"/>
          <p:cNvSpPr txBox="1">
            <a:spLocks noChangeArrowheads="1"/>
          </p:cNvSpPr>
          <p:nvPr/>
        </p:nvSpPr>
        <p:spPr bwMode="auto">
          <a:xfrm>
            <a:off x="2319338" y="2781300"/>
            <a:ext cx="47783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03</a:t>
            </a:r>
          </a:p>
        </p:txBody>
      </p:sp>
      <p:sp>
        <p:nvSpPr>
          <p:cNvPr id="784412" name="Text Box 28"/>
          <p:cNvSpPr txBox="1">
            <a:spLocks noChangeArrowheads="1"/>
          </p:cNvSpPr>
          <p:nvPr/>
        </p:nvSpPr>
        <p:spPr bwMode="auto">
          <a:xfrm>
            <a:off x="1316038" y="2544763"/>
            <a:ext cx="3175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a:t>
            </a:r>
          </a:p>
        </p:txBody>
      </p:sp>
      <p:sp>
        <p:nvSpPr>
          <p:cNvPr id="784413" name="Text Box 29"/>
          <p:cNvSpPr txBox="1">
            <a:spLocks noChangeArrowheads="1"/>
          </p:cNvSpPr>
          <p:nvPr/>
        </p:nvSpPr>
        <p:spPr bwMode="auto">
          <a:xfrm>
            <a:off x="1824038" y="2543175"/>
            <a:ext cx="3540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A</a:t>
            </a:r>
          </a:p>
        </p:txBody>
      </p:sp>
      <p:sp>
        <p:nvSpPr>
          <p:cNvPr id="784414" name="Text Box 30"/>
          <p:cNvSpPr txBox="1">
            <a:spLocks noChangeArrowheads="1"/>
          </p:cNvSpPr>
          <p:nvPr/>
        </p:nvSpPr>
        <p:spPr bwMode="auto">
          <a:xfrm>
            <a:off x="2333625" y="2544763"/>
            <a:ext cx="35083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C</a:t>
            </a:r>
          </a:p>
        </p:txBody>
      </p:sp>
      <p:sp>
        <p:nvSpPr>
          <p:cNvPr id="784415" name="Text Box 31"/>
          <p:cNvSpPr txBox="1">
            <a:spLocks noChangeArrowheads="1"/>
          </p:cNvSpPr>
          <p:nvPr/>
        </p:nvSpPr>
        <p:spPr bwMode="auto">
          <a:xfrm>
            <a:off x="7059613" y="2643188"/>
            <a:ext cx="5937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FCS</a:t>
            </a:r>
          </a:p>
        </p:txBody>
      </p:sp>
      <p:sp>
        <p:nvSpPr>
          <p:cNvPr id="784416" name="Text Box 32"/>
          <p:cNvSpPr txBox="1">
            <a:spLocks noChangeArrowheads="1"/>
          </p:cNvSpPr>
          <p:nvPr/>
        </p:nvSpPr>
        <p:spPr bwMode="auto">
          <a:xfrm>
            <a:off x="8062913" y="2565400"/>
            <a:ext cx="3175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a:t>
            </a:r>
          </a:p>
        </p:txBody>
      </p:sp>
      <p:sp>
        <p:nvSpPr>
          <p:cNvPr id="784417" name="Text Box 33"/>
          <p:cNvSpPr txBox="1">
            <a:spLocks noChangeArrowheads="1"/>
          </p:cNvSpPr>
          <p:nvPr/>
        </p:nvSpPr>
        <p:spPr bwMode="auto">
          <a:xfrm>
            <a:off x="8002588" y="2781300"/>
            <a:ext cx="4587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7E</a:t>
            </a:r>
          </a:p>
        </p:txBody>
      </p:sp>
      <p:sp>
        <p:nvSpPr>
          <p:cNvPr id="784418" name="Rectangle 34"/>
          <p:cNvSpPr>
            <a:spLocks noChangeArrowheads="1"/>
          </p:cNvSpPr>
          <p:nvPr/>
        </p:nvSpPr>
        <p:spPr bwMode="auto">
          <a:xfrm>
            <a:off x="3960813" y="2593975"/>
            <a:ext cx="2898775" cy="519113"/>
          </a:xfrm>
          <a:prstGeom prst="rect">
            <a:avLst/>
          </a:prstGeom>
          <a:solidFill>
            <a:srgbClr val="FFCC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19" name="Text Box 35"/>
          <p:cNvSpPr txBox="1">
            <a:spLocks noChangeArrowheads="1"/>
          </p:cNvSpPr>
          <p:nvPr/>
        </p:nvSpPr>
        <p:spPr bwMode="auto">
          <a:xfrm>
            <a:off x="3021013" y="2644775"/>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协议</a:t>
            </a:r>
          </a:p>
        </p:txBody>
      </p:sp>
      <p:sp>
        <p:nvSpPr>
          <p:cNvPr id="784420" name="Text Box 36"/>
          <p:cNvSpPr txBox="1">
            <a:spLocks noChangeArrowheads="1"/>
          </p:cNvSpPr>
          <p:nvPr/>
        </p:nvSpPr>
        <p:spPr bwMode="auto">
          <a:xfrm>
            <a:off x="4322763" y="2651125"/>
            <a:ext cx="19431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信    息    部    分</a:t>
            </a:r>
          </a:p>
        </p:txBody>
      </p:sp>
      <p:sp>
        <p:nvSpPr>
          <p:cNvPr id="784421" name="AutoShape 37"/>
          <p:cNvSpPr>
            <a:spLocks/>
          </p:cNvSpPr>
          <p:nvPr/>
        </p:nvSpPr>
        <p:spPr bwMode="auto">
          <a:xfrm rot="5400000">
            <a:off x="2513806" y="1119982"/>
            <a:ext cx="176213" cy="2717800"/>
          </a:xfrm>
          <a:prstGeom prst="leftBrace">
            <a:avLst>
              <a:gd name="adj1" fmla="val 128528"/>
              <a:gd name="adj2" fmla="val 50069"/>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22" name="AutoShape 38"/>
          <p:cNvSpPr>
            <a:spLocks/>
          </p:cNvSpPr>
          <p:nvPr/>
        </p:nvSpPr>
        <p:spPr bwMode="auto">
          <a:xfrm rot="5400000">
            <a:off x="7638256" y="1626395"/>
            <a:ext cx="161925" cy="1719262"/>
          </a:xfrm>
          <a:prstGeom prst="leftBrace">
            <a:avLst>
              <a:gd name="adj1" fmla="val 88480"/>
              <a:gd name="adj2" fmla="val 50000"/>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23" name="Text Box 39"/>
          <p:cNvSpPr txBox="1">
            <a:spLocks noChangeArrowheads="1"/>
          </p:cNvSpPr>
          <p:nvPr/>
        </p:nvSpPr>
        <p:spPr bwMode="auto">
          <a:xfrm>
            <a:off x="2239963" y="2090738"/>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首部</a:t>
            </a:r>
          </a:p>
        </p:txBody>
      </p:sp>
      <p:sp>
        <p:nvSpPr>
          <p:cNvPr id="784424" name="Text Box 40"/>
          <p:cNvSpPr txBox="1">
            <a:spLocks noChangeArrowheads="1"/>
          </p:cNvSpPr>
          <p:nvPr/>
        </p:nvSpPr>
        <p:spPr bwMode="auto">
          <a:xfrm>
            <a:off x="7364413" y="2090738"/>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尾部</a:t>
            </a:r>
          </a:p>
        </p:txBody>
      </p:sp>
      <p:sp>
        <p:nvSpPr>
          <p:cNvPr id="784425" name="Line 41"/>
          <p:cNvSpPr>
            <a:spLocks noChangeShapeType="1"/>
          </p:cNvSpPr>
          <p:nvPr/>
        </p:nvSpPr>
        <p:spPr bwMode="auto">
          <a:xfrm>
            <a:off x="1243013" y="1998663"/>
            <a:ext cx="0" cy="485775"/>
          </a:xfrm>
          <a:prstGeom prst="line">
            <a:avLst/>
          </a:prstGeom>
          <a:noFill/>
          <a:ln w="28575">
            <a:solidFill>
              <a:srgbClr val="FC0404"/>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4426" name="Line 42"/>
          <p:cNvSpPr>
            <a:spLocks noChangeShapeType="1"/>
          </p:cNvSpPr>
          <p:nvPr/>
        </p:nvSpPr>
        <p:spPr bwMode="auto">
          <a:xfrm>
            <a:off x="6859588" y="2538413"/>
            <a:ext cx="0" cy="59531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27" name="Line 43"/>
          <p:cNvSpPr>
            <a:spLocks noChangeShapeType="1"/>
          </p:cNvSpPr>
          <p:nvPr/>
        </p:nvSpPr>
        <p:spPr bwMode="auto">
          <a:xfrm>
            <a:off x="3960813"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4428" name="AutoShape 44"/>
          <p:cNvSpPr>
            <a:spLocks noChangeArrowheads="1"/>
          </p:cNvSpPr>
          <p:nvPr/>
        </p:nvSpPr>
        <p:spPr bwMode="auto">
          <a:xfrm>
            <a:off x="5229225" y="2135188"/>
            <a:ext cx="271463" cy="566737"/>
          </a:xfrm>
          <a:prstGeom prst="downArrow">
            <a:avLst>
              <a:gd name="adj1" fmla="val 50000"/>
              <a:gd name="adj2" fmla="val 78289"/>
            </a:avLst>
          </a:prstGeom>
          <a:solidFill>
            <a:schemeClr val="accent1"/>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84429" name="Text Box 4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45" name="Text Box 12"/>
          <p:cNvSpPr txBox="1">
            <a:spLocks noChangeArrowheads="1"/>
          </p:cNvSpPr>
          <p:nvPr/>
        </p:nvSpPr>
        <p:spPr bwMode="auto">
          <a:xfrm>
            <a:off x="7092280" y="3178175"/>
            <a:ext cx="732893"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dirty="0" smtClean="0">
                <a:latin typeface="华文新魏" pitchFamily="2" charset="-122"/>
                <a:ea typeface="华文新魏" pitchFamily="2" charset="-122"/>
              </a:rPr>
              <a:t>2</a:t>
            </a:r>
            <a:r>
              <a:rPr lang="zh-CN" altLang="en-US" sz="2000" dirty="0" smtClean="0">
                <a:latin typeface="华文新魏" pitchFamily="2" charset="-122"/>
                <a:ea typeface="华文新魏" pitchFamily="2" charset="-122"/>
              </a:rPr>
              <a:t>或</a:t>
            </a:r>
            <a:r>
              <a:rPr lang="en-US" altLang="zh-CN" sz="2000" dirty="0" smtClean="0">
                <a:latin typeface="华文新魏" pitchFamily="2" charset="-122"/>
                <a:ea typeface="华文新魏" pitchFamily="2" charset="-122"/>
              </a:rPr>
              <a:t>4</a:t>
            </a:r>
            <a:endParaRPr lang="en-US" altLang="zh-CN" sz="2000" dirty="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Rectangle 2"/>
          <p:cNvSpPr>
            <a:spLocks noGrp="1" noChangeArrowheads="1"/>
          </p:cNvSpPr>
          <p:nvPr>
            <p:ph type="title"/>
          </p:nvPr>
        </p:nvSpPr>
        <p:spPr/>
        <p:txBody>
          <a:bodyPr/>
          <a:lstStyle/>
          <a:p>
            <a:r>
              <a:rPr lang="sv-SE" altLang="zh-CN" b="1"/>
              <a:t>PPP</a:t>
            </a:r>
            <a:r>
              <a:rPr lang="zh-CN" altLang="en-US"/>
              <a:t>协议的帧格式</a:t>
            </a:r>
          </a:p>
        </p:txBody>
      </p:sp>
      <p:sp>
        <p:nvSpPr>
          <p:cNvPr id="7925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792580" name="Rectangle 4"/>
          <p:cNvSpPr>
            <a:spLocks noGrp="1" noChangeArrowheads="1"/>
          </p:cNvSpPr>
          <p:nvPr>
            <p:ph type="body" idx="1"/>
          </p:nvPr>
        </p:nvSpPr>
        <p:spPr>
          <a:xfrm>
            <a:off x="755650" y="4005263"/>
            <a:ext cx="7993063" cy="2303462"/>
          </a:xfrm>
          <a:noFill/>
          <a:ln/>
        </p:spPr>
        <p:txBody>
          <a:bodyPr/>
          <a:lstStyle/>
          <a:p>
            <a:pPr>
              <a:lnSpc>
                <a:spcPct val="110000"/>
              </a:lnSpc>
            </a:pPr>
            <a:r>
              <a:rPr lang="zh-CN" altLang="en-US" sz="2400" dirty="0">
                <a:solidFill>
                  <a:srgbClr val="FC0404"/>
                </a:solidFill>
              </a:rPr>
              <a:t>控制字段（</a:t>
            </a:r>
            <a:r>
              <a:rPr lang="en-US" altLang="zh-CN" sz="2400" dirty="0">
                <a:solidFill>
                  <a:srgbClr val="FC0404"/>
                </a:solidFill>
              </a:rPr>
              <a:t>C</a:t>
            </a:r>
            <a:r>
              <a:rPr lang="zh-CN" altLang="en-US" sz="2400" dirty="0">
                <a:solidFill>
                  <a:srgbClr val="FC0404"/>
                </a:solidFill>
              </a:rPr>
              <a:t>）</a:t>
            </a:r>
            <a:r>
              <a:rPr lang="zh-CN" altLang="en-US" sz="2400" dirty="0">
                <a:solidFill>
                  <a:schemeClr val="tx1"/>
                </a:solidFill>
              </a:rPr>
              <a:t>：</a:t>
            </a:r>
            <a:r>
              <a:rPr lang="en-US" altLang="zh-CN" sz="2400" dirty="0">
                <a:solidFill>
                  <a:schemeClr val="tx1"/>
                </a:solidFill>
              </a:rPr>
              <a:t>1B</a:t>
            </a:r>
          </a:p>
          <a:p>
            <a:pPr lvl="1">
              <a:lnSpc>
                <a:spcPct val="110000"/>
              </a:lnSpc>
            </a:pPr>
            <a:r>
              <a:rPr lang="zh-CN" altLang="en-US" sz="2000" dirty="0"/>
              <a:t>缺省为</a:t>
            </a:r>
            <a:r>
              <a:rPr lang="en-US" altLang="zh-CN" sz="2000" dirty="0"/>
              <a:t>0x03</a:t>
            </a:r>
            <a:r>
              <a:rPr lang="zh-CN" altLang="en-US" sz="2000" dirty="0"/>
              <a:t>，表示采用无序帧方式进行传输（没有序列号和确认）。</a:t>
            </a:r>
          </a:p>
          <a:p>
            <a:pPr>
              <a:lnSpc>
                <a:spcPct val="110000"/>
              </a:lnSpc>
              <a:buFont typeface="Wingdings" pitchFamily="2" charset="2"/>
              <a:buNone/>
            </a:pPr>
            <a:r>
              <a:rPr lang="en-US" altLang="zh-CN" sz="2400" dirty="0">
                <a:solidFill>
                  <a:srgbClr val="FC0404"/>
                </a:solidFill>
              </a:rPr>
              <a:t>    【</a:t>
            </a:r>
            <a:r>
              <a:rPr lang="zh-CN" altLang="en-US" sz="2400" dirty="0">
                <a:solidFill>
                  <a:srgbClr val="FC0404"/>
                </a:solidFill>
              </a:rPr>
              <a:t>注意</a:t>
            </a:r>
            <a:r>
              <a:rPr lang="en-US" altLang="zh-CN" sz="2400" dirty="0">
                <a:solidFill>
                  <a:srgbClr val="FC0404"/>
                </a:solidFill>
              </a:rPr>
              <a:t>】</a:t>
            </a:r>
          </a:p>
          <a:p>
            <a:pPr>
              <a:lnSpc>
                <a:spcPct val="110000"/>
              </a:lnSpc>
              <a:buFont typeface="Wingdings" pitchFamily="2" charset="2"/>
              <a:buNone/>
            </a:pPr>
            <a:r>
              <a:rPr lang="en-US" altLang="zh-CN" sz="2400" dirty="0"/>
              <a:t>      A</a:t>
            </a:r>
            <a:r>
              <a:rPr lang="zh-CN" altLang="en-US" sz="2400" dirty="0"/>
              <a:t>、</a:t>
            </a:r>
            <a:r>
              <a:rPr lang="en-US" altLang="zh-CN" sz="2400" dirty="0"/>
              <a:t>C</a:t>
            </a:r>
            <a:r>
              <a:rPr lang="zh-CN" altLang="en-US" sz="2400" dirty="0"/>
              <a:t>字段经</a:t>
            </a:r>
            <a:r>
              <a:rPr lang="en-US" altLang="zh-CN" sz="2400" dirty="0"/>
              <a:t>LCP</a:t>
            </a:r>
            <a:r>
              <a:rPr lang="zh-CN" altLang="en-US" sz="2400" dirty="0"/>
              <a:t>协商可以去掉以实现头压缩。</a:t>
            </a:r>
          </a:p>
        </p:txBody>
      </p:sp>
      <p:sp>
        <p:nvSpPr>
          <p:cNvPr id="792581" name="Rectangle 5"/>
          <p:cNvSpPr>
            <a:spLocks noChangeArrowheads="1"/>
          </p:cNvSpPr>
          <p:nvPr/>
        </p:nvSpPr>
        <p:spPr bwMode="auto">
          <a:xfrm>
            <a:off x="3960813" y="1731963"/>
            <a:ext cx="2898775" cy="465137"/>
          </a:xfrm>
          <a:prstGeom prst="rect">
            <a:avLst/>
          </a:prstGeom>
          <a:solidFill>
            <a:srgbClr val="FFCCFF"/>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2000">
                <a:latin typeface="华文新魏" pitchFamily="2" charset="-122"/>
                <a:ea typeface="华文新魏" pitchFamily="2" charset="-122"/>
              </a:rPr>
              <a:t>IP </a:t>
            </a:r>
            <a:r>
              <a:rPr lang="zh-CN" altLang="en-US" sz="2000">
                <a:latin typeface="华文新魏" pitchFamily="2" charset="-122"/>
                <a:ea typeface="华文新魏" pitchFamily="2" charset="-122"/>
              </a:rPr>
              <a:t>数据报</a:t>
            </a:r>
          </a:p>
        </p:txBody>
      </p:sp>
      <p:sp>
        <p:nvSpPr>
          <p:cNvPr id="792582" name="Text Box 6"/>
          <p:cNvSpPr txBox="1">
            <a:spLocks noChangeArrowheads="1"/>
          </p:cNvSpPr>
          <p:nvPr/>
        </p:nvSpPr>
        <p:spPr bwMode="auto">
          <a:xfrm>
            <a:off x="1333500"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2584" name="Text Box 8"/>
          <p:cNvSpPr txBox="1">
            <a:spLocks noChangeArrowheads="1"/>
          </p:cNvSpPr>
          <p:nvPr/>
        </p:nvSpPr>
        <p:spPr bwMode="auto">
          <a:xfrm>
            <a:off x="1878013"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2585" name="Text Box 9"/>
          <p:cNvSpPr txBox="1">
            <a:spLocks noChangeArrowheads="1"/>
          </p:cNvSpPr>
          <p:nvPr/>
        </p:nvSpPr>
        <p:spPr bwMode="auto">
          <a:xfrm>
            <a:off x="8126413"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2586" name="Text Box 10"/>
          <p:cNvSpPr txBox="1">
            <a:spLocks noChangeArrowheads="1"/>
          </p:cNvSpPr>
          <p:nvPr/>
        </p:nvSpPr>
        <p:spPr bwMode="auto">
          <a:xfrm>
            <a:off x="649288" y="3143250"/>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字节</a:t>
            </a:r>
          </a:p>
        </p:txBody>
      </p:sp>
      <p:sp>
        <p:nvSpPr>
          <p:cNvPr id="792587" name="Text Box 11"/>
          <p:cNvSpPr txBox="1">
            <a:spLocks noChangeArrowheads="1"/>
          </p:cNvSpPr>
          <p:nvPr/>
        </p:nvSpPr>
        <p:spPr bwMode="auto">
          <a:xfrm>
            <a:off x="2420938"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2589" name="Line 13"/>
          <p:cNvSpPr>
            <a:spLocks noChangeShapeType="1"/>
          </p:cNvSpPr>
          <p:nvPr/>
        </p:nvSpPr>
        <p:spPr bwMode="auto">
          <a:xfrm>
            <a:off x="3960813" y="1719263"/>
            <a:ext cx="17462" cy="923925"/>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590" name="Line 14"/>
          <p:cNvSpPr>
            <a:spLocks noChangeShapeType="1"/>
          </p:cNvSpPr>
          <p:nvPr/>
        </p:nvSpPr>
        <p:spPr bwMode="auto">
          <a:xfrm>
            <a:off x="6859588" y="1719263"/>
            <a:ext cx="0" cy="889000"/>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591" name="Text Box 15"/>
          <p:cNvSpPr txBox="1">
            <a:spLocks noChangeArrowheads="1"/>
          </p:cNvSpPr>
          <p:nvPr/>
        </p:nvSpPr>
        <p:spPr bwMode="auto">
          <a:xfrm>
            <a:off x="4322763" y="3178175"/>
            <a:ext cx="21224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不超过 </a:t>
            </a:r>
            <a:r>
              <a:rPr lang="en-US" altLang="zh-CN" sz="2000">
                <a:latin typeface="华文新魏" pitchFamily="2" charset="-122"/>
                <a:ea typeface="华文新魏" pitchFamily="2" charset="-122"/>
              </a:rPr>
              <a:t>1500 </a:t>
            </a:r>
            <a:r>
              <a:rPr lang="zh-CN" altLang="en-US" sz="2000">
                <a:latin typeface="华文新魏" pitchFamily="2" charset="-122"/>
                <a:ea typeface="华文新魏" pitchFamily="2" charset="-122"/>
              </a:rPr>
              <a:t>字节</a:t>
            </a:r>
          </a:p>
        </p:txBody>
      </p:sp>
      <p:sp>
        <p:nvSpPr>
          <p:cNvPr id="792592" name="Line 16"/>
          <p:cNvSpPr>
            <a:spLocks noChangeShapeType="1"/>
          </p:cNvSpPr>
          <p:nvPr/>
        </p:nvSpPr>
        <p:spPr bwMode="auto">
          <a:xfrm>
            <a:off x="1258888" y="3716338"/>
            <a:ext cx="7335837" cy="0"/>
          </a:xfrm>
          <a:prstGeom prst="line">
            <a:avLst/>
          </a:prstGeom>
          <a:noFill/>
          <a:ln w="28575">
            <a:solidFill>
              <a:srgbClr val="FC0404"/>
            </a:solidFill>
            <a:round/>
            <a:headEnd type="triangle" w="med" len="lg"/>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2593" name="Text Box 17"/>
          <p:cNvSpPr txBox="1">
            <a:spLocks noChangeArrowheads="1"/>
          </p:cNvSpPr>
          <p:nvPr/>
        </p:nvSpPr>
        <p:spPr bwMode="auto">
          <a:xfrm>
            <a:off x="4249738" y="3509963"/>
            <a:ext cx="914400" cy="3968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PPP </a:t>
            </a:r>
            <a:r>
              <a:rPr lang="zh-CN" altLang="en-US" sz="2000">
                <a:latin typeface="华文新魏" pitchFamily="2" charset="-122"/>
                <a:ea typeface="华文新魏" pitchFamily="2" charset="-122"/>
              </a:rPr>
              <a:t>帧</a:t>
            </a:r>
          </a:p>
        </p:txBody>
      </p:sp>
      <p:sp>
        <p:nvSpPr>
          <p:cNvPr id="792594" name="Text Box 18"/>
          <p:cNvSpPr txBox="1">
            <a:spLocks noChangeArrowheads="1"/>
          </p:cNvSpPr>
          <p:nvPr/>
        </p:nvSpPr>
        <p:spPr bwMode="auto">
          <a:xfrm>
            <a:off x="1225550" y="1919288"/>
            <a:ext cx="946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先发送</a:t>
            </a:r>
          </a:p>
        </p:txBody>
      </p:sp>
      <p:sp>
        <p:nvSpPr>
          <p:cNvPr id="792595" name="Rectangle 19"/>
          <p:cNvSpPr>
            <a:spLocks noChangeArrowheads="1"/>
          </p:cNvSpPr>
          <p:nvPr/>
        </p:nvSpPr>
        <p:spPr bwMode="auto">
          <a:xfrm>
            <a:off x="1243013" y="2566988"/>
            <a:ext cx="7335837" cy="566737"/>
          </a:xfrm>
          <a:prstGeom prst="rect">
            <a:avLst/>
          </a:prstGeom>
          <a:solidFill>
            <a:srgbClr val="FFFFCC"/>
          </a:solidFill>
          <a:ln w="28575">
            <a:solidFill>
              <a:schemeClr val="tx1"/>
            </a:solidFill>
            <a:miter lim="800000"/>
            <a:headEnd/>
            <a:tailEnd/>
          </a:ln>
          <a:effectLst>
            <a:outerShdw dist="107763" dir="2700000" algn="ctr" rotWithShape="0">
              <a:srgbClr val="00002E">
                <a:alpha val="50000"/>
              </a:srgbClr>
            </a:outerShdw>
          </a:effectLst>
        </p:spPr>
        <p:txBody>
          <a:bodyPr wrap="none" anchor="ctr"/>
          <a:lstStyle/>
          <a:p>
            <a:pPr algn="ctr">
              <a:spcBef>
                <a:spcPct val="0"/>
              </a:spcBef>
              <a:buClrTx/>
              <a:buFontTx/>
              <a:buNone/>
            </a:pPr>
            <a:endParaRPr lang="zh-CN" altLang="en-US" sz="2000">
              <a:latin typeface="华文新魏" pitchFamily="2" charset="-122"/>
              <a:ea typeface="华文新魏" pitchFamily="2" charset="-122"/>
            </a:endParaRPr>
          </a:p>
        </p:txBody>
      </p:sp>
      <p:sp>
        <p:nvSpPr>
          <p:cNvPr id="792596" name="Line 20"/>
          <p:cNvSpPr>
            <a:spLocks noChangeShapeType="1"/>
          </p:cNvSpPr>
          <p:nvPr/>
        </p:nvSpPr>
        <p:spPr bwMode="auto">
          <a:xfrm>
            <a:off x="1787525" y="2566988"/>
            <a:ext cx="0" cy="56673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597" name="Line 21"/>
          <p:cNvSpPr>
            <a:spLocks noChangeShapeType="1"/>
          </p:cNvSpPr>
          <p:nvPr/>
        </p:nvSpPr>
        <p:spPr bwMode="auto">
          <a:xfrm>
            <a:off x="7945438"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598" name="Text Box 22"/>
          <p:cNvSpPr txBox="1">
            <a:spLocks noChangeArrowheads="1"/>
          </p:cNvSpPr>
          <p:nvPr/>
        </p:nvSpPr>
        <p:spPr bwMode="auto">
          <a:xfrm>
            <a:off x="1239838" y="2781300"/>
            <a:ext cx="4587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7E</a:t>
            </a:r>
          </a:p>
        </p:txBody>
      </p:sp>
      <p:sp>
        <p:nvSpPr>
          <p:cNvPr id="792599" name="Line 23"/>
          <p:cNvSpPr>
            <a:spLocks noChangeShapeType="1"/>
          </p:cNvSpPr>
          <p:nvPr/>
        </p:nvSpPr>
        <p:spPr bwMode="auto">
          <a:xfrm>
            <a:off x="2330450"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600" name="Line 24"/>
          <p:cNvSpPr>
            <a:spLocks noChangeShapeType="1"/>
          </p:cNvSpPr>
          <p:nvPr/>
        </p:nvSpPr>
        <p:spPr bwMode="auto">
          <a:xfrm>
            <a:off x="2873375" y="2566988"/>
            <a:ext cx="0" cy="56673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601" name="Text Box 25"/>
          <p:cNvSpPr txBox="1">
            <a:spLocks noChangeArrowheads="1"/>
          </p:cNvSpPr>
          <p:nvPr/>
        </p:nvSpPr>
        <p:spPr bwMode="auto">
          <a:xfrm>
            <a:off x="1782763" y="2781300"/>
            <a:ext cx="4508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FF</a:t>
            </a:r>
          </a:p>
        </p:txBody>
      </p:sp>
      <p:sp>
        <p:nvSpPr>
          <p:cNvPr id="792602" name="Text Box 26"/>
          <p:cNvSpPr txBox="1">
            <a:spLocks noChangeArrowheads="1"/>
          </p:cNvSpPr>
          <p:nvPr/>
        </p:nvSpPr>
        <p:spPr bwMode="auto">
          <a:xfrm>
            <a:off x="2319338" y="2781300"/>
            <a:ext cx="47783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03</a:t>
            </a:r>
          </a:p>
        </p:txBody>
      </p:sp>
      <p:sp>
        <p:nvSpPr>
          <p:cNvPr id="792603" name="Text Box 27"/>
          <p:cNvSpPr txBox="1">
            <a:spLocks noChangeArrowheads="1"/>
          </p:cNvSpPr>
          <p:nvPr/>
        </p:nvSpPr>
        <p:spPr bwMode="auto">
          <a:xfrm>
            <a:off x="1316038" y="2544763"/>
            <a:ext cx="3175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a:t>
            </a:r>
          </a:p>
        </p:txBody>
      </p:sp>
      <p:sp>
        <p:nvSpPr>
          <p:cNvPr id="792604" name="Text Box 28"/>
          <p:cNvSpPr txBox="1">
            <a:spLocks noChangeArrowheads="1"/>
          </p:cNvSpPr>
          <p:nvPr/>
        </p:nvSpPr>
        <p:spPr bwMode="auto">
          <a:xfrm>
            <a:off x="1824038" y="2543175"/>
            <a:ext cx="3540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A</a:t>
            </a:r>
          </a:p>
        </p:txBody>
      </p:sp>
      <p:sp>
        <p:nvSpPr>
          <p:cNvPr id="792605" name="Text Box 29"/>
          <p:cNvSpPr txBox="1">
            <a:spLocks noChangeArrowheads="1"/>
          </p:cNvSpPr>
          <p:nvPr/>
        </p:nvSpPr>
        <p:spPr bwMode="auto">
          <a:xfrm>
            <a:off x="2333625" y="2544763"/>
            <a:ext cx="35083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C</a:t>
            </a:r>
          </a:p>
        </p:txBody>
      </p:sp>
      <p:sp>
        <p:nvSpPr>
          <p:cNvPr id="792606" name="Text Box 30"/>
          <p:cNvSpPr txBox="1">
            <a:spLocks noChangeArrowheads="1"/>
          </p:cNvSpPr>
          <p:nvPr/>
        </p:nvSpPr>
        <p:spPr bwMode="auto">
          <a:xfrm>
            <a:off x="7059613" y="2643188"/>
            <a:ext cx="5937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FCS</a:t>
            </a:r>
          </a:p>
        </p:txBody>
      </p:sp>
      <p:sp>
        <p:nvSpPr>
          <p:cNvPr id="792607" name="Text Box 31"/>
          <p:cNvSpPr txBox="1">
            <a:spLocks noChangeArrowheads="1"/>
          </p:cNvSpPr>
          <p:nvPr/>
        </p:nvSpPr>
        <p:spPr bwMode="auto">
          <a:xfrm>
            <a:off x="8062913" y="2565400"/>
            <a:ext cx="3175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a:t>
            </a:r>
          </a:p>
        </p:txBody>
      </p:sp>
      <p:sp>
        <p:nvSpPr>
          <p:cNvPr id="792608" name="Text Box 32"/>
          <p:cNvSpPr txBox="1">
            <a:spLocks noChangeArrowheads="1"/>
          </p:cNvSpPr>
          <p:nvPr/>
        </p:nvSpPr>
        <p:spPr bwMode="auto">
          <a:xfrm>
            <a:off x="8002588" y="2781300"/>
            <a:ext cx="4587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7E</a:t>
            </a:r>
          </a:p>
        </p:txBody>
      </p:sp>
      <p:sp>
        <p:nvSpPr>
          <p:cNvPr id="792609" name="Rectangle 33"/>
          <p:cNvSpPr>
            <a:spLocks noChangeArrowheads="1"/>
          </p:cNvSpPr>
          <p:nvPr/>
        </p:nvSpPr>
        <p:spPr bwMode="auto">
          <a:xfrm>
            <a:off x="3960813" y="2593975"/>
            <a:ext cx="2898775" cy="519113"/>
          </a:xfrm>
          <a:prstGeom prst="rect">
            <a:avLst/>
          </a:prstGeom>
          <a:solidFill>
            <a:srgbClr val="FFCC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610" name="Text Box 34"/>
          <p:cNvSpPr txBox="1">
            <a:spLocks noChangeArrowheads="1"/>
          </p:cNvSpPr>
          <p:nvPr/>
        </p:nvSpPr>
        <p:spPr bwMode="auto">
          <a:xfrm>
            <a:off x="3021013" y="2644775"/>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协议</a:t>
            </a:r>
          </a:p>
        </p:txBody>
      </p:sp>
      <p:sp>
        <p:nvSpPr>
          <p:cNvPr id="792611" name="Text Box 35"/>
          <p:cNvSpPr txBox="1">
            <a:spLocks noChangeArrowheads="1"/>
          </p:cNvSpPr>
          <p:nvPr/>
        </p:nvSpPr>
        <p:spPr bwMode="auto">
          <a:xfrm>
            <a:off x="4322763" y="2651125"/>
            <a:ext cx="19431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信    息    部    分</a:t>
            </a:r>
          </a:p>
        </p:txBody>
      </p:sp>
      <p:sp>
        <p:nvSpPr>
          <p:cNvPr id="792612" name="AutoShape 36"/>
          <p:cNvSpPr>
            <a:spLocks/>
          </p:cNvSpPr>
          <p:nvPr/>
        </p:nvSpPr>
        <p:spPr bwMode="auto">
          <a:xfrm rot="5400000">
            <a:off x="2513806" y="1119982"/>
            <a:ext cx="176213" cy="2717800"/>
          </a:xfrm>
          <a:prstGeom prst="leftBrace">
            <a:avLst>
              <a:gd name="adj1" fmla="val 128528"/>
              <a:gd name="adj2" fmla="val 50069"/>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613" name="AutoShape 37"/>
          <p:cNvSpPr>
            <a:spLocks/>
          </p:cNvSpPr>
          <p:nvPr/>
        </p:nvSpPr>
        <p:spPr bwMode="auto">
          <a:xfrm rot="5400000">
            <a:off x="7638256" y="1626395"/>
            <a:ext cx="161925" cy="1719262"/>
          </a:xfrm>
          <a:prstGeom prst="leftBrace">
            <a:avLst>
              <a:gd name="adj1" fmla="val 88480"/>
              <a:gd name="adj2" fmla="val 50000"/>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614" name="Text Box 38"/>
          <p:cNvSpPr txBox="1">
            <a:spLocks noChangeArrowheads="1"/>
          </p:cNvSpPr>
          <p:nvPr/>
        </p:nvSpPr>
        <p:spPr bwMode="auto">
          <a:xfrm>
            <a:off x="2239963" y="2090738"/>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首部</a:t>
            </a:r>
          </a:p>
        </p:txBody>
      </p:sp>
      <p:sp>
        <p:nvSpPr>
          <p:cNvPr id="792615" name="Text Box 39"/>
          <p:cNvSpPr txBox="1">
            <a:spLocks noChangeArrowheads="1"/>
          </p:cNvSpPr>
          <p:nvPr/>
        </p:nvSpPr>
        <p:spPr bwMode="auto">
          <a:xfrm>
            <a:off x="7364413" y="2090738"/>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尾部</a:t>
            </a:r>
          </a:p>
        </p:txBody>
      </p:sp>
      <p:sp>
        <p:nvSpPr>
          <p:cNvPr id="792616" name="Line 40"/>
          <p:cNvSpPr>
            <a:spLocks noChangeShapeType="1"/>
          </p:cNvSpPr>
          <p:nvPr/>
        </p:nvSpPr>
        <p:spPr bwMode="auto">
          <a:xfrm>
            <a:off x="1243013" y="1998663"/>
            <a:ext cx="0" cy="485775"/>
          </a:xfrm>
          <a:prstGeom prst="line">
            <a:avLst/>
          </a:prstGeom>
          <a:noFill/>
          <a:ln w="28575">
            <a:solidFill>
              <a:srgbClr val="FC0404"/>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2617" name="Line 41"/>
          <p:cNvSpPr>
            <a:spLocks noChangeShapeType="1"/>
          </p:cNvSpPr>
          <p:nvPr/>
        </p:nvSpPr>
        <p:spPr bwMode="auto">
          <a:xfrm>
            <a:off x="6859588" y="2538413"/>
            <a:ext cx="0" cy="59531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618" name="Line 42"/>
          <p:cNvSpPr>
            <a:spLocks noChangeShapeType="1"/>
          </p:cNvSpPr>
          <p:nvPr/>
        </p:nvSpPr>
        <p:spPr bwMode="auto">
          <a:xfrm>
            <a:off x="3960813"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2619" name="AutoShape 43"/>
          <p:cNvSpPr>
            <a:spLocks noChangeArrowheads="1"/>
          </p:cNvSpPr>
          <p:nvPr/>
        </p:nvSpPr>
        <p:spPr bwMode="auto">
          <a:xfrm>
            <a:off x="5229225" y="2135188"/>
            <a:ext cx="271463" cy="566737"/>
          </a:xfrm>
          <a:prstGeom prst="downArrow">
            <a:avLst>
              <a:gd name="adj1" fmla="val 50000"/>
              <a:gd name="adj2" fmla="val 78289"/>
            </a:avLst>
          </a:prstGeom>
          <a:solidFill>
            <a:schemeClr val="accent1"/>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92620" name="Text Box 44"/>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
        <p:nvSpPr>
          <p:cNvPr id="45" name="Text Box 8"/>
          <p:cNvSpPr txBox="1">
            <a:spLocks noChangeArrowheads="1"/>
          </p:cNvSpPr>
          <p:nvPr/>
        </p:nvSpPr>
        <p:spPr bwMode="auto">
          <a:xfrm>
            <a:off x="3059832" y="3178175"/>
            <a:ext cx="68961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dirty="0" smtClean="0">
                <a:latin typeface="华文新魏" pitchFamily="2" charset="-122"/>
                <a:ea typeface="华文新魏" pitchFamily="2" charset="-122"/>
              </a:rPr>
              <a:t>1</a:t>
            </a:r>
            <a:r>
              <a:rPr lang="zh-CN" altLang="en-US" sz="2000" dirty="0" smtClean="0">
                <a:latin typeface="华文新魏" pitchFamily="2" charset="-122"/>
                <a:ea typeface="华文新魏" pitchFamily="2" charset="-122"/>
              </a:rPr>
              <a:t>或</a:t>
            </a:r>
            <a:r>
              <a:rPr lang="en-US" altLang="zh-CN" sz="2000" dirty="0" smtClean="0">
                <a:latin typeface="华文新魏" pitchFamily="2" charset="-122"/>
                <a:ea typeface="华文新魏" pitchFamily="2" charset="-122"/>
              </a:rPr>
              <a:t>2</a:t>
            </a:r>
            <a:endParaRPr lang="en-US" altLang="zh-CN" sz="2000" dirty="0">
              <a:latin typeface="华文新魏" pitchFamily="2" charset="-122"/>
              <a:ea typeface="华文新魏" pitchFamily="2" charset="-122"/>
            </a:endParaRPr>
          </a:p>
        </p:txBody>
      </p:sp>
      <p:sp>
        <p:nvSpPr>
          <p:cNvPr id="46" name="Text Box 12"/>
          <p:cNvSpPr txBox="1">
            <a:spLocks noChangeArrowheads="1"/>
          </p:cNvSpPr>
          <p:nvPr/>
        </p:nvSpPr>
        <p:spPr bwMode="auto">
          <a:xfrm>
            <a:off x="7092280" y="3178175"/>
            <a:ext cx="732893"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dirty="0" smtClean="0">
                <a:latin typeface="华文新魏" pitchFamily="2" charset="-122"/>
                <a:ea typeface="华文新魏" pitchFamily="2" charset="-122"/>
              </a:rPr>
              <a:t>2</a:t>
            </a:r>
            <a:r>
              <a:rPr lang="zh-CN" altLang="en-US" sz="2000" dirty="0" smtClean="0">
                <a:latin typeface="华文新魏" pitchFamily="2" charset="-122"/>
                <a:ea typeface="华文新魏" pitchFamily="2" charset="-122"/>
              </a:rPr>
              <a:t>或</a:t>
            </a:r>
            <a:r>
              <a:rPr lang="en-US" altLang="zh-CN" sz="2000" dirty="0" smtClean="0">
                <a:latin typeface="华文新魏" pitchFamily="2" charset="-122"/>
                <a:ea typeface="华文新魏" pitchFamily="2" charset="-122"/>
              </a:rPr>
              <a:t>4</a:t>
            </a:r>
            <a:endParaRPr lang="en-US" altLang="zh-CN" sz="2000" dirty="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Rectangle 2"/>
          <p:cNvSpPr>
            <a:spLocks noGrp="1" noChangeArrowheads="1"/>
          </p:cNvSpPr>
          <p:nvPr>
            <p:ph type="title"/>
          </p:nvPr>
        </p:nvSpPr>
        <p:spPr/>
        <p:txBody>
          <a:bodyPr/>
          <a:lstStyle/>
          <a:p>
            <a:r>
              <a:rPr lang="sv-SE" altLang="zh-CN" b="1"/>
              <a:t>PPP</a:t>
            </a:r>
            <a:r>
              <a:rPr lang="zh-CN" altLang="en-US"/>
              <a:t>协议的帧格式</a:t>
            </a:r>
          </a:p>
        </p:txBody>
      </p:sp>
      <p:sp>
        <p:nvSpPr>
          <p:cNvPr id="793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793604" name="Rectangle 4"/>
          <p:cNvSpPr>
            <a:spLocks noGrp="1" noChangeArrowheads="1"/>
          </p:cNvSpPr>
          <p:nvPr>
            <p:ph type="body" idx="1"/>
          </p:nvPr>
        </p:nvSpPr>
        <p:spPr>
          <a:xfrm>
            <a:off x="755650" y="4005263"/>
            <a:ext cx="8208838" cy="2303462"/>
          </a:xfrm>
          <a:noFill/>
          <a:ln/>
        </p:spPr>
        <p:txBody>
          <a:bodyPr/>
          <a:lstStyle/>
          <a:p>
            <a:pPr>
              <a:lnSpc>
                <a:spcPct val="120000"/>
              </a:lnSpc>
            </a:pPr>
            <a:r>
              <a:rPr lang="zh-CN" altLang="en-US" sz="2800" dirty="0">
                <a:solidFill>
                  <a:srgbClr val="FC0404"/>
                </a:solidFill>
              </a:rPr>
              <a:t>协议字段（</a:t>
            </a:r>
            <a:r>
              <a:rPr lang="en-US" altLang="zh-CN" sz="2800" dirty="0">
                <a:solidFill>
                  <a:srgbClr val="FC0404"/>
                </a:solidFill>
              </a:rPr>
              <a:t>P</a:t>
            </a:r>
            <a:r>
              <a:rPr lang="zh-CN" altLang="en-US" sz="2800" dirty="0">
                <a:solidFill>
                  <a:srgbClr val="FC0404"/>
                </a:solidFill>
              </a:rPr>
              <a:t>）</a:t>
            </a:r>
            <a:r>
              <a:rPr lang="zh-CN" altLang="en-US" sz="2800" dirty="0">
                <a:solidFill>
                  <a:schemeClr val="tx1"/>
                </a:solidFill>
              </a:rPr>
              <a:t>：</a:t>
            </a:r>
            <a:r>
              <a:rPr lang="en-US" altLang="zh-CN" sz="2800" dirty="0">
                <a:solidFill>
                  <a:schemeClr val="tx1"/>
                </a:solidFill>
              </a:rPr>
              <a:t>1B</a:t>
            </a:r>
            <a:r>
              <a:rPr lang="zh-CN" altLang="en-US" sz="2800" dirty="0">
                <a:solidFill>
                  <a:schemeClr val="tx1"/>
                </a:solidFill>
              </a:rPr>
              <a:t>或</a:t>
            </a:r>
            <a:r>
              <a:rPr lang="en-US" altLang="zh-CN" sz="2800" dirty="0">
                <a:solidFill>
                  <a:schemeClr val="tx1"/>
                </a:solidFill>
              </a:rPr>
              <a:t>2B</a:t>
            </a:r>
          </a:p>
          <a:p>
            <a:pPr lvl="1">
              <a:lnSpc>
                <a:spcPct val="120000"/>
              </a:lnSpc>
            </a:pPr>
            <a:r>
              <a:rPr lang="zh-CN" altLang="en-US" sz="2400" dirty="0"/>
              <a:t>用于标识封装在帧信息字段中数据所属协议。例如：“</a:t>
            </a:r>
            <a:r>
              <a:rPr lang="en-US" altLang="zh-CN" sz="2400" dirty="0"/>
              <a:t>0”</a:t>
            </a:r>
            <a:r>
              <a:rPr lang="zh-CN" altLang="en-US" sz="2400" dirty="0"/>
              <a:t>开头表示网络层协议（例如：</a:t>
            </a:r>
            <a:r>
              <a:rPr lang="en-US" altLang="zh-CN" sz="2400" dirty="0"/>
              <a:t>IP</a:t>
            </a:r>
            <a:r>
              <a:rPr lang="zh-CN" altLang="en-US" sz="2400" dirty="0"/>
              <a:t>、</a:t>
            </a:r>
            <a:r>
              <a:rPr lang="en-US" altLang="zh-CN" sz="2400" dirty="0"/>
              <a:t>IPX</a:t>
            </a:r>
            <a:r>
              <a:rPr lang="zh-CN" altLang="en-US" sz="2400" dirty="0"/>
              <a:t>），“</a:t>
            </a:r>
            <a:r>
              <a:rPr lang="en-US" altLang="zh-CN" sz="2400" dirty="0"/>
              <a:t>1”</a:t>
            </a:r>
            <a:r>
              <a:rPr lang="zh-CN" altLang="en-US" sz="2400" dirty="0"/>
              <a:t>开头表示本协议簇中其它协议（例如：</a:t>
            </a:r>
            <a:r>
              <a:rPr lang="en-US" altLang="zh-CN" sz="2400" dirty="0"/>
              <a:t>LCP</a:t>
            </a:r>
            <a:r>
              <a:rPr lang="zh-CN" altLang="en-US" sz="2400" dirty="0"/>
              <a:t>、</a:t>
            </a:r>
            <a:r>
              <a:rPr lang="en-US" altLang="zh-CN" sz="2400" dirty="0"/>
              <a:t>NCP</a:t>
            </a:r>
            <a:r>
              <a:rPr lang="zh-CN" altLang="en-US" sz="2400" dirty="0"/>
              <a:t>）。</a:t>
            </a:r>
            <a:r>
              <a:rPr lang="zh-CN" altLang="en-US" sz="2400" dirty="0">
                <a:solidFill>
                  <a:srgbClr val="0000FF"/>
                </a:solidFill>
              </a:rPr>
              <a:t>经</a:t>
            </a:r>
            <a:r>
              <a:rPr lang="en-US" altLang="zh-CN" sz="2400" dirty="0">
                <a:solidFill>
                  <a:srgbClr val="0000FF"/>
                </a:solidFill>
              </a:rPr>
              <a:t>LCP</a:t>
            </a:r>
            <a:r>
              <a:rPr lang="zh-CN" altLang="en-US" sz="2400" dirty="0" smtClean="0">
                <a:solidFill>
                  <a:srgbClr val="0000FF"/>
                </a:solidFill>
              </a:rPr>
              <a:t>协商可压缩为</a:t>
            </a:r>
            <a:r>
              <a:rPr lang="en-US" altLang="zh-CN" sz="2400" dirty="0" smtClean="0">
                <a:solidFill>
                  <a:srgbClr val="0000FF"/>
                </a:solidFill>
              </a:rPr>
              <a:t>1B</a:t>
            </a:r>
            <a:r>
              <a:rPr lang="zh-CN" altLang="en-US" sz="2400" dirty="0" smtClean="0"/>
              <a:t>。</a:t>
            </a:r>
            <a:endParaRPr lang="zh-CN" altLang="en-US" sz="3200" dirty="0"/>
          </a:p>
        </p:txBody>
      </p:sp>
      <p:sp>
        <p:nvSpPr>
          <p:cNvPr id="793605" name="Rectangle 5"/>
          <p:cNvSpPr>
            <a:spLocks noChangeArrowheads="1"/>
          </p:cNvSpPr>
          <p:nvPr/>
        </p:nvSpPr>
        <p:spPr bwMode="auto">
          <a:xfrm>
            <a:off x="3960813" y="1731963"/>
            <a:ext cx="2898775" cy="465137"/>
          </a:xfrm>
          <a:prstGeom prst="rect">
            <a:avLst/>
          </a:prstGeom>
          <a:solidFill>
            <a:srgbClr val="FFCCFF"/>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2000">
                <a:latin typeface="华文新魏" pitchFamily="2" charset="-122"/>
                <a:ea typeface="华文新魏" pitchFamily="2" charset="-122"/>
              </a:rPr>
              <a:t>IP </a:t>
            </a:r>
            <a:r>
              <a:rPr lang="zh-CN" altLang="en-US" sz="2000">
                <a:latin typeface="华文新魏" pitchFamily="2" charset="-122"/>
                <a:ea typeface="华文新魏" pitchFamily="2" charset="-122"/>
              </a:rPr>
              <a:t>数据报</a:t>
            </a:r>
          </a:p>
        </p:txBody>
      </p:sp>
      <p:sp>
        <p:nvSpPr>
          <p:cNvPr id="793606" name="Text Box 6"/>
          <p:cNvSpPr txBox="1">
            <a:spLocks noChangeArrowheads="1"/>
          </p:cNvSpPr>
          <p:nvPr/>
        </p:nvSpPr>
        <p:spPr bwMode="auto">
          <a:xfrm>
            <a:off x="1333500"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3608" name="Text Box 8"/>
          <p:cNvSpPr txBox="1">
            <a:spLocks noChangeArrowheads="1"/>
          </p:cNvSpPr>
          <p:nvPr/>
        </p:nvSpPr>
        <p:spPr bwMode="auto">
          <a:xfrm>
            <a:off x="1878013"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3609" name="Text Box 9"/>
          <p:cNvSpPr txBox="1">
            <a:spLocks noChangeArrowheads="1"/>
          </p:cNvSpPr>
          <p:nvPr/>
        </p:nvSpPr>
        <p:spPr bwMode="auto">
          <a:xfrm>
            <a:off x="8126413"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3610" name="Text Box 10"/>
          <p:cNvSpPr txBox="1">
            <a:spLocks noChangeArrowheads="1"/>
          </p:cNvSpPr>
          <p:nvPr/>
        </p:nvSpPr>
        <p:spPr bwMode="auto">
          <a:xfrm>
            <a:off x="649288" y="3143250"/>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字节</a:t>
            </a:r>
          </a:p>
        </p:txBody>
      </p:sp>
      <p:sp>
        <p:nvSpPr>
          <p:cNvPr id="793611" name="Text Box 11"/>
          <p:cNvSpPr txBox="1">
            <a:spLocks noChangeArrowheads="1"/>
          </p:cNvSpPr>
          <p:nvPr/>
        </p:nvSpPr>
        <p:spPr bwMode="auto">
          <a:xfrm>
            <a:off x="2420938"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3613" name="Line 13"/>
          <p:cNvSpPr>
            <a:spLocks noChangeShapeType="1"/>
          </p:cNvSpPr>
          <p:nvPr/>
        </p:nvSpPr>
        <p:spPr bwMode="auto">
          <a:xfrm>
            <a:off x="3960813" y="1719263"/>
            <a:ext cx="17462" cy="923925"/>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14" name="Line 14"/>
          <p:cNvSpPr>
            <a:spLocks noChangeShapeType="1"/>
          </p:cNvSpPr>
          <p:nvPr/>
        </p:nvSpPr>
        <p:spPr bwMode="auto">
          <a:xfrm>
            <a:off x="6859588" y="1719263"/>
            <a:ext cx="0" cy="889000"/>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15" name="Text Box 15"/>
          <p:cNvSpPr txBox="1">
            <a:spLocks noChangeArrowheads="1"/>
          </p:cNvSpPr>
          <p:nvPr/>
        </p:nvSpPr>
        <p:spPr bwMode="auto">
          <a:xfrm>
            <a:off x="4322763" y="3178175"/>
            <a:ext cx="21224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不超过 </a:t>
            </a:r>
            <a:r>
              <a:rPr lang="en-US" altLang="zh-CN" sz="2000">
                <a:latin typeface="华文新魏" pitchFamily="2" charset="-122"/>
                <a:ea typeface="华文新魏" pitchFamily="2" charset="-122"/>
              </a:rPr>
              <a:t>1500 </a:t>
            </a:r>
            <a:r>
              <a:rPr lang="zh-CN" altLang="en-US" sz="2000">
                <a:latin typeface="华文新魏" pitchFamily="2" charset="-122"/>
                <a:ea typeface="华文新魏" pitchFamily="2" charset="-122"/>
              </a:rPr>
              <a:t>字节</a:t>
            </a:r>
          </a:p>
        </p:txBody>
      </p:sp>
      <p:sp>
        <p:nvSpPr>
          <p:cNvPr id="793616" name="Line 16"/>
          <p:cNvSpPr>
            <a:spLocks noChangeShapeType="1"/>
          </p:cNvSpPr>
          <p:nvPr/>
        </p:nvSpPr>
        <p:spPr bwMode="auto">
          <a:xfrm>
            <a:off x="1258888" y="3716338"/>
            <a:ext cx="7335837" cy="0"/>
          </a:xfrm>
          <a:prstGeom prst="line">
            <a:avLst/>
          </a:prstGeom>
          <a:noFill/>
          <a:ln w="28575">
            <a:solidFill>
              <a:srgbClr val="FC0404"/>
            </a:solidFill>
            <a:round/>
            <a:headEnd type="triangle" w="med" len="lg"/>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3617" name="Text Box 17"/>
          <p:cNvSpPr txBox="1">
            <a:spLocks noChangeArrowheads="1"/>
          </p:cNvSpPr>
          <p:nvPr/>
        </p:nvSpPr>
        <p:spPr bwMode="auto">
          <a:xfrm>
            <a:off x="4249738" y="3509963"/>
            <a:ext cx="914400" cy="3968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PPP </a:t>
            </a:r>
            <a:r>
              <a:rPr lang="zh-CN" altLang="en-US" sz="2000">
                <a:latin typeface="华文新魏" pitchFamily="2" charset="-122"/>
                <a:ea typeface="华文新魏" pitchFamily="2" charset="-122"/>
              </a:rPr>
              <a:t>帧</a:t>
            </a:r>
          </a:p>
        </p:txBody>
      </p:sp>
      <p:sp>
        <p:nvSpPr>
          <p:cNvPr id="793618" name="Text Box 18"/>
          <p:cNvSpPr txBox="1">
            <a:spLocks noChangeArrowheads="1"/>
          </p:cNvSpPr>
          <p:nvPr/>
        </p:nvSpPr>
        <p:spPr bwMode="auto">
          <a:xfrm>
            <a:off x="1225550" y="1919288"/>
            <a:ext cx="946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先发送</a:t>
            </a:r>
          </a:p>
        </p:txBody>
      </p:sp>
      <p:sp>
        <p:nvSpPr>
          <p:cNvPr id="793619" name="Rectangle 19"/>
          <p:cNvSpPr>
            <a:spLocks noChangeArrowheads="1"/>
          </p:cNvSpPr>
          <p:nvPr/>
        </p:nvSpPr>
        <p:spPr bwMode="auto">
          <a:xfrm>
            <a:off x="1243013" y="2566988"/>
            <a:ext cx="7335837" cy="566737"/>
          </a:xfrm>
          <a:prstGeom prst="rect">
            <a:avLst/>
          </a:prstGeom>
          <a:solidFill>
            <a:srgbClr val="FFFFCC"/>
          </a:solidFill>
          <a:ln w="28575">
            <a:solidFill>
              <a:schemeClr val="tx1"/>
            </a:solidFill>
            <a:miter lim="800000"/>
            <a:headEnd/>
            <a:tailEnd/>
          </a:ln>
          <a:effectLst>
            <a:outerShdw dist="107763" dir="2700000" algn="ctr" rotWithShape="0">
              <a:srgbClr val="00002E">
                <a:alpha val="50000"/>
              </a:srgbClr>
            </a:outerShdw>
          </a:effectLst>
        </p:spPr>
        <p:txBody>
          <a:bodyPr wrap="none" anchor="ctr"/>
          <a:lstStyle/>
          <a:p>
            <a:pPr algn="ctr">
              <a:spcBef>
                <a:spcPct val="0"/>
              </a:spcBef>
              <a:buClrTx/>
              <a:buFontTx/>
              <a:buNone/>
            </a:pPr>
            <a:endParaRPr lang="zh-CN" altLang="en-US" sz="2000">
              <a:latin typeface="华文新魏" pitchFamily="2" charset="-122"/>
              <a:ea typeface="华文新魏" pitchFamily="2" charset="-122"/>
            </a:endParaRPr>
          </a:p>
        </p:txBody>
      </p:sp>
      <p:sp>
        <p:nvSpPr>
          <p:cNvPr id="793620" name="Line 20"/>
          <p:cNvSpPr>
            <a:spLocks noChangeShapeType="1"/>
          </p:cNvSpPr>
          <p:nvPr/>
        </p:nvSpPr>
        <p:spPr bwMode="auto">
          <a:xfrm>
            <a:off x="1787525" y="2566988"/>
            <a:ext cx="0" cy="56673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21" name="Line 21"/>
          <p:cNvSpPr>
            <a:spLocks noChangeShapeType="1"/>
          </p:cNvSpPr>
          <p:nvPr/>
        </p:nvSpPr>
        <p:spPr bwMode="auto">
          <a:xfrm>
            <a:off x="7945438"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22" name="Text Box 22"/>
          <p:cNvSpPr txBox="1">
            <a:spLocks noChangeArrowheads="1"/>
          </p:cNvSpPr>
          <p:nvPr/>
        </p:nvSpPr>
        <p:spPr bwMode="auto">
          <a:xfrm>
            <a:off x="1239838" y="2781300"/>
            <a:ext cx="4587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7E</a:t>
            </a:r>
          </a:p>
        </p:txBody>
      </p:sp>
      <p:sp>
        <p:nvSpPr>
          <p:cNvPr id="793623" name="Line 23"/>
          <p:cNvSpPr>
            <a:spLocks noChangeShapeType="1"/>
          </p:cNvSpPr>
          <p:nvPr/>
        </p:nvSpPr>
        <p:spPr bwMode="auto">
          <a:xfrm>
            <a:off x="2330450"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24" name="Line 24"/>
          <p:cNvSpPr>
            <a:spLocks noChangeShapeType="1"/>
          </p:cNvSpPr>
          <p:nvPr/>
        </p:nvSpPr>
        <p:spPr bwMode="auto">
          <a:xfrm>
            <a:off x="2873375" y="2566988"/>
            <a:ext cx="0" cy="56673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25" name="Text Box 25"/>
          <p:cNvSpPr txBox="1">
            <a:spLocks noChangeArrowheads="1"/>
          </p:cNvSpPr>
          <p:nvPr/>
        </p:nvSpPr>
        <p:spPr bwMode="auto">
          <a:xfrm>
            <a:off x="1782763" y="2781300"/>
            <a:ext cx="4508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FF</a:t>
            </a:r>
          </a:p>
        </p:txBody>
      </p:sp>
      <p:sp>
        <p:nvSpPr>
          <p:cNvPr id="793626" name="Text Box 26"/>
          <p:cNvSpPr txBox="1">
            <a:spLocks noChangeArrowheads="1"/>
          </p:cNvSpPr>
          <p:nvPr/>
        </p:nvSpPr>
        <p:spPr bwMode="auto">
          <a:xfrm>
            <a:off x="2319338" y="2781300"/>
            <a:ext cx="47783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03</a:t>
            </a:r>
          </a:p>
        </p:txBody>
      </p:sp>
      <p:sp>
        <p:nvSpPr>
          <p:cNvPr id="793627" name="Text Box 27"/>
          <p:cNvSpPr txBox="1">
            <a:spLocks noChangeArrowheads="1"/>
          </p:cNvSpPr>
          <p:nvPr/>
        </p:nvSpPr>
        <p:spPr bwMode="auto">
          <a:xfrm>
            <a:off x="1316038" y="2544763"/>
            <a:ext cx="3175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a:t>
            </a:r>
          </a:p>
        </p:txBody>
      </p:sp>
      <p:sp>
        <p:nvSpPr>
          <p:cNvPr id="793628" name="Text Box 28"/>
          <p:cNvSpPr txBox="1">
            <a:spLocks noChangeArrowheads="1"/>
          </p:cNvSpPr>
          <p:nvPr/>
        </p:nvSpPr>
        <p:spPr bwMode="auto">
          <a:xfrm>
            <a:off x="1824038" y="2543175"/>
            <a:ext cx="3540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A</a:t>
            </a:r>
          </a:p>
        </p:txBody>
      </p:sp>
      <p:sp>
        <p:nvSpPr>
          <p:cNvPr id="793629" name="Text Box 29"/>
          <p:cNvSpPr txBox="1">
            <a:spLocks noChangeArrowheads="1"/>
          </p:cNvSpPr>
          <p:nvPr/>
        </p:nvSpPr>
        <p:spPr bwMode="auto">
          <a:xfrm>
            <a:off x="2333625" y="2544763"/>
            <a:ext cx="35083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C</a:t>
            </a:r>
          </a:p>
        </p:txBody>
      </p:sp>
      <p:sp>
        <p:nvSpPr>
          <p:cNvPr id="793630" name="Text Box 30"/>
          <p:cNvSpPr txBox="1">
            <a:spLocks noChangeArrowheads="1"/>
          </p:cNvSpPr>
          <p:nvPr/>
        </p:nvSpPr>
        <p:spPr bwMode="auto">
          <a:xfrm>
            <a:off x="7059613" y="2643188"/>
            <a:ext cx="5937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FCS</a:t>
            </a:r>
          </a:p>
        </p:txBody>
      </p:sp>
      <p:sp>
        <p:nvSpPr>
          <p:cNvPr id="793631" name="Text Box 31"/>
          <p:cNvSpPr txBox="1">
            <a:spLocks noChangeArrowheads="1"/>
          </p:cNvSpPr>
          <p:nvPr/>
        </p:nvSpPr>
        <p:spPr bwMode="auto">
          <a:xfrm>
            <a:off x="8062913" y="2565400"/>
            <a:ext cx="3175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a:t>
            </a:r>
          </a:p>
        </p:txBody>
      </p:sp>
      <p:sp>
        <p:nvSpPr>
          <p:cNvPr id="793632" name="Text Box 32"/>
          <p:cNvSpPr txBox="1">
            <a:spLocks noChangeArrowheads="1"/>
          </p:cNvSpPr>
          <p:nvPr/>
        </p:nvSpPr>
        <p:spPr bwMode="auto">
          <a:xfrm>
            <a:off x="8002588" y="2781300"/>
            <a:ext cx="4587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7E</a:t>
            </a:r>
          </a:p>
        </p:txBody>
      </p:sp>
      <p:sp>
        <p:nvSpPr>
          <p:cNvPr id="793633" name="Rectangle 33"/>
          <p:cNvSpPr>
            <a:spLocks noChangeArrowheads="1"/>
          </p:cNvSpPr>
          <p:nvPr/>
        </p:nvSpPr>
        <p:spPr bwMode="auto">
          <a:xfrm>
            <a:off x="3960813" y="2593975"/>
            <a:ext cx="2898775" cy="519113"/>
          </a:xfrm>
          <a:prstGeom prst="rect">
            <a:avLst/>
          </a:prstGeom>
          <a:solidFill>
            <a:srgbClr val="FFCC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34" name="Text Box 34"/>
          <p:cNvSpPr txBox="1">
            <a:spLocks noChangeArrowheads="1"/>
          </p:cNvSpPr>
          <p:nvPr/>
        </p:nvSpPr>
        <p:spPr bwMode="auto">
          <a:xfrm>
            <a:off x="3021013" y="2644775"/>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协议</a:t>
            </a:r>
          </a:p>
        </p:txBody>
      </p:sp>
      <p:sp>
        <p:nvSpPr>
          <p:cNvPr id="793635" name="Text Box 35"/>
          <p:cNvSpPr txBox="1">
            <a:spLocks noChangeArrowheads="1"/>
          </p:cNvSpPr>
          <p:nvPr/>
        </p:nvSpPr>
        <p:spPr bwMode="auto">
          <a:xfrm>
            <a:off x="4322763" y="2651125"/>
            <a:ext cx="19431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信    息    部    分</a:t>
            </a:r>
          </a:p>
        </p:txBody>
      </p:sp>
      <p:sp>
        <p:nvSpPr>
          <p:cNvPr id="793636" name="AutoShape 36"/>
          <p:cNvSpPr>
            <a:spLocks/>
          </p:cNvSpPr>
          <p:nvPr/>
        </p:nvSpPr>
        <p:spPr bwMode="auto">
          <a:xfrm rot="5400000">
            <a:off x="2513806" y="1119982"/>
            <a:ext cx="176213" cy="2717800"/>
          </a:xfrm>
          <a:prstGeom prst="leftBrace">
            <a:avLst>
              <a:gd name="adj1" fmla="val 128528"/>
              <a:gd name="adj2" fmla="val 50069"/>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37" name="AutoShape 37"/>
          <p:cNvSpPr>
            <a:spLocks/>
          </p:cNvSpPr>
          <p:nvPr/>
        </p:nvSpPr>
        <p:spPr bwMode="auto">
          <a:xfrm rot="5400000">
            <a:off x="7638256" y="1626395"/>
            <a:ext cx="161925" cy="1719262"/>
          </a:xfrm>
          <a:prstGeom prst="leftBrace">
            <a:avLst>
              <a:gd name="adj1" fmla="val 88480"/>
              <a:gd name="adj2" fmla="val 50000"/>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38" name="Text Box 38"/>
          <p:cNvSpPr txBox="1">
            <a:spLocks noChangeArrowheads="1"/>
          </p:cNvSpPr>
          <p:nvPr/>
        </p:nvSpPr>
        <p:spPr bwMode="auto">
          <a:xfrm>
            <a:off x="2239963" y="2090738"/>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首部</a:t>
            </a:r>
          </a:p>
        </p:txBody>
      </p:sp>
      <p:sp>
        <p:nvSpPr>
          <p:cNvPr id="793639" name="Text Box 39"/>
          <p:cNvSpPr txBox="1">
            <a:spLocks noChangeArrowheads="1"/>
          </p:cNvSpPr>
          <p:nvPr/>
        </p:nvSpPr>
        <p:spPr bwMode="auto">
          <a:xfrm>
            <a:off x="7364413" y="2090738"/>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尾部</a:t>
            </a:r>
          </a:p>
        </p:txBody>
      </p:sp>
      <p:sp>
        <p:nvSpPr>
          <p:cNvPr id="793640" name="Line 40"/>
          <p:cNvSpPr>
            <a:spLocks noChangeShapeType="1"/>
          </p:cNvSpPr>
          <p:nvPr/>
        </p:nvSpPr>
        <p:spPr bwMode="auto">
          <a:xfrm>
            <a:off x="1243013" y="1998663"/>
            <a:ext cx="0" cy="485775"/>
          </a:xfrm>
          <a:prstGeom prst="line">
            <a:avLst/>
          </a:prstGeom>
          <a:noFill/>
          <a:ln w="28575">
            <a:solidFill>
              <a:srgbClr val="FC0404"/>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3641" name="Line 41"/>
          <p:cNvSpPr>
            <a:spLocks noChangeShapeType="1"/>
          </p:cNvSpPr>
          <p:nvPr/>
        </p:nvSpPr>
        <p:spPr bwMode="auto">
          <a:xfrm>
            <a:off x="6859588" y="2538413"/>
            <a:ext cx="0" cy="59531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42" name="Line 42"/>
          <p:cNvSpPr>
            <a:spLocks noChangeShapeType="1"/>
          </p:cNvSpPr>
          <p:nvPr/>
        </p:nvSpPr>
        <p:spPr bwMode="auto">
          <a:xfrm>
            <a:off x="3960813"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3643" name="AutoShape 43"/>
          <p:cNvSpPr>
            <a:spLocks noChangeArrowheads="1"/>
          </p:cNvSpPr>
          <p:nvPr/>
        </p:nvSpPr>
        <p:spPr bwMode="auto">
          <a:xfrm>
            <a:off x="5229225" y="2135188"/>
            <a:ext cx="271463" cy="566737"/>
          </a:xfrm>
          <a:prstGeom prst="downArrow">
            <a:avLst>
              <a:gd name="adj1" fmla="val 50000"/>
              <a:gd name="adj2" fmla="val 78289"/>
            </a:avLst>
          </a:prstGeom>
          <a:solidFill>
            <a:schemeClr val="accent1"/>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93644" name="Text Box 44"/>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
        <p:nvSpPr>
          <p:cNvPr id="45" name="Text Box 8"/>
          <p:cNvSpPr txBox="1">
            <a:spLocks noChangeArrowheads="1"/>
          </p:cNvSpPr>
          <p:nvPr/>
        </p:nvSpPr>
        <p:spPr bwMode="auto">
          <a:xfrm>
            <a:off x="3059832" y="3178175"/>
            <a:ext cx="68961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dirty="0" smtClean="0">
                <a:latin typeface="华文新魏" pitchFamily="2" charset="-122"/>
                <a:ea typeface="华文新魏" pitchFamily="2" charset="-122"/>
              </a:rPr>
              <a:t>1</a:t>
            </a:r>
            <a:r>
              <a:rPr lang="zh-CN" altLang="en-US" sz="2000" dirty="0" smtClean="0">
                <a:latin typeface="华文新魏" pitchFamily="2" charset="-122"/>
                <a:ea typeface="华文新魏" pitchFamily="2" charset="-122"/>
              </a:rPr>
              <a:t>或</a:t>
            </a:r>
            <a:r>
              <a:rPr lang="en-US" altLang="zh-CN" sz="2000" dirty="0" smtClean="0">
                <a:latin typeface="华文新魏" pitchFamily="2" charset="-122"/>
                <a:ea typeface="华文新魏" pitchFamily="2" charset="-122"/>
              </a:rPr>
              <a:t>2</a:t>
            </a:r>
            <a:endParaRPr lang="en-US" altLang="zh-CN" sz="2000" dirty="0">
              <a:latin typeface="华文新魏" pitchFamily="2" charset="-122"/>
              <a:ea typeface="华文新魏" pitchFamily="2" charset="-122"/>
            </a:endParaRPr>
          </a:p>
        </p:txBody>
      </p:sp>
      <p:sp>
        <p:nvSpPr>
          <p:cNvPr id="46" name="Text Box 12"/>
          <p:cNvSpPr txBox="1">
            <a:spLocks noChangeArrowheads="1"/>
          </p:cNvSpPr>
          <p:nvPr/>
        </p:nvSpPr>
        <p:spPr bwMode="auto">
          <a:xfrm>
            <a:off x="7092280" y="3178175"/>
            <a:ext cx="732893"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dirty="0" smtClean="0">
                <a:latin typeface="华文新魏" pitchFamily="2" charset="-122"/>
                <a:ea typeface="华文新魏" pitchFamily="2" charset="-122"/>
              </a:rPr>
              <a:t>2</a:t>
            </a:r>
            <a:r>
              <a:rPr lang="zh-CN" altLang="en-US" sz="2000" dirty="0" smtClean="0">
                <a:latin typeface="华文新魏" pitchFamily="2" charset="-122"/>
                <a:ea typeface="华文新魏" pitchFamily="2" charset="-122"/>
              </a:rPr>
              <a:t>或</a:t>
            </a:r>
            <a:r>
              <a:rPr lang="en-US" altLang="zh-CN" sz="2000" dirty="0" smtClean="0">
                <a:latin typeface="华文新魏" pitchFamily="2" charset="-122"/>
                <a:ea typeface="华文新魏" pitchFamily="2" charset="-122"/>
              </a:rPr>
              <a:t>4</a:t>
            </a:r>
            <a:endParaRPr lang="en-US" altLang="zh-CN" sz="2000" dirty="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p:cNvSpPr>
            <a:spLocks noGrp="1" noChangeArrowheads="1"/>
          </p:cNvSpPr>
          <p:nvPr>
            <p:ph type="title"/>
          </p:nvPr>
        </p:nvSpPr>
        <p:spPr/>
        <p:txBody>
          <a:bodyPr/>
          <a:lstStyle/>
          <a:p>
            <a:r>
              <a:rPr lang="sv-SE" altLang="zh-CN" b="1"/>
              <a:t>PPP</a:t>
            </a:r>
            <a:r>
              <a:rPr lang="zh-CN" altLang="en-US"/>
              <a:t>协议的帧格式</a:t>
            </a:r>
          </a:p>
        </p:txBody>
      </p:sp>
      <p:sp>
        <p:nvSpPr>
          <p:cNvPr id="7946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794628" name="Rectangle 4"/>
          <p:cNvSpPr>
            <a:spLocks noGrp="1" noChangeArrowheads="1"/>
          </p:cNvSpPr>
          <p:nvPr>
            <p:ph type="body" idx="1"/>
          </p:nvPr>
        </p:nvSpPr>
        <p:spPr>
          <a:xfrm>
            <a:off x="755650" y="4005263"/>
            <a:ext cx="7993063" cy="2303462"/>
          </a:xfrm>
          <a:noFill/>
          <a:ln/>
        </p:spPr>
        <p:txBody>
          <a:bodyPr/>
          <a:lstStyle/>
          <a:p>
            <a:pPr>
              <a:lnSpc>
                <a:spcPct val="120000"/>
              </a:lnSpc>
            </a:pPr>
            <a:r>
              <a:rPr lang="zh-CN" altLang="en-US" sz="2800" dirty="0">
                <a:solidFill>
                  <a:srgbClr val="FC0404"/>
                </a:solidFill>
              </a:rPr>
              <a:t>信息字段（</a:t>
            </a:r>
            <a:r>
              <a:rPr lang="en-US" altLang="zh-CN" sz="2800" dirty="0">
                <a:solidFill>
                  <a:srgbClr val="FC0404"/>
                </a:solidFill>
              </a:rPr>
              <a:t>I</a:t>
            </a:r>
            <a:r>
              <a:rPr lang="zh-CN" altLang="en-US" sz="2800" dirty="0">
                <a:solidFill>
                  <a:srgbClr val="FC0404"/>
                </a:solidFill>
              </a:rPr>
              <a:t>）</a:t>
            </a:r>
          </a:p>
          <a:p>
            <a:pPr lvl="1">
              <a:lnSpc>
                <a:spcPct val="120000"/>
              </a:lnSpc>
            </a:pPr>
            <a:r>
              <a:rPr lang="zh-CN" altLang="en-US" sz="2400" dirty="0"/>
              <a:t>用于存放用户数据，变长，缺省为</a:t>
            </a:r>
            <a:r>
              <a:rPr lang="en-US" altLang="zh-CN" sz="2400" dirty="0"/>
              <a:t>1500B</a:t>
            </a:r>
            <a:r>
              <a:rPr lang="zh-CN" altLang="en-US" sz="2400" dirty="0"/>
              <a:t>。</a:t>
            </a:r>
          </a:p>
          <a:p>
            <a:pPr>
              <a:lnSpc>
                <a:spcPct val="120000"/>
              </a:lnSpc>
            </a:pPr>
            <a:r>
              <a:rPr lang="zh-CN" altLang="en-US" sz="2800" dirty="0">
                <a:solidFill>
                  <a:srgbClr val="FC0404"/>
                </a:solidFill>
              </a:rPr>
              <a:t>帧校验序列（</a:t>
            </a:r>
            <a:r>
              <a:rPr lang="en-US" altLang="zh-CN" sz="2800" dirty="0">
                <a:solidFill>
                  <a:srgbClr val="FC0404"/>
                </a:solidFill>
              </a:rPr>
              <a:t>FCS</a:t>
            </a:r>
            <a:r>
              <a:rPr lang="zh-CN" altLang="en-US" sz="2800" dirty="0">
                <a:solidFill>
                  <a:srgbClr val="FC0404"/>
                </a:solidFill>
              </a:rPr>
              <a:t>）：</a:t>
            </a:r>
            <a:r>
              <a:rPr lang="en-US" altLang="zh-CN" sz="2800" dirty="0">
                <a:solidFill>
                  <a:srgbClr val="FC0404"/>
                </a:solidFill>
              </a:rPr>
              <a:t>2B</a:t>
            </a:r>
            <a:r>
              <a:rPr lang="zh-CN" altLang="en-US" sz="2800" dirty="0">
                <a:solidFill>
                  <a:srgbClr val="FC0404"/>
                </a:solidFill>
              </a:rPr>
              <a:t>或</a:t>
            </a:r>
            <a:r>
              <a:rPr lang="en-US" altLang="zh-CN" sz="2800" dirty="0">
                <a:solidFill>
                  <a:srgbClr val="FC0404"/>
                </a:solidFill>
              </a:rPr>
              <a:t>4B</a:t>
            </a:r>
          </a:p>
          <a:p>
            <a:pPr lvl="1">
              <a:lnSpc>
                <a:spcPct val="120000"/>
              </a:lnSpc>
            </a:pPr>
            <a:r>
              <a:rPr lang="zh-CN" altLang="en-US" sz="2400" dirty="0" smtClean="0"/>
              <a:t>错误检测（</a:t>
            </a:r>
            <a:r>
              <a:rPr lang="en-US" altLang="zh-CN" sz="2400" dirty="0" smtClean="0"/>
              <a:t>CRC</a:t>
            </a:r>
            <a:r>
              <a:rPr lang="zh-CN" altLang="en-US" sz="2400" dirty="0" smtClean="0"/>
              <a:t>）。默认为</a:t>
            </a:r>
            <a:r>
              <a:rPr lang="en-US" altLang="zh-CN" sz="2400" dirty="0" smtClean="0"/>
              <a:t>2B</a:t>
            </a:r>
            <a:r>
              <a:rPr lang="zh-CN" altLang="en-US" sz="2400" dirty="0" smtClean="0"/>
              <a:t>，可协商</a:t>
            </a:r>
            <a:r>
              <a:rPr lang="en-US" altLang="zh-CN" sz="2400" dirty="0" smtClean="0"/>
              <a:t>4B</a:t>
            </a:r>
            <a:r>
              <a:rPr lang="zh-CN" altLang="en-US" sz="2400" dirty="0" smtClean="0"/>
              <a:t>。</a:t>
            </a:r>
            <a:endParaRPr lang="zh-CN" altLang="en-US" sz="2400" dirty="0"/>
          </a:p>
        </p:txBody>
      </p:sp>
      <p:sp>
        <p:nvSpPr>
          <p:cNvPr id="794629" name="Rectangle 5"/>
          <p:cNvSpPr>
            <a:spLocks noChangeArrowheads="1"/>
          </p:cNvSpPr>
          <p:nvPr/>
        </p:nvSpPr>
        <p:spPr bwMode="auto">
          <a:xfrm>
            <a:off x="3960813" y="1731963"/>
            <a:ext cx="2898775" cy="465137"/>
          </a:xfrm>
          <a:prstGeom prst="rect">
            <a:avLst/>
          </a:prstGeom>
          <a:solidFill>
            <a:srgbClr val="FFCCFF"/>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2000">
                <a:latin typeface="华文新魏" pitchFamily="2" charset="-122"/>
                <a:ea typeface="华文新魏" pitchFamily="2" charset="-122"/>
              </a:rPr>
              <a:t>IP </a:t>
            </a:r>
            <a:r>
              <a:rPr lang="zh-CN" altLang="en-US" sz="2000">
                <a:latin typeface="华文新魏" pitchFamily="2" charset="-122"/>
                <a:ea typeface="华文新魏" pitchFamily="2" charset="-122"/>
              </a:rPr>
              <a:t>数据报</a:t>
            </a:r>
          </a:p>
        </p:txBody>
      </p:sp>
      <p:sp>
        <p:nvSpPr>
          <p:cNvPr id="794630" name="Text Box 6"/>
          <p:cNvSpPr txBox="1">
            <a:spLocks noChangeArrowheads="1"/>
          </p:cNvSpPr>
          <p:nvPr/>
        </p:nvSpPr>
        <p:spPr bwMode="auto">
          <a:xfrm>
            <a:off x="1333500"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4632" name="Text Box 8"/>
          <p:cNvSpPr txBox="1">
            <a:spLocks noChangeArrowheads="1"/>
          </p:cNvSpPr>
          <p:nvPr/>
        </p:nvSpPr>
        <p:spPr bwMode="auto">
          <a:xfrm>
            <a:off x="1878013"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4633" name="Text Box 9"/>
          <p:cNvSpPr txBox="1">
            <a:spLocks noChangeArrowheads="1"/>
          </p:cNvSpPr>
          <p:nvPr/>
        </p:nvSpPr>
        <p:spPr bwMode="auto">
          <a:xfrm>
            <a:off x="8126413"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4634" name="Text Box 10"/>
          <p:cNvSpPr txBox="1">
            <a:spLocks noChangeArrowheads="1"/>
          </p:cNvSpPr>
          <p:nvPr/>
        </p:nvSpPr>
        <p:spPr bwMode="auto">
          <a:xfrm>
            <a:off x="649288" y="3143250"/>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字节</a:t>
            </a:r>
          </a:p>
        </p:txBody>
      </p:sp>
      <p:sp>
        <p:nvSpPr>
          <p:cNvPr id="794635" name="Text Box 11"/>
          <p:cNvSpPr txBox="1">
            <a:spLocks noChangeArrowheads="1"/>
          </p:cNvSpPr>
          <p:nvPr/>
        </p:nvSpPr>
        <p:spPr bwMode="auto">
          <a:xfrm>
            <a:off x="2420938" y="3178175"/>
            <a:ext cx="2857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1</a:t>
            </a:r>
          </a:p>
        </p:txBody>
      </p:sp>
      <p:sp>
        <p:nvSpPr>
          <p:cNvPr id="794636" name="Text Box 12"/>
          <p:cNvSpPr txBox="1">
            <a:spLocks noChangeArrowheads="1"/>
          </p:cNvSpPr>
          <p:nvPr/>
        </p:nvSpPr>
        <p:spPr bwMode="auto">
          <a:xfrm>
            <a:off x="7092280" y="3178175"/>
            <a:ext cx="732893"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dirty="0" smtClean="0">
                <a:latin typeface="华文新魏" pitchFamily="2" charset="-122"/>
                <a:ea typeface="华文新魏" pitchFamily="2" charset="-122"/>
              </a:rPr>
              <a:t>2</a:t>
            </a:r>
            <a:r>
              <a:rPr lang="zh-CN" altLang="en-US" sz="2000" dirty="0" smtClean="0">
                <a:latin typeface="华文新魏" pitchFamily="2" charset="-122"/>
                <a:ea typeface="华文新魏" pitchFamily="2" charset="-122"/>
              </a:rPr>
              <a:t>或</a:t>
            </a:r>
            <a:r>
              <a:rPr lang="en-US" altLang="zh-CN" sz="2000" dirty="0" smtClean="0">
                <a:latin typeface="华文新魏" pitchFamily="2" charset="-122"/>
                <a:ea typeface="华文新魏" pitchFamily="2" charset="-122"/>
              </a:rPr>
              <a:t>4</a:t>
            </a:r>
            <a:endParaRPr lang="en-US" altLang="zh-CN" sz="2000" dirty="0">
              <a:latin typeface="华文新魏" pitchFamily="2" charset="-122"/>
              <a:ea typeface="华文新魏" pitchFamily="2" charset="-122"/>
            </a:endParaRPr>
          </a:p>
        </p:txBody>
      </p:sp>
      <p:sp>
        <p:nvSpPr>
          <p:cNvPr id="794637" name="Line 13"/>
          <p:cNvSpPr>
            <a:spLocks noChangeShapeType="1"/>
          </p:cNvSpPr>
          <p:nvPr/>
        </p:nvSpPr>
        <p:spPr bwMode="auto">
          <a:xfrm>
            <a:off x="3960813" y="1719263"/>
            <a:ext cx="17462" cy="923925"/>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38" name="Line 14"/>
          <p:cNvSpPr>
            <a:spLocks noChangeShapeType="1"/>
          </p:cNvSpPr>
          <p:nvPr/>
        </p:nvSpPr>
        <p:spPr bwMode="auto">
          <a:xfrm>
            <a:off x="6859588" y="1719263"/>
            <a:ext cx="0" cy="889000"/>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39" name="Text Box 15"/>
          <p:cNvSpPr txBox="1">
            <a:spLocks noChangeArrowheads="1"/>
          </p:cNvSpPr>
          <p:nvPr/>
        </p:nvSpPr>
        <p:spPr bwMode="auto">
          <a:xfrm>
            <a:off x="4322763" y="3178175"/>
            <a:ext cx="21224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不超过 </a:t>
            </a:r>
            <a:r>
              <a:rPr lang="en-US" altLang="zh-CN" sz="2000">
                <a:latin typeface="华文新魏" pitchFamily="2" charset="-122"/>
                <a:ea typeface="华文新魏" pitchFamily="2" charset="-122"/>
              </a:rPr>
              <a:t>1500 </a:t>
            </a:r>
            <a:r>
              <a:rPr lang="zh-CN" altLang="en-US" sz="2000">
                <a:latin typeface="华文新魏" pitchFamily="2" charset="-122"/>
                <a:ea typeface="华文新魏" pitchFamily="2" charset="-122"/>
              </a:rPr>
              <a:t>字节</a:t>
            </a:r>
          </a:p>
        </p:txBody>
      </p:sp>
      <p:sp>
        <p:nvSpPr>
          <p:cNvPr id="794640" name="Line 16"/>
          <p:cNvSpPr>
            <a:spLocks noChangeShapeType="1"/>
          </p:cNvSpPr>
          <p:nvPr/>
        </p:nvSpPr>
        <p:spPr bwMode="auto">
          <a:xfrm>
            <a:off x="1258888" y="3716338"/>
            <a:ext cx="7335837" cy="0"/>
          </a:xfrm>
          <a:prstGeom prst="line">
            <a:avLst/>
          </a:prstGeom>
          <a:noFill/>
          <a:ln w="28575">
            <a:solidFill>
              <a:srgbClr val="FC0404"/>
            </a:solidFill>
            <a:round/>
            <a:headEnd type="triangle" w="med" len="lg"/>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4641" name="Text Box 17"/>
          <p:cNvSpPr txBox="1">
            <a:spLocks noChangeArrowheads="1"/>
          </p:cNvSpPr>
          <p:nvPr/>
        </p:nvSpPr>
        <p:spPr bwMode="auto">
          <a:xfrm>
            <a:off x="4249738" y="3509963"/>
            <a:ext cx="914400" cy="3968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PPP </a:t>
            </a:r>
            <a:r>
              <a:rPr lang="zh-CN" altLang="en-US" sz="2000">
                <a:latin typeface="华文新魏" pitchFamily="2" charset="-122"/>
                <a:ea typeface="华文新魏" pitchFamily="2" charset="-122"/>
              </a:rPr>
              <a:t>帧</a:t>
            </a:r>
          </a:p>
        </p:txBody>
      </p:sp>
      <p:sp>
        <p:nvSpPr>
          <p:cNvPr id="794642" name="Text Box 18"/>
          <p:cNvSpPr txBox="1">
            <a:spLocks noChangeArrowheads="1"/>
          </p:cNvSpPr>
          <p:nvPr/>
        </p:nvSpPr>
        <p:spPr bwMode="auto">
          <a:xfrm>
            <a:off x="1225550" y="1919288"/>
            <a:ext cx="946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先发送</a:t>
            </a:r>
          </a:p>
        </p:txBody>
      </p:sp>
      <p:sp>
        <p:nvSpPr>
          <p:cNvPr id="794643" name="Rectangle 19"/>
          <p:cNvSpPr>
            <a:spLocks noChangeArrowheads="1"/>
          </p:cNvSpPr>
          <p:nvPr/>
        </p:nvSpPr>
        <p:spPr bwMode="auto">
          <a:xfrm>
            <a:off x="1243013" y="2566988"/>
            <a:ext cx="7335837" cy="566737"/>
          </a:xfrm>
          <a:prstGeom prst="rect">
            <a:avLst/>
          </a:prstGeom>
          <a:solidFill>
            <a:srgbClr val="FFFFCC"/>
          </a:solidFill>
          <a:ln w="28575">
            <a:solidFill>
              <a:schemeClr val="tx1"/>
            </a:solidFill>
            <a:miter lim="800000"/>
            <a:headEnd/>
            <a:tailEnd/>
          </a:ln>
          <a:effectLst>
            <a:outerShdw dist="107763" dir="2700000" algn="ctr" rotWithShape="0">
              <a:srgbClr val="00002E">
                <a:alpha val="50000"/>
              </a:srgbClr>
            </a:outerShdw>
          </a:effectLst>
        </p:spPr>
        <p:txBody>
          <a:bodyPr wrap="none" anchor="ctr"/>
          <a:lstStyle/>
          <a:p>
            <a:pPr algn="ctr">
              <a:spcBef>
                <a:spcPct val="0"/>
              </a:spcBef>
              <a:buClrTx/>
              <a:buFontTx/>
              <a:buNone/>
            </a:pPr>
            <a:endParaRPr lang="zh-CN" altLang="en-US" sz="2000">
              <a:latin typeface="华文新魏" pitchFamily="2" charset="-122"/>
              <a:ea typeface="华文新魏" pitchFamily="2" charset="-122"/>
            </a:endParaRPr>
          </a:p>
        </p:txBody>
      </p:sp>
      <p:sp>
        <p:nvSpPr>
          <p:cNvPr id="794644" name="Line 20"/>
          <p:cNvSpPr>
            <a:spLocks noChangeShapeType="1"/>
          </p:cNvSpPr>
          <p:nvPr/>
        </p:nvSpPr>
        <p:spPr bwMode="auto">
          <a:xfrm>
            <a:off x="1787525" y="2566988"/>
            <a:ext cx="0" cy="56673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45" name="Line 21"/>
          <p:cNvSpPr>
            <a:spLocks noChangeShapeType="1"/>
          </p:cNvSpPr>
          <p:nvPr/>
        </p:nvSpPr>
        <p:spPr bwMode="auto">
          <a:xfrm>
            <a:off x="7945438"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46" name="Text Box 22"/>
          <p:cNvSpPr txBox="1">
            <a:spLocks noChangeArrowheads="1"/>
          </p:cNvSpPr>
          <p:nvPr/>
        </p:nvSpPr>
        <p:spPr bwMode="auto">
          <a:xfrm>
            <a:off x="1239838" y="2781300"/>
            <a:ext cx="4587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7E</a:t>
            </a:r>
          </a:p>
        </p:txBody>
      </p:sp>
      <p:sp>
        <p:nvSpPr>
          <p:cNvPr id="794647" name="Line 23"/>
          <p:cNvSpPr>
            <a:spLocks noChangeShapeType="1"/>
          </p:cNvSpPr>
          <p:nvPr/>
        </p:nvSpPr>
        <p:spPr bwMode="auto">
          <a:xfrm>
            <a:off x="2330450"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48" name="Line 24"/>
          <p:cNvSpPr>
            <a:spLocks noChangeShapeType="1"/>
          </p:cNvSpPr>
          <p:nvPr/>
        </p:nvSpPr>
        <p:spPr bwMode="auto">
          <a:xfrm>
            <a:off x="2873375" y="2566988"/>
            <a:ext cx="0" cy="56673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49" name="Text Box 25"/>
          <p:cNvSpPr txBox="1">
            <a:spLocks noChangeArrowheads="1"/>
          </p:cNvSpPr>
          <p:nvPr/>
        </p:nvSpPr>
        <p:spPr bwMode="auto">
          <a:xfrm>
            <a:off x="1782763" y="2781300"/>
            <a:ext cx="4508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FF</a:t>
            </a:r>
          </a:p>
        </p:txBody>
      </p:sp>
      <p:sp>
        <p:nvSpPr>
          <p:cNvPr id="794650" name="Text Box 26"/>
          <p:cNvSpPr txBox="1">
            <a:spLocks noChangeArrowheads="1"/>
          </p:cNvSpPr>
          <p:nvPr/>
        </p:nvSpPr>
        <p:spPr bwMode="auto">
          <a:xfrm>
            <a:off x="2319338" y="2781300"/>
            <a:ext cx="47783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03</a:t>
            </a:r>
          </a:p>
        </p:txBody>
      </p:sp>
      <p:sp>
        <p:nvSpPr>
          <p:cNvPr id="794651" name="Text Box 27"/>
          <p:cNvSpPr txBox="1">
            <a:spLocks noChangeArrowheads="1"/>
          </p:cNvSpPr>
          <p:nvPr/>
        </p:nvSpPr>
        <p:spPr bwMode="auto">
          <a:xfrm>
            <a:off x="1316038" y="2544763"/>
            <a:ext cx="3175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a:t>
            </a:r>
          </a:p>
        </p:txBody>
      </p:sp>
      <p:sp>
        <p:nvSpPr>
          <p:cNvPr id="794652" name="Text Box 28"/>
          <p:cNvSpPr txBox="1">
            <a:spLocks noChangeArrowheads="1"/>
          </p:cNvSpPr>
          <p:nvPr/>
        </p:nvSpPr>
        <p:spPr bwMode="auto">
          <a:xfrm>
            <a:off x="1824038" y="2543175"/>
            <a:ext cx="3540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A</a:t>
            </a:r>
          </a:p>
        </p:txBody>
      </p:sp>
      <p:sp>
        <p:nvSpPr>
          <p:cNvPr id="794653" name="Text Box 29"/>
          <p:cNvSpPr txBox="1">
            <a:spLocks noChangeArrowheads="1"/>
          </p:cNvSpPr>
          <p:nvPr/>
        </p:nvSpPr>
        <p:spPr bwMode="auto">
          <a:xfrm>
            <a:off x="2333625" y="2544763"/>
            <a:ext cx="35083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C</a:t>
            </a:r>
          </a:p>
        </p:txBody>
      </p:sp>
      <p:sp>
        <p:nvSpPr>
          <p:cNvPr id="794654" name="Text Box 30"/>
          <p:cNvSpPr txBox="1">
            <a:spLocks noChangeArrowheads="1"/>
          </p:cNvSpPr>
          <p:nvPr/>
        </p:nvSpPr>
        <p:spPr bwMode="auto">
          <a:xfrm>
            <a:off x="7059613" y="2643188"/>
            <a:ext cx="5937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FCS</a:t>
            </a:r>
          </a:p>
        </p:txBody>
      </p:sp>
      <p:sp>
        <p:nvSpPr>
          <p:cNvPr id="794655" name="Text Box 31"/>
          <p:cNvSpPr txBox="1">
            <a:spLocks noChangeArrowheads="1"/>
          </p:cNvSpPr>
          <p:nvPr/>
        </p:nvSpPr>
        <p:spPr bwMode="auto">
          <a:xfrm>
            <a:off x="8062913" y="2565400"/>
            <a:ext cx="3175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a:latin typeface="华文新魏" pitchFamily="2" charset="-122"/>
                <a:ea typeface="华文新魏" pitchFamily="2" charset="-122"/>
              </a:rPr>
              <a:t>F</a:t>
            </a:r>
          </a:p>
        </p:txBody>
      </p:sp>
      <p:sp>
        <p:nvSpPr>
          <p:cNvPr id="794656" name="Text Box 32"/>
          <p:cNvSpPr txBox="1">
            <a:spLocks noChangeArrowheads="1"/>
          </p:cNvSpPr>
          <p:nvPr/>
        </p:nvSpPr>
        <p:spPr bwMode="auto">
          <a:xfrm>
            <a:off x="8002588" y="2781300"/>
            <a:ext cx="4587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华文新魏" pitchFamily="2" charset="-122"/>
                <a:ea typeface="华文新魏" pitchFamily="2" charset="-122"/>
              </a:rPr>
              <a:t>7E</a:t>
            </a:r>
          </a:p>
        </p:txBody>
      </p:sp>
      <p:sp>
        <p:nvSpPr>
          <p:cNvPr id="794657" name="Rectangle 33"/>
          <p:cNvSpPr>
            <a:spLocks noChangeArrowheads="1"/>
          </p:cNvSpPr>
          <p:nvPr/>
        </p:nvSpPr>
        <p:spPr bwMode="auto">
          <a:xfrm>
            <a:off x="3960813" y="2593975"/>
            <a:ext cx="2898775" cy="519113"/>
          </a:xfrm>
          <a:prstGeom prst="rect">
            <a:avLst/>
          </a:prstGeom>
          <a:solidFill>
            <a:srgbClr val="FFCC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58" name="Text Box 34"/>
          <p:cNvSpPr txBox="1">
            <a:spLocks noChangeArrowheads="1"/>
          </p:cNvSpPr>
          <p:nvPr/>
        </p:nvSpPr>
        <p:spPr bwMode="auto">
          <a:xfrm>
            <a:off x="3021013" y="2644775"/>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协议</a:t>
            </a:r>
          </a:p>
        </p:txBody>
      </p:sp>
      <p:sp>
        <p:nvSpPr>
          <p:cNvPr id="794659" name="Text Box 35"/>
          <p:cNvSpPr txBox="1">
            <a:spLocks noChangeArrowheads="1"/>
          </p:cNvSpPr>
          <p:nvPr/>
        </p:nvSpPr>
        <p:spPr bwMode="auto">
          <a:xfrm>
            <a:off x="4322763" y="2651125"/>
            <a:ext cx="19431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信    息    部    分</a:t>
            </a:r>
          </a:p>
        </p:txBody>
      </p:sp>
      <p:sp>
        <p:nvSpPr>
          <p:cNvPr id="794660" name="AutoShape 36"/>
          <p:cNvSpPr>
            <a:spLocks/>
          </p:cNvSpPr>
          <p:nvPr/>
        </p:nvSpPr>
        <p:spPr bwMode="auto">
          <a:xfrm rot="5400000">
            <a:off x="2513806" y="1119982"/>
            <a:ext cx="176213" cy="2717800"/>
          </a:xfrm>
          <a:prstGeom prst="leftBrace">
            <a:avLst>
              <a:gd name="adj1" fmla="val 128528"/>
              <a:gd name="adj2" fmla="val 50069"/>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61" name="AutoShape 37"/>
          <p:cNvSpPr>
            <a:spLocks/>
          </p:cNvSpPr>
          <p:nvPr/>
        </p:nvSpPr>
        <p:spPr bwMode="auto">
          <a:xfrm rot="5400000">
            <a:off x="7638256" y="1626395"/>
            <a:ext cx="161925" cy="1719262"/>
          </a:xfrm>
          <a:prstGeom prst="leftBrace">
            <a:avLst>
              <a:gd name="adj1" fmla="val 88480"/>
              <a:gd name="adj2" fmla="val 50000"/>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62" name="Text Box 38"/>
          <p:cNvSpPr txBox="1">
            <a:spLocks noChangeArrowheads="1"/>
          </p:cNvSpPr>
          <p:nvPr/>
        </p:nvSpPr>
        <p:spPr bwMode="auto">
          <a:xfrm>
            <a:off x="2239963" y="2090738"/>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首部</a:t>
            </a:r>
          </a:p>
        </p:txBody>
      </p:sp>
      <p:sp>
        <p:nvSpPr>
          <p:cNvPr id="794663" name="Text Box 39"/>
          <p:cNvSpPr txBox="1">
            <a:spLocks noChangeArrowheads="1"/>
          </p:cNvSpPr>
          <p:nvPr/>
        </p:nvSpPr>
        <p:spPr bwMode="auto">
          <a:xfrm>
            <a:off x="7364413" y="2090738"/>
            <a:ext cx="692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a:latin typeface="华文新魏" pitchFamily="2" charset="-122"/>
                <a:ea typeface="华文新魏" pitchFamily="2" charset="-122"/>
              </a:rPr>
              <a:t>尾部</a:t>
            </a:r>
          </a:p>
        </p:txBody>
      </p:sp>
      <p:sp>
        <p:nvSpPr>
          <p:cNvPr id="794664" name="Line 40"/>
          <p:cNvSpPr>
            <a:spLocks noChangeShapeType="1"/>
          </p:cNvSpPr>
          <p:nvPr/>
        </p:nvSpPr>
        <p:spPr bwMode="auto">
          <a:xfrm>
            <a:off x="1243013" y="1998663"/>
            <a:ext cx="0" cy="485775"/>
          </a:xfrm>
          <a:prstGeom prst="line">
            <a:avLst/>
          </a:prstGeom>
          <a:noFill/>
          <a:ln w="28575">
            <a:solidFill>
              <a:srgbClr val="FC0404"/>
            </a:solidFill>
            <a:round/>
            <a:headEnd/>
            <a:tailEnd type="triangle"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4665" name="Line 41"/>
          <p:cNvSpPr>
            <a:spLocks noChangeShapeType="1"/>
          </p:cNvSpPr>
          <p:nvPr/>
        </p:nvSpPr>
        <p:spPr bwMode="auto">
          <a:xfrm>
            <a:off x="6859588" y="2538413"/>
            <a:ext cx="0" cy="59531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66" name="Line 42"/>
          <p:cNvSpPr>
            <a:spLocks noChangeShapeType="1"/>
          </p:cNvSpPr>
          <p:nvPr/>
        </p:nvSpPr>
        <p:spPr bwMode="auto">
          <a:xfrm>
            <a:off x="3960813" y="2578100"/>
            <a:ext cx="0" cy="555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4667" name="AutoShape 43"/>
          <p:cNvSpPr>
            <a:spLocks noChangeArrowheads="1"/>
          </p:cNvSpPr>
          <p:nvPr/>
        </p:nvSpPr>
        <p:spPr bwMode="auto">
          <a:xfrm>
            <a:off x="5229225" y="2135188"/>
            <a:ext cx="271463" cy="566737"/>
          </a:xfrm>
          <a:prstGeom prst="downArrow">
            <a:avLst>
              <a:gd name="adj1" fmla="val 50000"/>
              <a:gd name="adj2" fmla="val 78289"/>
            </a:avLst>
          </a:prstGeom>
          <a:solidFill>
            <a:schemeClr val="accent1"/>
          </a:solidFill>
          <a:ln w="1905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94668" name="Text Box 44"/>
          <p:cNvSpPr txBox="1">
            <a:spLocks noChangeArrowheads="1"/>
          </p:cNvSpPr>
          <p:nvPr/>
        </p:nvSpPr>
        <p:spPr bwMode="auto">
          <a:xfrm>
            <a:off x="8305800" y="0"/>
            <a:ext cx="838200" cy="279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
        <p:nvSpPr>
          <p:cNvPr id="45" name="Text Box 8"/>
          <p:cNvSpPr txBox="1">
            <a:spLocks noChangeArrowheads="1"/>
          </p:cNvSpPr>
          <p:nvPr/>
        </p:nvSpPr>
        <p:spPr bwMode="auto">
          <a:xfrm>
            <a:off x="3059832" y="3178175"/>
            <a:ext cx="68961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dirty="0" smtClean="0">
                <a:latin typeface="华文新魏" pitchFamily="2" charset="-122"/>
                <a:ea typeface="华文新魏" pitchFamily="2" charset="-122"/>
              </a:rPr>
              <a:t>1</a:t>
            </a:r>
            <a:r>
              <a:rPr lang="zh-CN" altLang="en-US" sz="2000" dirty="0" smtClean="0">
                <a:latin typeface="华文新魏" pitchFamily="2" charset="-122"/>
                <a:ea typeface="华文新魏" pitchFamily="2" charset="-122"/>
              </a:rPr>
              <a:t>或</a:t>
            </a:r>
            <a:r>
              <a:rPr lang="en-US" altLang="zh-CN" sz="2000" dirty="0" smtClean="0">
                <a:latin typeface="华文新魏" pitchFamily="2" charset="-122"/>
                <a:ea typeface="华文新魏" pitchFamily="2" charset="-122"/>
              </a:rPr>
              <a:t>2</a:t>
            </a:r>
            <a:endParaRPr lang="en-US" altLang="zh-CN" sz="2000" dirty="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Rectangle 2"/>
          <p:cNvSpPr>
            <a:spLocks noGrp="1" noChangeArrowheads="1"/>
          </p:cNvSpPr>
          <p:nvPr>
            <p:ph type="title"/>
          </p:nvPr>
        </p:nvSpPr>
        <p:spPr/>
        <p:txBody>
          <a:bodyPr/>
          <a:lstStyle/>
          <a:p>
            <a:r>
              <a:rPr lang="zh-CN" altLang="en-US" sz="4000" dirty="0" smtClean="0"/>
              <a:t>问题</a:t>
            </a:r>
            <a:r>
              <a:rPr lang="en-US" altLang="zh-CN" sz="4000" dirty="0" smtClean="0">
                <a:latin typeface="隶书" pitchFamily="49" charset="-122"/>
              </a:rPr>
              <a:t>:</a:t>
            </a:r>
            <a:r>
              <a:rPr lang="zh-CN" altLang="en-US" sz="4000" dirty="0" smtClean="0"/>
              <a:t>不</a:t>
            </a:r>
            <a:r>
              <a:rPr lang="zh-CN" altLang="en-US" sz="4000" dirty="0"/>
              <a:t>使用序号和</a:t>
            </a:r>
            <a:r>
              <a:rPr lang="zh-CN" altLang="en-US" sz="4000" dirty="0" smtClean="0"/>
              <a:t>确认？</a:t>
            </a:r>
            <a:endParaRPr lang="zh-CN" altLang="en-US" sz="4000" dirty="0"/>
          </a:p>
        </p:txBody>
      </p:sp>
      <p:sp>
        <p:nvSpPr>
          <p:cNvPr id="786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数据链路层协议举例</a:t>
            </a:r>
            <a:r>
              <a:rPr lang="en-US" altLang="zh-CN" sz="1200">
                <a:ea typeface="幼圆" pitchFamily="49" charset="-122"/>
              </a:rPr>
              <a:t>&gt;&gt;</a:t>
            </a:r>
            <a:r>
              <a:rPr lang="en-US" altLang="zh-CN" sz="1200">
                <a:ea typeface="幼圆" pitchFamily="49" charset="-122"/>
                <a:hlinkClick r:id="rId5" action="ppaction://hlinksldjump"/>
              </a:rPr>
              <a:t>PPP</a:t>
            </a:r>
            <a:endParaRPr lang="en-US" altLang="zh-CN" sz="1200">
              <a:ea typeface="幼圆" pitchFamily="49" charset="-122"/>
            </a:endParaRPr>
          </a:p>
        </p:txBody>
      </p:sp>
      <p:sp>
        <p:nvSpPr>
          <p:cNvPr id="786436" name="Rectangle 4"/>
          <p:cNvSpPr>
            <a:spLocks noGrp="1" noChangeArrowheads="1"/>
          </p:cNvSpPr>
          <p:nvPr>
            <p:ph type="body" idx="1"/>
          </p:nvPr>
        </p:nvSpPr>
        <p:spPr/>
        <p:txBody>
          <a:bodyPr/>
          <a:lstStyle/>
          <a:p>
            <a:pPr>
              <a:lnSpc>
                <a:spcPct val="140000"/>
              </a:lnSpc>
            </a:pPr>
            <a:r>
              <a:rPr lang="zh-CN" altLang="en-US" dirty="0"/>
              <a:t>在数据链路层出现差错的概率不大时，使用比较简单的</a:t>
            </a:r>
            <a:r>
              <a:rPr lang="en-US" altLang="zh-CN" dirty="0"/>
              <a:t>PPP</a:t>
            </a:r>
            <a:r>
              <a:rPr lang="zh-CN" altLang="en-US" dirty="0"/>
              <a:t>协议较为合理。</a:t>
            </a:r>
          </a:p>
          <a:p>
            <a:pPr>
              <a:lnSpc>
                <a:spcPct val="140000"/>
              </a:lnSpc>
            </a:pPr>
            <a:r>
              <a:rPr lang="zh-CN" altLang="en-US" dirty="0"/>
              <a:t>在</a:t>
            </a:r>
            <a:r>
              <a:rPr lang="en-US" altLang="zh-CN" dirty="0"/>
              <a:t>Internet</a:t>
            </a:r>
            <a:r>
              <a:rPr lang="zh-CN" altLang="en-US" dirty="0"/>
              <a:t>环境下，</a:t>
            </a:r>
            <a:r>
              <a:rPr lang="en-US" altLang="zh-CN" dirty="0"/>
              <a:t>PPP</a:t>
            </a:r>
            <a:r>
              <a:rPr lang="zh-CN" altLang="en-US" dirty="0"/>
              <a:t>的信息字段放入的数据是</a:t>
            </a:r>
            <a:r>
              <a:rPr lang="en-US" altLang="zh-CN" dirty="0"/>
              <a:t>IP</a:t>
            </a:r>
            <a:r>
              <a:rPr lang="zh-CN" altLang="en-US" dirty="0"/>
              <a:t>数据报。数据链路层的可靠传输并不能够保证网络层的传输也是可靠的。</a:t>
            </a:r>
          </a:p>
          <a:p>
            <a:pPr>
              <a:lnSpc>
                <a:spcPct val="140000"/>
              </a:lnSpc>
            </a:pPr>
            <a:r>
              <a:rPr lang="zh-CN" altLang="en-US" dirty="0"/>
              <a:t>帧检验序列</a:t>
            </a:r>
            <a:r>
              <a:rPr lang="en-US" altLang="zh-CN" dirty="0"/>
              <a:t>FCS</a:t>
            </a:r>
            <a:r>
              <a:rPr lang="zh-CN" altLang="en-US" dirty="0"/>
              <a:t>字段可保证无差错接收。</a:t>
            </a:r>
          </a:p>
        </p:txBody>
      </p:sp>
      <p:sp>
        <p:nvSpPr>
          <p:cNvPr id="7864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p:cNvSpPr>
            <a:spLocks noGrp="1" noChangeArrowheads="1"/>
          </p:cNvSpPr>
          <p:nvPr>
            <p:ph type="title"/>
          </p:nvPr>
        </p:nvSpPr>
        <p:spPr/>
        <p:txBody>
          <a:bodyPr/>
          <a:lstStyle/>
          <a:p>
            <a:r>
              <a:rPr lang="zh-CN" altLang="en-US"/>
              <a:t>作  业</a:t>
            </a:r>
          </a:p>
        </p:txBody>
      </p:sp>
      <p:sp>
        <p:nvSpPr>
          <p:cNvPr id="796675" name="Rectangle 3"/>
          <p:cNvSpPr>
            <a:spLocks noGrp="1" noChangeArrowheads="1"/>
          </p:cNvSpPr>
          <p:nvPr>
            <p:ph type="body" idx="1"/>
          </p:nvPr>
        </p:nvSpPr>
        <p:spPr>
          <a:xfrm>
            <a:off x="3132138" y="2565400"/>
            <a:ext cx="5418137" cy="2663825"/>
          </a:xfrm>
        </p:spPr>
        <p:txBody>
          <a:bodyPr/>
          <a:lstStyle/>
          <a:p>
            <a:pPr marL="1168400" indent="-1168400">
              <a:lnSpc>
                <a:spcPct val="150000"/>
              </a:lnSpc>
              <a:buFont typeface="Wingdings" pitchFamily="2" charset="2"/>
              <a:buNone/>
            </a:pPr>
            <a:r>
              <a:rPr lang="en-US" altLang="zh-CN" dirty="0" smtClean="0"/>
              <a:t>P195  6</a:t>
            </a:r>
            <a:r>
              <a:rPr lang="zh-CN" altLang="en-US" dirty="0" smtClean="0"/>
              <a:t>、</a:t>
            </a:r>
            <a:r>
              <a:rPr lang="en-US" altLang="zh-CN" dirty="0" smtClean="0"/>
              <a:t>9</a:t>
            </a:r>
            <a:r>
              <a:rPr lang="zh-CN" altLang="en-US" dirty="0" smtClean="0"/>
              <a:t>、</a:t>
            </a:r>
            <a:r>
              <a:rPr lang="en-US" altLang="zh-CN" dirty="0" smtClean="0"/>
              <a:t>17</a:t>
            </a:r>
            <a:r>
              <a:rPr lang="zh-CN" altLang="en-US" dirty="0" smtClean="0"/>
              <a:t>、</a:t>
            </a:r>
            <a:r>
              <a:rPr lang="en-US" altLang="zh-CN" dirty="0" smtClean="0"/>
              <a:t>20</a:t>
            </a:r>
            <a:r>
              <a:rPr lang="zh-CN" altLang="en-US" dirty="0" smtClean="0"/>
              <a:t>、</a:t>
            </a:r>
            <a:r>
              <a:rPr lang="en-US" altLang="zh-CN" dirty="0" smtClean="0"/>
              <a:t>32</a:t>
            </a:r>
            <a:r>
              <a:rPr lang="zh-CN" altLang="en-US" dirty="0" smtClean="0"/>
              <a:t>、</a:t>
            </a:r>
            <a:endParaRPr lang="zh-CN" altLang="en-US" dirty="0"/>
          </a:p>
        </p:txBody>
      </p:sp>
      <p:pic>
        <p:nvPicPr>
          <p:cNvPr id="796676" name="Picture 4" descr="j023213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827088" y="2708275"/>
            <a:ext cx="2068512" cy="2122488"/>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自定义设计方案 13">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自定义设计方案 14">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自定义设计方案 1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10497</TotalTime>
  <Words>8707</Words>
  <Application>Microsoft Office PowerPoint</Application>
  <PresentationFormat>全屏显示(4:3)</PresentationFormat>
  <Paragraphs>1617</Paragraphs>
  <Slides>122</Slides>
  <Notes>0</Notes>
  <HiddenSlides>0</HiddenSlides>
  <MMClips>0</MMClips>
  <ScaleCrop>false</ScaleCrop>
  <HeadingPairs>
    <vt:vector size="6" baseType="variant">
      <vt:variant>
        <vt:lpstr>主题</vt:lpstr>
      </vt:variant>
      <vt:variant>
        <vt:i4>2</vt:i4>
      </vt:variant>
      <vt:variant>
        <vt:lpstr>嵌入 OLE 服务器</vt:lpstr>
      </vt:variant>
      <vt:variant>
        <vt:i4>2</vt:i4>
      </vt:variant>
      <vt:variant>
        <vt:lpstr>幻灯片标题</vt:lpstr>
      </vt:variant>
      <vt:variant>
        <vt:i4>122</vt:i4>
      </vt:variant>
    </vt:vector>
  </HeadingPairs>
  <TitlesOfParts>
    <vt:vector size="126" baseType="lpstr">
      <vt:lpstr>Straight Edge</vt:lpstr>
      <vt:lpstr>自定义设计方案</vt:lpstr>
      <vt:lpstr>Clip</vt:lpstr>
      <vt:lpstr>公式</vt:lpstr>
      <vt:lpstr>第三章   数据链路层</vt:lpstr>
      <vt:lpstr>数据链路层</vt:lpstr>
      <vt:lpstr>一些术语</vt:lpstr>
      <vt:lpstr>数据传输过程</vt:lpstr>
      <vt:lpstr>数据链路层中的帧</vt:lpstr>
      <vt:lpstr>数据链路层目的和功能</vt:lpstr>
      <vt:lpstr>数据链路层功能</vt:lpstr>
      <vt:lpstr>服务类型一 （无确认的无连接服务）</vt:lpstr>
      <vt:lpstr>服务类型二 （有确认的无连接服务）</vt:lpstr>
      <vt:lpstr>服务类型三 （有确认的面向连接服务）</vt:lpstr>
      <vt:lpstr>数据成帧</vt:lpstr>
      <vt:lpstr>字节计数法</vt:lpstr>
      <vt:lpstr>使用字符填充的首尾定界符法</vt:lpstr>
      <vt:lpstr>举  例</vt:lpstr>
      <vt:lpstr>使用比特填充的首尾定界符法</vt:lpstr>
      <vt:lpstr>举  例</vt:lpstr>
      <vt:lpstr>差错控制</vt:lpstr>
      <vt:lpstr>传输差错类型</vt:lpstr>
      <vt:lpstr>突发长度</vt:lpstr>
      <vt:lpstr>差错控制编码</vt:lpstr>
      <vt:lpstr>编码分类</vt:lpstr>
      <vt:lpstr>编码效率</vt:lpstr>
      <vt:lpstr>常用差错控制编码</vt:lpstr>
      <vt:lpstr>奇偶校验码</vt:lpstr>
      <vt:lpstr>循环冗余码 （CRC）</vt:lpstr>
      <vt:lpstr>例:发送端的编码</vt:lpstr>
      <vt:lpstr>例:接收端的校验</vt:lpstr>
      <vt:lpstr>标准生成多项式</vt:lpstr>
      <vt:lpstr>CRC性质</vt:lpstr>
      <vt:lpstr>海明码</vt:lpstr>
      <vt:lpstr>海明距离</vt:lpstr>
      <vt:lpstr>校验位位数</vt:lpstr>
      <vt:lpstr>纠正突发错</vt:lpstr>
      <vt:lpstr>差错控制方法</vt:lpstr>
      <vt:lpstr>反馈检测法</vt:lpstr>
      <vt:lpstr>自动请求重发 （ARQ）</vt:lpstr>
      <vt:lpstr>特  点</vt:lpstr>
      <vt:lpstr>前向纠错 （FEC）</vt:lpstr>
      <vt:lpstr>流量控制</vt:lpstr>
      <vt:lpstr>数据链路层协议</vt:lpstr>
      <vt:lpstr>基本数据链路协议</vt:lpstr>
      <vt:lpstr>简化的通信模型</vt:lpstr>
      <vt:lpstr>假  设</vt:lpstr>
      <vt:lpstr>图示数据传输</vt:lpstr>
      <vt:lpstr>协议1:sender</vt:lpstr>
      <vt:lpstr>协议1:receiver</vt:lpstr>
      <vt:lpstr>假  设</vt:lpstr>
      <vt:lpstr>具有最简单量控制的数据链路层协议</vt:lpstr>
      <vt:lpstr>一个单工的停-等协议</vt:lpstr>
      <vt:lpstr>具有最简单流量控制的 数据链路层协议算法</vt:lpstr>
      <vt:lpstr>具有最简单流量控制的 数据链路层协议算法（续）</vt:lpstr>
      <vt:lpstr>两种情况的对比（传输均无差错）</vt:lpstr>
      <vt:lpstr>图示流量控制</vt:lpstr>
      <vt:lpstr>假  设</vt:lpstr>
      <vt:lpstr>3 有噪声信道的单工协议</vt:lpstr>
      <vt:lpstr>3.2.3 有噪声信道的单工协议（续）</vt:lpstr>
      <vt:lpstr>3.2.3 有噪声信道的单工协议（续）</vt:lpstr>
      <vt:lpstr>图示差错控制 （停-等式协议）</vt:lpstr>
      <vt:lpstr>超时计时器的作用</vt:lpstr>
      <vt:lpstr>解决重复帧的问题 </vt:lpstr>
      <vt:lpstr>帧的编号问题 </vt:lpstr>
      <vt:lpstr>停止等待协议的要点</vt:lpstr>
      <vt:lpstr>停止等待协议的要点（续）</vt:lpstr>
      <vt:lpstr>停止等待协议的要点（续）</vt:lpstr>
      <vt:lpstr>停止等待协议 ARQ 的优缺点 </vt:lpstr>
      <vt:lpstr>协议3:sender</vt:lpstr>
      <vt:lpstr>协议3:receiver</vt:lpstr>
      <vt:lpstr>停-等协议中的时间</vt:lpstr>
      <vt:lpstr>重传时间tout</vt:lpstr>
      <vt:lpstr>滑动窗口协议 </vt:lpstr>
      <vt:lpstr>简化的通信模型</vt:lpstr>
      <vt:lpstr>全双工的实现 </vt:lpstr>
      <vt:lpstr>双工的实现 </vt:lpstr>
      <vt:lpstr>滑动窗口</vt:lpstr>
      <vt:lpstr>3.3   滑动窗口的概念</vt:lpstr>
      <vt:lpstr>发送窗口</vt:lpstr>
      <vt:lpstr>接收窗口</vt:lpstr>
      <vt:lpstr>幻灯片 78</vt:lpstr>
      <vt:lpstr>接收端设置接收窗口 </vt:lpstr>
      <vt:lpstr>幻灯片 80</vt:lpstr>
      <vt:lpstr>滑动窗口的重要特性</vt:lpstr>
      <vt:lpstr>发送窗口的最大值 </vt:lpstr>
      <vt:lpstr>滑动窗口思想举例</vt:lpstr>
      <vt:lpstr>协议4  （sender + receiver）</vt:lpstr>
      <vt:lpstr>协议4  （sender + receiver）</vt:lpstr>
      <vt:lpstr>引  入</vt:lpstr>
      <vt:lpstr>后退n帧</vt:lpstr>
      <vt:lpstr>使用后退n帧的滑动窗口协议（后退n帧ARQ协议）</vt:lpstr>
      <vt:lpstr>定理证明</vt:lpstr>
      <vt:lpstr>选择重发</vt:lpstr>
      <vt:lpstr>使用选择重发的滑动窗口协议（选择重发ARQ协议）</vt:lpstr>
      <vt:lpstr>定理证明</vt:lpstr>
      <vt:lpstr>协议6更具有实用性</vt:lpstr>
      <vt:lpstr>协议描述和验证</vt:lpstr>
      <vt:lpstr>两种基本方法</vt:lpstr>
      <vt:lpstr>数据链路层协议举例</vt:lpstr>
      <vt:lpstr>HDLC (High-level Data Link Control)</vt:lpstr>
      <vt:lpstr>HDLC</vt:lpstr>
      <vt:lpstr>基本概念</vt:lpstr>
      <vt:lpstr>站点类型</vt:lpstr>
      <vt:lpstr>数据帧</vt:lpstr>
      <vt:lpstr>HDLC的帧结构</vt:lpstr>
      <vt:lpstr>HDLC的帧结构</vt:lpstr>
      <vt:lpstr>帧类型</vt:lpstr>
      <vt:lpstr>信息帧（I帧）</vt:lpstr>
      <vt:lpstr>控制字段的格式</vt:lpstr>
      <vt:lpstr>监控帧的类型 流量控制</vt:lpstr>
      <vt:lpstr>监控帧的类型 差错控制</vt:lpstr>
      <vt:lpstr>无编号帧（U帧）</vt:lpstr>
      <vt:lpstr>控制字段的格式</vt:lpstr>
      <vt:lpstr>PPP （Point-to-Point Protocol）</vt:lpstr>
      <vt:lpstr>Internet接入方式 （路由器-路由器接入）</vt:lpstr>
      <vt:lpstr>Internet接入方式 （拨号主机-路由器接入）</vt:lpstr>
      <vt:lpstr>PPP</vt:lpstr>
      <vt:lpstr>PPP协议的组成</vt:lpstr>
      <vt:lpstr>PPP协议的状态图</vt:lpstr>
      <vt:lpstr>PPP协议的帧格式</vt:lpstr>
      <vt:lpstr>PPP协议的帧格式</vt:lpstr>
      <vt:lpstr>PPP协议的帧格式</vt:lpstr>
      <vt:lpstr>PPP协议的帧格式</vt:lpstr>
      <vt:lpstr>问题:不使用序号和确认？</vt:lpstr>
      <vt:lpstr>作  业</vt:lpstr>
    </vt:vector>
  </TitlesOfParts>
  <Company>同济大学.电子与信息工程学院.计算机科学与工程系</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dc:title>
  <dc:subject>数据链路层</dc:subject>
  <dc:creator>陆有军</dc:creator>
  <cp:lastModifiedBy>Administrator</cp:lastModifiedBy>
  <cp:revision>361</cp:revision>
  <dcterms:created xsi:type="dcterms:W3CDTF">1601-01-01T00:00:00Z</dcterms:created>
  <dcterms:modified xsi:type="dcterms:W3CDTF">2017-11-06T02:46:15Z</dcterms:modified>
</cp:coreProperties>
</file>