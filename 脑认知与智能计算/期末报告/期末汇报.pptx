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1" r:id="rId7"/>
    <p:sldId id="267" r:id="rId8"/>
    <p:sldId id="289" r:id="rId9"/>
    <p:sldId id="287" r:id="rId1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8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7181533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36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457200" y="900112"/>
            <a:ext cx="4038600" cy="2545558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half" idx="13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13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3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5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1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课题综述</a:t>
            </a:r>
          </a:p>
        </p:txBody>
      </p:sp>
      <p:sp>
        <p:nvSpPr>
          <p:cNvPr id="113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4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6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7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8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9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0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90" name="同济大学.png" descr="同济大学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553200" y="4767262"/>
            <a:ext cx="343903" cy="358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5" r:id="rId14"/>
    <p:sldLayoutId id="2147483673" r:id="rId15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8380" y="846249"/>
            <a:ext cx="3460751" cy="2342928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矩形 1"/>
          <p:cNvSpPr/>
          <p:nvPr/>
        </p:nvSpPr>
        <p:spPr>
          <a:xfrm>
            <a:off x="2627313" y="1109663"/>
            <a:ext cx="6516687" cy="209708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3" name="矩形 33"/>
          <p:cNvSpPr/>
          <p:nvPr/>
        </p:nvSpPr>
        <p:spPr>
          <a:xfrm>
            <a:off x="3342011" y="832595"/>
            <a:ext cx="5974752" cy="266701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TextBox 28"/>
          <p:cNvSpPr txBox="1"/>
          <p:nvPr/>
        </p:nvSpPr>
        <p:spPr>
          <a:xfrm>
            <a:off x="3221830" y="950473"/>
            <a:ext cx="5608808" cy="3262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 anchor="ctr">
            <a:spAutoFit/>
          </a:bodyPr>
          <a:lstStyle>
            <a:lvl1pPr>
              <a:lnSpc>
                <a:spcPct val="150000"/>
              </a:lnSpc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基于</a:t>
            </a:r>
            <a:r>
              <a:rPr lang="en-US" altLang="zh-CN" dirty="0" err="1"/>
              <a:t>FcF</a:t>
            </a:r>
            <a:r>
              <a:rPr lang="zh-CN" altLang="en-US" dirty="0"/>
              <a:t>框架的图像补全方法复现</a:t>
            </a:r>
          </a:p>
          <a:p>
            <a:endParaRPr dirty="0"/>
          </a:p>
        </p:txBody>
      </p:sp>
      <p:grpSp>
        <p:nvGrpSpPr>
          <p:cNvPr id="315" name="组合 2"/>
          <p:cNvGrpSpPr/>
          <p:nvPr/>
        </p:nvGrpSpPr>
        <p:grpSpPr>
          <a:xfrm>
            <a:off x="3632200" y="3435350"/>
            <a:ext cx="3460751" cy="1494791"/>
            <a:chOff x="0" y="0"/>
            <a:chExt cx="3460750" cy="1494790"/>
          </a:xfrm>
        </p:grpSpPr>
        <p:sp>
          <p:nvSpPr>
            <p:cNvPr id="306" name="TextBox 57"/>
            <p:cNvSpPr txBox="1"/>
            <p:nvPr/>
          </p:nvSpPr>
          <p:spPr>
            <a:xfrm>
              <a:off x="563562" y="0"/>
              <a:ext cx="2897188" cy="14365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zh-CN" altLang="en-US" dirty="0"/>
                <a:t>张宇</a:t>
              </a:r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zh-CN" altLang="en-US" dirty="0"/>
                <a:t>计算机科学与技术</a:t>
              </a:r>
              <a:endParaRPr dirty="0"/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zh-CN" altLang="en-US" dirty="0"/>
                <a:t>孙杳如</a:t>
              </a:r>
              <a:endParaRPr dirty="0"/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dirty="0"/>
                <a:t>20</a:t>
              </a:r>
              <a:r>
                <a:rPr lang="en-US" altLang="zh-CN" dirty="0"/>
                <a:t>24</a:t>
              </a:r>
              <a:r>
                <a:rPr dirty="0"/>
                <a:t>年</a:t>
              </a:r>
              <a:r>
                <a:rPr lang="en-US" altLang="zh-CN" dirty="0"/>
                <a:t>12</a:t>
              </a:r>
              <a:r>
                <a:rPr dirty="0"/>
                <a:t>月</a:t>
              </a:r>
              <a:r>
                <a:rPr lang="en-US" altLang="zh-CN" dirty="0"/>
                <a:t>18</a:t>
              </a:r>
              <a:r>
                <a:rPr dirty="0"/>
                <a:t>日 </a:t>
              </a:r>
            </a:p>
          </p:txBody>
        </p:sp>
        <p:sp>
          <p:nvSpPr>
            <p:cNvPr id="307" name="TextBox 90"/>
            <p:cNvSpPr txBox="1"/>
            <p:nvPr/>
          </p:nvSpPr>
          <p:spPr>
            <a:xfrm>
              <a:off x="0" y="76199"/>
              <a:ext cx="1154113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姓名：</a:t>
              </a:r>
            </a:p>
          </p:txBody>
        </p:sp>
        <p:sp>
          <p:nvSpPr>
            <p:cNvPr id="308" name="TextBox 59"/>
            <p:cNvSpPr txBox="1"/>
            <p:nvPr/>
          </p:nvSpPr>
          <p:spPr>
            <a:xfrm>
              <a:off x="0" y="422275"/>
              <a:ext cx="118110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专业：</a:t>
              </a:r>
            </a:p>
          </p:txBody>
        </p:sp>
        <p:sp>
          <p:nvSpPr>
            <p:cNvPr id="309" name="TextBox 60"/>
            <p:cNvSpPr txBox="1"/>
            <p:nvPr/>
          </p:nvSpPr>
          <p:spPr>
            <a:xfrm>
              <a:off x="0" y="777875"/>
              <a:ext cx="7137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导师：</a:t>
              </a:r>
            </a:p>
          </p:txBody>
        </p:sp>
        <p:sp>
          <p:nvSpPr>
            <p:cNvPr id="310" name="TextBox 61"/>
            <p:cNvSpPr txBox="1"/>
            <p:nvPr/>
          </p:nvSpPr>
          <p:spPr>
            <a:xfrm>
              <a:off x="0" y="1123949"/>
              <a:ext cx="7137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日期：</a:t>
              </a:r>
            </a:p>
          </p:txBody>
        </p:sp>
        <p:sp>
          <p:nvSpPr>
            <p:cNvPr id="311" name="直接连接符 62"/>
            <p:cNvSpPr/>
            <p:nvPr/>
          </p:nvSpPr>
          <p:spPr>
            <a:xfrm>
              <a:off x="1036638" y="368300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2" name="直接连接符 63"/>
            <p:cNvSpPr/>
            <p:nvPr/>
          </p:nvSpPr>
          <p:spPr>
            <a:xfrm>
              <a:off x="1036638" y="692150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直接连接符 64"/>
            <p:cNvSpPr/>
            <p:nvPr/>
          </p:nvSpPr>
          <p:spPr>
            <a:xfrm>
              <a:off x="1036638" y="1069974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4" name="直接连接符 65"/>
            <p:cNvSpPr/>
            <p:nvPr/>
          </p:nvSpPr>
          <p:spPr>
            <a:xfrm>
              <a:off x="1036638" y="1393824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16" name="温馨、背景音乐 - 梦.mp3" descr="温馨、背景音乐 - 梦.mp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43400" y="-506413"/>
            <a:ext cx="457200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9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8" presetClass="entr" presetSubtype="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2" animBg="1" advAuto="0"/>
      <p:bldP spid="303" grpId="1" animBg="1" advAuto="0"/>
      <p:bldP spid="305" grpId="5" animBg="1" advAuto="0"/>
      <p:bldP spid="315" grpId="7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文本框 38"/>
          <p:cNvSpPr txBox="1"/>
          <p:nvPr/>
        </p:nvSpPr>
        <p:spPr>
          <a:xfrm>
            <a:off x="600160" y="2346325"/>
            <a:ext cx="312420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CONTENTS</a:t>
            </a:r>
          </a:p>
        </p:txBody>
      </p:sp>
      <p:sp>
        <p:nvSpPr>
          <p:cNvPr id="319" name="文本框 11"/>
          <p:cNvSpPr txBox="1"/>
          <p:nvPr/>
        </p:nvSpPr>
        <p:spPr>
          <a:xfrm>
            <a:off x="2416261" y="1976438"/>
            <a:ext cx="81534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 b="1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目录</a:t>
            </a:r>
          </a:p>
        </p:txBody>
      </p:sp>
      <p:sp>
        <p:nvSpPr>
          <p:cNvPr id="320" name="文本框 18"/>
          <p:cNvSpPr txBox="1"/>
          <p:nvPr/>
        </p:nvSpPr>
        <p:spPr>
          <a:xfrm>
            <a:off x="5048005" y="2114549"/>
            <a:ext cx="101566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目前现状</a:t>
            </a:r>
            <a:endParaRPr dirty="0"/>
          </a:p>
        </p:txBody>
      </p:sp>
      <p:grpSp>
        <p:nvGrpSpPr>
          <p:cNvPr id="323" name="组合 34"/>
          <p:cNvGrpSpPr/>
          <p:nvPr/>
        </p:nvGrpSpPr>
        <p:grpSpPr>
          <a:xfrm>
            <a:off x="4632275" y="2047874"/>
            <a:ext cx="414143" cy="497842"/>
            <a:chOff x="0" y="0"/>
            <a:chExt cx="414142" cy="497840"/>
          </a:xfrm>
        </p:grpSpPr>
        <p:sp>
          <p:nvSpPr>
            <p:cNvPr id="321" name="文本框 16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22" name="直接连接符 17"/>
            <p:cNvSpPr/>
            <p:nvPr/>
          </p:nvSpPr>
          <p:spPr>
            <a:xfrm flipH="1">
              <a:off x="168079" y="179388"/>
              <a:ext cx="246064" cy="247650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28" name="文本框 24"/>
          <p:cNvSpPr txBox="1"/>
          <p:nvPr/>
        </p:nvSpPr>
        <p:spPr>
          <a:xfrm>
            <a:off x="5048005" y="2693988"/>
            <a:ext cx="101566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方法创新</a:t>
            </a:r>
            <a:endParaRPr dirty="0"/>
          </a:p>
        </p:txBody>
      </p:sp>
      <p:grpSp>
        <p:nvGrpSpPr>
          <p:cNvPr id="331" name="组合 36"/>
          <p:cNvGrpSpPr/>
          <p:nvPr/>
        </p:nvGrpSpPr>
        <p:grpSpPr>
          <a:xfrm>
            <a:off x="4632275" y="2627313"/>
            <a:ext cx="414143" cy="497841"/>
            <a:chOff x="0" y="0"/>
            <a:chExt cx="414142" cy="497840"/>
          </a:xfrm>
        </p:grpSpPr>
        <p:sp>
          <p:nvSpPr>
            <p:cNvPr id="329" name="文本框 23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330" name="直接连接符 23"/>
            <p:cNvSpPr/>
            <p:nvPr/>
          </p:nvSpPr>
          <p:spPr>
            <a:xfrm flipH="1">
              <a:off x="168079" y="179386"/>
              <a:ext cx="246064" cy="246064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36" name="文本框 30"/>
          <p:cNvSpPr txBox="1"/>
          <p:nvPr/>
        </p:nvSpPr>
        <p:spPr>
          <a:xfrm>
            <a:off x="5048005" y="3267074"/>
            <a:ext cx="10140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实验结果</a:t>
            </a:r>
            <a:endParaRPr dirty="0"/>
          </a:p>
        </p:txBody>
      </p:sp>
      <p:grpSp>
        <p:nvGrpSpPr>
          <p:cNvPr id="339" name="组合 38"/>
          <p:cNvGrpSpPr/>
          <p:nvPr/>
        </p:nvGrpSpPr>
        <p:grpSpPr>
          <a:xfrm>
            <a:off x="4632275" y="3200399"/>
            <a:ext cx="414143" cy="497842"/>
            <a:chOff x="0" y="0"/>
            <a:chExt cx="414142" cy="497840"/>
          </a:xfrm>
        </p:grpSpPr>
        <p:sp>
          <p:nvSpPr>
            <p:cNvPr id="337" name="文本框 29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38" name="直接连接符 29"/>
            <p:cNvSpPr/>
            <p:nvPr/>
          </p:nvSpPr>
          <p:spPr>
            <a:xfrm flipH="1">
              <a:off x="168079" y="179388"/>
              <a:ext cx="246064" cy="247650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4" name="直接连接符 33"/>
          <p:cNvSpPr/>
          <p:nvPr/>
        </p:nvSpPr>
        <p:spPr>
          <a:xfrm>
            <a:off x="3714835" y="2139950"/>
            <a:ext cx="1" cy="1546226"/>
          </a:xfrm>
          <a:prstGeom prst="line">
            <a:avLst/>
          </a:prstGeom>
          <a:ln>
            <a:solidFill>
              <a:srgbClr val="808080"/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7369 -0.041213" pathEditMode="relative">
                                      <p:cBhvr>
                                        <p:cTn id="23" dur="7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22" presetClass="entr" presetSubtype="8" fill="hold" grpId="6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"/>
                            </p:stCondLst>
                            <p:childTnLst>
                              <p:par>
                                <p:cTn id="29" presetID="9" presetClass="entr" fill="hold" grpId="7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-1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00000 0.000000 L 0.037369 -0.041197" pathEditMode="relative">
                                      <p:cBhvr>
                                        <p:cTn id="34" dur="7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50"/>
                            </p:stCondLst>
                            <p:childTnLst>
                              <p:par>
                                <p:cTn id="36" presetID="22" presetClass="entr" presetSubtype="8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9" presetClass="entr" fill="hold" grpId="1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-1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00 0.000000 L 0.037369 -0.041201" pathEditMode="relative">
                                      <p:cBhvr>
                                        <p:cTn id="45" dur="7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22" presetClass="entr" presetSubtype="8" fill="hold" grpId="12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2" animBg="1" advAuto="0"/>
      <p:bldP spid="319" grpId="1" animBg="1" advAuto="0"/>
      <p:bldP spid="320" grpId="6" animBg="1" advAuto="0"/>
      <p:bldP spid="323" grpId="4" animBg="1" advAuto="0"/>
      <p:bldP spid="328" grpId="9" animBg="1" advAuto="0"/>
      <p:bldP spid="331" grpId="7" animBg="1" advAuto="0"/>
      <p:bldP spid="336" grpId="12" animBg="1" advAuto="0"/>
      <p:bldP spid="339" grpId="10" animBg="1" advAuto="0"/>
      <p:bldP spid="344" grpId="3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第一部分</a:t>
            </a:r>
          </a:p>
        </p:txBody>
      </p:sp>
      <p:sp>
        <p:nvSpPr>
          <p:cNvPr id="348" name="TextBox 23"/>
          <p:cNvSpPr txBox="1"/>
          <p:nvPr/>
        </p:nvSpPr>
        <p:spPr>
          <a:xfrm>
            <a:off x="3773487" y="1827213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任务目标</a:t>
            </a:r>
            <a:endParaRPr dirty="0"/>
          </a:p>
        </p:txBody>
      </p:sp>
      <p:sp>
        <p:nvSpPr>
          <p:cNvPr id="349" name="TextBox 24"/>
          <p:cNvSpPr txBox="1"/>
          <p:nvPr/>
        </p:nvSpPr>
        <p:spPr>
          <a:xfrm>
            <a:off x="3773487" y="2154238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任务挑战</a:t>
            </a:r>
            <a:endParaRPr dirty="0"/>
          </a:p>
        </p:txBody>
      </p:sp>
      <p:sp>
        <p:nvSpPr>
          <p:cNvPr id="350" name="TextBox 25"/>
          <p:cNvSpPr txBox="1"/>
          <p:nvPr/>
        </p:nvSpPr>
        <p:spPr>
          <a:xfrm>
            <a:off x="3773487" y="2505074"/>
            <a:ext cx="1632498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现有方法的问题</a:t>
            </a:r>
            <a:endParaRPr dirty="0"/>
          </a:p>
        </p:txBody>
      </p:sp>
      <p:grpSp>
        <p:nvGrpSpPr>
          <p:cNvPr id="354" name="组合 11"/>
          <p:cNvGrpSpPr/>
          <p:nvPr/>
        </p:nvGrpSpPr>
        <p:grpSpPr>
          <a:xfrm>
            <a:off x="3773487" y="1247774"/>
            <a:ext cx="3824482" cy="530915"/>
            <a:chOff x="0" y="0"/>
            <a:chExt cx="3824480" cy="530913"/>
          </a:xfrm>
        </p:grpSpPr>
        <p:sp>
          <p:nvSpPr>
            <p:cNvPr id="352" name="TextBox 4"/>
            <p:cNvSpPr txBox="1"/>
            <p:nvPr/>
          </p:nvSpPr>
          <p:spPr>
            <a:xfrm>
              <a:off x="0" y="0"/>
              <a:ext cx="2332689" cy="530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rPr lang="en-US" dirty="0"/>
                <a:t>Current status</a:t>
              </a:r>
              <a:endParaRPr dirty="0"/>
            </a:p>
          </p:txBody>
        </p:sp>
        <p:sp>
          <p:nvSpPr>
            <p:cNvPr id="353" name="文本框 8"/>
            <p:cNvSpPr txBox="1"/>
            <p:nvPr/>
          </p:nvSpPr>
          <p:spPr>
            <a:xfrm>
              <a:off x="2524125" y="46038"/>
              <a:ext cx="1300355" cy="438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目前现状</a:t>
              </a:r>
              <a:endParaRPr dirty="0"/>
            </a:p>
          </p:txBody>
        </p:sp>
      </p:grpSp>
      <p:sp>
        <p:nvSpPr>
          <p:cNvPr id="355" name="矩形 9"/>
          <p:cNvSpPr/>
          <p:nvPr/>
        </p:nvSpPr>
        <p:spPr>
          <a:xfrm>
            <a:off x="3825875" y="2952594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2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" grpId="1" animBg="1" advAuto="0"/>
      <p:bldP spid="348" grpId="4" animBg="1" advAuto="0"/>
      <p:bldP spid="349" grpId="5" animBg="1" advAuto="0"/>
      <p:bldP spid="350" grpId="6" animBg="1" advAuto="0"/>
      <p:bldP spid="354" grpId="3" animBg="1" advAuto="0"/>
      <p:bldP spid="355" grpId="8" animBg="1" advAuto="0"/>
      <p:bldP spid="356" grpId="2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组合 16"/>
          <p:cNvGrpSpPr/>
          <p:nvPr/>
        </p:nvGrpSpPr>
        <p:grpSpPr>
          <a:xfrm>
            <a:off x="827087" y="935037"/>
            <a:ext cx="7496176" cy="989568"/>
            <a:chOff x="0" y="0"/>
            <a:chExt cx="7496175" cy="989567"/>
          </a:xfrm>
        </p:grpSpPr>
        <p:sp>
          <p:nvSpPr>
            <p:cNvPr id="373" name="矩形 17"/>
            <p:cNvSpPr txBox="1"/>
            <p:nvPr/>
          </p:nvSpPr>
          <p:spPr>
            <a:xfrm>
              <a:off x="0" y="440509"/>
              <a:ext cx="7496175" cy="549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3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几何结构生成模糊：边界线条缺乏清晰度（如</a:t>
              </a:r>
              <a:r>
                <a:rPr lang="en-US" altLang="zh-CN" dirty="0" err="1"/>
                <a:t>LaMa</a:t>
              </a:r>
              <a:r>
                <a:rPr lang="zh-CN" altLang="en-US" dirty="0"/>
                <a:t>）。</a:t>
              </a:r>
            </a:p>
            <a:p>
              <a:r>
                <a:rPr lang="zh-CN" altLang="en-US" dirty="0"/>
                <a:t>纹理不一致：复杂纹理区域（如人脸和自然场景）难以保持连贯性（如</a:t>
              </a:r>
              <a:r>
                <a:rPr lang="en-US" altLang="zh-CN" dirty="0" err="1"/>
                <a:t>CoModGAN</a:t>
              </a:r>
              <a:r>
                <a:rPr lang="zh-CN" altLang="en-US" dirty="0"/>
                <a:t>）。</a:t>
              </a:r>
            </a:p>
          </p:txBody>
        </p:sp>
        <p:sp>
          <p:nvSpPr>
            <p:cNvPr id="374" name="矩形 18"/>
            <p:cNvSpPr txBox="1"/>
            <p:nvPr/>
          </p:nvSpPr>
          <p:spPr>
            <a:xfrm>
              <a:off x="9169" y="0"/>
              <a:ext cx="193899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图像补全的挑战：</a:t>
              </a:r>
              <a:endParaRPr dirty="0"/>
            </a:p>
          </p:txBody>
        </p:sp>
      </p:grpSp>
      <p:sp>
        <p:nvSpPr>
          <p:cNvPr id="385" name="矩形 28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目前现状</a:t>
            </a:r>
            <a:endParaRPr dirty="0"/>
          </a:p>
        </p:txBody>
      </p:sp>
      <p:sp>
        <p:nvSpPr>
          <p:cNvPr id="386" name="矩形 29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7" name="矩形 30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8" name="矩形 31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9" name="矩形 32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0" name="矩形 33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1" name="矩形 34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37D2CB-6BCA-4170-AD81-7378D490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56" y="2030627"/>
            <a:ext cx="2610270" cy="28106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81F31C-ABCF-477B-A1B6-38B2538EA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534" y="2030627"/>
            <a:ext cx="2585807" cy="2816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0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第二部分</a:t>
            </a:r>
          </a:p>
        </p:txBody>
      </p:sp>
      <p:sp>
        <p:nvSpPr>
          <p:cNvPr id="501" name="TextBox 23"/>
          <p:cNvSpPr txBox="1"/>
          <p:nvPr/>
        </p:nvSpPr>
        <p:spPr>
          <a:xfrm>
            <a:off x="3773487" y="1827213"/>
            <a:ext cx="3294813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dirty="0"/>
              <a:t>Fourier Coarse-to-Fine (</a:t>
            </a:r>
            <a:r>
              <a:rPr lang="en-US" dirty="0" err="1"/>
              <a:t>FcF</a:t>
            </a:r>
            <a:r>
              <a:rPr lang="en-US" dirty="0"/>
              <a:t>) </a:t>
            </a:r>
            <a:r>
              <a:rPr lang="zh-CN" altLang="en-US" dirty="0"/>
              <a:t>框架</a:t>
            </a:r>
            <a:endParaRPr dirty="0"/>
          </a:p>
        </p:txBody>
      </p:sp>
      <p:sp>
        <p:nvSpPr>
          <p:cNvPr id="502" name="TextBox 24"/>
          <p:cNvSpPr txBox="1"/>
          <p:nvPr/>
        </p:nvSpPr>
        <p:spPr>
          <a:xfrm>
            <a:off x="3773487" y="2154238"/>
            <a:ext cx="358175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dirty="0"/>
              <a:t>Fast Fourier Synthesis (</a:t>
            </a:r>
            <a:r>
              <a:rPr lang="en-US" dirty="0" err="1"/>
              <a:t>FaF</a:t>
            </a:r>
            <a:r>
              <a:rPr lang="en-US" dirty="0"/>
              <a:t>-Syn)</a:t>
            </a:r>
            <a:r>
              <a:rPr lang="zh-CN" altLang="en-US" dirty="0"/>
              <a:t>模块</a:t>
            </a:r>
            <a:endParaRPr dirty="0"/>
          </a:p>
        </p:txBody>
      </p:sp>
      <p:sp>
        <p:nvSpPr>
          <p:cNvPr id="503" name="TextBox 25"/>
          <p:cNvSpPr txBox="1"/>
          <p:nvPr/>
        </p:nvSpPr>
        <p:spPr>
          <a:xfrm>
            <a:off x="3773487" y="2505074"/>
            <a:ext cx="3764492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对抗损失</a:t>
            </a:r>
            <a:r>
              <a:rPr lang="en-US" altLang="zh-CN" dirty="0"/>
              <a:t>+ </a:t>
            </a:r>
            <a:r>
              <a:rPr lang="zh-CN" altLang="en-US" dirty="0"/>
              <a:t>高感受野感知损失</a:t>
            </a:r>
            <a:r>
              <a:rPr lang="en-US" altLang="zh-CN" dirty="0"/>
              <a:t>+ </a:t>
            </a:r>
            <a:r>
              <a:rPr lang="zh-CN" altLang="en-US" dirty="0"/>
              <a:t>重建损失</a:t>
            </a:r>
          </a:p>
        </p:txBody>
      </p:sp>
      <p:grpSp>
        <p:nvGrpSpPr>
          <p:cNvPr id="506" name="组合 11"/>
          <p:cNvGrpSpPr/>
          <p:nvPr/>
        </p:nvGrpSpPr>
        <p:grpSpPr>
          <a:xfrm>
            <a:off x="3773487" y="1247774"/>
            <a:ext cx="4485573" cy="530915"/>
            <a:chOff x="0" y="0"/>
            <a:chExt cx="4485571" cy="530913"/>
          </a:xfrm>
        </p:grpSpPr>
        <p:sp>
          <p:nvSpPr>
            <p:cNvPr id="504" name="TextBox 4"/>
            <p:cNvSpPr txBox="1"/>
            <p:nvPr/>
          </p:nvSpPr>
          <p:spPr>
            <a:xfrm>
              <a:off x="0" y="0"/>
              <a:ext cx="3017171" cy="530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rPr lang="en-US" dirty="0"/>
                <a:t>Method innovation</a:t>
              </a:r>
              <a:endParaRPr dirty="0"/>
            </a:p>
          </p:txBody>
        </p:sp>
        <p:sp>
          <p:nvSpPr>
            <p:cNvPr id="505" name="文本框 8"/>
            <p:cNvSpPr txBox="1"/>
            <p:nvPr/>
          </p:nvSpPr>
          <p:spPr>
            <a:xfrm>
              <a:off x="3017171" y="46166"/>
              <a:ext cx="1468400" cy="438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方法创新</a:t>
              </a:r>
              <a:endParaRPr dirty="0"/>
            </a:p>
          </p:txBody>
        </p:sp>
      </p:grpSp>
      <p:sp>
        <p:nvSpPr>
          <p:cNvPr id="507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8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0">
        <p:wipe/>
      </p:transition>
    </mc:Choice>
    <mc:Fallback>
      <p:transition spd="slow" advClick="0" advTm="0">
        <p:wip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" grpId="1" animBg="1" advAuto="0"/>
      <p:bldP spid="501" grpId="4" animBg="1" advAuto="0"/>
      <p:bldP spid="502" grpId="5" animBg="1" advAuto="0"/>
      <p:bldP spid="503" grpId="6" animBg="1" advAuto="0"/>
      <p:bldP spid="506" grpId="3" animBg="1" advAuto="0"/>
      <p:bldP spid="507" grpId="7" animBg="1" advAuto="0"/>
      <p:bldP spid="508" grpId="2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文本框 26"/>
          <p:cNvSpPr txBox="1"/>
          <p:nvPr/>
        </p:nvSpPr>
        <p:spPr>
          <a:xfrm>
            <a:off x="616147" y="940669"/>
            <a:ext cx="2900792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altLang="zh-CN" dirty="0"/>
              <a:t>Fourier Coarse-to-Fine (</a:t>
            </a:r>
            <a:r>
              <a:rPr lang="en-US" altLang="zh-CN" dirty="0" err="1"/>
              <a:t>FcF</a:t>
            </a:r>
            <a:r>
              <a:rPr lang="en-US" altLang="zh-CN" dirty="0"/>
              <a:t>) </a:t>
            </a:r>
            <a:r>
              <a:rPr lang="zh-CN" altLang="en-US" dirty="0"/>
              <a:t>框架</a:t>
            </a:r>
          </a:p>
        </p:txBody>
      </p:sp>
      <p:sp>
        <p:nvSpPr>
          <p:cNvPr id="449" name="矩形 30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方法创新</a:t>
            </a:r>
            <a:endParaRPr dirty="0"/>
          </a:p>
        </p:txBody>
      </p:sp>
      <p:sp>
        <p:nvSpPr>
          <p:cNvPr id="450" name="矩形 31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1" name="矩形 32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2" name="矩形 33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3" name="矩形 34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4" name="矩形 35"/>
          <p:cNvSpPr/>
          <p:nvPr/>
        </p:nvSpPr>
        <p:spPr>
          <a:xfrm>
            <a:off x="7383463" y="260260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4" name="矩形 36">
            <a:extLst>
              <a:ext uri="{FF2B5EF4-FFF2-40B4-BE49-F238E27FC236}">
                <a16:creationId xmlns:a16="http://schemas.microsoft.com/office/drawing/2014/main" id="{563DD7D3-AF2D-4F5D-BE10-D051EF33C26B}"/>
              </a:ext>
            </a:extLst>
          </p:cNvPr>
          <p:cNvSpPr/>
          <p:nvPr/>
        </p:nvSpPr>
        <p:spPr>
          <a:xfrm>
            <a:off x="7616366" y="255782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AEBB2F-CE6D-4D8F-9185-4C26D8290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34" y="1376977"/>
            <a:ext cx="6773907" cy="3506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8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第三部分</a:t>
            </a:r>
          </a:p>
        </p:txBody>
      </p:sp>
      <p:sp>
        <p:nvSpPr>
          <p:cNvPr id="759" name="TextBox 23"/>
          <p:cNvSpPr txBox="1"/>
          <p:nvPr/>
        </p:nvSpPr>
        <p:spPr>
          <a:xfrm>
            <a:off x="3773487" y="1827213"/>
            <a:ext cx="2671244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dirty="0"/>
              <a:t>Places2/</a:t>
            </a:r>
            <a:r>
              <a:rPr lang="en-US" dirty="0" err="1"/>
              <a:t>CelebA</a:t>
            </a:r>
            <a:r>
              <a:rPr lang="en-US" dirty="0"/>
              <a:t>-HQ</a:t>
            </a:r>
            <a:r>
              <a:rPr lang="zh-CN" altLang="en-US" dirty="0"/>
              <a:t>数据集</a:t>
            </a:r>
            <a:endParaRPr dirty="0"/>
          </a:p>
        </p:txBody>
      </p:sp>
      <p:sp>
        <p:nvSpPr>
          <p:cNvPr id="760" name="TextBox 24"/>
          <p:cNvSpPr txBox="1"/>
          <p:nvPr/>
        </p:nvSpPr>
        <p:spPr>
          <a:xfrm>
            <a:off x="3773487" y="2154238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对比方法</a:t>
            </a:r>
            <a:endParaRPr dirty="0"/>
          </a:p>
        </p:txBody>
      </p:sp>
      <p:sp>
        <p:nvSpPr>
          <p:cNvPr id="761" name="TextBox 25"/>
          <p:cNvSpPr txBox="1"/>
          <p:nvPr/>
        </p:nvSpPr>
        <p:spPr>
          <a:xfrm>
            <a:off x="3773487" y="2505074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定量指标</a:t>
            </a:r>
            <a:endParaRPr dirty="0"/>
          </a:p>
        </p:txBody>
      </p:sp>
      <p:grpSp>
        <p:nvGrpSpPr>
          <p:cNvPr id="764" name="组合 11"/>
          <p:cNvGrpSpPr/>
          <p:nvPr/>
        </p:nvGrpSpPr>
        <p:grpSpPr>
          <a:xfrm>
            <a:off x="3773487" y="1247774"/>
            <a:ext cx="4638128" cy="530915"/>
            <a:chOff x="0" y="0"/>
            <a:chExt cx="4638126" cy="530913"/>
          </a:xfrm>
        </p:grpSpPr>
        <p:sp>
          <p:nvSpPr>
            <p:cNvPr id="762" name="TextBox 4"/>
            <p:cNvSpPr txBox="1"/>
            <p:nvPr/>
          </p:nvSpPr>
          <p:spPr>
            <a:xfrm>
              <a:off x="0" y="0"/>
              <a:ext cx="3337771" cy="530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rPr lang="en-US" dirty="0"/>
                <a:t>Experimental results</a:t>
              </a:r>
              <a:endParaRPr dirty="0"/>
            </a:p>
          </p:txBody>
        </p:sp>
        <p:sp>
          <p:nvSpPr>
            <p:cNvPr id="763" name="文本框 8"/>
            <p:cNvSpPr txBox="1"/>
            <p:nvPr/>
          </p:nvSpPr>
          <p:spPr>
            <a:xfrm>
              <a:off x="3337771" y="46166"/>
              <a:ext cx="1300355" cy="438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实验结果</a:t>
              </a:r>
              <a:endParaRPr dirty="0"/>
            </a:p>
          </p:txBody>
        </p:sp>
      </p:grpSp>
      <p:sp>
        <p:nvSpPr>
          <p:cNvPr id="765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" grpId="1" animBg="1" advAuto="0"/>
      <p:bldP spid="759" grpId="4" animBg="1" advAuto="0"/>
      <p:bldP spid="760" grpId="5" animBg="1" advAuto="0"/>
      <p:bldP spid="761" grpId="6" animBg="1" advAuto="0"/>
      <p:bldP spid="764" grpId="3" animBg="1" advAuto="0"/>
      <p:bldP spid="765" grpId="7" animBg="1" advAuto="0"/>
      <p:bldP spid="766" grpId="2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矩形 30"/>
          <p:cNvSpPr txBox="1"/>
          <p:nvPr/>
        </p:nvSpPr>
        <p:spPr>
          <a:xfrm>
            <a:off x="6477000" y="176212"/>
            <a:ext cx="81208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实验结果</a:t>
            </a:r>
            <a:endParaRPr dirty="0"/>
          </a:p>
        </p:txBody>
      </p:sp>
      <p:sp>
        <p:nvSpPr>
          <p:cNvPr id="450" name="矩形 31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1" name="矩形 32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2" name="矩形 33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3" name="矩形 34"/>
          <p:cNvSpPr/>
          <p:nvPr/>
        </p:nvSpPr>
        <p:spPr>
          <a:xfrm>
            <a:off x="7387866" y="258762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4" name="矩形 35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3" name="矩形 36">
            <a:extLst>
              <a:ext uri="{FF2B5EF4-FFF2-40B4-BE49-F238E27FC236}">
                <a16:creationId xmlns:a16="http://schemas.microsoft.com/office/drawing/2014/main" id="{490E2143-B134-460E-8CA0-CB39160597FE}"/>
              </a:ext>
            </a:extLst>
          </p:cNvPr>
          <p:cNvSpPr/>
          <p:nvPr/>
        </p:nvSpPr>
        <p:spPr>
          <a:xfrm>
            <a:off x="7854952" y="258762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9EC49CF-7D6F-43D1-861F-D3A49A3FFE4F}"/>
              </a:ext>
            </a:extLst>
          </p:cNvPr>
          <p:cNvGrpSpPr/>
          <p:nvPr/>
        </p:nvGrpSpPr>
        <p:grpSpPr>
          <a:xfrm>
            <a:off x="5429622" y="1059825"/>
            <a:ext cx="3319092" cy="3458418"/>
            <a:chOff x="1042288" y="1371599"/>
            <a:chExt cx="3319092" cy="345841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96E2643E-3F3E-4345-9926-AF3512B96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288" y="1371599"/>
              <a:ext cx="846373" cy="3449815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A0F2E6A-6662-4FCD-B652-8EBF8701E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8661" y="1371599"/>
              <a:ext cx="2472719" cy="3458418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525C588-3F1C-4917-8202-291FEEB53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42" y="2095530"/>
            <a:ext cx="4847135" cy="2443379"/>
          </a:xfrm>
          <a:prstGeom prst="rect">
            <a:avLst/>
          </a:prstGeom>
        </p:spPr>
      </p:pic>
      <p:sp>
        <p:nvSpPr>
          <p:cNvPr id="39" name="TextBox 30">
            <a:extLst>
              <a:ext uri="{FF2B5EF4-FFF2-40B4-BE49-F238E27FC236}">
                <a16:creationId xmlns:a16="http://schemas.microsoft.com/office/drawing/2014/main" id="{6FE7FC3E-B029-4B45-9737-C4526F0366F9}"/>
              </a:ext>
            </a:extLst>
          </p:cNvPr>
          <p:cNvSpPr txBox="1"/>
          <p:nvPr/>
        </p:nvSpPr>
        <p:spPr>
          <a:xfrm>
            <a:off x="627081" y="1059825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实验对比与评估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141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矩形 23"/>
          <p:cNvSpPr txBox="1"/>
          <p:nvPr/>
        </p:nvSpPr>
        <p:spPr>
          <a:xfrm>
            <a:off x="2796381" y="1809072"/>
            <a:ext cx="3551238" cy="1120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6600">
                <a:solidFill>
                  <a:srgbClr val="414455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dirty="0"/>
              <a:t>THANKS!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" grpId="1" animBg="1" advAuto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159</Words>
  <Application>Microsoft Office PowerPoint</Application>
  <PresentationFormat>全屏显示(16:9)</PresentationFormat>
  <Paragraphs>44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张宇</cp:lastModifiedBy>
  <cp:revision>29</cp:revision>
  <dcterms:modified xsi:type="dcterms:W3CDTF">2024-12-11T07:12:43Z</dcterms:modified>
</cp:coreProperties>
</file>